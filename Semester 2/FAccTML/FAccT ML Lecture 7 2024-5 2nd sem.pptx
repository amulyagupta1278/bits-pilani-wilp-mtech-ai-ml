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7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ppt/media/image76.jpg" ContentType="image/jpg"/>
  <Override PartName="/ppt/media/image77.jpg" ContentType="image/jpg"/>
  <Override PartName="/ppt/media/image78.jpg" ContentType="image/jpg"/>
  <Override PartName="/ppt/media/image79.jpg" ContentType="image/jpg"/>
  <Override PartName="/ppt/media/image80.jpg" ContentType="image/jpg"/>
  <Override PartName="/ppt/media/image8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39"/>
  </p:notesMasterIdLst>
  <p:sldIdLst>
    <p:sldId id="483" r:id="rId2"/>
    <p:sldId id="484" r:id="rId3"/>
    <p:sldId id="524" r:id="rId4"/>
    <p:sldId id="525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5" r:id="rId32"/>
    <p:sldId id="556" r:id="rId33"/>
    <p:sldId id="557" r:id="rId34"/>
    <p:sldId id="558" r:id="rId35"/>
    <p:sldId id="559" r:id="rId36"/>
    <p:sldId id="560" r:id="rId37"/>
    <p:sldId id="561" r:id="rId3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2210F-9A10-4066-89BC-48CBB1C75751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E6803-199B-4624-B63F-4FE38FBDD2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8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" name="Google Shape;44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Lecture-1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2" name="Google Shape;442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prstClr val="black"/>
                </a:solidFill>
              </a:rPr>
              <a:pPr/>
              <a:t>2</a:t>
            </a:fld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1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7"/>
          <p:cNvSpPr/>
          <p:nvPr/>
        </p:nvSpPr>
        <p:spPr>
          <a:xfrm>
            <a:off x="0" y="3211116"/>
            <a:ext cx="9144000" cy="19323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" name="Google Shape;35;p7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7"/>
          <p:cNvSpPr/>
          <p:nvPr/>
        </p:nvSpPr>
        <p:spPr>
          <a:xfrm>
            <a:off x="2882900" y="5081588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77"/>
          <p:cNvSpPr/>
          <p:nvPr/>
        </p:nvSpPr>
        <p:spPr>
          <a:xfrm>
            <a:off x="-12700" y="5081588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77"/>
          <p:cNvSpPr/>
          <p:nvPr/>
        </p:nvSpPr>
        <p:spPr>
          <a:xfrm>
            <a:off x="5778500" y="5081588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77"/>
          <p:cNvSpPr txBox="1"/>
          <p:nvPr/>
        </p:nvSpPr>
        <p:spPr>
          <a:xfrm>
            <a:off x="6858000" y="57150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77"/>
          <p:cNvSpPr txBox="1"/>
          <p:nvPr/>
        </p:nvSpPr>
        <p:spPr>
          <a:xfrm>
            <a:off x="7086600" y="87868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77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30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47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90252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6.jpg"/><Relationship Id="rId7" Type="http://schemas.openxmlformats.org/officeDocument/2006/relationships/hyperlink" Target="https://arxiv.org/pdf/1811.05245.pdf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5245.pdf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nips.cc/paper/6995-counterfactual-fairness.pdf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nips.cc/paper/6995-counterfactual-fairness.pdf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hyperlink" Target="https://papers.nips.cc/paper/6995-counterfactual-fairness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1.7766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6.06439.pdf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906.06439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arxiv.org/pdf/1906.06439.pdf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3.09797.pdf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rxiv.org/pdf/1803.09797.pdf" TargetMode="External"/><Relationship Id="rId4" Type="http://schemas.openxmlformats.org/officeDocument/2006/relationships/image" Target="../media/image4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1803.09797.pdf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53.jpg"/><Relationship Id="rId7" Type="http://schemas.openxmlformats.org/officeDocument/2006/relationships/image" Target="../media/image57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54.jpg"/><Relationship Id="rId9" Type="http://schemas.openxmlformats.org/officeDocument/2006/relationships/hyperlink" Target="https://arxiv.org/pdf/1803.09797.pd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pdf/1803.09797.pdf" TargetMode="External"/><Relationship Id="rId5" Type="http://schemas.openxmlformats.org/officeDocument/2006/relationships/image" Target="../media/image62.png"/><Relationship Id="rId4" Type="http://schemas.openxmlformats.org/officeDocument/2006/relationships/image" Target="../media/image6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2.03044" TargetMode="Externa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4.jpg"/><Relationship Id="rId4" Type="http://schemas.openxmlformats.org/officeDocument/2006/relationships/hyperlink" Target="https://arxiv.org/pdf/1803.09797.pdf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811.08489.pdf" TargetMode="External"/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73.jpg"/><Relationship Id="rId7" Type="http://schemas.openxmlformats.org/officeDocument/2006/relationships/image" Target="../media/image77.jpg"/><Relationship Id="rId2" Type="http://schemas.openxmlformats.org/officeDocument/2006/relationships/hyperlink" Target="https://arxiv.org/pdf/1811.08489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jpg"/><Relationship Id="rId5" Type="http://schemas.openxmlformats.org/officeDocument/2006/relationships/image" Target="../media/image75.jpg"/><Relationship Id="rId4" Type="http://schemas.openxmlformats.org/officeDocument/2006/relationships/image" Target="../media/image74.jpg"/><Relationship Id="rId9" Type="http://schemas.openxmlformats.org/officeDocument/2006/relationships/image" Target="../media/image7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11.08489.pdf" TargetMode="External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Fair, Accountable, Transparent Machine Learning (</a:t>
            </a:r>
            <a:r>
              <a:rPr lang="en-US" sz="2800" dirty="0" err="1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FAccT</a:t>
            </a: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 ML)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ZG517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Ghosal</a:t>
            </a:r>
            <a:endParaRPr dirty="0"/>
          </a:p>
          <a:p>
            <a:pPr marL="274320" indent="-192024" algn="r">
              <a:spcBef>
                <a:spcPts val="357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sugata.ghosal@pilani.bits-pilani.ac.in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>
            <a:spLocks noGrp="1"/>
          </p:cNvSpPr>
          <p:nvPr>
            <p:ph type="body" idx="1"/>
          </p:nvPr>
        </p:nvSpPr>
        <p:spPr>
          <a:xfrm>
            <a:off x="1371600" y="3314700"/>
            <a:ext cx="63436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77500" lnSpcReduction="20000"/>
          </a:bodyPr>
          <a:lstStyle/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Session 7</a:t>
            </a:r>
            <a:endParaRPr dirty="0"/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r>
              <a:rPr lang="en-US" sz="2700" dirty="0">
                <a:latin typeface="Calibri"/>
                <a:ea typeface="Calibri"/>
                <a:cs typeface="Calibri"/>
                <a:sym typeface="Calibri"/>
              </a:rPr>
              <a:t>Time –  10:40 AM to 12:40 PM</a:t>
            </a: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dirty="0"/>
          </a:p>
          <a:p>
            <a:pPr marL="0" marR="132398" indent="0">
              <a:lnSpc>
                <a:spcPct val="120000"/>
              </a:lnSpc>
              <a:spcBef>
                <a:spcPts val="878"/>
              </a:spcBef>
              <a:buSzPct val="100000"/>
            </a:pPr>
            <a:r>
              <a:rPr lang="en-US" sz="1950" b="0" dirty="0">
                <a:latin typeface="Calibri"/>
                <a:ea typeface="Calibri"/>
                <a:cs typeface="Calibri"/>
                <a:sym typeface="Calibri"/>
              </a:rPr>
              <a:t>These slides are prepared by the instructor, with grateful acknowledgement of many others who made  their course materials freely available online.</a:t>
            </a:r>
            <a:endParaRPr dirty="0"/>
          </a:p>
          <a:p>
            <a:pPr marL="0" indent="0">
              <a:lnSpc>
                <a:spcPct val="117083"/>
              </a:lnSpc>
              <a:buSzPct val="100000"/>
            </a:pPr>
            <a:endParaRPr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4320" indent="-192024" algn="ctr">
              <a:lnSpc>
                <a:spcPct val="100000"/>
              </a:lnSpc>
              <a:buClr>
                <a:schemeClr val="accent1"/>
              </a:buClr>
              <a:buSzPct val="68000"/>
            </a:pPr>
            <a:endParaRPr sz="27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pc="-5" dirty="0"/>
              <a:t>Fair Visual Representation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176351"/>
            <a:ext cx="453707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Counterfactual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Counterfactual Face</a:t>
            </a:r>
            <a:r>
              <a:rPr sz="18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Attribution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Gender Equalized Image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Captioning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Adversarial Removal of Gender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Explanation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2115005" y="1708971"/>
            <a:ext cx="1667510" cy="572770"/>
            <a:chOff x="2115005" y="1708971"/>
            <a:chExt cx="1667510" cy="572770"/>
          </a:xfrm>
        </p:grpSpPr>
        <p:sp>
          <p:nvSpPr>
            <p:cNvPr id="4" name="object 4"/>
            <p:cNvSpPr/>
            <p:nvPr/>
          </p:nvSpPr>
          <p:spPr>
            <a:xfrm>
              <a:off x="2436498" y="1893218"/>
              <a:ext cx="226815" cy="954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15005" y="1750626"/>
              <a:ext cx="279477" cy="3003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57644" y="1708971"/>
              <a:ext cx="1124822" cy="5726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865258" y="1670429"/>
            <a:ext cx="3201736" cy="409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21176" y="2694676"/>
            <a:ext cx="4271849" cy="1828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72835" y="4303281"/>
            <a:ext cx="1348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Grath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7304" y="2077363"/>
            <a:ext cx="977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distance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function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8687" y="2109133"/>
            <a:ext cx="1113790" cy="0"/>
          </a:xfrm>
          <a:custGeom>
            <a:avLst/>
            <a:gdLst/>
            <a:ahLst/>
            <a:cxnLst/>
            <a:rect l="l" t="t" r="r" b="b"/>
            <a:pathLst>
              <a:path w="1113790">
                <a:moveTo>
                  <a:pt x="0" y="0"/>
                </a:moveTo>
                <a:lnTo>
                  <a:pt x="1113297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17881" y="2084145"/>
            <a:ext cx="13385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counterfactual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60113" y="2093458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>
                <a:moveTo>
                  <a:pt x="0" y="0"/>
                </a:moveTo>
                <a:lnTo>
                  <a:pt x="34499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05616" y="2107662"/>
            <a:ext cx="963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desired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outcome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77289" y="2116983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>
                <a:moveTo>
                  <a:pt x="0" y="0"/>
                </a:moveTo>
                <a:lnTo>
                  <a:pt x="344999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27822" y="2367109"/>
            <a:ext cx="7054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Increase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3651" y="2367109"/>
            <a:ext cx="430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while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44356" y="2360382"/>
            <a:ext cx="1352423" cy="260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83615" y="2416767"/>
            <a:ext cx="134850" cy="1698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Explanations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042439" y="1769796"/>
            <a:ext cx="6948998" cy="2088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2835" y="4303281"/>
            <a:ext cx="1348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Grath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</a:t>
            </a:r>
            <a:r>
              <a:rPr lang="en-IN" spc="-85" dirty="0"/>
              <a:t> </a:t>
            </a:r>
            <a:r>
              <a:rPr lang="en-IN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0060" y="1801328"/>
          <a:ext cx="3092448" cy="11778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2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78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D8E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90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6B8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8D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90696" y="3223034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5044" y="1560762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6665" y="1570040"/>
            <a:ext cx="48640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330" algn="l"/>
              </a:tabLst>
            </a:pPr>
            <a:r>
              <a:rPr sz="1400" dirty="0">
                <a:latin typeface="Arial"/>
                <a:cs typeface="Arial"/>
              </a:rPr>
              <a:t>A	Y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4974" y="3229825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8129" y="1518359"/>
            <a:ext cx="2989580" cy="1605915"/>
            <a:chOff x="4228129" y="1518359"/>
            <a:chExt cx="2989580" cy="1605915"/>
          </a:xfrm>
        </p:grpSpPr>
        <p:sp>
          <p:nvSpPr>
            <p:cNvPr id="11" name="object 11"/>
            <p:cNvSpPr/>
            <p:nvPr/>
          </p:nvSpPr>
          <p:spPr>
            <a:xfrm>
              <a:off x="4690084" y="1751723"/>
              <a:ext cx="2522855" cy="949325"/>
            </a:xfrm>
            <a:custGeom>
              <a:avLst/>
              <a:gdLst/>
              <a:ahLst/>
              <a:cxnLst/>
              <a:rect l="l" t="t" r="r" b="b"/>
              <a:pathLst>
                <a:path w="2522854" h="949325">
                  <a:moveTo>
                    <a:pt x="2522397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949198"/>
                  </a:lnTo>
                  <a:lnTo>
                    <a:pt x="2344394" y="949198"/>
                  </a:lnTo>
                  <a:lnTo>
                    <a:pt x="2344394" y="189496"/>
                  </a:lnTo>
                  <a:lnTo>
                    <a:pt x="2522397" y="189496"/>
                  </a:lnTo>
                  <a:lnTo>
                    <a:pt x="2522397" y="0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90090" y="1523121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61484" y="1751723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2522397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1177798"/>
                  </a:lnTo>
                  <a:lnTo>
                    <a:pt x="2522397" y="1177798"/>
                  </a:lnTo>
                  <a:lnTo>
                    <a:pt x="2522397" y="189496"/>
                  </a:lnTo>
                  <a:lnTo>
                    <a:pt x="2522397" y="0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1491" y="1751721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32891" y="1941216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2522394" y="1177802"/>
                  </a:moveTo>
                  <a:lnTo>
                    <a:pt x="0" y="1177802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1177802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32891" y="1941216"/>
              <a:ext cx="2522855" cy="1177925"/>
            </a:xfrm>
            <a:custGeom>
              <a:avLst/>
              <a:gdLst/>
              <a:ahLst/>
              <a:cxnLst/>
              <a:rect l="l" t="t" r="r" b="b"/>
              <a:pathLst>
                <a:path w="2522854" h="1177925">
                  <a:moveTo>
                    <a:pt x="0" y="0"/>
                  </a:moveTo>
                  <a:lnTo>
                    <a:pt x="2522394" y="0"/>
                  </a:lnTo>
                  <a:lnTo>
                    <a:pt x="2522394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69754" y="1296187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750523" y="1518359"/>
            <a:ext cx="749300" cy="1605915"/>
            <a:chOff x="6750523" y="1518359"/>
            <a:chExt cx="749300" cy="1605915"/>
          </a:xfrm>
        </p:grpSpPr>
        <p:sp>
          <p:nvSpPr>
            <p:cNvPr id="19" name="object 19"/>
            <p:cNvSpPr/>
            <p:nvPr/>
          </p:nvSpPr>
          <p:spPr>
            <a:xfrm>
              <a:off x="6983882" y="1751723"/>
              <a:ext cx="237490" cy="1177925"/>
            </a:xfrm>
            <a:custGeom>
              <a:avLst/>
              <a:gdLst/>
              <a:ahLst/>
              <a:cxnLst/>
              <a:rect l="l" t="t" r="r" b="b"/>
              <a:pathLst>
                <a:path w="237490" h="1177925">
                  <a:moveTo>
                    <a:pt x="237070" y="0"/>
                  </a:moveTo>
                  <a:lnTo>
                    <a:pt x="0" y="0"/>
                  </a:lnTo>
                  <a:lnTo>
                    <a:pt x="0" y="189496"/>
                  </a:lnTo>
                  <a:lnTo>
                    <a:pt x="0" y="1177798"/>
                  </a:lnTo>
                  <a:lnTo>
                    <a:pt x="237070" y="1177798"/>
                  </a:lnTo>
                  <a:lnTo>
                    <a:pt x="237070" y="189496"/>
                  </a:lnTo>
                  <a:lnTo>
                    <a:pt x="237070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83885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12482" y="1523123"/>
              <a:ext cx="279400" cy="1177925"/>
            </a:xfrm>
            <a:custGeom>
              <a:avLst/>
              <a:gdLst/>
              <a:ahLst/>
              <a:cxnLst/>
              <a:rect l="l" t="t" r="r" b="b"/>
              <a:pathLst>
                <a:path w="279400" h="1177925">
                  <a:moveTo>
                    <a:pt x="27919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18096"/>
                  </a:lnTo>
                  <a:lnTo>
                    <a:pt x="0" y="1177798"/>
                  </a:lnTo>
                  <a:lnTo>
                    <a:pt x="279196" y="1177798"/>
                  </a:lnTo>
                  <a:lnTo>
                    <a:pt x="279196" y="418096"/>
                  </a:lnTo>
                  <a:lnTo>
                    <a:pt x="279196" y="228600"/>
                  </a:lnTo>
                  <a:lnTo>
                    <a:pt x="279196" y="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24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55286" y="1941216"/>
              <a:ext cx="279400" cy="1177925"/>
            </a:xfrm>
            <a:custGeom>
              <a:avLst/>
              <a:gdLst/>
              <a:ahLst/>
              <a:cxnLst/>
              <a:rect l="l" t="t" r="r" b="b"/>
              <a:pathLst>
                <a:path w="279400" h="1177925">
                  <a:moveTo>
                    <a:pt x="0" y="1177802"/>
                  </a:moveTo>
                  <a:lnTo>
                    <a:pt x="279199" y="1177802"/>
                  </a:lnTo>
                  <a:lnTo>
                    <a:pt x="279199" y="0"/>
                  </a:lnTo>
                  <a:lnTo>
                    <a:pt x="0" y="0"/>
                  </a:lnTo>
                  <a:lnTo>
                    <a:pt x="0" y="1177802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552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690090" y="1523121"/>
            <a:ext cx="2602865" cy="228600"/>
          </a:xfrm>
          <a:prstGeom prst="rect">
            <a:avLst/>
          </a:prstGeom>
          <a:solidFill>
            <a:srgbClr val="D8E9D3"/>
          </a:solidFill>
          <a:ln w="9524">
            <a:solidFill>
              <a:srgbClr val="59595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r">
              <a:lnSpc>
                <a:spcPts val="1500"/>
              </a:lnSpc>
              <a:spcBef>
                <a:spcPts val="300"/>
              </a:spcBef>
            </a:pPr>
            <a:r>
              <a:rPr sz="1400" spc="-5" dirty="0">
                <a:latin typeface="Arial"/>
                <a:cs typeface="Arial"/>
              </a:rPr>
              <a:t>A=2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90090" y="1751721"/>
            <a:ext cx="2306955" cy="189865"/>
          </a:xfrm>
          <a:prstGeom prst="rect">
            <a:avLst/>
          </a:prstGeom>
          <a:solidFill>
            <a:srgbClr val="D8E9D3"/>
          </a:solidFill>
          <a:ln w="9524">
            <a:solidFill>
              <a:srgbClr val="595959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r">
              <a:lnSpc>
                <a:spcPts val="1175"/>
              </a:lnSpc>
              <a:spcBef>
                <a:spcPts val="315"/>
              </a:spcBef>
            </a:pPr>
            <a:r>
              <a:rPr sz="1400" spc="-5" dirty="0">
                <a:latin typeface="Arial"/>
                <a:cs typeface="Arial"/>
              </a:rPr>
              <a:t>A=3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29723" y="1518359"/>
            <a:ext cx="749300" cy="1605915"/>
            <a:chOff x="7029723" y="1518359"/>
            <a:chExt cx="749300" cy="1605915"/>
          </a:xfrm>
        </p:grpSpPr>
        <p:sp>
          <p:nvSpPr>
            <p:cNvPr id="28" name="object 28"/>
            <p:cNvSpPr/>
            <p:nvPr/>
          </p:nvSpPr>
          <p:spPr>
            <a:xfrm>
              <a:off x="74916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797"/>
                  </a:moveTo>
                  <a:lnTo>
                    <a:pt x="0" y="1177797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797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91685" y="15231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20960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797"/>
                  </a:moveTo>
                  <a:lnTo>
                    <a:pt x="0" y="1177797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797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20960" y="1751721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797"/>
                  </a:lnTo>
                  <a:lnTo>
                    <a:pt x="0" y="11777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344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282299" y="1177802"/>
                  </a:moveTo>
                  <a:lnTo>
                    <a:pt x="0" y="1177802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1177802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34486" y="1941216"/>
              <a:ext cx="282575" cy="1177925"/>
            </a:xfrm>
            <a:custGeom>
              <a:avLst/>
              <a:gdLst/>
              <a:ahLst/>
              <a:cxnLst/>
              <a:rect l="l" t="t" r="r" b="b"/>
              <a:pathLst>
                <a:path w="282575" h="1177925">
                  <a:moveTo>
                    <a:pt x="0" y="0"/>
                  </a:moveTo>
                  <a:lnTo>
                    <a:pt x="282299" y="0"/>
                  </a:lnTo>
                  <a:lnTo>
                    <a:pt x="282299" y="1177802"/>
                  </a:lnTo>
                  <a:lnTo>
                    <a:pt x="0" y="11778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91416" y="1262631"/>
            <a:ext cx="177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X'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55290" y="1262631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20" dirty="0"/>
              <a:t>View </a:t>
            </a:r>
            <a:r>
              <a:rPr lang="en-US" spc="-5" dirty="0"/>
              <a:t>of Counterfactual</a:t>
            </a:r>
            <a:r>
              <a:rPr lang="en-US" spc="-60" dirty="0"/>
              <a:t> </a:t>
            </a:r>
            <a:r>
              <a:rPr lang="en-US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98655" y="2479630"/>
            <a:ext cx="292100" cy="356870"/>
            <a:chOff x="3398655" y="2479630"/>
            <a:chExt cx="292100" cy="356870"/>
          </a:xfrm>
        </p:grpSpPr>
        <p:sp>
          <p:nvSpPr>
            <p:cNvPr id="6" name="object 6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30854" y="2865428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6568" y="1646246"/>
            <a:ext cx="2064385" cy="3473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9696" y="2856160"/>
            <a:ext cx="121983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3861" y="1988583"/>
            <a:ext cx="3709670" cy="847725"/>
            <a:chOff x="723861" y="1988583"/>
            <a:chExt cx="3709670" cy="847725"/>
          </a:xfrm>
        </p:grpSpPr>
        <p:sp>
          <p:nvSpPr>
            <p:cNvPr id="16" name="object 16"/>
            <p:cNvSpPr/>
            <p:nvPr/>
          </p:nvSpPr>
          <p:spPr>
            <a:xfrm>
              <a:off x="728623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623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0" y="0"/>
                  </a:moveTo>
                  <a:lnTo>
                    <a:pt x="2522394" y="0"/>
                  </a:lnTo>
                  <a:lnTo>
                    <a:pt x="2522394" y="347089"/>
                  </a:lnTo>
                  <a:lnTo>
                    <a:pt x="0" y="3470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4035" y="1993345"/>
              <a:ext cx="2254885" cy="838200"/>
            </a:xfrm>
            <a:custGeom>
              <a:avLst/>
              <a:gdLst/>
              <a:ahLst/>
              <a:cxnLst/>
              <a:rect l="l" t="t" r="r" b="b"/>
              <a:pathLst>
                <a:path w="2254885" h="838200">
                  <a:moveTo>
                    <a:pt x="1669531" y="491046"/>
                  </a:moveTo>
                  <a:lnTo>
                    <a:pt x="1951831" y="491046"/>
                  </a:lnTo>
                  <a:lnTo>
                    <a:pt x="1951831" y="838148"/>
                  </a:lnTo>
                  <a:lnTo>
                    <a:pt x="1669531" y="838148"/>
                  </a:lnTo>
                  <a:lnTo>
                    <a:pt x="1669531" y="491046"/>
                  </a:lnTo>
                  <a:close/>
                </a:path>
                <a:path w="2254885" h="838200">
                  <a:moveTo>
                    <a:pt x="2254680" y="0"/>
                  </a:moveTo>
                  <a:lnTo>
                    <a:pt x="0" y="48424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55735" y="2464867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31022" y="20947"/>
                  </a:moveTo>
                  <a:lnTo>
                    <a:pt x="0" y="16652"/>
                  </a:lnTo>
                  <a:lnTo>
                    <a:pt x="26524" y="0"/>
                  </a:lnTo>
                  <a:lnTo>
                    <a:pt x="18299" y="12722"/>
                  </a:lnTo>
                  <a:lnTo>
                    <a:pt x="31022" y="209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55735" y="2464867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18299" y="12722"/>
                  </a:moveTo>
                  <a:lnTo>
                    <a:pt x="26524" y="0"/>
                  </a:lnTo>
                  <a:lnTo>
                    <a:pt x="0" y="16652"/>
                  </a:lnTo>
                  <a:lnTo>
                    <a:pt x="31022" y="20947"/>
                  </a:lnTo>
                  <a:lnTo>
                    <a:pt x="18299" y="1272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06616" y="1993345"/>
              <a:ext cx="422275" cy="467359"/>
            </a:xfrm>
            <a:custGeom>
              <a:avLst/>
              <a:gdLst/>
              <a:ahLst/>
              <a:cxnLst/>
              <a:rect l="l" t="t" r="r" b="b"/>
              <a:pathLst>
                <a:path w="422275" h="467360">
                  <a:moveTo>
                    <a:pt x="422099" y="0"/>
                  </a:moveTo>
                  <a:lnTo>
                    <a:pt x="0" y="4668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94066" y="2445102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0" y="29012"/>
                  </a:moveTo>
                  <a:lnTo>
                    <a:pt x="11774" y="0"/>
                  </a:lnTo>
                  <a:lnTo>
                    <a:pt x="12549" y="15127"/>
                  </a:lnTo>
                  <a:lnTo>
                    <a:pt x="27674" y="14367"/>
                  </a:lnTo>
                  <a:lnTo>
                    <a:pt x="0" y="290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94066" y="2445102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2549" y="15127"/>
                  </a:moveTo>
                  <a:lnTo>
                    <a:pt x="11774" y="0"/>
                  </a:lnTo>
                  <a:lnTo>
                    <a:pt x="0" y="29012"/>
                  </a:lnTo>
                  <a:lnTo>
                    <a:pt x="27674" y="14367"/>
                  </a:lnTo>
                  <a:lnTo>
                    <a:pt x="12549" y="1512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8168" y="2657944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952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64943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64943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17164" y="287173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20" dirty="0"/>
              <a:t>View </a:t>
            </a:r>
            <a:r>
              <a:rPr lang="en-US" spc="-5" dirty="0"/>
              <a:t>of Counterfactual</a:t>
            </a:r>
            <a:r>
              <a:rPr lang="en-US" spc="-60" dirty="0"/>
              <a:t> </a:t>
            </a:r>
            <a:r>
              <a:rPr lang="en-US" spc="-5" dirty="0"/>
              <a:t>Fairness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772841" y="3746669"/>
            <a:ext cx="7398142" cy="373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99112" y="4310177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3861" y="2479630"/>
            <a:ext cx="7005320" cy="356870"/>
            <a:chOff x="723861" y="2479630"/>
            <a:chExt cx="7005320" cy="356870"/>
          </a:xfrm>
        </p:grpSpPr>
        <p:sp>
          <p:nvSpPr>
            <p:cNvPr id="6" name="object 6"/>
            <p:cNvSpPr/>
            <p:nvPr/>
          </p:nvSpPr>
          <p:spPr>
            <a:xfrm>
              <a:off x="728623" y="2484455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8623" y="2484455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0" y="0"/>
                  </a:moveTo>
                  <a:lnTo>
                    <a:pt x="2522394" y="0"/>
                  </a:lnTo>
                  <a:lnTo>
                    <a:pt x="2522394" y="347089"/>
                  </a:lnTo>
                  <a:lnTo>
                    <a:pt x="0" y="34708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3418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43567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200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E6B8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4200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09696" y="2856160"/>
            <a:ext cx="121983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61277" y="2865428"/>
            <a:ext cx="346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A=a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7164" y="2871733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4747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26922" y="4196048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Real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60939" y="4180191"/>
            <a:ext cx="3139440" cy="0"/>
          </a:xfrm>
          <a:custGeom>
            <a:avLst/>
            <a:gdLst/>
            <a:ahLst/>
            <a:cxnLst/>
            <a:rect l="l" t="t" r="r" b="b"/>
            <a:pathLst>
              <a:path w="3139440">
                <a:moveTo>
                  <a:pt x="0" y="0"/>
                </a:moveTo>
                <a:lnTo>
                  <a:pt x="3138893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14964" y="4196058"/>
            <a:ext cx="2009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72088" y="2865428"/>
            <a:ext cx="228536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00"/>
              </a:spcBef>
              <a:tabLst>
                <a:tab pos="1843405" algn="l"/>
              </a:tabLst>
            </a:pPr>
            <a:r>
              <a:rPr sz="2100" spc="-7" baseline="1984" dirty="0">
                <a:latin typeface="Arial"/>
                <a:cs typeface="Arial"/>
              </a:rPr>
              <a:t>X</a:t>
            </a:r>
            <a:r>
              <a:rPr sz="2100" baseline="1984" dirty="0">
                <a:latin typeface="Arial"/>
                <a:cs typeface="Arial"/>
              </a:rPr>
              <a:t>'	</a:t>
            </a:r>
            <a:r>
              <a:rPr sz="1400" spc="-5" dirty="0">
                <a:latin typeface="Arial"/>
                <a:cs typeface="Arial"/>
              </a:rPr>
              <a:t>A←a'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400" spc="-5" dirty="0">
                <a:latin typeface="Arial"/>
                <a:cs typeface="Arial"/>
              </a:rPr>
              <a:t>Counterfactual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77396" y="2479630"/>
            <a:ext cx="292100" cy="356870"/>
            <a:chOff x="7877396" y="2479630"/>
            <a:chExt cx="292100" cy="356870"/>
          </a:xfrm>
        </p:grpSpPr>
        <p:sp>
          <p:nvSpPr>
            <p:cNvPr id="23" name="object 23"/>
            <p:cNvSpPr/>
            <p:nvPr/>
          </p:nvSpPr>
          <p:spPr>
            <a:xfrm>
              <a:off x="788215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282299" y="347101"/>
                  </a:moveTo>
                  <a:lnTo>
                    <a:pt x="0" y="347101"/>
                  </a:lnTo>
                  <a:lnTo>
                    <a:pt x="0" y="0"/>
                  </a:lnTo>
                  <a:lnTo>
                    <a:pt x="282299" y="0"/>
                  </a:lnTo>
                  <a:lnTo>
                    <a:pt x="282299" y="34710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82159" y="2484392"/>
              <a:ext cx="282575" cy="347345"/>
            </a:xfrm>
            <a:custGeom>
              <a:avLst/>
              <a:gdLst/>
              <a:ahLst/>
              <a:cxnLst/>
              <a:rect l="l" t="t" r="r" b="b"/>
              <a:pathLst>
                <a:path w="282575" h="347344">
                  <a:moveTo>
                    <a:pt x="0" y="0"/>
                  </a:moveTo>
                  <a:lnTo>
                    <a:pt x="282299" y="0"/>
                  </a:lnTo>
                  <a:lnTo>
                    <a:pt x="282299" y="347101"/>
                  </a:lnTo>
                  <a:lnTo>
                    <a:pt x="0" y="3471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55756" y="2879696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96568" y="1646246"/>
            <a:ext cx="2064385" cy="347345"/>
          </a:xfrm>
          <a:prstGeom prst="rect">
            <a:avLst/>
          </a:prstGeom>
          <a:solidFill>
            <a:srgbClr val="FBE4CD"/>
          </a:solidFill>
          <a:ln w="9524">
            <a:solidFill>
              <a:srgbClr val="59595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56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84958" y="1986640"/>
            <a:ext cx="2439670" cy="502920"/>
            <a:chOff x="1984958" y="1986640"/>
            <a:chExt cx="2439670" cy="502920"/>
          </a:xfrm>
        </p:grpSpPr>
        <p:sp>
          <p:nvSpPr>
            <p:cNvPr id="28" name="object 28"/>
            <p:cNvSpPr/>
            <p:nvPr/>
          </p:nvSpPr>
          <p:spPr>
            <a:xfrm>
              <a:off x="1989720" y="1999788"/>
              <a:ext cx="2407285" cy="485140"/>
            </a:xfrm>
            <a:custGeom>
              <a:avLst/>
              <a:gdLst/>
              <a:ahLst/>
              <a:cxnLst/>
              <a:rect l="l" t="t" r="r" b="b"/>
              <a:pathLst>
                <a:path w="2407285" h="485139">
                  <a:moveTo>
                    <a:pt x="2406995" y="0"/>
                  </a:moveTo>
                  <a:lnTo>
                    <a:pt x="0" y="48465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4091" y="1991403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4249" y="21002"/>
                  </a:moveTo>
                  <a:lnTo>
                    <a:pt x="12624" y="8384"/>
                  </a:lnTo>
                  <a:lnTo>
                    <a:pt x="0" y="0"/>
                  </a:lnTo>
                  <a:lnTo>
                    <a:pt x="30974" y="4689"/>
                  </a:lnTo>
                  <a:lnTo>
                    <a:pt x="4249" y="2100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4091" y="1991403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12624" y="8384"/>
                  </a:moveTo>
                  <a:lnTo>
                    <a:pt x="4249" y="21002"/>
                  </a:lnTo>
                  <a:lnTo>
                    <a:pt x="30974" y="4689"/>
                  </a:lnTo>
                  <a:lnTo>
                    <a:pt x="0" y="0"/>
                  </a:lnTo>
                  <a:lnTo>
                    <a:pt x="12624" y="83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4717" y="2017560"/>
              <a:ext cx="422275" cy="467359"/>
            </a:xfrm>
            <a:custGeom>
              <a:avLst/>
              <a:gdLst/>
              <a:ahLst/>
              <a:cxnLst/>
              <a:rect l="l" t="t" r="r" b="b"/>
              <a:pathLst>
                <a:path w="422275" h="467360">
                  <a:moveTo>
                    <a:pt x="422099" y="0"/>
                  </a:moveTo>
                  <a:lnTo>
                    <a:pt x="0" y="4668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91691" y="2003675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5899" y="29012"/>
                  </a:moveTo>
                  <a:lnTo>
                    <a:pt x="15124" y="13884"/>
                  </a:lnTo>
                  <a:lnTo>
                    <a:pt x="0" y="14644"/>
                  </a:lnTo>
                  <a:lnTo>
                    <a:pt x="27674" y="0"/>
                  </a:lnTo>
                  <a:lnTo>
                    <a:pt x="15899" y="2901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91691" y="2003675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5124" y="13884"/>
                  </a:moveTo>
                  <a:lnTo>
                    <a:pt x="15899" y="29012"/>
                  </a:lnTo>
                  <a:lnTo>
                    <a:pt x="27674" y="0"/>
                  </a:lnTo>
                  <a:lnTo>
                    <a:pt x="0" y="14644"/>
                  </a:lnTo>
                  <a:lnTo>
                    <a:pt x="15124" y="138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536145" y="2107719"/>
            <a:ext cx="4489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recover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23953" y="1988583"/>
            <a:ext cx="3018155" cy="847725"/>
            <a:chOff x="4423953" y="1988583"/>
            <a:chExt cx="3018155" cy="847725"/>
          </a:xfrm>
        </p:grpSpPr>
        <p:sp>
          <p:nvSpPr>
            <p:cNvPr id="36" name="object 36"/>
            <p:cNvSpPr/>
            <p:nvPr/>
          </p:nvSpPr>
          <p:spPr>
            <a:xfrm>
              <a:off x="4767215" y="2484454"/>
              <a:ext cx="2522855" cy="347345"/>
            </a:xfrm>
            <a:custGeom>
              <a:avLst/>
              <a:gdLst/>
              <a:ahLst/>
              <a:cxnLst/>
              <a:rect l="l" t="t" r="r" b="b"/>
              <a:pathLst>
                <a:path w="2522854" h="347344">
                  <a:moveTo>
                    <a:pt x="2522394" y="347089"/>
                  </a:moveTo>
                  <a:lnTo>
                    <a:pt x="0" y="347089"/>
                  </a:lnTo>
                  <a:lnTo>
                    <a:pt x="0" y="0"/>
                  </a:lnTo>
                  <a:lnTo>
                    <a:pt x="2522394" y="0"/>
                  </a:lnTo>
                  <a:lnTo>
                    <a:pt x="2522394" y="34708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28716" y="1993345"/>
              <a:ext cx="2861310" cy="838200"/>
            </a:xfrm>
            <a:custGeom>
              <a:avLst/>
              <a:gdLst/>
              <a:ahLst/>
              <a:cxnLst/>
              <a:rect l="l" t="t" r="r" b="b"/>
              <a:pathLst>
                <a:path w="2861309" h="838200">
                  <a:moveTo>
                    <a:pt x="338499" y="491109"/>
                  </a:moveTo>
                  <a:lnTo>
                    <a:pt x="2860894" y="491109"/>
                  </a:lnTo>
                  <a:lnTo>
                    <a:pt x="2860894" y="838198"/>
                  </a:lnTo>
                  <a:lnTo>
                    <a:pt x="338499" y="838198"/>
                  </a:lnTo>
                  <a:lnTo>
                    <a:pt x="338499" y="491109"/>
                  </a:lnTo>
                  <a:close/>
                </a:path>
                <a:path w="2861309" h="838200">
                  <a:moveTo>
                    <a:pt x="0" y="0"/>
                  </a:moveTo>
                  <a:lnTo>
                    <a:pt x="1544971" y="47432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69062" y="245263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079"/>
                  </a:moveTo>
                  <a:lnTo>
                    <a:pt x="9224" y="0"/>
                  </a:lnTo>
                  <a:lnTo>
                    <a:pt x="45949" y="27724"/>
                  </a:lnTo>
                  <a:lnTo>
                    <a:pt x="0" y="3007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69062" y="245263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079"/>
                  </a:moveTo>
                  <a:lnTo>
                    <a:pt x="45949" y="27724"/>
                  </a:lnTo>
                  <a:lnTo>
                    <a:pt x="9224" y="0"/>
                  </a:lnTo>
                  <a:lnTo>
                    <a:pt x="0" y="3007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46760" y="2657944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952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03535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03535" y="26422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Red Car</a:t>
            </a:r>
            <a:r>
              <a:rPr lang="en-IN" spc="-90" dirty="0"/>
              <a:t> </a:t>
            </a:r>
            <a:r>
              <a:rPr lang="en-IN" spc="-5" dirty="0"/>
              <a:t>Problem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629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Develop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Algorithm to Determine Insurance</a:t>
            </a:r>
            <a:r>
              <a:rPr sz="1800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Premium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0561" y="3591864"/>
            <a:ext cx="48323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6154" y="2160783"/>
            <a:ext cx="1155700" cy="1290320"/>
            <a:chOff x="3896154" y="2160783"/>
            <a:chExt cx="1155700" cy="1290320"/>
          </a:xfrm>
        </p:grpSpPr>
        <p:sp>
          <p:nvSpPr>
            <p:cNvPr id="6" name="object 6"/>
            <p:cNvSpPr/>
            <p:nvPr/>
          </p:nvSpPr>
          <p:spPr>
            <a:xfrm>
              <a:off x="3900917" y="2165545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228599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2885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0917" y="2165545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0" y="0"/>
                  </a:moveTo>
                  <a:lnTo>
                    <a:pt x="228599" y="0"/>
                  </a:lnTo>
                  <a:lnTo>
                    <a:pt x="228599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9516" y="2165545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917398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917398" y="0"/>
                  </a:lnTo>
                  <a:lnTo>
                    <a:pt x="917398" y="288599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29516" y="2165545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0" y="0"/>
                  </a:moveTo>
                  <a:lnTo>
                    <a:pt x="917398" y="0"/>
                  </a:lnTo>
                  <a:lnTo>
                    <a:pt x="917398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0917" y="2461072"/>
              <a:ext cx="1012825" cy="985519"/>
            </a:xfrm>
            <a:custGeom>
              <a:avLst/>
              <a:gdLst/>
              <a:ahLst/>
              <a:cxnLst/>
              <a:rect l="l" t="t" r="r" b="b"/>
              <a:pathLst>
                <a:path w="1012825" h="985520">
                  <a:moveTo>
                    <a:pt x="1012197" y="985195"/>
                  </a:moveTo>
                  <a:lnTo>
                    <a:pt x="0" y="985195"/>
                  </a:lnTo>
                  <a:lnTo>
                    <a:pt x="0" y="0"/>
                  </a:lnTo>
                  <a:lnTo>
                    <a:pt x="1012197" y="0"/>
                  </a:lnTo>
                  <a:lnTo>
                    <a:pt x="1012197" y="985195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00917" y="2461072"/>
              <a:ext cx="1012825" cy="985519"/>
            </a:xfrm>
            <a:custGeom>
              <a:avLst/>
              <a:gdLst/>
              <a:ahLst/>
              <a:cxnLst/>
              <a:rect l="l" t="t" r="r" b="b"/>
              <a:pathLst>
                <a:path w="1012825" h="985520">
                  <a:moveTo>
                    <a:pt x="0" y="0"/>
                  </a:moveTo>
                  <a:lnTo>
                    <a:pt x="1012197" y="0"/>
                  </a:lnTo>
                  <a:lnTo>
                    <a:pt x="1012197" y="985195"/>
                  </a:lnTo>
                  <a:lnTo>
                    <a:pt x="0" y="9851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13140" y="2461072"/>
              <a:ext cx="133985" cy="985519"/>
            </a:xfrm>
            <a:custGeom>
              <a:avLst/>
              <a:gdLst/>
              <a:ahLst/>
              <a:cxnLst/>
              <a:rect l="l" t="t" r="r" b="b"/>
              <a:pathLst>
                <a:path w="133985" h="985520">
                  <a:moveTo>
                    <a:pt x="133799" y="985195"/>
                  </a:moveTo>
                  <a:lnTo>
                    <a:pt x="0" y="985195"/>
                  </a:lnTo>
                  <a:lnTo>
                    <a:pt x="0" y="0"/>
                  </a:lnTo>
                  <a:lnTo>
                    <a:pt x="133799" y="0"/>
                  </a:lnTo>
                  <a:lnTo>
                    <a:pt x="133799" y="985195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3140" y="2461072"/>
              <a:ext cx="133985" cy="985519"/>
            </a:xfrm>
            <a:custGeom>
              <a:avLst/>
              <a:gdLst/>
              <a:ahLst/>
              <a:cxnLst/>
              <a:rect l="l" t="t" r="r" b="b"/>
              <a:pathLst>
                <a:path w="133985" h="985520">
                  <a:moveTo>
                    <a:pt x="0" y="0"/>
                  </a:moveTo>
                  <a:lnTo>
                    <a:pt x="133799" y="0"/>
                  </a:lnTo>
                  <a:lnTo>
                    <a:pt x="133799" y="985195"/>
                  </a:lnTo>
                  <a:lnTo>
                    <a:pt x="0" y="98519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47607" y="3606265"/>
            <a:ext cx="483234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lang="en-US" sz="1000" dirty="0">
                <a:latin typeface="Arial"/>
                <a:cs typeface="Arial"/>
              </a:rPr>
              <a:t>3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43200" y="2175188"/>
            <a:ext cx="1155700" cy="1290320"/>
            <a:chOff x="5743200" y="2175188"/>
            <a:chExt cx="1155700" cy="1290320"/>
          </a:xfrm>
        </p:grpSpPr>
        <p:sp>
          <p:nvSpPr>
            <p:cNvPr id="16" name="object 16"/>
            <p:cNvSpPr/>
            <p:nvPr/>
          </p:nvSpPr>
          <p:spPr>
            <a:xfrm>
              <a:off x="5747963" y="2179950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228599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228599" y="0"/>
                  </a:lnTo>
                  <a:lnTo>
                    <a:pt x="228599" y="288599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47963" y="2179950"/>
              <a:ext cx="228600" cy="288925"/>
            </a:xfrm>
            <a:custGeom>
              <a:avLst/>
              <a:gdLst/>
              <a:ahLst/>
              <a:cxnLst/>
              <a:rect l="l" t="t" r="r" b="b"/>
              <a:pathLst>
                <a:path w="228600" h="288925">
                  <a:moveTo>
                    <a:pt x="0" y="0"/>
                  </a:moveTo>
                  <a:lnTo>
                    <a:pt x="228599" y="0"/>
                  </a:lnTo>
                  <a:lnTo>
                    <a:pt x="228599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6563" y="2179950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917398" y="288599"/>
                  </a:moveTo>
                  <a:lnTo>
                    <a:pt x="0" y="288599"/>
                  </a:lnTo>
                  <a:lnTo>
                    <a:pt x="0" y="0"/>
                  </a:lnTo>
                  <a:lnTo>
                    <a:pt x="917398" y="0"/>
                  </a:lnTo>
                  <a:lnTo>
                    <a:pt x="917398" y="288599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76563" y="2179950"/>
              <a:ext cx="917575" cy="288925"/>
            </a:xfrm>
            <a:custGeom>
              <a:avLst/>
              <a:gdLst/>
              <a:ahLst/>
              <a:cxnLst/>
              <a:rect l="l" t="t" r="r" b="b"/>
              <a:pathLst>
                <a:path w="917575" h="288925">
                  <a:moveTo>
                    <a:pt x="0" y="0"/>
                  </a:moveTo>
                  <a:lnTo>
                    <a:pt x="917398" y="0"/>
                  </a:lnTo>
                  <a:lnTo>
                    <a:pt x="917398" y="288599"/>
                  </a:lnTo>
                  <a:lnTo>
                    <a:pt x="0" y="288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47963" y="2475475"/>
              <a:ext cx="1010919" cy="985519"/>
            </a:xfrm>
            <a:custGeom>
              <a:avLst/>
              <a:gdLst/>
              <a:ahLst/>
              <a:cxnLst/>
              <a:rect l="l" t="t" r="r" b="b"/>
              <a:pathLst>
                <a:path w="1010920" h="985520">
                  <a:moveTo>
                    <a:pt x="1010697" y="985193"/>
                  </a:moveTo>
                  <a:lnTo>
                    <a:pt x="0" y="985193"/>
                  </a:lnTo>
                  <a:lnTo>
                    <a:pt x="0" y="0"/>
                  </a:lnTo>
                  <a:lnTo>
                    <a:pt x="1010697" y="0"/>
                  </a:lnTo>
                  <a:lnTo>
                    <a:pt x="1010697" y="985193"/>
                  </a:lnTo>
                  <a:close/>
                </a:path>
              </a:pathLst>
            </a:custGeom>
            <a:solidFill>
              <a:srgbClr val="498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7963" y="2475475"/>
              <a:ext cx="1010919" cy="985519"/>
            </a:xfrm>
            <a:custGeom>
              <a:avLst/>
              <a:gdLst/>
              <a:ahLst/>
              <a:cxnLst/>
              <a:rect l="l" t="t" r="r" b="b"/>
              <a:pathLst>
                <a:path w="1010920" h="985520">
                  <a:moveTo>
                    <a:pt x="0" y="0"/>
                  </a:moveTo>
                  <a:lnTo>
                    <a:pt x="1010697" y="0"/>
                  </a:lnTo>
                  <a:lnTo>
                    <a:pt x="1010697" y="985193"/>
                  </a:lnTo>
                  <a:lnTo>
                    <a:pt x="0" y="9851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58686" y="2475475"/>
              <a:ext cx="135890" cy="985519"/>
            </a:xfrm>
            <a:custGeom>
              <a:avLst/>
              <a:gdLst/>
              <a:ahLst/>
              <a:cxnLst/>
              <a:rect l="l" t="t" r="r" b="b"/>
              <a:pathLst>
                <a:path w="135890" h="985520">
                  <a:moveTo>
                    <a:pt x="135299" y="985193"/>
                  </a:moveTo>
                  <a:lnTo>
                    <a:pt x="0" y="985193"/>
                  </a:lnTo>
                  <a:lnTo>
                    <a:pt x="0" y="0"/>
                  </a:lnTo>
                  <a:lnTo>
                    <a:pt x="135299" y="0"/>
                  </a:lnTo>
                  <a:lnTo>
                    <a:pt x="135299" y="985193"/>
                  </a:lnTo>
                  <a:close/>
                </a:path>
              </a:pathLst>
            </a:custGeom>
            <a:solidFill>
              <a:srgbClr val="97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58686" y="2475475"/>
              <a:ext cx="135890" cy="985519"/>
            </a:xfrm>
            <a:custGeom>
              <a:avLst/>
              <a:gdLst/>
              <a:ahLst/>
              <a:cxnLst/>
              <a:rect l="l" t="t" r="r" b="b"/>
              <a:pathLst>
                <a:path w="135890" h="985520">
                  <a:moveTo>
                    <a:pt x="0" y="0"/>
                  </a:moveTo>
                  <a:lnTo>
                    <a:pt x="135299" y="0"/>
                  </a:lnTo>
                  <a:lnTo>
                    <a:pt x="135299" y="985193"/>
                  </a:lnTo>
                  <a:lnTo>
                    <a:pt x="0" y="98519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733819" y="4088026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=1)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3963" y="4069481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=2)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05464" y="4060203"/>
            <a:ext cx="172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P(y </a:t>
            </a:r>
            <a:r>
              <a:rPr sz="1400" dirty="0">
                <a:latin typeface="Arial"/>
                <a:cs typeface="Arial"/>
              </a:rPr>
              <a:t>= </a:t>
            </a:r>
            <a:r>
              <a:rPr sz="1400" spc="-5" dirty="0">
                <a:latin typeface="Arial"/>
                <a:cs typeface="Arial"/>
              </a:rPr>
              <a:t>acc </a:t>
            </a:r>
            <a:r>
              <a:rPr sz="1400" dirty="0">
                <a:latin typeface="Arial"/>
                <a:cs typeface="Arial"/>
              </a:rPr>
              <a:t>| A </a:t>
            </a:r>
            <a:r>
              <a:rPr sz="1400" spc="-5" dirty="0">
                <a:latin typeface="Arial"/>
                <a:cs typeface="Arial"/>
              </a:rPr>
              <a:t>=3)</a:t>
            </a:r>
            <a:r>
              <a:rPr sz="1400" spc="-25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=0.2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62235" y="4287003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109580" y="2164908"/>
          <a:ext cx="1146175" cy="1288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7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498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498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905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97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2431543" y="3594064"/>
            <a:ext cx="48323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Group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22075" y="2476193"/>
            <a:ext cx="2095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red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36598" y="3260128"/>
            <a:ext cx="314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other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61454" y="1918105"/>
            <a:ext cx="675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no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accident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21509" y="1917667"/>
            <a:ext cx="9207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future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accidents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02617" y="2405087"/>
            <a:ext cx="196215" cy="10325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"/>
                <a:cs typeface="Arial"/>
              </a:rPr>
              <a:t>color </a:t>
            </a:r>
            <a:r>
              <a:rPr sz="1200" spc="-5" dirty="0">
                <a:latin typeface="Arial"/>
                <a:cs typeface="Arial"/>
              </a:rPr>
              <a:t>of the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Placeholder 78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5" dirty="0"/>
              <a:t>Causal </a:t>
            </a:r>
            <a:r>
              <a:rPr lang="en-US" spc="-10" dirty="0"/>
              <a:t>Perspective </a:t>
            </a:r>
            <a:r>
              <a:rPr lang="en-US" spc="-5" dirty="0"/>
              <a:t>of the Red Car</a:t>
            </a:r>
            <a:r>
              <a:rPr lang="en-US" spc="-75" dirty="0"/>
              <a:t> </a:t>
            </a:r>
            <a:r>
              <a:rPr lang="en-US" spc="-5" dirty="0"/>
              <a:t>Problem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884727" y="4086730"/>
            <a:ext cx="2423160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Observed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latin typeface="Arial"/>
                <a:cs typeface="Arial"/>
              </a:rPr>
              <a:t>Latent </a:t>
            </a:r>
            <a:r>
              <a:rPr sz="1400" dirty="0">
                <a:latin typeface="Arial"/>
                <a:cs typeface="Arial"/>
              </a:rPr>
              <a:t>(Unobserved)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078" y="4138629"/>
            <a:ext cx="175895" cy="391160"/>
            <a:chOff x="643078" y="4138629"/>
            <a:chExt cx="175895" cy="391160"/>
          </a:xfrm>
        </p:grpSpPr>
        <p:sp>
          <p:nvSpPr>
            <p:cNvPr id="5" name="object 5"/>
            <p:cNvSpPr/>
            <p:nvPr/>
          </p:nvSpPr>
          <p:spPr>
            <a:xfrm>
              <a:off x="643078" y="4138629"/>
              <a:ext cx="173624" cy="1736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5088" y="4356053"/>
              <a:ext cx="173624" cy="1736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68334" y="1582659"/>
            <a:ext cx="765810" cy="765810"/>
            <a:chOff x="1368334" y="1582659"/>
            <a:chExt cx="765810" cy="765810"/>
          </a:xfrm>
        </p:grpSpPr>
        <p:sp>
          <p:nvSpPr>
            <p:cNvPr id="8" name="object 8"/>
            <p:cNvSpPr/>
            <p:nvPr/>
          </p:nvSpPr>
          <p:spPr>
            <a:xfrm>
              <a:off x="1373097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7"/>
                  </a:lnTo>
                  <a:lnTo>
                    <a:pt x="161976" y="688000"/>
                  </a:lnTo>
                  <a:lnTo>
                    <a:pt x="126904" y="660337"/>
                  </a:lnTo>
                  <a:lnTo>
                    <a:pt x="95360" y="628793"/>
                  </a:lnTo>
                  <a:lnTo>
                    <a:pt x="67698" y="593722"/>
                  </a:lnTo>
                  <a:lnTo>
                    <a:pt x="44271" y="555477"/>
                  </a:lnTo>
                  <a:lnTo>
                    <a:pt x="25433" y="514414"/>
                  </a:lnTo>
                  <a:lnTo>
                    <a:pt x="11539" y="470885"/>
                  </a:lnTo>
                  <a:lnTo>
                    <a:pt x="2943" y="425245"/>
                  </a:lnTo>
                  <a:lnTo>
                    <a:pt x="0" y="377849"/>
                  </a:lnTo>
                  <a:lnTo>
                    <a:pt x="2943" y="330452"/>
                  </a:lnTo>
                  <a:lnTo>
                    <a:pt x="11539" y="284813"/>
                  </a:lnTo>
                  <a:lnTo>
                    <a:pt x="25433" y="241284"/>
                  </a:lnTo>
                  <a:lnTo>
                    <a:pt x="44271" y="200220"/>
                  </a:lnTo>
                  <a:lnTo>
                    <a:pt x="67698" y="161976"/>
                  </a:lnTo>
                  <a:lnTo>
                    <a:pt x="95360" y="126904"/>
                  </a:lnTo>
                  <a:lnTo>
                    <a:pt x="126904" y="95360"/>
                  </a:lnTo>
                  <a:lnTo>
                    <a:pt x="161976" y="67698"/>
                  </a:lnTo>
                  <a:lnTo>
                    <a:pt x="200220" y="44271"/>
                  </a:lnTo>
                  <a:lnTo>
                    <a:pt x="241284" y="25433"/>
                  </a:lnTo>
                  <a:lnTo>
                    <a:pt x="284813" y="11539"/>
                  </a:lnTo>
                  <a:lnTo>
                    <a:pt x="330452" y="2943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5"/>
                  </a:lnTo>
                  <a:lnTo>
                    <a:pt x="522446" y="28762"/>
                  </a:lnTo>
                  <a:lnTo>
                    <a:pt x="566536" y="50484"/>
                  </a:lnTo>
                  <a:lnTo>
                    <a:pt x="607592" y="77867"/>
                  </a:lnTo>
                  <a:lnTo>
                    <a:pt x="645028" y="110669"/>
                  </a:lnTo>
                  <a:lnTo>
                    <a:pt x="677830" y="148105"/>
                  </a:lnTo>
                  <a:lnTo>
                    <a:pt x="705214" y="189162"/>
                  </a:lnTo>
                  <a:lnTo>
                    <a:pt x="726936" y="233252"/>
                  </a:lnTo>
                  <a:lnTo>
                    <a:pt x="742752" y="279788"/>
                  </a:lnTo>
                  <a:lnTo>
                    <a:pt x="752421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7" y="555477"/>
                  </a:lnTo>
                  <a:lnTo>
                    <a:pt x="688000" y="593722"/>
                  </a:lnTo>
                  <a:lnTo>
                    <a:pt x="660337" y="628793"/>
                  </a:lnTo>
                  <a:lnTo>
                    <a:pt x="628793" y="660337"/>
                  </a:lnTo>
                  <a:lnTo>
                    <a:pt x="593722" y="688000"/>
                  </a:lnTo>
                  <a:lnTo>
                    <a:pt x="555477" y="711427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3097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3" y="330452"/>
                  </a:lnTo>
                  <a:lnTo>
                    <a:pt x="11539" y="284813"/>
                  </a:lnTo>
                  <a:lnTo>
                    <a:pt x="25433" y="241284"/>
                  </a:lnTo>
                  <a:lnTo>
                    <a:pt x="44271" y="200220"/>
                  </a:lnTo>
                  <a:lnTo>
                    <a:pt x="67698" y="161976"/>
                  </a:lnTo>
                  <a:lnTo>
                    <a:pt x="95360" y="126904"/>
                  </a:lnTo>
                  <a:lnTo>
                    <a:pt x="126904" y="95360"/>
                  </a:lnTo>
                  <a:lnTo>
                    <a:pt x="161976" y="67698"/>
                  </a:lnTo>
                  <a:lnTo>
                    <a:pt x="200220" y="44271"/>
                  </a:lnTo>
                  <a:lnTo>
                    <a:pt x="241284" y="25433"/>
                  </a:lnTo>
                  <a:lnTo>
                    <a:pt x="284813" y="11539"/>
                  </a:lnTo>
                  <a:lnTo>
                    <a:pt x="330452" y="2943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5"/>
                  </a:lnTo>
                  <a:lnTo>
                    <a:pt x="522446" y="28762"/>
                  </a:lnTo>
                  <a:lnTo>
                    <a:pt x="566536" y="50484"/>
                  </a:lnTo>
                  <a:lnTo>
                    <a:pt x="607592" y="77867"/>
                  </a:lnTo>
                  <a:lnTo>
                    <a:pt x="645028" y="110669"/>
                  </a:lnTo>
                  <a:lnTo>
                    <a:pt x="677830" y="148105"/>
                  </a:lnTo>
                  <a:lnTo>
                    <a:pt x="705214" y="189162"/>
                  </a:lnTo>
                  <a:lnTo>
                    <a:pt x="726936" y="233252"/>
                  </a:lnTo>
                  <a:lnTo>
                    <a:pt x="742752" y="279788"/>
                  </a:lnTo>
                  <a:lnTo>
                    <a:pt x="752421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7" y="555477"/>
                  </a:lnTo>
                  <a:lnTo>
                    <a:pt x="688000" y="593722"/>
                  </a:lnTo>
                  <a:lnTo>
                    <a:pt x="660337" y="628793"/>
                  </a:lnTo>
                  <a:lnTo>
                    <a:pt x="628793" y="660337"/>
                  </a:lnTo>
                  <a:lnTo>
                    <a:pt x="593722" y="688000"/>
                  </a:lnTo>
                  <a:lnTo>
                    <a:pt x="555477" y="711427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7"/>
                  </a:lnTo>
                  <a:lnTo>
                    <a:pt x="161976" y="688000"/>
                  </a:lnTo>
                  <a:lnTo>
                    <a:pt x="126904" y="660337"/>
                  </a:lnTo>
                  <a:lnTo>
                    <a:pt x="95360" y="628793"/>
                  </a:lnTo>
                  <a:lnTo>
                    <a:pt x="67698" y="593722"/>
                  </a:lnTo>
                  <a:lnTo>
                    <a:pt x="44271" y="555477"/>
                  </a:lnTo>
                  <a:lnTo>
                    <a:pt x="25433" y="514414"/>
                  </a:lnTo>
                  <a:lnTo>
                    <a:pt x="11539" y="470885"/>
                  </a:lnTo>
                  <a:lnTo>
                    <a:pt x="2943" y="425245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78980" y="1840686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8674" y="1843471"/>
            <a:ext cx="44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Group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68334" y="3030456"/>
            <a:ext cx="765810" cy="765810"/>
            <a:chOff x="1368334" y="3030456"/>
            <a:chExt cx="765810" cy="765810"/>
          </a:xfrm>
        </p:grpSpPr>
        <p:sp>
          <p:nvSpPr>
            <p:cNvPr id="13" name="object 13"/>
            <p:cNvSpPr/>
            <p:nvPr/>
          </p:nvSpPr>
          <p:spPr>
            <a:xfrm>
              <a:off x="1373097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6"/>
                  </a:lnTo>
                  <a:lnTo>
                    <a:pt x="161976" y="687998"/>
                  </a:lnTo>
                  <a:lnTo>
                    <a:pt x="126904" y="660335"/>
                  </a:lnTo>
                  <a:lnTo>
                    <a:pt x="95360" y="628791"/>
                  </a:lnTo>
                  <a:lnTo>
                    <a:pt x="67698" y="593720"/>
                  </a:lnTo>
                  <a:lnTo>
                    <a:pt x="44271" y="555475"/>
                  </a:lnTo>
                  <a:lnTo>
                    <a:pt x="25433" y="514411"/>
                  </a:lnTo>
                  <a:lnTo>
                    <a:pt x="11539" y="470883"/>
                  </a:lnTo>
                  <a:lnTo>
                    <a:pt x="2943" y="425244"/>
                  </a:lnTo>
                  <a:lnTo>
                    <a:pt x="0" y="377849"/>
                  </a:lnTo>
                  <a:lnTo>
                    <a:pt x="2943" y="330453"/>
                  </a:lnTo>
                  <a:lnTo>
                    <a:pt x="11539" y="284814"/>
                  </a:lnTo>
                  <a:lnTo>
                    <a:pt x="25433" y="241286"/>
                  </a:lnTo>
                  <a:lnTo>
                    <a:pt x="44271" y="200222"/>
                  </a:lnTo>
                  <a:lnTo>
                    <a:pt x="67698" y="161978"/>
                  </a:lnTo>
                  <a:lnTo>
                    <a:pt x="95360" y="126906"/>
                  </a:lnTo>
                  <a:lnTo>
                    <a:pt x="126904" y="95362"/>
                  </a:lnTo>
                  <a:lnTo>
                    <a:pt x="161976" y="67699"/>
                  </a:lnTo>
                  <a:lnTo>
                    <a:pt x="200220" y="44272"/>
                  </a:lnTo>
                  <a:lnTo>
                    <a:pt x="241284" y="25434"/>
                  </a:lnTo>
                  <a:lnTo>
                    <a:pt x="284813" y="11540"/>
                  </a:lnTo>
                  <a:lnTo>
                    <a:pt x="330452" y="2944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3"/>
                  </a:lnTo>
                  <a:lnTo>
                    <a:pt x="522446" y="28759"/>
                  </a:lnTo>
                  <a:lnTo>
                    <a:pt x="566536" y="50481"/>
                  </a:lnTo>
                  <a:lnTo>
                    <a:pt x="607592" y="77867"/>
                  </a:lnTo>
                  <a:lnTo>
                    <a:pt x="645028" y="110674"/>
                  </a:lnTo>
                  <a:lnTo>
                    <a:pt x="677830" y="148107"/>
                  </a:lnTo>
                  <a:lnTo>
                    <a:pt x="705214" y="189164"/>
                  </a:lnTo>
                  <a:lnTo>
                    <a:pt x="726936" y="233255"/>
                  </a:lnTo>
                  <a:lnTo>
                    <a:pt x="742752" y="279792"/>
                  </a:lnTo>
                  <a:lnTo>
                    <a:pt x="752421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7" y="555475"/>
                  </a:lnTo>
                  <a:lnTo>
                    <a:pt x="688000" y="593720"/>
                  </a:lnTo>
                  <a:lnTo>
                    <a:pt x="660337" y="628791"/>
                  </a:lnTo>
                  <a:lnTo>
                    <a:pt x="628793" y="660335"/>
                  </a:lnTo>
                  <a:lnTo>
                    <a:pt x="593722" y="687998"/>
                  </a:lnTo>
                  <a:lnTo>
                    <a:pt x="555477" y="711426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73097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3" y="330453"/>
                  </a:lnTo>
                  <a:lnTo>
                    <a:pt x="11539" y="284814"/>
                  </a:lnTo>
                  <a:lnTo>
                    <a:pt x="25433" y="241286"/>
                  </a:lnTo>
                  <a:lnTo>
                    <a:pt x="44271" y="200222"/>
                  </a:lnTo>
                  <a:lnTo>
                    <a:pt x="67698" y="161978"/>
                  </a:lnTo>
                  <a:lnTo>
                    <a:pt x="95360" y="126906"/>
                  </a:lnTo>
                  <a:lnTo>
                    <a:pt x="126904" y="95362"/>
                  </a:lnTo>
                  <a:lnTo>
                    <a:pt x="161976" y="67699"/>
                  </a:lnTo>
                  <a:lnTo>
                    <a:pt x="200220" y="44272"/>
                  </a:lnTo>
                  <a:lnTo>
                    <a:pt x="241284" y="25434"/>
                  </a:lnTo>
                  <a:lnTo>
                    <a:pt x="284813" y="11540"/>
                  </a:lnTo>
                  <a:lnTo>
                    <a:pt x="330452" y="2944"/>
                  </a:lnTo>
                  <a:lnTo>
                    <a:pt x="377849" y="0"/>
                  </a:lnTo>
                  <a:lnTo>
                    <a:pt x="427515" y="3276"/>
                  </a:lnTo>
                  <a:lnTo>
                    <a:pt x="475910" y="12943"/>
                  </a:lnTo>
                  <a:lnTo>
                    <a:pt x="522446" y="28759"/>
                  </a:lnTo>
                  <a:lnTo>
                    <a:pt x="566536" y="50481"/>
                  </a:lnTo>
                  <a:lnTo>
                    <a:pt x="607592" y="77867"/>
                  </a:lnTo>
                  <a:lnTo>
                    <a:pt x="645028" y="110674"/>
                  </a:lnTo>
                  <a:lnTo>
                    <a:pt x="677830" y="148107"/>
                  </a:lnTo>
                  <a:lnTo>
                    <a:pt x="705214" y="189164"/>
                  </a:lnTo>
                  <a:lnTo>
                    <a:pt x="726936" y="233255"/>
                  </a:lnTo>
                  <a:lnTo>
                    <a:pt x="742752" y="279792"/>
                  </a:lnTo>
                  <a:lnTo>
                    <a:pt x="752421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7" y="555475"/>
                  </a:lnTo>
                  <a:lnTo>
                    <a:pt x="688000" y="593720"/>
                  </a:lnTo>
                  <a:lnTo>
                    <a:pt x="660337" y="628791"/>
                  </a:lnTo>
                  <a:lnTo>
                    <a:pt x="628793" y="660335"/>
                  </a:lnTo>
                  <a:lnTo>
                    <a:pt x="593722" y="687998"/>
                  </a:lnTo>
                  <a:lnTo>
                    <a:pt x="555477" y="711426"/>
                  </a:lnTo>
                  <a:lnTo>
                    <a:pt x="514414" y="730264"/>
                  </a:lnTo>
                  <a:lnTo>
                    <a:pt x="470885" y="744158"/>
                  </a:lnTo>
                  <a:lnTo>
                    <a:pt x="425245" y="752754"/>
                  </a:lnTo>
                  <a:lnTo>
                    <a:pt x="377849" y="755698"/>
                  </a:lnTo>
                  <a:lnTo>
                    <a:pt x="330452" y="752754"/>
                  </a:lnTo>
                  <a:lnTo>
                    <a:pt x="284813" y="744158"/>
                  </a:lnTo>
                  <a:lnTo>
                    <a:pt x="241284" y="730264"/>
                  </a:lnTo>
                  <a:lnTo>
                    <a:pt x="200220" y="711426"/>
                  </a:lnTo>
                  <a:lnTo>
                    <a:pt x="161976" y="687998"/>
                  </a:lnTo>
                  <a:lnTo>
                    <a:pt x="126904" y="660335"/>
                  </a:lnTo>
                  <a:lnTo>
                    <a:pt x="95360" y="628791"/>
                  </a:lnTo>
                  <a:lnTo>
                    <a:pt x="67698" y="593720"/>
                  </a:lnTo>
                  <a:lnTo>
                    <a:pt x="44271" y="555475"/>
                  </a:lnTo>
                  <a:lnTo>
                    <a:pt x="25433" y="514411"/>
                  </a:lnTo>
                  <a:lnTo>
                    <a:pt x="11539" y="470883"/>
                  </a:lnTo>
                  <a:lnTo>
                    <a:pt x="2943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78980" y="3288484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30451" y="1582659"/>
            <a:ext cx="1698625" cy="1557655"/>
            <a:chOff x="1730451" y="1582659"/>
            <a:chExt cx="1698625" cy="1557655"/>
          </a:xfrm>
        </p:grpSpPr>
        <p:sp>
          <p:nvSpPr>
            <p:cNvPr id="17" name="object 17"/>
            <p:cNvSpPr/>
            <p:nvPr/>
          </p:nvSpPr>
          <p:spPr>
            <a:xfrm>
              <a:off x="1750946" y="234312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49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35214" y="2978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4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35214" y="29780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4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4648" y="2232450"/>
              <a:ext cx="724535" cy="869950"/>
            </a:xfrm>
            <a:custGeom>
              <a:avLst/>
              <a:gdLst/>
              <a:ahLst/>
              <a:cxnLst/>
              <a:rect l="l" t="t" r="r" b="b"/>
              <a:pathLst>
                <a:path w="724535" h="869950">
                  <a:moveTo>
                    <a:pt x="724521" y="0"/>
                  </a:moveTo>
                  <a:lnTo>
                    <a:pt x="0" y="86959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6978" y="3091968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5" h="43814">
                  <a:moveTo>
                    <a:pt x="0" y="43274"/>
                  </a:moveTo>
                  <a:lnTo>
                    <a:pt x="15582" y="0"/>
                  </a:lnTo>
                  <a:lnTo>
                    <a:pt x="39757" y="20149"/>
                  </a:lnTo>
                  <a:lnTo>
                    <a:pt x="0" y="432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6978" y="3091968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5" h="43814">
                  <a:moveTo>
                    <a:pt x="15582" y="0"/>
                  </a:moveTo>
                  <a:lnTo>
                    <a:pt x="0" y="43274"/>
                  </a:lnTo>
                  <a:lnTo>
                    <a:pt x="39757" y="20149"/>
                  </a:lnTo>
                  <a:lnTo>
                    <a:pt x="1558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68494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7"/>
                  </a:lnTo>
                  <a:lnTo>
                    <a:pt x="161978" y="688000"/>
                  </a:lnTo>
                  <a:lnTo>
                    <a:pt x="126906" y="660337"/>
                  </a:lnTo>
                  <a:lnTo>
                    <a:pt x="95362" y="628793"/>
                  </a:lnTo>
                  <a:lnTo>
                    <a:pt x="67699" y="593722"/>
                  </a:lnTo>
                  <a:lnTo>
                    <a:pt x="44272" y="555477"/>
                  </a:lnTo>
                  <a:lnTo>
                    <a:pt x="25434" y="514414"/>
                  </a:lnTo>
                  <a:lnTo>
                    <a:pt x="11540" y="470885"/>
                  </a:lnTo>
                  <a:lnTo>
                    <a:pt x="2944" y="425245"/>
                  </a:lnTo>
                  <a:lnTo>
                    <a:pt x="0" y="377849"/>
                  </a:ln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5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6" y="555477"/>
                  </a:lnTo>
                  <a:lnTo>
                    <a:pt x="687998" y="593722"/>
                  </a:lnTo>
                  <a:lnTo>
                    <a:pt x="660335" y="628793"/>
                  </a:lnTo>
                  <a:lnTo>
                    <a:pt x="628791" y="660337"/>
                  </a:lnTo>
                  <a:lnTo>
                    <a:pt x="593720" y="688000"/>
                  </a:lnTo>
                  <a:lnTo>
                    <a:pt x="555475" y="711427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68494" y="1587421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4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5"/>
                  </a:lnTo>
                  <a:lnTo>
                    <a:pt x="744158" y="470885"/>
                  </a:lnTo>
                  <a:lnTo>
                    <a:pt x="730264" y="514414"/>
                  </a:lnTo>
                  <a:lnTo>
                    <a:pt x="711426" y="555477"/>
                  </a:lnTo>
                  <a:lnTo>
                    <a:pt x="687998" y="593722"/>
                  </a:lnTo>
                  <a:lnTo>
                    <a:pt x="660335" y="628793"/>
                  </a:lnTo>
                  <a:lnTo>
                    <a:pt x="628791" y="660337"/>
                  </a:lnTo>
                  <a:lnTo>
                    <a:pt x="593720" y="688000"/>
                  </a:lnTo>
                  <a:lnTo>
                    <a:pt x="555475" y="711427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7"/>
                  </a:lnTo>
                  <a:lnTo>
                    <a:pt x="161978" y="688000"/>
                  </a:lnTo>
                  <a:lnTo>
                    <a:pt x="126906" y="660337"/>
                  </a:lnTo>
                  <a:lnTo>
                    <a:pt x="95362" y="628793"/>
                  </a:lnTo>
                  <a:lnTo>
                    <a:pt x="67699" y="593722"/>
                  </a:lnTo>
                  <a:lnTo>
                    <a:pt x="44272" y="555477"/>
                  </a:lnTo>
                  <a:lnTo>
                    <a:pt x="25434" y="514414"/>
                  </a:lnTo>
                  <a:lnTo>
                    <a:pt x="11540" y="470885"/>
                  </a:lnTo>
                  <a:lnTo>
                    <a:pt x="2944" y="425245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2154" y="3291268"/>
            <a:ext cx="70294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90500" marR="5080" indent="-1784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Drive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Red  Cars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69476" y="1840686"/>
            <a:ext cx="1543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U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61898" y="1786950"/>
            <a:ext cx="77660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52400" marR="5080" indent="-14033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Aggressive  Driving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63732" y="3030456"/>
            <a:ext cx="765810" cy="765810"/>
            <a:chOff x="2663732" y="3030456"/>
            <a:chExt cx="765810" cy="765810"/>
          </a:xfrm>
        </p:grpSpPr>
        <p:sp>
          <p:nvSpPr>
            <p:cNvPr id="29" name="object 29"/>
            <p:cNvSpPr/>
            <p:nvPr/>
          </p:nvSpPr>
          <p:spPr>
            <a:xfrm>
              <a:off x="2668494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lnTo>
                    <a:pt x="2944" y="330453"/>
                  </a:lnTo>
                  <a:lnTo>
                    <a:pt x="11540" y="284814"/>
                  </a:lnTo>
                  <a:lnTo>
                    <a:pt x="25434" y="241286"/>
                  </a:lnTo>
                  <a:lnTo>
                    <a:pt x="44272" y="200222"/>
                  </a:lnTo>
                  <a:lnTo>
                    <a:pt x="67699" y="161978"/>
                  </a:lnTo>
                  <a:lnTo>
                    <a:pt x="95362" y="126906"/>
                  </a:lnTo>
                  <a:lnTo>
                    <a:pt x="126906" y="95362"/>
                  </a:lnTo>
                  <a:lnTo>
                    <a:pt x="161978" y="67699"/>
                  </a:lnTo>
                  <a:lnTo>
                    <a:pt x="200222" y="44272"/>
                  </a:lnTo>
                  <a:lnTo>
                    <a:pt x="241286" y="25434"/>
                  </a:lnTo>
                  <a:lnTo>
                    <a:pt x="284814" y="11540"/>
                  </a:lnTo>
                  <a:lnTo>
                    <a:pt x="330453" y="2944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3"/>
                  </a:lnTo>
                  <a:lnTo>
                    <a:pt x="522442" y="28759"/>
                  </a:lnTo>
                  <a:lnTo>
                    <a:pt x="566534" y="50481"/>
                  </a:lnTo>
                  <a:lnTo>
                    <a:pt x="607590" y="77867"/>
                  </a:lnTo>
                  <a:lnTo>
                    <a:pt x="645023" y="110674"/>
                  </a:lnTo>
                  <a:lnTo>
                    <a:pt x="677831" y="148107"/>
                  </a:lnTo>
                  <a:lnTo>
                    <a:pt x="705217" y="189164"/>
                  </a:lnTo>
                  <a:lnTo>
                    <a:pt x="726939" y="233255"/>
                  </a:lnTo>
                  <a:lnTo>
                    <a:pt x="742755" y="279792"/>
                  </a:lnTo>
                  <a:lnTo>
                    <a:pt x="752422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68494" y="3035218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5" h="756285">
                  <a:moveTo>
                    <a:pt x="0" y="377849"/>
                  </a:moveTo>
                  <a:lnTo>
                    <a:pt x="2944" y="330453"/>
                  </a:lnTo>
                  <a:lnTo>
                    <a:pt x="11540" y="284814"/>
                  </a:lnTo>
                  <a:lnTo>
                    <a:pt x="25434" y="241286"/>
                  </a:lnTo>
                  <a:lnTo>
                    <a:pt x="44272" y="200222"/>
                  </a:lnTo>
                  <a:lnTo>
                    <a:pt x="67699" y="161978"/>
                  </a:lnTo>
                  <a:lnTo>
                    <a:pt x="95362" y="126906"/>
                  </a:lnTo>
                  <a:lnTo>
                    <a:pt x="126906" y="95362"/>
                  </a:lnTo>
                  <a:lnTo>
                    <a:pt x="161978" y="67699"/>
                  </a:lnTo>
                  <a:lnTo>
                    <a:pt x="200222" y="44272"/>
                  </a:lnTo>
                  <a:lnTo>
                    <a:pt x="241286" y="25434"/>
                  </a:lnTo>
                  <a:lnTo>
                    <a:pt x="284814" y="11540"/>
                  </a:lnTo>
                  <a:lnTo>
                    <a:pt x="330453" y="2944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3"/>
                  </a:lnTo>
                  <a:lnTo>
                    <a:pt x="522442" y="28759"/>
                  </a:lnTo>
                  <a:lnTo>
                    <a:pt x="566534" y="50481"/>
                  </a:lnTo>
                  <a:lnTo>
                    <a:pt x="607590" y="77867"/>
                  </a:lnTo>
                  <a:lnTo>
                    <a:pt x="645023" y="110674"/>
                  </a:lnTo>
                  <a:lnTo>
                    <a:pt x="677831" y="148107"/>
                  </a:lnTo>
                  <a:lnTo>
                    <a:pt x="705217" y="189164"/>
                  </a:lnTo>
                  <a:lnTo>
                    <a:pt x="726939" y="233255"/>
                  </a:lnTo>
                  <a:lnTo>
                    <a:pt x="742754" y="279792"/>
                  </a:lnTo>
                  <a:lnTo>
                    <a:pt x="752422" y="328187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974377" y="3288484"/>
            <a:ext cx="144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25856" y="2343120"/>
            <a:ext cx="41275" cy="683260"/>
            <a:chOff x="3025856" y="2343120"/>
            <a:chExt cx="41275" cy="683260"/>
          </a:xfrm>
        </p:grpSpPr>
        <p:sp>
          <p:nvSpPr>
            <p:cNvPr id="33" name="object 33"/>
            <p:cNvSpPr/>
            <p:nvPr/>
          </p:nvSpPr>
          <p:spPr>
            <a:xfrm>
              <a:off x="3046343" y="2343120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0" y="6349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30618" y="2978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30618" y="297806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24162" y="3291144"/>
            <a:ext cx="607695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05410" marR="5080" indent="-93345">
              <a:lnSpc>
                <a:spcPts val="1420"/>
              </a:lnSpc>
              <a:spcBef>
                <a:spcPts val="160"/>
              </a:spcBef>
            </a:pPr>
            <a:r>
              <a:rPr sz="1200" spc="-5" dirty="0">
                <a:latin typeface="Arial"/>
                <a:cs typeface="Arial"/>
              </a:rPr>
              <a:t>Accident  Rates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62235" y="4287003"/>
            <a:ext cx="1157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Kusner et al,</a:t>
            </a:r>
            <a:r>
              <a:rPr sz="11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1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2017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699771" y="3123156"/>
            <a:ext cx="573405" cy="573405"/>
            <a:chOff x="7699771" y="3123156"/>
            <a:chExt cx="573405" cy="573405"/>
          </a:xfrm>
        </p:grpSpPr>
        <p:sp>
          <p:nvSpPr>
            <p:cNvPr id="39" name="object 39"/>
            <p:cNvSpPr/>
            <p:nvPr/>
          </p:nvSpPr>
          <p:spPr>
            <a:xfrm>
              <a:off x="7704534" y="3127918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99" y="563398"/>
                  </a:moveTo>
                  <a:lnTo>
                    <a:pt x="236007" y="559712"/>
                  </a:lnTo>
                  <a:lnTo>
                    <a:pt x="192662" y="549039"/>
                  </a:lnTo>
                  <a:lnTo>
                    <a:pt x="152243" y="531960"/>
                  </a:lnTo>
                  <a:lnTo>
                    <a:pt x="115332" y="509053"/>
                  </a:lnTo>
                  <a:lnTo>
                    <a:pt x="82509" y="480899"/>
                  </a:lnTo>
                  <a:lnTo>
                    <a:pt x="54352" y="448076"/>
                  </a:lnTo>
                  <a:lnTo>
                    <a:pt x="31443" y="411165"/>
                  </a:lnTo>
                  <a:lnTo>
                    <a:pt x="14361" y="370746"/>
                  </a:lnTo>
                  <a:lnTo>
                    <a:pt x="3687" y="327397"/>
                  </a:lnTo>
                  <a:lnTo>
                    <a:pt x="0" y="281699"/>
                  </a:lnTo>
                  <a:lnTo>
                    <a:pt x="3687" y="236007"/>
                  </a:lnTo>
                  <a:lnTo>
                    <a:pt x="14361" y="192662"/>
                  </a:lnTo>
                  <a:lnTo>
                    <a:pt x="31443" y="152243"/>
                  </a:lnTo>
                  <a:lnTo>
                    <a:pt x="54352" y="115332"/>
                  </a:lnTo>
                  <a:lnTo>
                    <a:pt x="82509" y="82509"/>
                  </a:lnTo>
                  <a:lnTo>
                    <a:pt x="115332" y="54352"/>
                  </a:lnTo>
                  <a:lnTo>
                    <a:pt x="152243" y="31443"/>
                  </a:lnTo>
                  <a:lnTo>
                    <a:pt x="192662" y="14361"/>
                  </a:lnTo>
                  <a:lnTo>
                    <a:pt x="236007" y="3687"/>
                  </a:lnTo>
                  <a:lnTo>
                    <a:pt x="281699" y="0"/>
                  </a:lnTo>
                  <a:lnTo>
                    <a:pt x="336920" y="5466"/>
                  </a:lnTo>
                  <a:lnTo>
                    <a:pt x="389511" y="21453"/>
                  </a:lnTo>
                  <a:lnTo>
                    <a:pt x="437996" y="47344"/>
                  </a:lnTo>
                  <a:lnTo>
                    <a:pt x="480899" y="82524"/>
                  </a:lnTo>
                  <a:lnTo>
                    <a:pt x="516075" y="125426"/>
                  </a:lnTo>
                  <a:lnTo>
                    <a:pt x="541958" y="173909"/>
                  </a:lnTo>
                  <a:lnTo>
                    <a:pt x="557936" y="226492"/>
                  </a:lnTo>
                  <a:lnTo>
                    <a:pt x="563398" y="281699"/>
                  </a:lnTo>
                  <a:lnTo>
                    <a:pt x="559711" y="327397"/>
                  </a:lnTo>
                  <a:lnTo>
                    <a:pt x="549037" y="370746"/>
                  </a:lnTo>
                  <a:lnTo>
                    <a:pt x="531955" y="411165"/>
                  </a:lnTo>
                  <a:lnTo>
                    <a:pt x="509046" y="448076"/>
                  </a:lnTo>
                  <a:lnTo>
                    <a:pt x="480889" y="480899"/>
                  </a:lnTo>
                  <a:lnTo>
                    <a:pt x="448065" y="509053"/>
                  </a:lnTo>
                  <a:lnTo>
                    <a:pt x="411154" y="531960"/>
                  </a:lnTo>
                  <a:lnTo>
                    <a:pt x="370736" y="549039"/>
                  </a:lnTo>
                  <a:lnTo>
                    <a:pt x="327391" y="559712"/>
                  </a:lnTo>
                  <a:lnTo>
                    <a:pt x="281699" y="5633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04534" y="3127918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0" y="281699"/>
                  </a:moveTo>
                  <a:lnTo>
                    <a:pt x="3687" y="236007"/>
                  </a:lnTo>
                  <a:lnTo>
                    <a:pt x="14361" y="192662"/>
                  </a:lnTo>
                  <a:lnTo>
                    <a:pt x="31443" y="152243"/>
                  </a:lnTo>
                  <a:lnTo>
                    <a:pt x="54352" y="115332"/>
                  </a:lnTo>
                  <a:lnTo>
                    <a:pt x="82509" y="82509"/>
                  </a:lnTo>
                  <a:lnTo>
                    <a:pt x="115332" y="54352"/>
                  </a:lnTo>
                  <a:lnTo>
                    <a:pt x="152243" y="31443"/>
                  </a:lnTo>
                  <a:lnTo>
                    <a:pt x="192662" y="14361"/>
                  </a:lnTo>
                  <a:lnTo>
                    <a:pt x="236007" y="3687"/>
                  </a:lnTo>
                  <a:lnTo>
                    <a:pt x="281699" y="0"/>
                  </a:lnTo>
                  <a:lnTo>
                    <a:pt x="336920" y="5466"/>
                  </a:lnTo>
                  <a:lnTo>
                    <a:pt x="389511" y="21453"/>
                  </a:lnTo>
                  <a:lnTo>
                    <a:pt x="437996" y="47344"/>
                  </a:lnTo>
                  <a:lnTo>
                    <a:pt x="480899" y="82524"/>
                  </a:lnTo>
                  <a:lnTo>
                    <a:pt x="516075" y="125426"/>
                  </a:lnTo>
                  <a:lnTo>
                    <a:pt x="541958" y="173909"/>
                  </a:lnTo>
                  <a:lnTo>
                    <a:pt x="557936" y="226492"/>
                  </a:lnTo>
                  <a:lnTo>
                    <a:pt x="563398" y="281699"/>
                  </a:lnTo>
                  <a:lnTo>
                    <a:pt x="559711" y="327397"/>
                  </a:lnTo>
                  <a:lnTo>
                    <a:pt x="549037" y="370746"/>
                  </a:lnTo>
                  <a:lnTo>
                    <a:pt x="531955" y="411165"/>
                  </a:lnTo>
                  <a:lnTo>
                    <a:pt x="509046" y="448076"/>
                  </a:lnTo>
                  <a:lnTo>
                    <a:pt x="480889" y="480899"/>
                  </a:lnTo>
                  <a:lnTo>
                    <a:pt x="448065" y="509053"/>
                  </a:lnTo>
                  <a:lnTo>
                    <a:pt x="411154" y="531960"/>
                  </a:lnTo>
                  <a:lnTo>
                    <a:pt x="370736" y="549039"/>
                  </a:lnTo>
                  <a:lnTo>
                    <a:pt x="327391" y="559712"/>
                  </a:lnTo>
                  <a:lnTo>
                    <a:pt x="281699" y="563398"/>
                  </a:lnTo>
                  <a:lnTo>
                    <a:pt x="236007" y="559712"/>
                  </a:lnTo>
                  <a:lnTo>
                    <a:pt x="192662" y="549039"/>
                  </a:lnTo>
                  <a:lnTo>
                    <a:pt x="152243" y="531960"/>
                  </a:lnTo>
                  <a:lnTo>
                    <a:pt x="115332" y="509053"/>
                  </a:lnTo>
                  <a:lnTo>
                    <a:pt x="82509" y="480899"/>
                  </a:lnTo>
                  <a:lnTo>
                    <a:pt x="54352" y="448076"/>
                  </a:lnTo>
                  <a:lnTo>
                    <a:pt x="31443" y="411165"/>
                  </a:lnTo>
                  <a:lnTo>
                    <a:pt x="14361" y="370746"/>
                  </a:lnTo>
                  <a:lnTo>
                    <a:pt x="3687" y="327397"/>
                  </a:lnTo>
                  <a:lnTo>
                    <a:pt x="0" y="2816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72133" y="3330947"/>
            <a:ext cx="2286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A=a'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984473" y="3107581"/>
            <a:ext cx="603885" cy="603885"/>
            <a:chOff x="6984473" y="3107581"/>
            <a:chExt cx="603885" cy="603885"/>
          </a:xfrm>
        </p:grpSpPr>
        <p:sp>
          <p:nvSpPr>
            <p:cNvPr id="43" name="object 43"/>
            <p:cNvSpPr/>
            <p:nvPr/>
          </p:nvSpPr>
          <p:spPr>
            <a:xfrm>
              <a:off x="6989236" y="3112343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49" y="594298"/>
                  </a:moveTo>
                  <a:lnTo>
                    <a:pt x="248953" y="590410"/>
                  </a:lnTo>
                  <a:lnTo>
                    <a:pt x="203231" y="579151"/>
                  </a:lnTo>
                  <a:lnTo>
                    <a:pt x="160597" y="561134"/>
                  </a:lnTo>
                  <a:lnTo>
                    <a:pt x="121661" y="536970"/>
                  </a:lnTo>
                  <a:lnTo>
                    <a:pt x="87037" y="507270"/>
                  </a:lnTo>
                  <a:lnTo>
                    <a:pt x="57335" y="472647"/>
                  </a:lnTo>
                  <a:lnTo>
                    <a:pt x="33169" y="433712"/>
                  </a:lnTo>
                  <a:lnTo>
                    <a:pt x="15149" y="391076"/>
                  </a:lnTo>
                  <a:lnTo>
                    <a:pt x="3889" y="345351"/>
                  </a:lnTo>
                  <a:lnTo>
                    <a:pt x="0" y="297149"/>
                  </a:lnTo>
                  <a:lnTo>
                    <a:pt x="3889" y="248953"/>
                  </a:lnTo>
                  <a:lnTo>
                    <a:pt x="15149" y="203231"/>
                  </a:lnTo>
                  <a:lnTo>
                    <a:pt x="33169" y="160597"/>
                  </a:lnTo>
                  <a:lnTo>
                    <a:pt x="57335" y="121661"/>
                  </a:lnTo>
                  <a:lnTo>
                    <a:pt x="87051" y="87024"/>
                  </a:lnTo>
                  <a:lnTo>
                    <a:pt x="121661" y="57335"/>
                  </a:lnTo>
                  <a:lnTo>
                    <a:pt x="160597" y="33169"/>
                  </a:lnTo>
                  <a:lnTo>
                    <a:pt x="203231" y="15149"/>
                  </a:lnTo>
                  <a:lnTo>
                    <a:pt x="248953" y="3889"/>
                  </a:lnTo>
                  <a:lnTo>
                    <a:pt x="297149" y="0"/>
                  </a:lnTo>
                  <a:lnTo>
                    <a:pt x="343921" y="3700"/>
                  </a:lnTo>
                  <a:lnTo>
                    <a:pt x="389116" y="14583"/>
                  </a:lnTo>
                  <a:lnTo>
                    <a:pt x="431938" y="32318"/>
                  </a:lnTo>
                  <a:lnTo>
                    <a:pt x="471589" y="56575"/>
                  </a:lnTo>
                  <a:lnTo>
                    <a:pt x="507284" y="87037"/>
                  </a:lnTo>
                  <a:lnTo>
                    <a:pt x="537722" y="122711"/>
                  </a:lnTo>
                  <a:lnTo>
                    <a:pt x="561979" y="162367"/>
                  </a:lnTo>
                  <a:lnTo>
                    <a:pt x="579714" y="205192"/>
                  </a:lnTo>
                  <a:lnTo>
                    <a:pt x="590597" y="250386"/>
                  </a:lnTo>
                  <a:lnTo>
                    <a:pt x="594298" y="297149"/>
                  </a:lnTo>
                  <a:lnTo>
                    <a:pt x="590410" y="345351"/>
                  </a:lnTo>
                  <a:lnTo>
                    <a:pt x="579151" y="391076"/>
                  </a:lnTo>
                  <a:lnTo>
                    <a:pt x="561134" y="433712"/>
                  </a:lnTo>
                  <a:lnTo>
                    <a:pt x="536970" y="472647"/>
                  </a:lnTo>
                  <a:lnTo>
                    <a:pt x="507270" y="507270"/>
                  </a:lnTo>
                  <a:lnTo>
                    <a:pt x="472647" y="536970"/>
                  </a:lnTo>
                  <a:lnTo>
                    <a:pt x="433712" y="561134"/>
                  </a:lnTo>
                  <a:lnTo>
                    <a:pt x="391076" y="579151"/>
                  </a:lnTo>
                  <a:lnTo>
                    <a:pt x="345351" y="590410"/>
                  </a:lnTo>
                  <a:lnTo>
                    <a:pt x="297149" y="5942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89236" y="3112343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0" y="297149"/>
                  </a:moveTo>
                  <a:lnTo>
                    <a:pt x="3889" y="248952"/>
                  </a:lnTo>
                  <a:lnTo>
                    <a:pt x="15149" y="203231"/>
                  </a:lnTo>
                  <a:lnTo>
                    <a:pt x="33169" y="160597"/>
                  </a:lnTo>
                  <a:lnTo>
                    <a:pt x="57335" y="121661"/>
                  </a:lnTo>
                  <a:lnTo>
                    <a:pt x="87037" y="87037"/>
                  </a:lnTo>
                  <a:lnTo>
                    <a:pt x="121661" y="57335"/>
                  </a:lnTo>
                  <a:lnTo>
                    <a:pt x="160597" y="33169"/>
                  </a:lnTo>
                  <a:lnTo>
                    <a:pt x="203231" y="15149"/>
                  </a:lnTo>
                  <a:lnTo>
                    <a:pt x="248952" y="3889"/>
                  </a:lnTo>
                  <a:lnTo>
                    <a:pt x="297149" y="0"/>
                  </a:lnTo>
                  <a:lnTo>
                    <a:pt x="343921" y="3700"/>
                  </a:lnTo>
                  <a:lnTo>
                    <a:pt x="389116" y="14583"/>
                  </a:lnTo>
                  <a:lnTo>
                    <a:pt x="431938" y="32318"/>
                  </a:lnTo>
                  <a:lnTo>
                    <a:pt x="471589" y="56575"/>
                  </a:lnTo>
                  <a:lnTo>
                    <a:pt x="507273" y="87024"/>
                  </a:lnTo>
                  <a:lnTo>
                    <a:pt x="537722" y="122711"/>
                  </a:lnTo>
                  <a:lnTo>
                    <a:pt x="561979" y="162367"/>
                  </a:lnTo>
                  <a:lnTo>
                    <a:pt x="579714" y="205192"/>
                  </a:lnTo>
                  <a:lnTo>
                    <a:pt x="590597" y="250386"/>
                  </a:lnTo>
                  <a:lnTo>
                    <a:pt x="594298" y="297149"/>
                  </a:lnTo>
                  <a:lnTo>
                    <a:pt x="590409" y="345351"/>
                  </a:lnTo>
                  <a:lnTo>
                    <a:pt x="579151" y="391076"/>
                  </a:lnTo>
                  <a:lnTo>
                    <a:pt x="561134" y="433712"/>
                  </a:lnTo>
                  <a:lnTo>
                    <a:pt x="536970" y="472647"/>
                  </a:lnTo>
                  <a:lnTo>
                    <a:pt x="507270" y="507270"/>
                  </a:lnTo>
                  <a:lnTo>
                    <a:pt x="472647" y="536970"/>
                  </a:lnTo>
                  <a:lnTo>
                    <a:pt x="433712" y="561134"/>
                  </a:lnTo>
                  <a:lnTo>
                    <a:pt x="391076" y="579151"/>
                  </a:lnTo>
                  <a:lnTo>
                    <a:pt x="345351" y="590409"/>
                  </a:lnTo>
                  <a:lnTo>
                    <a:pt x="297149" y="594298"/>
                  </a:lnTo>
                  <a:lnTo>
                    <a:pt x="248952" y="590409"/>
                  </a:lnTo>
                  <a:lnTo>
                    <a:pt x="203231" y="579151"/>
                  </a:lnTo>
                  <a:lnTo>
                    <a:pt x="160597" y="561134"/>
                  </a:lnTo>
                  <a:lnTo>
                    <a:pt x="121661" y="536970"/>
                  </a:lnTo>
                  <a:lnTo>
                    <a:pt x="87037" y="507270"/>
                  </a:lnTo>
                  <a:lnTo>
                    <a:pt x="57335" y="472647"/>
                  </a:lnTo>
                  <a:lnTo>
                    <a:pt x="33169" y="433712"/>
                  </a:lnTo>
                  <a:lnTo>
                    <a:pt x="15149" y="391076"/>
                  </a:lnTo>
                  <a:lnTo>
                    <a:pt x="3889" y="345351"/>
                  </a:lnTo>
                  <a:lnTo>
                    <a:pt x="0" y="2971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227728" y="3315511"/>
            <a:ext cx="1174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X</a:t>
            </a:r>
            <a:r>
              <a:rPr sz="1000" dirty="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63101" y="2569707"/>
            <a:ext cx="2546350" cy="1139825"/>
            <a:chOff x="5163101" y="2569707"/>
            <a:chExt cx="2546350" cy="1139825"/>
          </a:xfrm>
        </p:grpSpPr>
        <p:sp>
          <p:nvSpPr>
            <p:cNvPr id="47" name="object 47"/>
            <p:cNvSpPr/>
            <p:nvPr/>
          </p:nvSpPr>
          <p:spPr>
            <a:xfrm>
              <a:off x="6794811" y="2574469"/>
              <a:ext cx="909955" cy="835660"/>
            </a:xfrm>
            <a:custGeom>
              <a:avLst/>
              <a:gdLst/>
              <a:ahLst/>
              <a:cxnLst/>
              <a:rect l="l" t="t" r="r" b="b"/>
              <a:pathLst>
                <a:path w="909954" h="835660">
                  <a:moveTo>
                    <a:pt x="909723" y="835148"/>
                  </a:moveTo>
                  <a:lnTo>
                    <a:pt x="845923" y="835148"/>
                  </a:lnTo>
                </a:path>
                <a:path w="909954" h="835660">
                  <a:moveTo>
                    <a:pt x="0" y="0"/>
                  </a:moveTo>
                  <a:lnTo>
                    <a:pt x="453124" y="4957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36310" y="3059643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4">
                  <a:moveTo>
                    <a:pt x="40774" y="42499"/>
                  </a:moveTo>
                  <a:lnTo>
                    <a:pt x="0" y="21224"/>
                  </a:lnTo>
                  <a:lnTo>
                    <a:pt x="23224" y="0"/>
                  </a:lnTo>
                  <a:lnTo>
                    <a:pt x="40774" y="424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36310" y="3059643"/>
              <a:ext cx="41275" cy="42545"/>
            </a:xfrm>
            <a:custGeom>
              <a:avLst/>
              <a:gdLst/>
              <a:ahLst/>
              <a:cxnLst/>
              <a:rect l="l" t="t" r="r" b="b"/>
              <a:pathLst>
                <a:path w="41275" h="42544">
                  <a:moveTo>
                    <a:pt x="0" y="21224"/>
                  </a:moveTo>
                  <a:lnTo>
                    <a:pt x="40774" y="42499"/>
                  </a:lnTo>
                  <a:lnTo>
                    <a:pt x="23224" y="0"/>
                  </a:lnTo>
                  <a:lnTo>
                    <a:pt x="0" y="21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97509" y="33938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97509" y="33938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67864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306524" y="613048"/>
                  </a:moveTo>
                  <a:lnTo>
                    <a:pt x="256807" y="609037"/>
                  </a:lnTo>
                  <a:lnTo>
                    <a:pt x="209644" y="597423"/>
                  </a:lnTo>
                  <a:lnTo>
                    <a:pt x="165664" y="578837"/>
                  </a:lnTo>
                  <a:lnTo>
                    <a:pt x="125501" y="553910"/>
                  </a:lnTo>
                  <a:lnTo>
                    <a:pt x="89784" y="523273"/>
                  </a:lnTo>
                  <a:lnTo>
                    <a:pt x="59145" y="487558"/>
                  </a:lnTo>
                  <a:lnTo>
                    <a:pt x="34216" y="447394"/>
                  </a:lnTo>
                  <a:lnTo>
                    <a:pt x="15628" y="403413"/>
                  </a:lnTo>
                  <a:lnTo>
                    <a:pt x="4012" y="356246"/>
                  </a:lnTo>
                  <a:lnTo>
                    <a:pt x="0" y="306524"/>
                  </a:lnTo>
                  <a:lnTo>
                    <a:pt x="4012" y="256807"/>
                  </a:lnTo>
                  <a:lnTo>
                    <a:pt x="15628" y="209644"/>
                  </a:lnTo>
                  <a:lnTo>
                    <a:pt x="34216" y="165664"/>
                  </a:lnTo>
                  <a:lnTo>
                    <a:pt x="59145" y="125501"/>
                  </a:lnTo>
                  <a:lnTo>
                    <a:pt x="89784" y="89784"/>
                  </a:lnTo>
                  <a:lnTo>
                    <a:pt x="125501" y="59145"/>
                  </a:lnTo>
                  <a:lnTo>
                    <a:pt x="165664" y="34216"/>
                  </a:lnTo>
                  <a:lnTo>
                    <a:pt x="209644" y="15628"/>
                  </a:lnTo>
                  <a:lnTo>
                    <a:pt x="256807" y="4012"/>
                  </a:lnTo>
                  <a:lnTo>
                    <a:pt x="306524" y="0"/>
                  </a:lnTo>
                  <a:lnTo>
                    <a:pt x="354765" y="3819"/>
                  </a:lnTo>
                  <a:lnTo>
                    <a:pt x="401381" y="15049"/>
                  </a:lnTo>
                  <a:lnTo>
                    <a:pt x="445552" y="33350"/>
                  </a:lnTo>
                  <a:lnTo>
                    <a:pt x="486456" y="58380"/>
                  </a:lnTo>
                  <a:lnTo>
                    <a:pt x="523273" y="89799"/>
                  </a:lnTo>
                  <a:lnTo>
                    <a:pt x="554680" y="126607"/>
                  </a:lnTo>
                  <a:lnTo>
                    <a:pt x="579703" y="167508"/>
                  </a:lnTo>
                  <a:lnTo>
                    <a:pt x="598000" y="211679"/>
                  </a:lnTo>
                  <a:lnTo>
                    <a:pt x="609229" y="258293"/>
                  </a:lnTo>
                  <a:lnTo>
                    <a:pt x="613048" y="306524"/>
                  </a:lnTo>
                  <a:lnTo>
                    <a:pt x="609036" y="356246"/>
                  </a:lnTo>
                  <a:lnTo>
                    <a:pt x="597420" y="403413"/>
                  </a:lnTo>
                  <a:lnTo>
                    <a:pt x="578832" y="447394"/>
                  </a:lnTo>
                  <a:lnTo>
                    <a:pt x="553903" y="487558"/>
                  </a:lnTo>
                  <a:lnTo>
                    <a:pt x="523264" y="523273"/>
                  </a:lnTo>
                  <a:lnTo>
                    <a:pt x="487547" y="553910"/>
                  </a:lnTo>
                  <a:lnTo>
                    <a:pt x="447383" y="578837"/>
                  </a:lnTo>
                  <a:lnTo>
                    <a:pt x="403404" y="597423"/>
                  </a:lnTo>
                  <a:lnTo>
                    <a:pt x="356240" y="609037"/>
                  </a:lnTo>
                  <a:lnTo>
                    <a:pt x="306524" y="61304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67864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0" y="306524"/>
                  </a:moveTo>
                  <a:lnTo>
                    <a:pt x="4012" y="256807"/>
                  </a:lnTo>
                  <a:lnTo>
                    <a:pt x="15628" y="209644"/>
                  </a:lnTo>
                  <a:lnTo>
                    <a:pt x="34216" y="165664"/>
                  </a:lnTo>
                  <a:lnTo>
                    <a:pt x="59145" y="125501"/>
                  </a:lnTo>
                  <a:lnTo>
                    <a:pt x="89784" y="89784"/>
                  </a:lnTo>
                  <a:lnTo>
                    <a:pt x="125501" y="59145"/>
                  </a:lnTo>
                  <a:lnTo>
                    <a:pt x="165664" y="34216"/>
                  </a:lnTo>
                  <a:lnTo>
                    <a:pt x="209644" y="15628"/>
                  </a:lnTo>
                  <a:lnTo>
                    <a:pt x="256807" y="4012"/>
                  </a:lnTo>
                  <a:lnTo>
                    <a:pt x="306524" y="0"/>
                  </a:lnTo>
                  <a:lnTo>
                    <a:pt x="354765" y="3819"/>
                  </a:lnTo>
                  <a:lnTo>
                    <a:pt x="401381" y="15049"/>
                  </a:lnTo>
                  <a:lnTo>
                    <a:pt x="445552" y="33350"/>
                  </a:lnTo>
                  <a:lnTo>
                    <a:pt x="486456" y="58380"/>
                  </a:lnTo>
                  <a:lnTo>
                    <a:pt x="523273" y="89799"/>
                  </a:lnTo>
                  <a:lnTo>
                    <a:pt x="554680" y="126607"/>
                  </a:lnTo>
                  <a:lnTo>
                    <a:pt x="579703" y="167508"/>
                  </a:lnTo>
                  <a:lnTo>
                    <a:pt x="598000" y="211679"/>
                  </a:lnTo>
                  <a:lnTo>
                    <a:pt x="609229" y="258293"/>
                  </a:lnTo>
                  <a:lnTo>
                    <a:pt x="613048" y="306524"/>
                  </a:lnTo>
                  <a:lnTo>
                    <a:pt x="609036" y="356246"/>
                  </a:lnTo>
                  <a:lnTo>
                    <a:pt x="597420" y="403413"/>
                  </a:lnTo>
                  <a:lnTo>
                    <a:pt x="578832" y="447394"/>
                  </a:lnTo>
                  <a:lnTo>
                    <a:pt x="553903" y="487558"/>
                  </a:lnTo>
                  <a:lnTo>
                    <a:pt x="523264" y="523273"/>
                  </a:lnTo>
                  <a:lnTo>
                    <a:pt x="487547" y="553910"/>
                  </a:lnTo>
                  <a:lnTo>
                    <a:pt x="447383" y="578837"/>
                  </a:lnTo>
                  <a:lnTo>
                    <a:pt x="403404" y="597422"/>
                  </a:lnTo>
                  <a:lnTo>
                    <a:pt x="356240" y="609037"/>
                  </a:lnTo>
                  <a:lnTo>
                    <a:pt x="306524" y="613048"/>
                  </a:lnTo>
                  <a:lnTo>
                    <a:pt x="256807" y="609037"/>
                  </a:lnTo>
                  <a:lnTo>
                    <a:pt x="209644" y="597422"/>
                  </a:lnTo>
                  <a:lnTo>
                    <a:pt x="165664" y="578837"/>
                  </a:lnTo>
                  <a:lnTo>
                    <a:pt x="125501" y="553910"/>
                  </a:lnTo>
                  <a:lnTo>
                    <a:pt x="89784" y="523273"/>
                  </a:lnTo>
                  <a:lnTo>
                    <a:pt x="59145" y="487558"/>
                  </a:lnTo>
                  <a:lnTo>
                    <a:pt x="34216" y="447394"/>
                  </a:lnTo>
                  <a:lnTo>
                    <a:pt x="15628" y="403413"/>
                  </a:lnTo>
                  <a:lnTo>
                    <a:pt x="4012" y="356246"/>
                  </a:lnTo>
                  <a:lnTo>
                    <a:pt x="0" y="3065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4452554" y="4039063"/>
            <a:ext cx="4023228" cy="2029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427838" y="331955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900900" y="3102981"/>
            <a:ext cx="590550" cy="590550"/>
            <a:chOff x="5900900" y="3102981"/>
            <a:chExt cx="590550" cy="590550"/>
          </a:xfrm>
        </p:grpSpPr>
        <p:sp>
          <p:nvSpPr>
            <p:cNvPr id="57" name="object 57"/>
            <p:cNvSpPr/>
            <p:nvPr/>
          </p:nvSpPr>
          <p:spPr>
            <a:xfrm>
              <a:off x="5905663" y="3107743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290499" y="580973"/>
                  </a:moveTo>
                  <a:lnTo>
                    <a:pt x="243376" y="577172"/>
                  </a:lnTo>
                  <a:lnTo>
                    <a:pt x="198674" y="566165"/>
                  </a:lnTo>
                  <a:lnTo>
                    <a:pt x="156993" y="548550"/>
                  </a:lnTo>
                  <a:lnTo>
                    <a:pt x="118929" y="524927"/>
                  </a:lnTo>
                  <a:lnTo>
                    <a:pt x="85081" y="495892"/>
                  </a:lnTo>
                  <a:lnTo>
                    <a:pt x="56046" y="462044"/>
                  </a:lnTo>
                  <a:lnTo>
                    <a:pt x="32422" y="423980"/>
                  </a:lnTo>
                  <a:lnTo>
                    <a:pt x="14808" y="382299"/>
                  </a:lnTo>
                  <a:lnTo>
                    <a:pt x="3801" y="337597"/>
                  </a:lnTo>
                  <a:lnTo>
                    <a:pt x="0" y="290474"/>
                  </a:lnTo>
                  <a:lnTo>
                    <a:pt x="3801" y="243357"/>
                  </a:lnTo>
                  <a:lnTo>
                    <a:pt x="14808" y="198662"/>
                  </a:lnTo>
                  <a:lnTo>
                    <a:pt x="32422" y="156984"/>
                  </a:lnTo>
                  <a:lnTo>
                    <a:pt x="56046" y="118923"/>
                  </a:lnTo>
                  <a:lnTo>
                    <a:pt x="85084" y="85074"/>
                  </a:lnTo>
                  <a:lnTo>
                    <a:pt x="118929" y="56044"/>
                  </a:lnTo>
                  <a:lnTo>
                    <a:pt x="156993" y="32422"/>
                  </a:lnTo>
                  <a:lnTo>
                    <a:pt x="198674" y="14808"/>
                  </a:lnTo>
                  <a:lnTo>
                    <a:pt x="243376" y="3801"/>
                  </a:lnTo>
                  <a:lnTo>
                    <a:pt x="290499" y="0"/>
                  </a:lnTo>
                  <a:lnTo>
                    <a:pt x="336208" y="3618"/>
                  </a:lnTo>
                  <a:lnTo>
                    <a:pt x="380386" y="14257"/>
                  </a:lnTo>
                  <a:lnTo>
                    <a:pt x="422248" y="31595"/>
                  </a:lnTo>
                  <a:lnTo>
                    <a:pt x="461013" y="55308"/>
                  </a:lnTo>
                  <a:lnTo>
                    <a:pt x="495901" y="85077"/>
                  </a:lnTo>
                  <a:lnTo>
                    <a:pt x="525665" y="119960"/>
                  </a:lnTo>
                  <a:lnTo>
                    <a:pt x="549378" y="158725"/>
                  </a:lnTo>
                  <a:lnTo>
                    <a:pt x="566716" y="200587"/>
                  </a:lnTo>
                  <a:lnTo>
                    <a:pt x="577355" y="244764"/>
                  </a:lnTo>
                  <a:lnTo>
                    <a:pt x="580973" y="290474"/>
                  </a:lnTo>
                  <a:lnTo>
                    <a:pt x="577172" y="337597"/>
                  </a:lnTo>
                  <a:lnTo>
                    <a:pt x="566165" y="382299"/>
                  </a:lnTo>
                  <a:lnTo>
                    <a:pt x="548551" y="423980"/>
                  </a:lnTo>
                  <a:lnTo>
                    <a:pt x="524929" y="462044"/>
                  </a:lnTo>
                  <a:lnTo>
                    <a:pt x="495895" y="495892"/>
                  </a:lnTo>
                  <a:lnTo>
                    <a:pt x="462049" y="524927"/>
                  </a:lnTo>
                  <a:lnTo>
                    <a:pt x="423989" y="548550"/>
                  </a:lnTo>
                  <a:lnTo>
                    <a:pt x="382311" y="566165"/>
                  </a:lnTo>
                  <a:lnTo>
                    <a:pt x="337615" y="577172"/>
                  </a:lnTo>
                  <a:lnTo>
                    <a:pt x="290499" y="58097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05663" y="3107743"/>
              <a:ext cx="581025" cy="581025"/>
            </a:xfrm>
            <a:custGeom>
              <a:avLst/>
              <a:gdLst/>
              <a:ahLst/>
              <a:cxnLst/>
              <a:rect l="l" t="t" r="r" b="b"/>
              <a:pathLst>
                <a:path w="581025" h="581025">
                  <a:moveTo>
                    <a:pt x="0" y="290474"/>
                  </a:moveTo>
                  <a:lnTo>
                    <a:pt x="3801" y="243357"/>
                  </a:lnTo>
                  <a:lnTo>
                    <a:pt x="14808" y="198661"/>
                  </a:lnTo>
                  <a:lnTo>
                    <a:pt x="32422" y="156984"/>
                  </a:lnTo>
                  <a:lnTo>
                    <a:pt x="56046" y="118923"/>
                  </a:lnTo>
                  <a:lnTo>
                    <a:pt x="85081" y="85077"/>
                  </a:lnTo>
                  <a:lnTo>
                    <a:pt x="118929" y="56044"/>
                  </a:lnTo>
                  <a:lnTo>
                    <a:pt x="156993" y="32422"/>
                  </a:lnTo>
                  <a:lnTo>
                    <a:pt x="198674" y="14808"/>
                  </a:lnTo>
                  <a:lnTo>
                    <a:pt x="243376" y="3801"/>
                  </a:lnTo>
                  <a:lnTo>
                    <a:pt x="290499" y="0"/>
                  </a:lnTo>
                  <a:lnTo>
                    <a:pt x="336208" y="3618"/>
                  </a:lnTo>
                  <a:lnTo>
                    <a:pt x="380386" y="14257"/>
                  </a:lnTo>
                  <a:lnTo>
                    <a:pt x="422248" y="31595"/>
                  </a:lnTo>
                  <a:lnTo>
                    <a:pt x="461013" y="55308"/>
                  </a:lnTo>
                  <a:lnTo>
                    <a:pt x="495899" y="85074"/>
                  </a:lnTo>
                  <a:lnTo>
                    <a:pt x="525665" y="119960"/>
                  </a:lnTo>
                  <a:lnTo>
                    <a:pt x="549378" y="158725"/>
                  </a:lnTo>
                  <a:lnTo>
                    <a:pt x="566716" y="200587"/>
                  </a:lnTo>
                  <a:lnTo>
                    <a:pt x="577355" y="244764"/>
                  </a:lnTo>
                  <a:lnTo>
                    <a:pt x="580973" y="290474"/>
                  </a:lnTo>
                  <a:lnTo>
                    <a:pt x="577172" y="337597"/>
                  </a:lnTo>
                  <a:lnTo>
                    <a:pt x="566165" y="382299"/>
                  </a:lnTo>
                  <a:lnTo>
                    <a:pt x="548551" y="423980"/>
                  </a:lnTo>
                  <a:lnTo>
                    <a:pt x="524929" y="462044"/>
                  </a:lnTo>
                  <a:lnTo>
                    <a:pt x="495895" y="495892"/>
                  </a:lnTo>
                  <a:lnTo>
                    <a:pt x="462049" y="524927"/>
                  </a:lnTo>
                  <a:lnTo>
                    <a:pt x="423989" y="548550"/>
                  </a:lnTo>
                  <a:lnTo>
                    <a:pt x="382311" y="566165"/>
                  </a:lnTo>
                  <a:lnTo>
                    <a:pt x="337615" y="577171"/>
                  </a:lnTo>
                  <a:lnTo>
                    <a:pt x="290499" y="580973"/>
                  </a:lnTo>
                  <a:lnTo>
                    <a:pt x="243376" y="577171"/>
                  </a:lnTo>
                  <a:lnTo>
                    <a:pt x="198674" y="566165"/>
                  </a:lnTo>
                  <a:lnTo>
                    <a:pt x="156993" y="548550"/>
                  </a:lnTo>
                  <a:lnTo>
                    <a:pt x="118929" y="524927"/>
                  </a:lnTo>
                  <a:lnTo>
                    <a:pt x="85081" y="495892"/>
                  </a:lnTo>
                  <a:lnTo>
                    <a:pt x="56046" y="462044"/>
                  </a:lnTo>
                  <a:lnTo>
                    <a:pt x="32422" y="423980"/>
                  </a:lnTo>
                  <a:lnTo>
                    <a:pt x="14808" y="382299"/>
                  </a:lnTo>
                  <a:lnTo>
                    <a:pt x="3801" y="337597"/>
                  </a:lnTo>
                  <a:lnTo>
                    <a:pt x="0" y="2904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091742" y="3319552"/>
            <a:ext cx="208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latin typeface="Arial"/>
                <a:cs typeface="Arial"/>
              </a:rPr>
              <a:t>A=a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460128" y="3086931"/>
            <a:ext cx="622935" cy="622935"/>
            <a:chOff x="4460128" y="3086931"/>
            <a:chExt cx="622935" cy="622935"/>
          </a:xfrm>
        </p:grpSpPr>
        <p:sp>
          <p:nvSpPr>
            <p:cNvPr id="61" name="object 61"/>
            <p:cNvSpPr/>
            <p:nvPr/>
          </p:nvSpPr>
          <p:spPr>
            <a:xfrm>
              <a:off x="4464891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306499" y="613048"/>
                  </a:moveTo>
                  <a:lnTo>
                    <a:pt x="256783" y="609037"/>
                  </a:lnTo>
                  <a:lnTo>
                    <a:pt x="209621" y="597423"/>
                  </a:lnTo>
                  <a:lnTo>
                    <a:pt x="165645" y="578837"/>
                  </a:lnTo>
                  <a:lnTo>
                    <a:pt x="125484" y="553910"/>
                  </a:lnTo>
                  <a:lnTo>
                    <a:pt x="89771" y="523273"/>
                  </a:lnTo>
                  <a:lnTo>
                    <a:pt x="59136" y="487558"/>
                  </a:lnTo>
                  <a:lnTo>
                    <a:pt x="34210" y="447394"/>
                  </a:lnTo>
                  <a:lnTo>
                    <a:pt x="15625" y="403413"/>
                  </a:lnTo>
                  <a:lnTo>
                    <a:pt x="4011" y="356246"/>
                  </a:lnTo>
                  <a:lnTo>
                    <a:pt x="0" y="306524"/>
                  </a:lnTo>
                  <a:lnTo>
                    <a:pt x="4011" y="256807"/>
                  </a:lnTo>
                  <a:lnTo>
                    <a:pt x="15625" y="209644"/>
                  </a:lnTo>
                  <a:lnTo>
                    <a:pt x="34210" y="165664"/>
                  </a:lnTo>
                  <a:lnTo>
                    <a:pt x="59136" y="125501"/>
                  </a:lnTo>
                  <a:lnTo>
                    <a:pt x="89771" y="89784"/>
                  </a:lnTo>
                  <a:lnTo>
                    <a:pt x="125484" y="59145"/>
                  </a:lnTo>
                  <a:lnTo>
                    <a:pt x="165645" y="34216"/>
                  </a:lnTo>
                  <a:lnTo>
                    <a:pt x="209621" y="15628"/>
                  </a:lnTo>
                  <a:lnTo>
                    <a:pt x="256783" y="4012"/>
                  </a:lnTo>
                  <a:lnTo>
                    <a:pt x="306499" y="0"/>
                  </a:lnTo>
                  <a:lnTo>
                    <a:pt x="354742" y="3819"/>
                  </a:lnTo>
                  <a:lnTo>
                    <a:pt x="401364" y="15049"/>
                  </a:lnTo>
                  <a:lnTo>
                    <a:pt x="445538" y="33350"/>
                  </a:lnTo>
                  <a:lnTo>
                    <a:pt x="486441" y="58380"/>
                  </a:lnTo>
                  <a:lnTo>
                    <a:pt x="523248" y="89799"/>
                  </a:lnTo>
                  <a:lnTo>
                    <a:pt x="554655" y="126607"/>
                  </a:lnTo>
                  <a:lnTo>
                    <a:pt x="579678" y="167508"/>
                  </a:lnTo>
                  <a:lnTo>
                    <a:pt x="597975" y="211679"/>
                  </a:lnTo>
                  <a:lnTo>
                    <a:pt x="609204" y="258293"/>
                  </a:lnTo>
                  <a:lnTo>
                    <a:pt x="613023" y="306524"/>
                  </a:lnTo>
                  <a:lnTo>
                    <a:pt x="609012" y="356246"/>
                  </a:lnTo>
                  <a:lnTo>
                    <a:pt x="597398" y="403413"/>
                  </a:lnTo>
                  <a:lnTo>
                    <a:pt x="578812" y="447394"/>
                  </a:lnTo>
                  <a:lnTo>
                    <a:pt x="553885" y="487558"/>
                  </a:lnTo>
                  <a:lnTo>
                    <a:pt x="523248" y="523273"/>
                  </a:lnTo>
                  <a:lnTo>
                    <a:pt x="487533" y="553910"/>
                  </a:lnTo>
                  <a:lnTo>
                    <a:pt x="447369" y="578837"/>
                  </a:lnTo>
                  <a:lnTo>
                    <a:pt x="403388" y="597423"/>
                  </a:lnTo>
                  <a:lnTo>
                    <a:pt x="356221" y="609037"/>
                  </a:lnTo>
                  <a:lnTo>
                    <a:pt x="306499" y="61304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64891" y="3091693"/>
              <a:ext cx="613410" cy="613410"/>
            </a:xfrm>
            <a:custGeom>
              <a:avLst/>
              <a:gdLst/>
              <a:ahLst/>
              <a:cxnLst/>
              <a:rect l="l" t="t" r="r" b="b"/>
              <a:pathLst>
                <a:path w="613410" h="613410">
                  <a:moveTo>
                    <a:pt x="0" y="306524"/>
                  </a:moveTo>
                  <a:lnTo>
                    <a:pt x="4011" y="256807"/>
                  </a:lnTo>
                  <a:lnTo>
                    <a:pt x="15625" y="209644"/>
                  </a:lnTo>
                  <a:lnTo>
                    <a:pt x="34210" y="165664"/>
                  </a:lnTo>
                  <a:lnTo>
                    <a:pt x="59136" y="125501"/>
                  </a:lnTo>
                  <a:lnTo>
                    <a:pt x="89771" y="89784"/>
                  </a:lnTo>
                  <a:lnTo>
                    <a:pt x="125484" y="59145"/>
                  </a:lnTo>
                  <a:lnTo>
                    <a:pt x="165645" y="34216"/>
                  </a:lnTo>
                  <a:lnTo>
                    <a:pt x="209621" y="15628"/>
                  </a:lnTo>
                  <a:lnTo>
                    <a:pt x="256783" y="4012"/>
                  </a:lnTo>
                  <a:lnTo>
                    <a:pt x="306499" y="0"/>
                  </a:lnTo>
                  <a:lnTo>
                    <a:pt x="354742" y="3819"/>
                  </a:lnTo>
                  <a:lnTo>
                    <a:pt x="401363" y="15049"/>
                  </a:lnTo>
                  <a:lnTo>
                    <a:pt x="445538" y="33350"/>
                  </a:lnTo>
                  <a:lnTo>
                    <a:pt x="486441" y="58380"/>
                  </a:lnTo>
                  <a:lnTo>
                    <a:pt x="523248" y="89799"/>
                  </a:lnTo>
                  <a:lnTo>
                    <a:pt x="554655" y="126607"/>
                  </a:lnTo>
                  <a:lnTo>
                    <a:pt x="579678" y="167508"/>
                  </a:lnTo>
                  <a:lnTo>
                    <a:pt x="597975" y="211679"/>
                  </a:lnTo>
                  <a:lnTo>
                    <a:pt x="609204" y="258293"/>
                  </a:lnTo>
                  <a:lnTo>
                    <a:pt x="613023" y="306524"/>
                  </a:lnTo>
                  <a:lnTo>
                    <a:pt x="609012" y="356246"/>
                  </a:lnTo>
                  <a:lnTo>
                    <a:pt x="597397" y="403413"/>
                  </a:lnTo>
                  <a:lnTo>
                    <a:pt x="578812" y="447394"/>
                  </a:lnTo>
                  <a:lnTo>
                    <a:pt x="553885" y="487558"/>
                  </a:lnTo>
                  <a:lnTo>
                    <a:pt x="523248" y="523273"/>
                  </a:lnTo>
                  <a:lnTo>
                    <a:pt x="487533" y="553910"/>
                  </a:lnTo>
                  <a:lnTo>
                    <a:pt x="447369" y="578837"/>
                  </a:lnTo>
                  <a:lnTo>
                    <a:pt x="403388" y="597422"/>
                  </a:lnTo>
                  <a:lnTo>
                    <a:pt x="356221" y="609037"/>
                  </a:lnTo>
                  <a:lnTo>
                    <a:pt x="306499" y="613048"/>
                  </a:lnTo>
                  <a:lnTo>
                    <a:pt x="256783" y="609037"/>
                  </a:lnTo>
                  <a:lnTo>
                    <a:pt x="209621" y="597422"/>
                  </a:lnTo>
                  <a:lnTo>
                    <a:pt x="165645" y="578837"/>
                  </a:lnTo>
                  <a:lnTo>
                    <a:pt x="125484" y="553910"/>
                  </a:lnTo>
                  <a:lnTo>
                    <a:pt x="89771" y="523273"/>
                  </a:lnTo>
                  <a:lnTo>
                    <a:pt x="59136" y="487558"/>
                  </a:lnTo>
                  <a:lnTo>
                    <a:pt x="34210" y="447394"/>
                  </a:lnTo>
                  <a:lnTo>
                    <a:pt x="15625" y="403413"/>
                  </a:lnTo>
                  <a:lnTo>
                    <a:pt x="4011" y="356246"/>
                  </a:lnTo>
                  <a:lnTo>
                    <a:pt x="0" y="3065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724847" y="331955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145025" y="1924683"/>
            <a:ext cx="765810" cy="765810"/>
            <a:chOff x="6145025" y="1924683"/>
            <a:chExt cx="765810" cy="765810"/>
          </a:xfrm>
        </p:grpSpPr>
        <p:sp>
          <p:nvSpPr>
            <p:cNvPr id="65" name="object 65"/>
            <p:cNvSpPr/>
            <p:nvPr/>
          </p:nvSpPr>
          <p:spPr>
            <a:xfrm>
              <a:off x="6149787" y="192944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5">
                  <a:moveTo>
                    <a:pt x="377849" y="755698"/>
                  </a:move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5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49787" y="1929446"/>
              <a:ext cx="756285" cy="756285"/>
            </a:xfrm>
            <a:custGeom>
              <a:avLst/>
              <a:gdLst/>
              <a:ahLst/>
              <a:cxnLst/>
              <a:rect l="l" t="t" r="r" b="b"/>
              <a:pathLst>
                <a:path w="756284" h="756285">
                  <a:moveTo>
                    <a:pt x="0" y="377849"/>
                  </a:moveTo>
                  <a:lnTo>
                    <a:pt x="2944" y="330452"/>
                  </a:lnTo>
                  <a:lnTo>
                    <a:pt x="11540" y="284813"/>
                  </a:lnTo>
                  <a:lnTo>
                    <a:pt x="25434" y="241284"/>
                  </a:lnTo>
                  <a:lnTo>
                    <a:pt x="44272" y="200220"/>
                  </a:lnTo>
                  <a:lnTo>
                    <a:pt x="67699" y="161976"/>
                  </a:lnTo>
                  <a:lnTo>
                    <a:pt x="95362" y="126904"/>
                  </a:lnTo>
                  <a:lnTo>
                    <a:pt x="126906" y="95360"/>
                  </a:lnTo>
                  <a:lnTo>
                    <a:pt x="161978" y="67698"/>
                  </a:lnTo>
                  <a:lnTo>
                    <a:pt x="200222" y="44271"/>
                  </a:lnTo>
                  <a:lnTo>
                    <a:pt x="241286" y="25433"/>
                  </a:lnTo>
                  <a:lnTo>
                    <a:pt x="284814" y="11539"/>
                  </a:lnTo>
                  <a:lnTo>
                    <a:pt x="330453" y="2943"/>
                  </a:lnTo>
                  <a:lnTo>
                    <a:pt x="377849" y="0"/>
                  </a:lnTo>
                  <a:lnTo>
                    <a:pt x="427511" y="3276"/>
                  </a:lnTo>
                  <a:lnTo>
                    <a:pt x="475905" y="12945"/>
                  </a:lnTo>
                  <a:lnTo>
                    <a:pt x="522442" y="28762"/>
                  </a:lnTo>
                  <a:lnTo>
                    <a:pt x="566534" y="50484"/>
                  </a:lnTo>
                  <a:lnTo>
                    <a:pt x="607590" y="77867"/>
                  </a:lnTo>
                  <a:lnTo>
                    <a:pt x="645023" y="110669"/>
                  </a:lnTo>
                  <a:lnTo>
                    <a:pt x="677831" y="148105"/>
                  </a:lnTo>
                  <a:lnTo>
                    <a:pt x="705217" y="189162"/>
                  </a:lnTo>
                  <a:lnTo>
                    <a:pt x="726939" y="233252"/>
                  </a:lnTo>
                  <a:lnTo>
                    <a:pt x="742754" y="279788"/>
                  </a:lnTo>
                  <a:lnTo>
                    <a:pt x="752422" y="328183"/>
                  </a:lnTo>
                  <a:lnTo>
                    <a:pt x="755698" y="377849"/>
                  </a:lnTo>
                  <a:lnTo>
                    <a:pt x="752754" y="425244"/>
                  </a:lnTo>
                  <a:lnTo>
                    <a:pt x="744158" y="470883"/>
                  </a:lnTo>
                  <a:lnTo>
                    <a:pt x="730264" y="514411"/>
                  </a:lnTo>
                  <a:lnTo>
                    <a:pt x="711426" y="555475"/>
                  </a:lnTo>
                  <a:lnTo>
                    <a:pt x="687998" y="593720"/>
                  </a:lnTo>
                  <a:lnTo>
                    <a:pt x="660335" y="628791"/>
                  </a:lnTo>
                  <a:lnTo>
                    <a:pt x="628791" y="660335"/>
                  </a:lnTo>
                  <a:lnTo>
                    <a:pt x="593720" y="687998"/>
                  </a:lnTo>
                  <a:lnTo>
                    <a:pt x="555475" y="711426"/>
                  </a:lnTo>
                  <a:lnTo>
                    <a:pt x="514411" y="730264"/>
                  </a:lnTo>
                  <a:lnTo>
                    <a:pt x="470883" y="744158"/>
                  </a:lnTo>
                  <a:lnTo>
                    <a:pt x="425244" y="752754"/>
                  </a:lnTo>
                  <a:lnTo>
                    <a:pt x="377849" y="755698"/>
                  </a:lnTo>
                  <a:lnTo>
                    <a:pt x="330453" y="752754"/>
                  </a:lnTo>
                  <a:lnTo>
                    <a:pt x="284814" y="744158"/>
                  </a:lnTo>
                  <a:lnTo>
                    <a:pt x="241286" y="730264"/>
                  </a:lnTo>
                  <a:lnTo>
                    <a:pt x="200222" y="711426"/>
                  </a:lnTo>
                  <a:lnTo>
                    <a:pt x="161978" y="687998"/>
                  </a:lnTo>
                  <a:lnTo>
                    <a:pt x="126906" y="660335"/>
                  </a:lnTo>
                  <a:lnTo>
                    <a:pt x="95362" y="628791"/>
                  </a:lnTo>
                  <a:lnTo>
                    <a:pt x="67699" y="593720"/>
                  </a:lnTo>
                  <a:lnTo>
                    <a:pt x="44272" y="555475"/>
                  </a:lnTo>
                  <a:lnTo>
                    <a:pt x="25434" y="514411"/>
                  </a:lnTo>
                  <a:lnTo>
                    <a:pt x="11540" y="470883"/>
                  </a:lnTo>
                  <a:lnTo>
                    <a:pt x="2944" y="425244"/>
                  </a:lnTo>
                  <a:lnTo>
                    <a:pt x="0" y="377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459906" y="2198013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U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766628" y="2573632"/>
            <a:ext cx="1507490" cy="539115"/>
            <a:chOff x="4766628" y="2573632"/>
            <a:chExt cx="1507490" cy="539115"/>
          </a:xfrm>
        </p:grpSpPr>
        <p:sp>
          <p:nvSpPr>
            <p:cNvPr id="69" name="object 69"/>
            <p:cNvSpPr/>
            <p:nvPr/>
          </p:nvSpPr>
          <p:spPr>
            <a:xfrm>
              <a:off x="5474389" y="2605919"/>
              <a:ext cx="738505" cy="485775"/>
            </a:xfrm>
            <a:custGeom>
              <a:avLst/>
              <a:gdLst/>
              <a:ahLst/>
              <a:cxnLst/>
              <a:rect l="l" t="t" r="r" b="b"/>
              <a:pathLst>
                <a:path w="738504" h="485775">
                  <a:moveTo>
                    <a:pt x="0" y="485774"/>
                  </a:moveTo>
                  <a:lnTo>
                    <a:pt x="7382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03987" y="258216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299" y="36899"/>
                  </a:moveTo>
                  <a:lnTo>
                    <a:pt x="0" y="10599"/>
                  </a:lnTo>
                  <a:lnTo>
                    <a:pt x="44774" y="0"/>
                  </a:lnTo>
                  <a:lnTo>
                    <a:pt x="17299" y="368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03987" y="2582169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17299" y="36899"/>
                  </a:moveTo>
                  <a:lnTo>
                    <a:pt x="44774" y="0"/>
                  </a:lnTo>
                  <a:lnTo>
                    <a:pt x="0" y="10599"/>
                  </a:lnTo>
                  <a:lnTo>
                    <a:pt x="17299" y="36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196162" y="2631069"/>
              <a:ext cx="57785" cy="476884"/>
            </a:xfrm>
            <a:custGeom>
              <a:avLst/>
              <a:gdLst/>
              <a:ahLst/>
              <a:cxnLst/>
              <a:rect l="l" t="t" r="r" b="b"/>
              <a:pathLst>
                <a:path w="57785" h="476885">
                  <a:moveTo>
                    <a:pt x="0" y="476674"/>
                  </a:moveTo>
                  <a:lnTo>
                    <a:pt x="573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37912" y="2588169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24" y="44774"/>
                  </a:moveTo>
                  <a:lnTo>
                    <a:pt x="0" y="41024"/>
                  </a:lnTo>
                  <a:lnTo>
                    <a:pt x="20774" y="0"/>
                  </a:lnTo>
                  <a:lnTo>
                    <a:pt x="31224" y="447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37912" y="2588169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24" y="44774"/>
                  </a:moveTo>
                  <a:lnTo>
                    <a:pt x="20774" y="0"/>
                  </a:lnTo>
                  <a:lnTo>
                    <a:pt x="0" y="41024"/>
                  </a:lnTo>
                  <a:lnTo>
                    <a:pt x="31224" y="447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71390" y="2593244"/>
              <a:ext cx="1435735" cy="498475"/>
            </a:xfrm>
            <a:custGeom>
              <a:avLst/>
              <a:gdLst/>
              <a:ahLst/>
              <a:cxnLst/>
              <a:rect l="l" t="t" r="r" b="b"/>
              <a:pathLst>
                <a:path w="1435735" h="498475">
                  <a:moveTo>
                    <a:pt x="0" y="498448"/>
                  </a:moveTo>
                  <a:lnTo>
                    <a:pt x="143522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201437" y="25783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10324" y="29724"/>
                  </a:moveTo>
                  <a:lnTo>
                    <a:pt x="0" y="0"/>
                  </a:lnTo>
                  <a:lnTo>
                    <a:pt x="45999" y="674"/>
                  </a:lnTo>
                  <a:lnTo>
                    <a:pt x="10324" y="297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201437" y="257839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10324" y="29724"/>
                  </a:moveTo>
                  <a:lnTo>
                    <a:pt x="45999" y="674"/>
                  </a:lnTo>
                  <a:lnTo>
                    <a:pt x="0" y="0"/>
                  </a:lnTo>
                  <a:lnTo>
                    <a:pt x="10324" y="297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Fairness</a:t>
            </a:r>
            <a:r>
              <a:rPr lang="en-IN" spc="-95" dirty="0"/>
              <a:t> </a:t>
            </a:r>
            <a:r>
              <a:rPr lang="en-IN" spc="-5" dirty="0"/>
              <a:t>Criteria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5272002" y="2205640"/>
            <a:ext cx="2506178" cy="2130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57809" y="3053189"/>
            <a:ext cx="2220037" cy="2079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59315" y="2871852"/>
            <a:ext cx="3322320" cy="492759"/>
            <a:chOff x="4959315" y="3089168"/>
            <a:chExt cx="3322320" cy="492759"/>
          </a:xfrm>
        </p:grpSpPr>
        <p:sp>
          <p:nvSpPr>
            <p:cNvPr id="6" name="object 6"/>
            <p:cNvSpPr/>
            <p:nvPr/>
          </p:nvSpPr>
          <p:spPr>
            <a:xfrm>
              <a:off x="4959315" y="3089168"/>
              <a:ext cx="3321693" cy="310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45614" y="3285018"/>
              <a:ext cx="2949094" cy="2966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11370" y="3997141"/>
            <a:ext cx="3983445" cy="2009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69785"/>
              </p:ext>
            </p:extLst>
          </p:nvPr>
        </p:nvGraphicFramePr>
        <p:xfrm>
          <a:off x="306936" y="1132593"/>
          <a:ext cx="8228965" cy="32901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5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Individual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Group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Treatment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173">
                <a:tc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Fairness Through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Unawareness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Excludes Sensitive Information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from the</a:t>
                      </a:r>
                      <a:r>
                        <a:rPr sz="1200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predictor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Demographic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Parity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572">
                <a:tc>
                  <a:txBody>
                    <a:bodyPr/>
                    <a:lstStyle/>
                    <a:p>
                      <a:pPr marL="107124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Individual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Fairness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Opportunity/Odds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23">
                <a:tc>
                  <a:txBody>
                    <a:bodyPr/>
                    <a:lstStyle/>
                    <a:p>
                      <a:pPr marR="1155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Counterfactual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Fairness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615291" y="4504365"/>
            <a:ext cx="3983445" cy="2009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Counterfactual Face</a:t>
            </a:r>
            <a:r>
              <a:rPr lang="en-IN" spc="-245" dirty="0"/>
              <a:t> </a:t>
            </a:r>
            <a:r>
              <a:rPr lang="en-IN" spc="-5" dirty="0"/>
              <a:t>Attribution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176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Evaluate the Counterfactual Fairness of Face Recognition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73585" y="1559221"/>
            <a:ext cx="6765290" cy="3242945"/>
            <a:chOff x="1073585" y="1559221"/>
            <a:chExt cx="6765290" cy="3242945"/>
          </a:xfrm>
        </p:grpSpPr>
        <p:sp>
          <p:nvSpPr>
            <p:cNvPr id="5" name="object 5"/>
            <p:cNvSpPr/>
            <p:nvPr/>
          </p:nvSpPr>
          <p:spPr>
            <a:xfrm>
              <a:off x="2244726" y="1753264"/>
              <a:ext cx="801867" cy="10174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32293" y="1559221"/>
              <a:ext cx="3950234" cy="29259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0114" y="2314872"/>
              <a:ext cx="1506220" cy="1289685"/>
            </a:xfrm>
            <a:custGeom>
              <a:avLst/>
              <a:gdLst/>
              <a:ahLst/>
              <a:cxnLst/>
              <a:rect l="l" t="t" r="r" b="b"/>
              <a:pathLst>
                <a:path w="1506220" h="1289685">
                  <a:moveTo>
                    <a:pt x="1505996" y="1289394"/>
                  </a:moveTo>
                  <a:lnTo>
                    <a:pt x="0" y="1289394"/>
                  </a:lnTo>
                  <a:lnTo>
                    <a:pt x="0" y="0"/>
                  </a:lnTo>
                  <a:lnTo>
                    <a:pt x="1505996" y="0"/>
                  </a:lnTo>
                  <a:lnTo>
                    <a:pt x="1505996" y="128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06663" y="2268010"/>
              <a:ext cx="1661634" cy="135598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1278" y="3294762"/>
              <a:ext cx="790140" cy="10383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3585" y="4343791"/>
              <a:ext cx="6765061" cy="4578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45760" y="2841969"/>
              <a:ext cx="1243330" cy="1916430"/>
            </a:xfrm>
            <a:custGeom>
              <a:avLst/>
              <a:gdLst/>
              <a:ahLst/>
              <a:cxnLst/>
              <a:rect l="l" t="t" r="r" b="b"/>
              <a:pathLst>
                <a:path w="1243329" h="1916429">
                  <a:moveTo>
                    <a:pt x="565983" y="1916021"/>
                  </a:moveTo>
                  <a:lnTo>
                    <a:pt x="1243082" y="1916021"/>
                  </a:lnTo>
                </a:path>
                <a:path w="1243329" h="1916429">
                  <a:moveTo>
                    <a:pt x="0" y="0"/>
                  </a:moveTo>
                  <a:lnTo>
                    <a:pt x="677108" y="0"/>
                  </a:lnTo>
                </a:path>
              </a:pathLst>
            </a:custGeom>
            <a:ln w="28574">
              <a:solidFill>
                <a:srgbClr val="4985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8199" y="2395795"/>
              <a:ext cx="840740" cy="2362200"/>
            </a:xfrm>
            <a:custGeom>
              <a:avLst/>
              <a:gdLst/>
              <a:ahLst/>
              <a:cxnLst/>
              <a:rect l="l" t="t" r="r" b="b"/>
              <a:pathLst>
                <a:path w="840739" h="2362200">
                  <a:moveTo>
                    <a:pt x="500811" y="2362195"/>
                  </a:moveTo>
                  <a:lnTo>
                    <a:pt x="840410" y="2362195"/>
                  </a:lnTo>
                </a:path>
                <a:path w="840739" h="2362200">
                  <a:moveTo>
                    <a:pt x="0" y="0"/>
                  </a:moveTo>
                  <a:lnTo>
                    <a:pt x="339599" y="0"/>
                  </a:lnTo>
                </a:path>
              </a:pathLst>
            </a:custGeom>
            <a:ln w="28574">
              <a:solidFill>
                <a:srgbClr val="F0C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2419" y="3923317"/>
              <a:ext cx="2815590" cy="835025"/>
            </a:xfrm>
            <a:custGeom>
              <a:avLst/>
              <a:gdLst/>
              <a:ahLst/>
              <a:cxnLst/>
              <a:rect l="l" t="t" r="r" b="b"/>
              <a:pathLst>
                <a:path w="2815590" h="835025">
                  <a:moveTo>
                    <a:pt x="0" y="834673"/>
                  </a:moveTo>
                  <a:lnTo>
                    <a:pt x="295199" y="834673"/>
                  </a:lnTo>
                </a:path>
                <a:path w="2815590" h="835025">
                  <a:moveTo>
                    <a:pt x="2405795" y="0"/>
                  </a:moveTo>
                  <a:lnTo>
                    <a:pt x="2815594" y="0"/>
                  </a:lnTo>
                </a:path>
              </a:pathLst>
            </a:custGeom>
            <a:ln w="28574">
              <a:solidFill>
                <a:srgbClr val="69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99968" y="2009917"/>
              <a:ext cx="294177" cy="195715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58695" y="1963521"/>
              <a:ext cx="4416425" cy="2795905"/>
            </a:xfrm>
            <a:custGeom>
              <a:avLst/>
              <a:gdLst/>
              <a:ahLst/>
              <a:cxnLst/>
              <a:rect l="l" t="t" r="r" b="b"/>
              <a:pathLst>
                <a:path w="4416425" h="2795904">
                  <a:moveTo>
                    <a:pt x="0" y="0"/>
                  </a:moveTo>
                  <a:lnTo>
                    <a:pt x="290699" y="0"/>
                  </a:lnTo>
                  <a:lnTo>
                    <a:pt x="290699" y="1916096"/>
                  </a:lnTo>
                  <a:lnTo>
                    <a:pt x="0" y="1916096"/>
                  </a:lnTo>
                  <a:lnTo>
                    <a:pt x="0" y="0"/>
                  </a:lnTo>
                  <a:close/>
                </a:path>
                <a:path w="4416425" h="2795904">
                  <a:moveTo>
                    <a:pt x="3739219" y="2795444"/>
                  </a:moveTo>
                  <a:lnTo>
                    <a:pt x="4416318" y="2795444"/>
                  </a:lnTo>
                </a:path>
                <a:path w="4416425" h="2795904">
                  <a:moveTo>
                    <a:pt x="2499422" y="2795444"/>
                  </a:moveTo>
                  <a:lnTo>
                    <a:pt x="3125821" y="2795444"/>
                  </a:lnTo>
                </a:path>
                <a:path w="4416425" h="2795904">
                  <a:moveTo>
                    <a:pt x="399514" y="2795444"/>
                  </a:moveTo>
                  <a:lnTo>
                    <a:pt x="816513" y="279544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27892" y="2056157"/>
            <a:ext cx="11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7892" y="3503954"/>
            <a:ext cx="148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 err="1"/>
              <a:t>CelebA</a:t>
            </a:r>
            <a:r>
              <a:rPr lang="en-IN" spc="-240" dirty="0"/>
              <a:t> </a:t>
            </a:r>
            <a:r>
              <a:rPr lang="en-IN" spc="-5" dirty="0"/>
              <a:t>Dataset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648984" y="1247197"/>
            <a:ext cx="5019989" cy="3416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62937" y="4419305"/>
            <a:ext cx="11417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Liu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Model</a:t>
            </a:r>
            <a:r>
              <a:rPr lang="en-IN" spc="-245" dirty="0"/>
              <a:t> </a:t>
            </a:r>
            <a:r>
              <a:rPr lang="en-IN" spc="-5" dirty="0"/>
              <a:t>Architecture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207312" y="4275982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3696" y="321564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real?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94332" y="2170583"/>
            <a:ext cx="2567940" cy="1045210"/>
            <a:chOff x="2694332" y="2170583"/>
            <a:chExt cx="2567940" cy="1045210"/>
          </a:xfrm>
        </p:grpSpPr>
        <p:sp>
          <p:nvSpPr>
            <p:cNvPr id="6" name="object 6"/>
            <p:cNvSpPr/>
            <p:nvPr/>
          </p:nvSpPr>
          <p:spPr>
            <a:xfrm>
              <a:off x="2739169" y="2175345"/>
              <a:ext cx="2517775" cy="1019175"/>
            </a:xfrm>
            <a:custGeom>
              <a:avLst/>
              <a:gdLst/>
              <a:ahLst/>
              <a:cxnLst/>
              <a:rect l="l" t="t" r="r" b="b"/>
              <a:pathLst>
                <a:path w="2517775" h="1019175">
                  <a:moveTo>
                    <a:pt x="2517719" y="0"/>
                  </a:moveTo>
                  <a:lnTo>
                    <a:pt x="0" y="101894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99094" y="317971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0" y="30799"/>
                  </a:moveTo>
                  <a:lnTo>
                    <a:pt x="34174" y="0"/>
                  </a:lnTo>
                  <a:lnTo>
                    <a:pt x="45974" y="29174"/>
                  </a:lnTo>
                  <a:lnTo>
                    <a:pt x="0" y="307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9094" y="317971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34174" y="0"/>
                  </a:moveTo>
                  <a:lnTo>
                    <a:pt x="0" y="30799"/>
                  </a:lnTo>
                  <a:lnTo>
                    <a:pt x="45974" y="29174"/>
                  </a:lnTo>
                  <a:lnTo>
                    <a:pt x="341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26527" y="2784237"/>
            <a:ext cx="361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D(z)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92707" y="1276412"/>
            <a:ext cx="2964180" cy="704850"/>
            <a:chOff x="2692707" y="1276412"/>
            <a:chExt cx="2964180" cy="704850"/>
          </a:xfrm>
        </p:grpSpPr>
        <p:sp>
          <p:nvSpPr>
            <p:cNvPr id="11" name="object 11"/>
            <p:cNvSpPr/>
            <p:nvPr/>
          </p:nvSpPr>
          <p:spPr>
            <a:xfrm>
              <a:off x="2714394" y="1281174"/>
              <a:ext cx="2937510" cy="693420"/>
            </a:xfrm>
            <a:custGeom>
              <a:avLst/>
              <a:gdLst/>
              <a:ahLst/>
              <a:cxnLst/>
              <a:rect l="l" t="t" r="r" b="b"/>
              <a:pathLst>
                <a:path w="2937510" h="693419">
                  <a:moveTo>
                    <a:pt x="2937269" y="693078"/>
                  </a:moveTo>
                  <a:lnTo>
                    <a:pt x="2888465" y="666244"/>
                  </a:lnTo>
                  <a:lnTo>
                    <a:pt x="2830257" y="630079"/>
                  </a:lnTo>
                  <a:lnTo>
                    <a:pt x="2797911" y="608975"/>
                  </a:lnTo>
                  <a:lnTo>
                    <a:pt x="2763553" y="586111"/>
                  </a:lnTo>
                  <a:lnTo>
                    <a:pt x="2727298" y="561679"/>
                  </a:lnTo>
                  <a:lnTo>
                    <a:pt x="2689259" y="535869"/>
                  </a:lnTo>
                  <a:lnTo>
                    <a:pt x="2649548" y="508873"/>
                  </a:lnTo>
                  <a:lnTo>
                    <a:pt x="2608280" y="480882"/>
                  </a:lnTo>
                  <a:lnTo>
                    <a:pt x="2565568" y="452086"/>
                  </a:lnTo>
                  <a:lnTo>
                    <a:pt x="2521525" y="422678"/>
                  </a:lnTo>
                  <a:lnTo>
                    <a:pt x="2476265" y="392847"/>
                  </a:lnTo>
                  <a:lnTo>
                    <a:pt x="2429900" y="362785"/>
                  </a:lnTo>
                  <a:lnTo>
                    <a:pt x="2382544" y="332684"/>
                  </a:lnTo>
                  <a:lnTo>
                    <a:pt x="2334310" y="302733"/>
                  </a:lnTo>
                  <a:lnTo>
                    <a:pt x="2285313" y="273125"/>
                  </a:lnTo>
                  <a:lnTo>
                    <a:pt x="2235664" y="244050"/>
                  </a:lnTo>
                  <a:lnTo>
                    <a:pt x="2185478" y="215700"/>
                  </a:lnTo>
                  <a:lnTo>
                    <a:pt x="2134867" y="188265"/>
                  </a:lnTo>
                  <a:lnTo>
                    <a:pt x="2083946" y="161936"/>
                  </a:lnTo>
                  <a:lnTo>
                    <a:pt x="2032826" y="136905"/>
                  </a:lnTo>
                  <a:lnTo>
                    <a:pt x="1981623" y="113363"/>
                  </a:lnTo>
                  <a:lnTo>
                    <a:pt x="1930448" y="91500"/>
                  </a:lnTo>
                  <a:lnTo>
                    <a:pt x="1879416" y="71509"/>
                  </a:lnTo>
                  <a:lnTo>
                    <a:pt x="1828640" y="53579"/>
                  </a:lnTo>
                  <a:lnTo>
                    <a:pt x="1778232" y="37902"/>
                  </a:lnTo>
                  <a:lnTo>
                    <a:pt x="1728307" y="24669"/>
                  </a:lnTo>
                  <a:lnTo>
                    <a:pt x="1678978" y="14071"/>
                  </a:lnTo>
                  <a:lnTo>
                    <a:pt x="1630357" y="6300"/>
                  </a:lnTo>
                  <a:lnTo>
                    <a:pt x="1582559" y="1545"/>
                  </a:lnTo>
                  <a:lnTo>
                    <a:pt x="1535696" y="0"/>
                  </a:lnTo>
                  <a:lnTo>
                    <a:pt x="1496021" y="1291"/>
                  </a:lnTo>
                  <a:lnTo>
                    <a:pt x="1455130" y="4884"/>
                  </a:lnTo>
                  <a:lnTo>
                    <a:pt x="1413118" y="10664"/>
                  </a:lnTo>
                  <a:lnTo>
                    <a:pt x="1370078" y="18517"/>
                  </a:lnTo>
                  <a:lnTo>
                    <a:pt x="1326106" y="28327"/>
                  </a:lnTo>
                  <a:lnTo>
                    <a:pt x="1281296" y="39981"/>
                  </a:lnTo>
                  <a:lnTo>
                    <a:pt x="1235742" y="53364"/>
                  </a:lnTo>
                  <a:lnTo>
                    <a:pt x="1189540" y="68361"/>
                  </a:lnTo>
                  <a:lnTo>
                    <a:pt x="1142782" y="84857"/>
                  </a:lnTo>
                  <a:lnTo>
                    <a:pt x="1095565" y="102739"/>
                  </a:lnTo>
                  <a:lnTo>
                    <a:pt x="1047982" y="121892"/>
                  </a:lnTo>
                  <a:lnTo>
                    <a:pt x="1000128" y="142201"/>
                  </a:lnTo>
                  <a:lnTo>
                    <a:pt x="952098" y="163552"/>
                  </a:lnTo>
                  <a:lnTo>
                    <a:pt x="903985" y="185830"/>
                  </a:lnTo>
                  <a:lnTo>
                    <a:pt x="855885" y="208921"/>
                  </a:lnTo>
                  <a:lnTo>
                    <a:pt x="807892" y="232709"/>
                  </a:lnTo>
                  <a:lnTo>
                    <a:pt x="760100" y="257082"/>
                  </a:lnTo>
                  <a:lnTo>
                    <a:pt x="712604" y="281923"/>
                  </a:lnTo>
                  <a:lnTo>
                    <a:pt x="665498" y="307119"/>
                  </a:lnTo>
                  <a:lnTo>
                    <a:pt x="616311" y="333973"/>
                  </a:lnTo>
                  <a:lnTo>
                    <a:pt x="567775" y="360959"/>
                  </a:lnTo>
                  <a:lnTo>
                    <a:pt x="519999" y="387943"/>
                  </a:lnTo>
                  <a:lnTo>
                    <a:pt x="473097" y="414791"/>
                  </a:lnTo>
                  <a:lnTo>
                    <a:pt x="427179" y="441368"/>
                  </a:lnTo>
                  <a:lnTo>
                    <a:pt x="382356" y="467538"/>
                  </a:lnTo>
                  <a:lnTo>
                    <a:pt x="338740" y="493168"/>
                  </a:lnTo>
                  <a:lnTo>
                    <a:pt x="296442" y="518122"/>
                  </a:lnTo>
                  <a:lnTo>
                    <a:pt x="255574" y="542266"/>
                  </a:lnTo>
                  <a:lnTo>
                    <a:pt x="211459" y="568291"/>
                  </a:lnTo>
                  <a:lnTo>
                    <a:pt x="169446" y="592928"/>
                  </a:lnTo>
                  <a:lnTo>
                    <a:pt x="129697" y="615986"/>
                  </a:lnTo>
                  <a:lnTo>
                    <a:pt x="92374" y="637273"/>
                  </a:lnTo>
                  <a:lnTo>
                    <a:pt x="57631" y="656598"/>
                  </a:lnTo>
                  <a:lnTo>
                    <a:pt x="20549" y="676438"/>
                  </a:lnTo>
                  <a:lnTo>
                    <a:pt x="10724" y="681483"/>
                  </a:lnTo>
                  <a:lnTo>
                    <a:pt x="8299" y="682721"/>
                  </a:lnTo>
                  <a:lnTo>
                    <a:pt x="5899" y="683931"/>
                  </a:lnTo>
                  <a:lnTo>
                    <a:pt x="3524" y="685116"/>
                  </a:lnTo>
                  <a:lnTo>
                    <a:pt x="0" y="68687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97469" y="1953781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0" y="22297"/>
                  </a:moveTo>
                  <a:lnTo>
                    <a:pt x="21999" y="0"/>
                  </a:lnTo>
                  <a:lnTo>
                    <a:pt x="16924" y="14269"/>
                  </a:lnTo>
                  <a:lnTo>
                    <a:pt x="31174" y="19352"/>
                  </a:lnTo>
                  <a:lnTo>
                    <a:pt x="0" y="2229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97469" y="1953781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16924" y="14269"/>
                  </a:moveTo>
                  <a:lnTo>
                    <a:pt x="21999" y="0"/>
                  </a:lnTo>
                  <a:lnTo>
                    <a:pt x="0" y="22297"/>
                  </a:lnTo>
                  <a:lnTo>
                    <a:pt x="31174" y="19352"/>
                  </a:lnTo>
                  <a:lnTo>
                    <a:pt x="16924" y="1426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51930" y="1318723"/>
            <a:ext cx="641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 =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E(x)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6889" y="3825392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8900" y="3763579"/>
            <a:ext cx="41275" cy="53340"/>
            <a:chOff x="6098900" y="3763579"/>
            <a:chExt cx="41275" cy="53340"/>
          </a:xfrm>
        </p:grpSpPr>
        <p:sp>
          <p:nvSpPr>
            <p:cNvPr id="17" name="object 17"/>
            <p:cNvSpPr/>
            <p:nvPr/>
          </p:nvSpPr>
          <p:spPr>
            <a:xfrm>
              <a:off x="6103662" y="37683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03662" y="376834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252127" y="1982333"/>
          <a:ext cx="1724660" cy="1781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7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 =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f(x)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85824" y="4031581"/>
            <a:ext cx="159448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f(x) </a:t>
            </a:r>
            <a:r>
              <a:rPr sz="1400" dirty="0">
                <a:latin typeface="Arial"/>
                <a:cs typeface="Arial"/>
              </a:rPr>
              <a:t>- smile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classifier  </a:t>
            </a:r>
            <a:r>
              <a:rPr sz="1400" spc="-5" dirty="0">
                <a:latin typeface="Arial"/>
                <a:cs typeface="Arial"/>
              </a:rPr>
              <a:t>G(z)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generator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2196" y="4031581"/>
            <a:ext cx="15265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D(z)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discriminator  </a:t>
            </a:r>
            <a:r>
              <a:rPr sz="1400" dirty="0">
                <a:latin typeface="Arial"/>
                <a:cs typeface="Arial"/>
              </a:rPr>
              <a:t>E (x) -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encoder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17708" y="1977418"/>
            <a:ext cx="1734820" cy="386080"/>
            <a:chOff x="1817708" y="1977418"/>
            <a:chExt cx="1734820" cy="386080"/>
          </a:xfrm>
        </p:grpSpPr>
        <p:sp>
          <p:nvSpPr>
            <p:cNvPr id="23" name="object 23"/>
            <p:cNvSpPr/>
            <p:nvPr/>
          </p:nvSpPr>
          <p:spPr>
            <a:xfrm>
              <a:off x="1822471" y="1982180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1724996" y="376499"/>
                  </a:moveTo>
                  <a:lnTo>
                    <a:pt x="0" y="376499"/>
                  </a:lnTo>
                  <a:lnTo>
                    <a:pt x="0" y="0"/>
                  </a:lnTo>
                  <a:lnTo>
                    <a:pt x="1724996" y="0"/>
                  </a:lnTo>
                  <a:lnTo>
                    <a:pt x="1724996" y="376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2471" y="1982180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0" y="0"/>
                  </a:moveTo>
                  <a:lnTo>
                    <a:pt x="1724996" y="0"/>
                  </a:lnTo>
                  <a:lnTo>
                    <a:pt x="1724996" y="376499"/>
                  </a:lnTo>
                  <a:lnTo>
                    <a:pt x="0" y="37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40544" y="2045839"/>
            <a:ext cx="10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62827" y="1903786"/>
            <a:ext cx="661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x ~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G(z)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64534" y="1601334"/>
            <a:ext cx="3883660" cy="594360"/>
            <a:chOff x="1364534" y="1601334"/>
            <a:chExt cx="3883660" cy="594360"/>
          </a:xfrm>
        </p:grpSpPr>
        <p:sp>
          <p:nvSpPr>
            <p:cNvPr id="28" name="object 28"/>
            <p:cNvSpPr/>
            <p:nvPr/>
          </p:nvSpPr>
          <p:spPr>
            <a:xfrm>
              <a:off x="3547467" y="2170430"/>
              <a:ext cx="1652270" cy="5080"/>
            </a:xfrm>
            <a:custGeom>
              <a:avLst/>
              <a:gdLst/>
              <a:ahLst/>
              <a:cxnLst/>
              <a:rect l="l" t="t" r="r" b="b"/>
              <a:pathLst>
                <a:path w="1652270" h="5080">
                  <a:moveTo>
                    <a:pt x="0" y="0"/>
                  </a:moveTo>
                  <a:lnTo>
                    <a:pt x="1652246" y="463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9664" y="21593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99" y="0"/>
                  </a:lnTo>
                  <a:lnTo>
                    <a:pt x="43274" y="1585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99664" y="21593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74" y="15854"/>
                  </a:lnTo>
                  <a:lnTo>
                    <a:pt x="99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69297" y="1606096"/>
              <a:ext cx="1261110" cy="360680"/>
            </a:xfrm>
            <a:custGeom>
              <a:avLst/>
              <a:gdLst/>
              <a:ahLst/>
              <a:cxnLst/>
              <a:rect l="l" t="t" r="r" b="b"/>
              <a:pathLst>
                <a:path w="1261110" h="360680">
                  <a:moveTo>
                    <a:pt x="0" y="0"/>
                  </a:moveTo>
                  <a:lnTo>
                    <a:pt x="1260847" y="36048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25819" y="195145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254"/>
                  </a:moveTo>
                  <a:lnTo>
                    <a:pt x="8649" y="0"/>
                  </a:lnTo>
                  <a:lnTo>
                    <a:pt x="45874" y="27009"/>
                  </a:lnTo>
                  <a:lnTo>
                    <a:pt x="0" y="3025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25819" y="1951458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5" h="30480">
                  <a:moveTo>
                    <a:pt x="0" y="30254"/>
                  </a:moveTo>
                  <a:lnTo>
                    <a:pt x="45874" y="27009"/>
                  </a:lnTo>
                  <a:lnTo>
                    <a:pt x="8649" y="0"/>
                  </a:lnTo>
                  <a:lnTo>
                    <a:pt x="0" y="302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5072" y="1295511"/>
            <a:ext cx="622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 ~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p(z)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733370" y="1530623"/>
            <a:ext cx="3707014" cy="2778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3661" y="2049033"/>
            <a:ext cx="3630295" cy="2433955"/>
            <a:chOff x="473661" y="2049033"/>
            <a:chExt cx="3630295" cy="2433955"/>
          </a:xfrm>
        </p:grpSpPr>
        <p:sp>
          <p:nvSpPr>
            <p:cNvPr id="5" name="object 5"/>
            <p:cNvSpPr/>
            <p:nvPr/>
          </p:nvSpPr>
          <p:spPr>
            <a:xfrm>
              <a:off x="473674" y="2049045"/>
              <a:ext cx="3630295" cy="480059"/>
            </a:xfrm>
            <a:custGeom>
              <a:avLst/>
              <a:gdLst/>
              <a:ahLst/>
              <a:cxnLst/>
              <a:rect l="l" t="t" r="r" b="b"/>
              <a:pathLst>
                <a:path w="3630295" h="480060">
                  <a:moveTo>
                    <a:pt x="4749" y="0"/>
                  </a:moveTo>
                  <a:lnTo>
                    <a:pt x="4749" y="480049"/>
                  </a:lnTo>
                </a:path>
                <a:path w="3630295" h="480060">
                  <a:moveTo>
                    <a:pt x="728823" y="0"/>
                  </a:moveTo>
                  <a:lnTo>
                    <a:pt x="728823" y="480049"/>
                  </a:lnTo>
                </a:path>
                <a:path w="3630295" h="480060">
                  <a:moveTo>
                    <a:pt x="1452897" y="0"/>
                  </a:moveTo>
                  <a:lnTo>
                    <a:pt x="1452897" y="480049"/>
                  </a:lnTo>
                </a:path>
                <a:path w="3630295" h="480060">
                  <a:moveTo>
                    <a:pt x="2176970" y="0"/>
                  </a:moveTo>
                  <a:lnTo>
                    <a:pt x="2176970" y="480049"/>
                  </a:lnTo>
                </a:path>
                <a:path w="3630295" h="480060">
                  <a:moveTo>
                    <a:pt x="2901044" y="0"/>
                  </a:moveTo>
                  <a:lnTo>
                    <a:pt x="2901044" y="480049"/>
                  </a:lnTo>
                </a:path>
                <a:path w="3630295" h="480060">
                  <a:moveTo>
                    <a:pt x="3625117" y="0"/>
                  </a:moveTo>
                  <a:lnTo>
                    <a:pt x="3625117" y="480049"/>
                  </a:lnTo>
                </a:path>
                <a:path w="3630295" h="480060">
                  <a:moveTo>
                    <a:pt x="0" y="4749"/>
                  </a:moveTo>
                  <a:lnTo>
                    <a:pt x="3629867" y="4749"/>
                  </a:lnTo>
                </a:path>
                <a:path w="3630295" h="480060">
                  <a:moveTo>
                    <a:pt x="0" y="475299"/>
                  </a:moveTo>
                  <a:lnTo>
                    <a:pt x="3629867" y="475299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3270" y="3036619"/>
              <a:ext cx="1989745" cy="666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19447" y="2406207"/>
              <a:ext cx="29845" cy="828040"/>
            </a:xfrm>
            <a:custGeom>
              <a:avLst/>
              <a:gdLst/>
              <a:ahLst/>
              <a:cxnLst/>
              <a:rect l="l" t="t" r="r" b="b"/>
              <a:pathLst>
                <a:path w="29844" h="828039">
                  <a:moveTo>
                    <a:pt x="29747" y="82788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725" y="23630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762"/>
                  </a:moveTo>
                  <a:lnTo>
                    <a:pt x="14169" y="0"/>
                  </a:lnTo>
                  <a:lnTo>
                    <a:pt x="31444" y="42632"/>
                  </a:lnTo>
                  <a:lnTo>
                    <a:pt x="0" y="437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725" y="236301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4" y="42632"/>
                  </a:moveTo>
                  <a:lnTo>
                    <a:pt x="14169" y="0"/>
                  </a:lnTo>
                  <a:lnTo>
                    <a:pt x="0" y="43762"/>
                  </a:lnTo>
                  <a:lnTo>
                    <a:pt x="31444" y="4263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3223" y="3743942"/>
              <a:ext cx="2073395" cy="7385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8073" y="2427027"/>
              <a:ext cx="182880" cy="1502410"/>
            </a:xfrm>
            <a:custGeom>
              <a:avLst/>
              <a:gdLst/>
              <a:ahLst/>
              <a:cxnLst/>
              <a:rect l="l" t="t" r="r" b="b"/>
              <a:pathLst>
                <a:path w="182880" h="1502410">
                  <a:moveTo>
                    <a:pt x="182699" y="150236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2455" y="2384117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0" y="44809"/>
                  </a:moveTo>
                  <a:lnTo>
                    <a:pt x="10397" y="0"/>
                  </a:lnTo>
                  <a:lnTo>
                    <a:pt x="31234" y="41009"/>
                  </a:lnTo>
                  <a:lnTo>
                    <a:pt x="0" y="4480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2455" y="2384117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234" y="41009"/>
                  </a:moveTo>
                  <a:lnTo>
                    <a:pt x="10397" y="0"/>
                  </a:lnTo>
                  <a:lnTo>
                    <a:pt x="0" y="44809"/>
                  </a:lnTo>
                  <a:lnTo>
                    <a:pt x="31234" y="4100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92449" y="1633105"/>
            <a:ext cx="10331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latent </a:t>
            </a:r>
            <a:r>
              <a:rPr sz="1400" dirty="0">
                <a:latin typeface="Arial"/>
                <a:cs typeface="Arial"/>
              </a:rPr>
              <a:t>code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idx="2"/>
          </p:nvPr>
        </p:nvSpPr>
        <p:spPr>
          <a:xfrm>
            <a:off x="152400" y="95592"/>
            <a:ext cx="6324600" cy="857250"/>
          </a:xfrm>
        </p:spPr>
        <p:txBody>
          <a:bodyPr/>
          <a:lstStyle/>
          <a:p>
            <a:r>
              <a:rPr lang="en-IN" sz="2400" spc="-5" dirty="0"/>
              <a:t>Latent Code</a:t>
            </a:r>
            <a:r>
              <a:rPr lang="en-IN" sz="2400" spc="-245" dirty="0"/>
              <a:t> </a:t>
            </a:r>
            <a:r>
              <a:rPr lang="en-IN" sz="2400" spc="-5" dirty="0"/>
              <a:t>Attribution</a:t>
            </a:r>
            <a:endParaRPr lang="en-I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Latent Code</a:t>
            </a:r>
            <a:r>
              <a:rPr lang="en-IN" spc="-90" dirty="0"/>
              <a:t> </a:t>
            </a:r>
            <a:r>
              <a:rPr lang="en-IN" dirty="0"/>
              <a:t>Manipulation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6200" y="1200150"/>
            <a:ext cx="4194142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70341" y="1200149"/>
            <a:ext cx="4645059" cy="34634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07311" y="4663626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/>
          <p:cNvSpPr>
            <a:spLocks noGrp="1"/>
          </p:cNvSpPr>
          <p:nvPr>
            <p:ph type="body" idx="2"/>
          </p:nvPr>
        </p:nvSpPr>
        <p:spPr>
          <a:xfrm>
            <a:off x="26894" y="116037"/>
            <a:ext cx="6934200" cy="857250"/>
          </a:xfrm>
        </p:spPr>
        <p:txBody>
          <a:bodyPr>
            <a:normAutofit/>
          </a:bodyPr>
          <a:lstStyle/>
          <a:p>
            <a:r>
              <a:rPr lang="en-IN" spc="-5" dirty="0"/>
              <a:t>Counterfactual Fairness</a:t>
            </a:r>
            <a:r>
              <a:rPr lang="en-IN" spc="-245" dirty="0"/>
              <a:t> </a:t>
            </a:r>
            <a:r>
              <a:rPr lang="en-IN" spc="-5" dirty="0"/>
              <a:t>Assessment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207312" y="4352182"/>
            <a:ext cx="1477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Denton et al,</a:t>
            </a:r>
            <a:r>
              <a:rPr sz="1400" u="heavy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1696" y="344439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93707" y="3382580"/>
            <a:ext cx="41275" cy="53340"/>
            <a:chOff x="2593707" y="3382580"/>
            <a:chExt cx="41275" cy="53340"/>
          </a:xfrm>
        </p:grpSpPr>
        <p:sp>
          <p:nvSpPr>
            <p:cNvPr id="6" name="object 6"/>
            <p:cNvSpPr/>
            <p:nvPr/>
          </p:nvSpPr>
          <p:spPr>
            <a:xfrm>
              <a:off x="2598469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8469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46934" y="1822431"/>
            <a:ext cx="1734820" cy="386080"/>
            <a:chOff x="1746934" y="1822431"/>
            <a:chExt cx="1734820" cy="386080"/>
          </a:xfrm>
        </p:grpSpPr>
        <p:sp>
          <p:nvSpPr>
            <p:cNvPr id="9" name="object 9"/>
            <p:cNvSpPr/>
            <p:nvPr/>
          </p:nvSpPr>
          <p:spPr>
            <a:xfrm>
              <a:off x="1751696" y="1827193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1724996" y="376499"/>
                  </a:moveTo>
                  <a:lnTo>
                    <a:pt x="0" y="376499"/>
                  </a:lnTo>
                  <a:lnTo>
                    <a:pt x="0" y="0"/>
                  </a:lnTo>
                  <a:lnTo>
                    <a:pt x="1724996" y="0"/>
                  </a:lnTo>
                  <a:lnTo>
                    <a:pt x="1724996" y="3764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1696" y="1827193"/>
              <a:ext cx="1725295" cy="376555"/>
            </a:xfrm>
            <a:custGeom>
              <a:avLst/>
              <a:gdLst/>
              <a:ahLst/>
              <a:cxnLst/>
              <a:rect l="l" t="t" r="r" b="b"/>
              <a:pathLst>
                <a:path w="1725295" h="376555">
                  <a:moveTo>
                    <a:pt x="0" y="0"/>
                  </a:moveTo>
                  <a:lnTo>
                    <a:pt x="1724996" y="0"/>
                  </a:lnTo>
                  <a:lnTo>
                    <a:pt x="1724996" y="376499"/>
                  </a:lnTo>
                  <a:lnTo>
                    <a:pt x="0" y="37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746934" y="2260845"/>
          <a:ext cx="1724660" cy="1126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655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z=E(x)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y=f(x)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569774" y="1890858"/>
            <a:ext cx="10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3707" y="1994948"/>
            <a:ext cx="3111500" cy="271145"/>
            <a:chOff x="2593707" y="1994948"/>
            <a:chExt cx="3111500" cy="271145"/>
          </a:xfrm>
        </p:grpSpPr>
        <p:sp>
          <p:nvSpPr>
            <p:cNvPr id="14" name="object 14"/>
            <p:cNvSpPr/>
            <p:nvPr/>
          </p:nvSpPr>
          <p:spPr>
            <a:xfrm>
              <a:off x="2598469" y="2217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8469" y="221762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6692" y="2015443"/>
              <a:ext cx="2180590" cy="0"/>
            </a:xfrm>
            <a:custGeom>
              <a:avLst/>
              <a:gdLst/>
              <a:ahLst/>
              <a:cxnLst/>
              <a:rect l="l" t="t" r="r" b="b"/>
              <a:pathLst>
                <a:path w="2180590">
                  <a:moveTo>
                    <a:pt x="0" y="0"/>
                  </a:moveTo>
                  <a:lnTo>
                    <a:pt x="218024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56938" y="199971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56938" y="199971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709325" y="1822431"/>
          <a:ext cx="1724660" cy="71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z'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x~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G(z)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294410" y="1735784"/>
            <a:ext cx="543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 ←</a:t>
            </a:r>
            <a:r>
              <a:rPr sz="1400" spc="-1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a'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709325" y="2591932"/>
          <a:ext cx="1724660" cy="790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x'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y'=f(x')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9525">
                      <a:solidFill>
                        <a:srgbClr val="59595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6556099" y="2534782"/>
            <a:ext cx="41275" cy="53340"/>
            <a:chOff x="6556099" y="2534782"/>
            <a:chExt cx="41275" cy="53340"/>
          </a:xfrm>
        </p:grpSpPr>
        <p:sp>
          <p:nvSpPr>
            <p:cNvPr id="23" name="object 23"/>
            <p:cNvSpPr/>
            <p:nvPr/>
          </p:nvSpPr>
          <p:spPr>
            <a:xfrm>
              <a:off x="6560861" y="2539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60861" y="25395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14088" y="3444393"/>
            <a:ext cx="1725295" cy="376555"/>
          </a:xfrm>
          <a:prstGeom prst="rect">
            <a:avLst/>
          </a:prstGeom>
          <a:solidFill>
            <a:srgbClr val="EDEDED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smile?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56099" y="3382580"/>
            <a:ext cx="41275" cy="53340"/>
            <a:chOff x="6556099" y="3382580"/>
            <a:chExt cx="41275" cy="53340"/>
          </a:xfrm>
        </p:grpSpPr>
        <p:sp>
          <p:nvSpPr>
            <p:cNvPr id="27" name="object 27"/>
            <p:cNvSpPr/>
            <p:nvPr/>
          </p:nvSpPr>
          <p:spPr>
            <a:xfrm>
              <a:off x="6560861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60861" y="338734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610055" y="3520780"/>
            <a:ext cx="2000885" cy="257175"/>
            <a:chOff x="3610055" y="3520780"/>
            <a:chExt cx="2000885" cy="257175"/>
          </a:xfrm>
        </p:grpSpPr>
        <p:sp>
          <p:nvSpPr>
            <p:cNvPr id="30" name="object 30"/>
            <p:cNvSpPr/>
            <p:nvPr/>
          </p:nvSpPr>
          <p:spPr>
            <a:xfrm>
              <a:off x="3614817" y="3525542"/>
              <a:ext cx="1991360" cy="247650"/>
            </a:xfrm>
            <a:custGeom>
              <a:avLst/>
              <a:gdLst/>
              <a:ahLst/>
              <a:cxnLst/>
              <a:rect l="l" t="t" r="r" b="b"/>
              <a:pathLst>
                <a:path w="1991360" h="247650">
                  <a:moveTo>
                    <a:pt x="1867196" y="247199"/>
                  </a:moveTo>
                  <a:lnTo>
                    <a:pt x="1867196" y="185399"/>
                  </a:lnTo>
                  <a:lnTo>
                    <a:pt x="123599" y="185399"/>
                  </a:lnTo>
                  <a:lnTo>
                    <a:pt x="123599" y="247199"/>
                  </a:lnTo>
                  <a:lnTo>
                    <a:pt x="0" y="123599"/>
                  </a:lnTo>
                  <a:lnTo>
                    <a:pt x="123599" y="0"/>
                  </a:lnTo>
                  <a:lnTo>
                    <a:pt x="123599" y="61799"/>
                  </a:lnTo>
                  <a:lnTo>
                    <a:pt x="1867196" y="61799"/>
                  </a:lnTo>
                  <a:lnTo>
                    <a:pt x="1867196" y="0"/>
                  </a:lnTo>
                  <a:lnTo>
                    <a:pt x="1990795" y="123599"/>
                  </a:lnTo>
                  <a:lnTo>
                    <a:pt x="1867196" y="2471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14817" y="3525542"/>
              <a:ext cx="1991360" cy="247650"/>
            </a:xfrm>
            <a:custGeom>
              <a:avLst/>
              <a:gdLst/>
              <a:ahLst/>
              <a:cxnLst/>
              <a:rect l="l" t="t" r="r" b="b"/>
              <a:pathLst>
                <a:path w="1991360" h="247650">
                  <a:moveTo>
                    <a:pt x="0" y="123599"/>
                  </a:moveTo>
                  <a:lnTo>
                    <a:pt x="123599" y="0"/>
                  </a:lnTo>
                  <a:lnTo>
                    <a:pt x="123599" y="61799"/>
                  </a:lnTo>
                  <a:lnTo>
                    <a:pt x="1867196" y="61799"/>
                  </a:lnTo>
                  <a:lnTo>
                    <a:pt x="1867196" y="0"/>
                  </a:lnTo>
                  <a:lnTo>
                    <a:pt x="1990795" y="123599"/>
                  </a:lnTo>
                  <a:lnTo>
                    <a:pt x="1867196" y="247199"/>
                  </a:lnTo>
                  <a:lnTo>
                    <a:pt x="1867196" y="185399"/>
                  </a:lnTo>
                  <a:lnTo>
                    <a:pt x="123599" y="185399"/>
                  </a:lnTo>
                  <a:lnTo>
                    <a:pt x="123599" y="247199"/>
                  </a:lnTo>
                  <a:lnTo>
                    <a:pt x="0" y="123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09990" y="3286804"/>
            <a:ext cx="807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changed?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043444" y="3920283"/>
            <a:ext cx="5113616" cy="258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Sensitivity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733163" y="2630716"/>
            <a:ext cx="5840730" cy="484505"/>
            <a:chOff x="1733163" y="2630716"/>
            <a:chExt cx="5840730" cy="484505"/>
          </a:xfrm>
        </p:grpSpPr>
        <p:sp>
          <p:nvSpPr>
            <p:cNvPr id="4" name="object 4"/>
            <p:cNvSpPr/>
            <p:nvPr/>
          </p:nvSpPr>
          <p:spPr>
            <a:xfrm>
              <a:off x="1733163" y="2630716"/>
              <a:ext cx="5840575" cy="4504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30263" y="3098543"/>
              <a:ext cx="311785" cy="0"/>
            </a:xfrm>
            <a:custGeom>
              <a:avLst/>
              <a:gdLst/>
              <a:ahLst/>
              <a:cxnLst/>
              <a:rect l="l" t="t" r="r" b="b"/>
              <a:pathLst>
                <a:path w="311785">
                  <a:moveTo>
                    <a:pt x="0" y="0"/>
                  </a:moveTo>
                  <a:lnTo>
                    <a:pt x="3113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2810" y="3100543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5">
                  <a:moveTo>
                    <a:pt x="0" y="0"/>
                  </a:moveTo>
                  <a:lnTo>
                    <a:pt x="335699" y="0"/>
                  </a:lnTo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3424" y="3881214"/>
            <a:ext cx="11461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f(x) </a:t>
            </a:r>
            <a:r>
              <a:rPr sz="1000" dirty="0">
                <a:latin typeface="Arial"/>
                <a:cs typeface="Arial"/>
              </a:rPr>
              <a:t>- smile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classifier  </a:t>
            </a:r>
            <a:r>
              <a:rPr sz="1000" spc="-5" dirty="0">
                <a:latin typeface="Arial"/>
                <a:cs typeface="Arial"/>
              </a:rPr>
              <a:t>G(z)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generator  D(z)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discriminator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9515" y="3977186"/>
            <a:ext cx="6674484" cy="414655"/>
            <a:chOff x="1809515" y="3977186"/>
            <a:chExt cx="6674484" cy="414655"/>
          </a:xfrm>
        </p:grpSpPr>
        <p:sp>
          <p:nvSpPr>
            <p:cNvPr id="9" name="object 9"/>
            <p:cNvSpPr/>
            <p:nvPr/>
          </p:nvSpPr>
          <p:spPr>
            <a:xfrm>
              <a:off x="1809515" y="3977186"/>
              <a:ext cx="6674255" cy="3367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310" y="4367966"/>
              <a:ext cx="3881754" cy="9525"/>
            </a:xfrm>
            <a:custGeom>
              <a:avLst/>
              <a:gdLst/>
              <a:ahLst/>
              <a:cxnLst/>
              <a:rect l="l" t="t" r="r" b="b"/>
              <a:pathLst>
                <a:path w="3881754" h="9525">
                  <a:moveTo>
                    <a:pt x="3477702" y="0"/>
                  </a:moveTo>
                  <a:lnTo>
                    <a:pt x="3881202" y="0"/>
                  </a:lnTo>
                </a:path>
                <a:path w="3881754" h="9525">
                  <a:moveTo>
                    <a:pt x="0" y="9274"/>
                  </a:moveTo>
                  <a:lnTo>
                    <a:pt x="403509" y="9274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54319" y="4377241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99" y="0"/>
                  </a:lnTo>
                </a:path>
              </a:pathLst>
            </a:custGeom>
            <a:ln w="2857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42464" y="1397922"/>
            <a:ext cx="936625" cy="376555"/>
          </a:xfrm>
          <a:prstGeom prst="rect">
            <a:avLst/>
          </a:prstGeom>
          <a:solidFill>
            <a:srgbClr val="E69138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z'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02272" y="1761054"/>
            <a:ext cx="454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A←a'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08154" y="1566026"/>
            <a:ext cx="1625600" cy="41275"/>
            <a:chOff x="3908154" y="1566026"/>
            <a:chExt cx="1625600" cy="41275"/>
          </a:xfrm>
        </p:grpSpPr>
        <p:sp>
          <p:nvSpPr>
            <p:cNvPr id="15" name="object 15"/>
            <p:cNvSpPr/>
            <p:nvPr/>
          </p:nvSpPr>
          <p:spPr>
            <a:xfrm>
              <a:off x="3912916" y="1586521"/>
              <a:ext cx="1572895" cy="9525"/>
            </a:xfrm>
            <a:custGeom>
              <a:avLst/>
              <a:gdLst/>
              <a:ahLst/>
              <a:cxnLst/>
              <a:rect l="l" t="t" r="r" b="b"/>
              <a:pathLst>
                <a:path w="1572895" h="9525">
                  <a:moveTo>
                    <a:pt x="0" y="8974"/>
                  </a:moveTo>
                  <a:lnTo>
                    <a:pt x="1572446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5263" y="15707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99" y="31464"/>
                  </a:moveTo>
                  <a:lnTo>
                    <a:pt x="0" y="0"/>
                  </a:lnTo>
                  <a:lnTo>
                    <a:pt x="43324" y="15487"/>
                  </a:lnTo>
                  <a:lnTo>
                    <a:pt x="199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5263" y="15707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99" y="31464"/>
                  </a:moveTo>
                  <a:lnTo>
                    <a:pt x="43324" y="15487"/>
                  </a:lnTo>
                  <a:lnTo>
                    <a:pt x="0" y="0"/>
                  </a:lnTo>
                  <a:lnTo>
                    <a:pt x="199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48135" y="1397922"/>
            <a:ext cx="862965" cy="376555"/>
          </a:xfrm>
          <a:prstGeom prst="rect">
            <a:avLst/>
          </a:prstGeom>
          <a:solidFill>
            <a:srgbClr val="69A84F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x'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78461" y="1565676"/>
            <a:ext cx="560705" cy="41275"/>
            <a:chOff x="6478461" y="1565676"/>
            <a:chExt cx="560705" cy="41275"/>
          </a:xfrm>
        </p:grpSpPr>
        <p:sp>
          <p:nvSpPr>
            <p:cNvPr id="20" name="object 20"/>
            <p:cNvSpPr/>
            <p:nvPr/>
          </p:nvSpPr>
          <p:spPr>
            <a:xfrm>
              <a:off x="6478461" y="1586171"/>
              <a:ext cx="513080" cy="0"/>
            </a:xfrm>
            <a:custGeom>
              <a:avLst/>
              <a:gdLst/>
              <a:ahLst/>
              <a:cxnLst/>
              <a:rect l="l" t="t" r="r" b="b"/>
              <a:pathLst>
                <a:path w="513079">
                  <a:moveTo>
                    <a:pt x="0" y="0"/>
                  </a:moveTo>
                  <a:lnTo>
                    <a:pt x="5125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91010" y="157043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91010" y="157043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50418" y="1407247"/>
            <a:ext cx="862965" cy="376555"/>
          </a:xfrm>
          <a:prstGeom prst="rect">
            <a:avLst/>
          </a:prstGeom>
          <a:solidFill>
            <a:srgbClr val="E69138"/>
          </a:solidFill>
          <a:ln w="9524">
            <a:solidFill>
              <a:srgbClr val="595959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z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37404" y="1786809"/>
            <a:ext cx="420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A←a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35345" y="1575001"/>
            <a:ext cx="806450" cy="41275"/>
            <a:chOff x="2235345" y="1575001"/>
            <a:chExt cx="806450" cy="41275"/>
          </a:xfrm>
        </p:grpSpPr>
        <p:sp>
          <p:nvSpPr>
            <p:cNvPr id="26" name="object 26"/>
            <p:cNvSpPr/>
            <p:nvPr/>
          </p:nvSpPr>
          <p:spPr>
            <a:xfrm>
              <a:off x="2235345" y="1595496"/>
              <a:ext cx="758190" cy="0"/>
            </a:xfrm>
            <a:custGeom>
              <a:avLst/>
              <a:gdLst/>
              <a:ahLst/>
              <a:cxnLst/>
              <a:rect l="l" t="t" r="r" b="b"/>
              <a:pathLst>
                <a:path w="758189">
                  <a:moveTo>
                    <a:pt x="0" y="0"/>
                  </a:moveTo>
                  <a:lnTo>
                    <a:pt x="7579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3293" y="15797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93293" y="15797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428647" y="1407247"/>
            <a:ext cx="807085" cy="376555"/>
          </a:xfrm>
          <a:prstGeom prst="rect">
            <a:avLst/>
          </a:prstGeom>
          <a:solidFill>
            <a:srgbClr val="69A84F"/>
          </a:solidFill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64265" y="3255018"/>
            <a:ext cx="1231900" cy="7620"/>
          </a:xfrm>
          <a:custGeom>
            <a:avLst/>
            <a:gdLst/>
            <a:ahLst/>
            <a:cxnLst/>
            <a:rect l="l" t="t" r="r" b="b"/>
            <a:pathLst>
              <a:path w="1231900" h="7620">
                <a:moveTo>
                  <a:pt x="0" y="7199"/>
                </a:moveTo>
                <a:lnTo>
                  <a:pt x="1231797" y="0"/>
                </a:lnTo>
              </a:path>
            </a:pathLst>
          </a:custGeom>
          <a:ln w="28574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77786" y="3262218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498" y="0"/>
                </a:lnTo>
              </a:path>
            </a:pathLst>
          </a:custGeom>
          <a:ln w="28574">
            <a:solidFill>
              <a:srgbClr val="69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11415" y="3176743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3199" y="0"/>
                </a:lnTo>
              </a:path>
            </a:pathLst>
          </a:custGeom>
          <a:ln w="2857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Sensitivity</a:t>
            </a:r>
            <a:r>
              <a:rPr lang="en-IN" spc="-8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939746" y="1343576"/>
            <a:ext cx="5573828" cy="429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1343" y="1885796"/>
            <a:ext cx="3281045" cy="3022600"/>
            <a:chOff x="821343" y="1885796"/>
            <a:chExt cx="3281045" cy="3022600"/>
          </a:xfrm>
        </p:grpSpPr>
        <p:sp>
          <p:nvSpPr>
            <p:cNvPr id="5" name="object 5"/>
            <p:cNvSpPr/>
            <p:nvPr/>
          </p:nvSpPr>
          <p:spPr>
            <a:xfrm>
              <a:off x="821343" y="1885796"/>
              <a:ext cx="3221706" cy="26284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4934" y="4514290"/>
              <a:ext cx="2487327" cy="3936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134946" y="1852961"/>
            <a:ext cx="3012440" cy="3131820"/>
            <a:chOff x="5134946" y="1852961"/>
            <a:chExt cx="3012440" cy="3131820"/>
          </a:xfrm>
        </p:grpSpPr>
        <p:sp>
          <p:nvSpPr>
            <p:cNvPr id="8" name="object 8"/>
            <p:cNvSpPr/>
            <p:nvPr/>
          </p:nvSpPr>
          <p:spPr>
            <a:xfrm>
              <a:off x="5134946" y="1885796"/>
              <a:ext cx="3011811" cy="30983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59038" y="1867248"/>
              <a:ext cx="2114550" cy="2701925"/>
            </a:xfrm>
            <a:custGeom>
              <a:avLst/>
              <a:gdLst/>
              <a:ahLst/>
              <a:cxnLst/>
              <a:rect l="l" t="t" r="r" b="b"/>
              <a:pathLst>
                <a:path w="2114550" h="2701925">
                  <a:moveTo>
                    <a:pt x="0" y="0"/>
                  </a:moveTo>
                  <a:lnTo>
                    <a:pt x="2114395" y="0"/>
                  </a:lnTo>
                  <a:lnTo>
                    <a:pt x="2114395" y="166799"/>
                  </a:lnTo>
                  <a:lnTo>
                    <a:pt x="0" y="166799"/>
                  </a:lnTo>
                  <a:lnTo>
                    <a:pt x="0" y="0"/>
                  </a:lnTo>
                  <a:close/>
                </a:path>
                <a:path w="2114550" h="2701925">
                  <a:moveTo>
                    <a:pt x="0" y="2534817"/>
                  </a:moveTo>
                  <a:lnTo>
                    <a:pt x="2114395" y="2534817"/>
                  </a:lnTo>
                  <a:lnTo>
                    <a:pt x="2114395" y="2701617"/>
                  </a:lnTo>
                  <a:lnTo>
                    <a:pt x="0" y="2701617"/>
                  </a:lnTo>
                  <a:lnTo>
                    <a:pt x="0" y="2534817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Heavy</a:t>
            </a:r>
            <a:r>
              <a:rPr lang="en-IN" spc="-90" dirty="0"/>
              <a:t> </a:t>
            </a:r>
            <a:r>
              <a:rPr lang="en-IN" dirty="0"/>
              <a:t>Makeup</a:t>
            </a:r>
          </a:p>
        </p:txBody>
      </p:sp>
      <p:sp>
        <p:nvSpPr>
          <p:cNvPr id="3" name="object 3"/>
          <p:cNvSpPr/>
          <p:nvPr/>
        </p:nvSpPr>
        <p:spPr>
          <a:xfrm>
            <a:off x="3297573" y="4187866"/>
            <a:ext cx="2667802" cy="194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856" y="1861328"/>
            <a:ext cx="8466051" cy="21229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60" dirty="0"/>
              <a:t>Young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3194268" y="4336791"/>
            <a:ext cx="2962049" cy="234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231" y="1949645"/>
            <a:ext cx="8358225" cy="2097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Directional</a:t>
            </a:r>
            <a:r>
              <a:rPr lang="en-IN" spc="-85" dirty="0"/>
              <a:t> </a:t>
            </a:r>
            <a:r>
              <a:rPr lang="en-IN" spc="-5" dirty="0"/>
              <a:t>Sensitivity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3155931" y="4145765"/>
            <a:ext cx="3141809" cy="242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3740" y="1782821"/>
            <a:ext cx="3385416" cy="391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25832" y="1802562"/>
            <a:ext cx="3394710" cy="377825"/>
            <a:chOff x="1125832" y="1802562"/>
            <a:chExt cx="3394710" cy="377825"/>
          </a:xfrm>
        </p:grpSpPr>
        <p:sp>
          <p:nvSpPr>
            <p:cNvPr id="6" name="object 6"/>
            <p:cNvSpPr/>
            <p:nvPr/>
          </p:nvSpPr>
          <p:spPr>
            <a:xfrm>
              <a:off x="1125832" y="1802562"/>
              <a:ext cx="3227733" cy="3777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4641" y="1938895"/>
              <a:ext cx="145449" cy="2050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59215" y="2298587"/>
            <a:ext cx="23279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from "not </a:t>
            </a:r>
            <a:r>
              <a:rPr sz="1400" dirty="0">
                <a:latin typeface="Arial"/>
                <a:cs typeface="Arial"/>
              </a:rPr>
              <a:t>smiling" </a:t>
            </a:r>
            <a:r>
              <a:rPr sz="1400" spc="-5" dirty="0">
                <a:latin typeface="Arial"/>
                <a:cs typeface="Arial"/>
              </a:rPr>
              <a:t>to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"smiling"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5248" y="2806340"/>
            <a:ext cx="3326129" cy="407670"/>
            <a:chOff x="1135248" y="2806340"/>
            <a:chExt cx="3326129" cy="407670"/>
          </a:xfrm>
        </p:grpSpPr>
        <p:sp>
          <p:nvSpPr>
            <p:cNvPr id="10" name="object 10"/>
            <p:cNvSpPr/>
            <p:nvPr/>
          </p:nvSpPr>
          <p:spPr>
            <a:xfrm>
              <a:off x="1135248" y="2806340"/>
              <a:ext cx="3197842" cy="4074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6916" y="2989105"/>
              <a:ext cx="94238" cy="1787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4578615" y="2812929"/>
            <a:ext cx="3405010" cy="3933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59215" y="3289185"/>
            <a:ext cx="23266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from "smiling" to "not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smiling"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Sensitivity</a:t>
            </a:r>
            <a:r>
              <a:rPr lang="en-IN" spc="-8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160902" y="1468499"/>
            <a:ext cx="6630889" cy="2559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Equalizer</a:t>
            </a:r>
            <a:r>
              <a:rPr lang="en-IN" spc="-95" dirty="0"/>
              <a:t> </a:t>
            </a:r>
            <a:r>
              <a:rPr lang="en-IN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833518" y="1299659"/>
            <a:ext cx="7220111" cy="2897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Basic</a:t>
            </a:r>
            <a:r>
              <a:rPr lang="en-IN" spc="-95" dirty="0"/>
              <a:t> </a:t>
            </a:r>
            <a:r>
              <a:rPr lang="en-IN" spc="-5" dirty="0"/>
              <a:t>Idea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495593" y="1455602"/>
            <a:ext cx="6071235" cy="2870835"/>
            <a:chOff x="1495593" y="1455602"/>
            <a:chExt cx="6071235" cy="2870835"/>
          </a:xfrm>
        </p:grpSpPr>
        <p:sp>
          <p:nvSpPr>
            <p:cNvPr id="4" name="object 4"/>
            <p:cNvSpPr/>
            <p:nvPr/>
          </p:nvSpPr>
          <p:spPr>
            <a:xfrm>
              <a:off x="1495593" y="1461654"/>
              <a:ext cx="1854400" cy="25668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71043" y="1455602"/>
              <a:ext cx="3950443" cy="14790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92118" y="2896994"/>
              <a:ext cx="4174416" cy="1428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1549" y="1629704"/>
            <a:ext cx="63627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Original  Image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853" y="2848902"/>
            <a:ext cx="833119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Annotated  Gender  Neutral  Image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The </a:t>
            </a:r>
            <a:r>
              <a:rPr lang="en-IN" spc="-10" dirty="0"/>
              <a:t>Equalizer</a:t>
            </a:r>
            <a:r>
              <a:rPr lang="en-IN" spc="-95" dirty="0"/>
              <a:t> </a:t>
            </a:r>
            <a:r>
              <a:rPr lang="en-IN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1900693" y="2183470"/>
            <a:ext cx="5446791" cy="576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294" y="3897010"/>
            <a:ext cx="3329097" cy="6206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5022" y="3639580"/>
            <a:ext cx="15741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Cross Entropy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49483" y="2805431"/>
            <a:ext cx="1073150" cy="773430"/>
            <a:chOff x="2149483" y="2805431"/>
            <a:chExt cx="1073150" cy="773430"/>
          </a:xfrm>
        </p:grpSpPr>
        <p:sp>
          <p:nvSpPr>
            <p:cNvPr id="7" name="object 7"/>
            <p:cNvSpPr/>
            <p:nvPr/>
          </p:nvSpPr>
          <p:spPr>
            <a:xfrm>
              <a:off x="2154245" y="2835394"/>
              <a:ext cx="1028700" cy="738505"/>
            </a:xfrm>
            <a:custGeom>
              <a:avLst/>
              <a:gdLst/>
              <a:ahLst/>
              <a:cxnLst/>
              <a:rect l="l" t="t" r="r" b="b"/>
              <a:pathLst>
                <a:path w="1028700" h="738504">
                  <a:moveTo>
                    <a:pt x="0" y="738273"/>
                  </a:moveTo>
                  <a:lnTo>
                    <a:pt x="102817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73243" y="2810194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18349" y="37999"/>
                  </a:moveTo>
                  <a:lnTo>
                    <a:pt x="0" y="12424"/>
                  </a:lnTo>
                  <a:lnTo>
                    <a:pt x="44299" y="0"/>
                  </a:lnTo>
                  <a:lnTo>
                    <a:pt x="18349" y="37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73243" y="2810194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44450" h="38100">
                  <a:moveTo>
                    <a:pt x="18349" y="37999"/>
                  </a:moveTo>
                  <a:lnTo>
                    <a:pt x="44299" y="0"/>
                  </a:lnTo>
                  <a:lnTo>
                    <a:pt x="0" y="12424"/>
                  </a:lnTo>
                  <a:lnTo>
                    <a:pt x="18349" y="379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90617" y="3639580"/>
            <a:ext cx="183070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Appearance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Confusing  Loss on the gender  neutral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30352" y="2842106"/>
            <a:ext cx="287655" cy="736600"/>
            <a:chOff x="4930352" y="2842106"/>
            <a:chExt cx="287655" cy="736600"/>
          </a:xfrm>
        </p:grpSpPr>
        <p:sp>
          <p:nvSpPr>
            <p:cNvPr id="12" name="object 12"/>
            <p:cNvSpPr/>
            <p:nvPr/>
          </p:nvSpPr>
          <p:spPr>
            <a:xfrm>
              <a:off x="4950540" y="2887269"/>
              <a:ext cx="262255" cy="686435"/>
            </a:xfrm>
            <a:custGeom>
              <a:avLst/>
              <a:gdLst/>
              <a:ahLst/>
              <a:cxnLst/>
              <a:rect l="l" t="t" r="r" b="b"/>
              <a:pathLst>
                <a:path w="262254" h="686435">
                  <a:moveTo>
                    <a:pt x="262199" y="68639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35115" y="284686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724" y="45999"/>
                  </a:moveTo>
                  <a:lnTo>
                    <a:pt x="0" y="0"/>
                  </a:lnTo>
                  <a:lnTo>
                    <a:pt x="30124" y="34774"/>
                  </a:lnTo>
                  <a:lnTo>
                    <a:pt x="724" y="45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35115" y="2846869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5">
                  <a:moveTo>
                    <a:pt x="30124" y="34774"/>
                  </a:moveTo>
                  <a:lnTo>
                    <a:pt x="0" y="0"/>
                  </a:lnTo>
                  <a:lnTo>
                    <a:pt x="724" y="45999"/>
                  </a:lnTo>
                  <a:lnTo>
                    <a:pt x="30124" y="3477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00412" y="3639580"/>
            <a:ext cx="15963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Confidence Loss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on  the original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image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51299" y="2818956"/>
            <a:ext cx="613410" cy="760095"/>
            <a:chOff x="6651299" y="2818956"/>
            <a:chExt cx="613410" cy="760095"/>
          </a:xfrm>
        </p:grpSpPr>
        <p:sp>
          <p:nvSpPr>
            <p:cNvPr id="17" name="object 17"/>
            <p:cNvSpPr/>
            <p:nvPr/>
          </p:nvSpPr>
          <p:spPr>
            <a:xfrm>
              <a:off x="6683161" y="2857394"/>
              <a:ext cx="576580" cy="716280"/>
            </a:xfrm>
            <a:custGeom>
              <a:avLst/>
              <a:gdLst/>
              <a:ahLst/>
              <a:cxnLst/>
              <a:rect l="l" t="t" r="r" b="b"/>
              <a:pathLst>
                <a:path w="576579" h="716279">
                  <a:moveTo>
                    <a:pt x="576473" y="71627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6061" y="2823719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70" h="43814">
                  <a:moveTo>
                    <a:pt x="14849" y="43524"/>
                  </a:moveTo>
                  <a:lnTo>
                    <a:pt x="0" y="0"/>
                  </a:lnTo>
                  <a:lnTo>
                    <a:pt x="39374" y="23799"/>
                  </a:lnTo>
                  <a:lnTo>
                    <a:pt x="14849" y="43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6061" y="2823719"/>
              <a:ext cx="39370" cy="43815"/>
            </a:xfrm>
            <a:custGeom>
              <a:avLst/>
              <a:gdLst/>
              <a:ahLst/>
              <a:cxnLst/>
              <a:rect l="l" t="t" r="r" b="b"/>
              <a:pathLst>
                <a:path w="39370" h="43814">
                  <a:moveTo>
                    <a:pt x="39374" y="23799"/>
                  </a:moveTo>
                  <a:lnTo>
                    <a:pt x="0" y="0"/>
                  </a:lnTo>
                  <a:lnTo>
                    <a:pt x="14849" y="43524"/>
                  </a:lnTo>
                  <a:lnTo>
                    <a:pt x="39374" y="23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Appearance </a:t>
            </a:r>
            <a:r>
              <a:rPr lang="en-IN" spc="-5" dirty="0"/>
              <a:t>Confusing</a:t>
            </a:r>
            <a:r>
              <a:rPr lang="en-IN" spc="-85" dirty="0"/>
              <a:t> </a:t>
            </a:r>
            <a:r>
              <a:rPr lang="en-IN" spc="-5" dirty="0"/>
              <a:t>Objective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627953" y="2894379"/>
            <a:ext cx="5410557" cy="4992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79820" y="1811946"/>
            <a:ext cx="4497690" cy="856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69351" y="3529067"/>
            <a:ext cx="1851531" cy="10622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4217" y="4126215"/>
            <a:ext cx="14147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indent="-77470">
              <a:lnSpc>
                <a:spcPct val="100000"/>
              </a:lnSpc>
              <a:spcBef>
                <a:spcPts val="100"/>
              </a:spcBef>
              <a:buChar char="-"/>
              <a:tabLst>
                <a:tab pos="90170" algn="l"/>
              </a:tabLst>
            </a:pPr>
            <a:r>
              <a:rPr sz="1000" dirty="0">
                <a:latin typeface="Arial"/>
                <a:cs typeface="Arial"/>
              </a:rPr>
              <a:t>set </a:t>
            </a:r>
            <a:r>
              <a:rPr sz="1000" spc="-5" dirty="0">
                <a:latin typeface="Arial"/>
                <a:cs typeface="Arial"/>
              </a:rPr>
              <a:t>of words for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woman</a:t>
            </a:r>
            <a:endParaRPr sz="1000">
              <a:latin typeface="Arial"/>
              <a:cs typeface="Arial"/>
            </a:endParaRPr>
          </a:p>
          <a:p>
            <a:pPr marL="90170" indent="-77470">
              <a:lnSpc>
                <a:spcPct val="100000"/>
              </a:lnSpc>
              <a:buChar char="-"/>
              <a:tabLst>
                <a:tab pos="90170" algn="l"/>
              </a:tabLst>
            </a:pPr>
            <a:r>
              <a:rPr sz="1000" dirty="0">
                <a:latin typeface="Arial"/>
                <a:cs typeface="Arial"/>
              </a:rPr>
              <a:t>set </a:t>
            </a:r>
            <a:r>
              <a:rPr sz="1000" spc="-5" dirty="0">
                <a:latin typeface="Arial"/>
                <a:cs typeface="Arial"/>
              </a:rPr>
              <a:t>of words for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1598" y="4158446"/>
            <a:ext cx="203835" cy="351790"/>
            <a:chOff x="511598" y="4158446"/>
            <a:chExt cx="203835" cy="351790"/>
          </a:xfrm>
        </p:grpSpPr>
        <p:sp>
          <p:nvSpPr>
            <p:cNvPr id="8" name="object 8"/>
            <p:cNvSpPr/>
            <p:nvPr/>
          </p:nvSpPr>
          <p:spPr>
            <a:xfrm>
              <a:off x="511598" y="4158446"/>
              <a:ext cx="192724" cy="1470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2133" y="4345747"/>
              <a:ext cx="192724" cy="1644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220605" y="3845254"/>
            <a:ext cx="1838325" cy="318770"/>
            <a:chOff x="3220605" y="3845254"/>
            <a:chExt cx="1838325" cy="318770"/>
          </a:xfrm>
        </p:grpSpPr>
        <p:sp>
          <p:nvSpPr>
            <p:cNvPr id="11" name="object 11"/>
            <p:cNvSpPr/>
            <p:nvPr/>
          </p:nvSpPr>
          <p:spPr>
            <a:xfrm>
              <a:off x="3225368" y="3850017"/>
              <a:ext cx="1828800" cy="309245"/>
            </a:xfrm>
            <a:custGeom>
              <a:avLst/>
              <a:gdLst/>
              <a:ahLst/>
              <a:cxnLst/>
              <a:rect l="l" t="t" r="r" b="b"/>
              <a:pathLst>
                <a:path w="1828800" h="309245">
                  <a:moveTo>
                    <a:pt x="1674071" y="308699"/>
                  </a:moveTo>
                  <a:lnTo>
                    <a:pt x="1674071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lnTo>
                    <a:pt x="154349" y="0"/>
                  </a:lnTo>
                  <a:lnTo>
                    <a:pt x="154349" y="77174"/>
                  </a:lnTo>
                  <a:lnTo>
                    <a:pt x="1674071" y="77174"/>
                  </a:lnTo>
                  <a:lnTo>
                    <a:pt x="1674071" y="0"/>
                  </a:lnTo>
                  <a:lnTo>
                    <a:pt x="1828421" y="154349"/>
                  </a:lnTo>
                  <a:lnTo>
                    <a:pt x="1674071" y="308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5368" y="3850017"/>
              <a:ext cx="1828800" cy="309245"/>
            </a:xfrm>
            <a:custGeom>
              <a:avLst/>
              <a:gdLst/>
              <a:ahLst/>
              <a:cxnLst/>
              <a:rect l="l" t="t" r="r" b="b"/>
              <a:pathLst>
                <a:path w="1828800" h="309245">
                  <a:moveTo>
                    <a:pt x="0" y="154349"/>
                  </a:moveTo>
                  <a:lnTo>
                    <a:pt x="154349" y="0"/>
                  </a:lnTo>
                  <a:lnTo>
                    <a:pt x="154349" y="77174"/>
                  </a:lnTo>
                  <a:lnTo>
                    <a:pt x="1674071" y="77174"/>
                  </a:lnTo>
                  <a:lnTo>
                    <a:pt x="1674071" y="0"/>
                  </a:lnTo>
                  <a:lnTo>
                    <a:pt x="1828421" y="154349"/>
                  </a:lnTo>
                  <a:lnTo>
                    <a:pt x="1674071" y="308699"/>
                  </a:lnTo>
                  <a:lnTo>
                    <a:pt x="1674071" y="231524"/>
                  </a:lnTo>
                  <a:lnTo>
                    <a:pt x="154349" y="231524"/>
                  </a:lnTo>
                  <a:lnTo>
                    <a:pt x="154349" y="308699"/>
                  </a:lnTo>
                  <a:lnTo>
                    <a:pt x="0" y="154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47411" y="3541070"/>
            <a:ext cx="1586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Push </a:t>
            </a:r>
            <a:r>
              <a:rPr sz="1200" spc="-30" dirty="0">
                <a:latin typeface="Arial"/>
                <a:cs typeface="Arial"/>
              </a:rPr>
              <a:t>Toward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Extremes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8196" y="3778949"/>
            <a:ext cx="1611796" cy="2789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70189" y="3771727"/>
            <a:ext cx="1644946" cy="4538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65435" y="45861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9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Confidence</a:t>
            </a:r>
            <a:r>
              <a:rPr lang="en-IN" spc="-85" dirty="0"/>
              <a:t> </a:t>
            </a:r>
            <a:r>
              <a:rPr lang="en-IN" spc="-5" dirty="0"/>
              <a:t>Objective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142622" y="2185719"/>
            <a:ext cx="6030487" cy="669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05883" y="3183425"/>
            <a:ext cx="1958898" cy="1205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1827" y="3023393"/>
            <a:ext cx="3669579" cy="53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6976" y="3895583"/>
            <a:ext cx="197040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indent="-108585">
              <a:lnSpc>
                <a:spcPts val="1664"/>
              </a:lnSpc>
              <a:spcBef>
                <a:spcPts val="100"/>
              </a:spcBef>
              <a:buChar char="-"/>
              <a:tabLst>
                <a:tab pos="121285" algn="l"/>
              </a:tabLst>
            </a:pPr>
            <a:r>
              <a:rPr sz="1400" dirty="0">
                <a:latin typeface="Arial"/>
                <a:cs typeface="Arial"/>
              </a:rPr>
              <a:t>set </a:t>
            </a:r>
            <a:r>
              <a:rPr sz="1400" spc="-5" dirty="0">
                <a:latin typeface="Arial"/>
                <a:cs typeface="Arial"/>
              </a:rPr>
              <a:t>of words for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woman</a:t>
            </a:r>
            <a:endParaRPr sz="1400">
              <a:latin typeface="Arial"/>
              <a:cs typeface="Arial"/>
            </a:endParaRPr>
          </a:p>
          <a:p>
            <a:pPr marL="120650" indent="-108585">
              <a:lnSpc>
                <a:spcPts val="1664"/>
              </a:lnSpc>
              <a:buChar char="-"/>
              <a:tabLst>
                <a:tab pos="121285" algn="l"/>
              </a:tabLst>
            </a:pPr>
            <a:r>
              <a:rPr sz="1400" dirty="0">
                <a:latin typeface="Arial"/>
                <a:cs typeface="Arial"/>
              </a:rPr>
              <a:t>set </a:t>
            </a:r>
            <a:r>
              <a:rPr sz="1400" spc="-5" dirty="0">
                <a:latin typeface="Arial"/>
                <a:cs typeface="Arial"/>
              </a:rPr>
              <a:t>of words for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998" y="3872017"/>
            <a:ext cx="258124" cy="478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65435" y="45099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940715" y="1519522"/>
            <a:ext cx="5048615" cy="22899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5048" y="3959061"/>
            <a:ext cx="34245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Baseline-FT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basic LSTM attention </a:t>
            </a:r>
            <a:r>
              <a:rPr sz="1000" dirty="0">
                <a:latin typeface="Arial"/>
                <a:cs typeface="Arial"/>
              </a:rPr>
              <a:t>model (</a:t>
            </a:r>
            <a:r>
              <a:rPr sz="10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Xu </a:t>
            </a:r>
            <a:r>
              <a:rPr sz="10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 2015</a:t>
            </a:r>
            <a:r>
              <a:rPr sz="1000" spc="-5" dirty="0">
                <a:latin typeface="Arial"/>
                <a:cs typeface="Arial"/>
              </a:rPr>
              <a:t>)  Balanced </a:t>
            </a:r>
            <a:r>
              <a:rPr sz="1000" dirty="0">
                <a:latin typeface="Arial"/>
                <a:cs typeface="Arial"/>
              </a:rPr>
              <a:t>- resampled </a:t>
            </a:r>
            <a:r>
              <a:rPr sz="1000" spc="-5" dirty="0">
                <a:latin typeface="Arial"/>
                <a:cs typeface="Arial"/>
              </a:rPr>
              <a:t>dataset to have balanced gender </a:t>
            </a:r>
            <a:r>
              <a:rPr sz="1000" dirty="0">
                <a:latin typeface="Arial"/>
                <a:cs typeface="Arial"/>
              </a:rPr>
              <a:t>ratio  </a:t>
            </a:r>
            <a:r>
              <a:rPr sz="1000" spc="-10" dirty="0">
                <a:latin typeface="Arial"/>
                <a:cs typeface="Arial"/>
              </a:rPr>
              <a:t>UpWeight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reweighting</a:t>
            </a:r>
            <a:endParaRPr sz="10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- change </a:t>
            </a:r>
            <a:r>
              <a:rPr sz="1000" spc="-5" dirty="0">
                <a:latin typeface="Arial"/>
                <a:cs typeface="Arial"/>
              </a:rPr>
              <a:t>to the gender </a:t>
            </a:r>
            <a:r>
              <a:rPr sz="1000" dirty="0">
                <a:latin typeface="Arial"/>
                <a:cs typeface="Arial"/>
              </a:rPr>
              <a:t>ratio compared </a:t>
            </a:r>
            <a:r>
              <a:rPr sz="1000" spc="-5" dirty="0">
                <a:latin typeface="Arial"/>
                <a:cs typeface="Arial"/>
              </a:rPr>
              <a:t>to the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dataset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5435" y="4357554"/>
            <a:ext cx="1367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Burns et al,</a:t>
            </a:r>
            <a:r>
              <a:rPr sz="1400" u="heavy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8223" y="4458397"/>
            <a:ext cx="136922" cy="125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2837247" y="1094867"/>
            <a:ext cx="3924423" cy="38372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-10" dirty="0"/>
              <a:t>Adversarial </a:t>
            </a:r>
            <a:r>
              <a:rPr lang="en-US" spc="-5" dirty="0"/>
              <a:t>Removal of Gender</a:t>
            </a:r>
            <a:r>
              <a:rPr lang="en-US" spc="-85" dirty="0"/>
              <a:t> </a:t>
            </a:r>
            <a:r>
              <a:rPr lang="en-US" spc="-5" dirty="0"/>
              <a:t>Features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2602744" y="1249515"/>
            <a:ext cx="3341521" cy="333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5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Model</a:t>
            </a:r>
            <a:r>
              <a:rPr lang="en-IN" spc="-245" dirty="0"/>
              <a:t> </a:t>
            </a:r>
            <a:r>
              <a:rPr lang="en-IN" spc="-5" dirty="0"/>
              <a:t>Architecture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035847" y="1527359"/>
            <a:ext cx="3122295" cy="1908810"/>
            <a:chOff x="1035847" y="1527359"/>
            <a:chExt cx="3122295" cy="1908810"/>
          </a:xfrm>
        </p:grpSpPr>
        <p:sp>
          <p:nvSpPr>
            <p:cNvPr id="4" name="object 4"/>
            <p:cNvSpPr/>
            <p:nvPr/>
          </p:nvSpPr>
          <p:spPr>
            <a:xfrm>
              <a:off x="1699234" y="2636419"/>
              <a:ext cx="1497965" cy="599440"/>
            </a:xfrm>
            <a:custGeom>
              <a:avLst/>
              <a:gdLst/>
              <a:ahLst/>
              <a:cxnLst/>
              <a:rect l="l" t="t" r="r" b="b"/>
              <a:pathLst>
                <a:path w="1497964" h="599439">
                  <a:moveTo>
                    <a:pt x="0" y="285824"/>
                  </a:moveTo>
                  <a:lnTo>
                    <a:pt x="1497584" y="285824"/>
                  </a:lnTo>
                  <a:lnTo>
                    <a:pt x="1497584" y="599323"/>
                  </a:lnTo>
                  <a:lnTo>
                    <a:pt x="0" y="599323"/>
                  </a:lnTo>
                  <a:lnTo>
                    <a:pt x="0" y="285824"/>
                  </a:lnTo>
                  <a:close/>
                </a:path>
                <a:path w="1497964" h="599439">
                  <a:moveTo>
                    <a:pt x="752198" y="0"/>
                  </a:moveTo>
                  <a:lnTo>
                    <a:pt x="749558" y="2287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3060" y="28649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232" y="43399"/>
                  </a:moveTo>
                  <a:lnTo>
                    <a:pt x="0" y="0"/>
                  </a:lnTo>
                  <a:lnTo>
                    <a:pt x="31462" y="349"/>
                  </a:lnTo>
                  <a:lnTo>
                    <a:pt x="15232" y="433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3060" y="286499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232" y="43399"/>
                  </a:lnTo>
                  <a:lnTo>
                    <a:pt x="31462" y="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0610" y="1532121"/>
              <a:ext cx="659130" cy="1584960"/>
            </a:xfrm>
            <a:custGeom>
              <a:avLst/>
              <a:gdLst/>
              <a:ahLst/>
              <a:cxnLst/>
              <a:rect l="l" t="t" r="r" b="b"/>
              <a:pathLst>
                <a:path w="659130" h="1584960">
                  <a:moveTo>
                    <a:pt x="658623" y="0"/>
                  </a:moveTo>
                  <a:lnTo>
                    <a:pt x="620649" y="45047"/>
                  </a:lnTo>
                  <a:lnTo>
                    <a:pt x="566608" y="102475"/>
                  </a:lnTo>
                  <a:lnTo>
                    <a:pt x="534786" y="135199"/>
                  </a:lnTo>
                  <a:lnTo>
                    <a:pt x="500414" y="170258"/>
                  </a:lnTo>
                  <a:lnTo>
                    <a:pt x="463981" y="207400"/>
                  </a:lnTo>
                  <a:lnTo>
                    <a:pt x="425978" y="246370"/>
                  </a:lnTo>
                  <a:lnTo>
                    <a:pt x="386893" y="286916"/>
                  </a:lnTo>
                  <a:lnTo>
                    <a:pt x="347214" y="328784"/>
                  </a:lnTo>
                  <a:lnTo>
                    <a:pt x="307432" y="371722"/>
                  </a:lnTo>
                  <a:lnTo>
                    <a:pt x="268036" y="415475"/>
                  </a:lnTo>
                  <a:lnTo>
                    <a:pt x="229514" y="459791"/>
                  </a:lnTo>
                  <a:lnTo>
                    <a:pt x="192356" y="504416"/>
                  </a:lnTo>
                  <a:lnTo>
                    <a:pt x="157050" y="549098"/>
                  </a:lnTo>
                  <a:lnTo>
                    <a:pt x="124086" y="593582"/>
                  </a:lnTo>
                  <a:lnTo>
                    <a:pt x="93954" y="637615"/>
                  </a:lnTo>
                  <a:lnTo>
                    <a:pt x="67141" y="680945"/>
                  </a:lnTo>
                  <a:lnTo>
                    <a:pt x="44138" y="723318"/>
                  </a:lnTo>
                  <a:lnTo>
                    <a:pt x="25433" y="764480"/>
                  </a:lnTo>
                  <a:lnTo>
                    <a:pt x="11515" y="804179"/>
                  </a:lnTo>
                  <a:lnTo>
                    <a:pt x="2875" y="842161"/>
                  </a:lnTo>
                  <a:lnTo>
                    <a:pt x="0" y="878173"/>
                  </a:lnTo>
                  <a:lnTo>
                    <a:pt x="3510" y="915122"/>
                  </a:lnTo>
                  <a:lnTo>
                    <a:pt x="13313" y="952799"/>
                  </a:lnTo>
                  <a:lnTo>
                    <a:pt x="28846" y="991038"/>
                  </a:lnTo>
                  <a:lnTo>
                    <a:pt x="49548" y="1029679"/>
                  </a:lnTo>
                  <a:lnTo>
                    <a:pt x="74859" y="1068555"/>
                  </a:lnTo>
                  <a:lnTo>
                    <a:pt x="104216" y="1107506"/>
                  </a:lnTo>
                  <a:lnTo>
                    <a:pt x="137060" y="1146367"/>
                  </a:lnTo>
                  <a:lnTo>
                    <a:pt x="172828" y="1184975"/>
                  </a:lnTo>
                  <a:lnTo>
                    <a:pt x="210960" y="1223166"/>
                  </a:lnTo>
                  <a:lnTo>
                    <a:pt x="250895" y="1260778"/>
                  </a:lnTo>
                  <a:lnTo>
                    <a:pt x="292071" y="1297647"/>
                  </a:lnTo>
                  <a:lnTo>
                    <a:pt x="330428" y="1330646"/>
                  </a:lnTo>
                  <a:lnTo>
                    <a:pt x="368923" y="1362761"/>
                  </a:lnTo>
                  <a:lnTo>
                    <a:pt x="407126" y="1393862"/>
                  </a:lnTo>
                  <a:lnTo>
                    <a:pt x="444605" y="1423824"/>
                  </a:lnTo>
                  <a:lnTo>
                    <a:pt x="480926" y="1452520"/>
                  </a:lnTo>
                  <a:lnTo>
                    <a:pt x="515658" y="1479822"/>
                  </a:lnTo>
                  <a:lnTo>
                    <a:pt x="540404" y="1499303"/>
                  </a:lnTo>
                  <a:lnTo>
                    <a:pt x="585756" y="1535509"/>
                  </a:lnTo>
                  <a:lnTo>
                    <a:pt x="615428" y="1560018"/>
                  </a:lnTo>
                  <a:lnTo>
                    <a:pt x="640696" y="1582071"/>
                  </a:lnTo>
                  <a:lnTo>
                    <a:pt x="643246" y="158439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8709" y="31013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467" y="28299"/>
                  </a:moveTo>
                  <a:lnTo>
                    <a:pt x="0" y="15224"/>
                  </a:lnTo>
                  <a:lnTo>
                    <a:pt x="15147" y="15124"/>
                  </a:lnTo>
                  <a:lnTo>
                    <a:pt x="15054" y="0"/>
                  </a:lnTo>
                  <a:lnTo>
                    <a:pt x="28467" y="282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8709" y="310139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5147" y="15124"/>
                  </a:moveTo>
                  <a:lnTo>
                    <a:pt x="0" y="15224"/>
                  </a:lnTo>
                  <a:lnTo>
                    <a:pt x="28467" y="28299"/>
                  </a:lnTo>
                  <a:lnTo>
                    <a:pt x="15054" y="0"/>
                  </a:lnTo>
                  <a:lnTo>
                    <a:pt x="15147" y="151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4666" y="3284485"/>
              <a:ext cx="992856" cy="1512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38254" y="2756113"/>
            <a:ext cx="568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Gender  Removed  Sample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4459" y="1362709"/>
            <a:ext cx="1507490" cy="1830705"/>
            <a:chOff x="1694459" y="1362709"/>
            <a:chExt cx="1507490" cy="1830705"/>
          </a:xfrm>
        </p:grpSpPr>
        <p:sp>
          <p:nvSpPr>
            <p:cNvPr id="13" name="object 13"/>
            <p:cNvSpPr/>
            <p:nvPr/>
          </p:nvSpPr>
          <p:spPr>
            <a:xfrm>
              <a:off x="2387770" y="3005351"/>
              <a:ext cx="127974" cy="1876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9221" y="1367472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94322" y="1461159"/>
              <a:ext cx="123147" cy="1381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02634" y="2322920"/>
            <a:ext cx="1497965" cy="31369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Arial"/>
                <a:cs typeface="Arial"/>
              </a:rPr>
              <a:t>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29825" y="1676209"/>
            <a:ext cx="41910" cy="1924050"/>
            <a:chOff x="2429825" y="1676209"/>
            <a:chExt cx="41910" cy="1924050"/>
          </a:xfrm>
        </p:grpSpPr>
        <p:sp>
          <p:nvSpPr>
            <p:cNvPr id="18" name="object 18"/>
            <p:cNvSpPr/>
            <p:nvPr/>
          </p:nvSpPr>
          <p:spPr>
            <a:xfrm>
              <a:off x="2448020" y="1680971"/>
              <a:ext cx="3175" cy="585470"/>
            </a:xfrm>
            <a:custGeom>
              <a:avLst/>
              <a:gdLst/>
              <a:ahLst/>
              <a:cxnLst/>
              <a:rect l="l" t="t" r="r" b="b"/>
              <a:pathLst>
                <a:path w="3175" h="585469">
                  <a:moveTo>
                    <a:pt x="0" y="0"/>
                  </a:moveTo>
                  <a:lnTo>
                    <a:pt x="3007" y="5848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35292" y="226574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954" y="43304"/>
                  </a:moveTo>
                  <a:lnTo>
                    <a:pt x="0" y="162"/>
                  </a:lnTo>
                  <a:lnTo>
                    <a:pt x="31467" y="0"/>
                  </a:lnTo>
                  <a:lnTo>
                    <a:pt x="15954" y="4330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5292" y="226574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162"/>
                  </a:moveTo>
                  <a:lnTo>
                    <a:pt x="15954" y="43304"/>
                  </a:lnTo>
                  <a:lnTo>
                    <a:pt x="31467" y="0"/>
                  </a:lnTo>
                  <a:lnTo>
                    <a:pt x="0" y="1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48032" y="3235743"/>
              <a:ext cx="2540" cy="316230"/>
            </a:xfrm>
            <a:custGeom>
              <a:avLst/>
              <a:gdLst/>
              <a:ahLst/>
              <a:cxnLst/>
              <a:rect l="l" t="t" r="r" b="b"/>
              <a:pathLst>
                <a:path w="2539" h="316229">
                  <a:moveTo>
                    <a:pt x="0" y="0"/>
                  </a:moveTo>
                  <a:lnTo>
                    <a:pt x="2284" y="3160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34587" y="35516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044" y="43349"/>
                  </a:moveTo>
                  <a:lnTo>
                    <a:pt x="0" y="249"/>
                  </a:lnTo>
                  <a:lnTo>
                    <a:pt x="31462" y="0"/>
                  </a:lnTo>
                  <a:lnTo>
                    <a:pt x="16044" y="433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4587" y="355166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49"/>
                  </a:moveTo>
                  <a:lnTo>
                    <a:pt x="16044" y="43349"/>
                  </a:lnTo>
                  <a:lnTo>
                    <a:pt x="31462" y="0"/>
                  </a:lnTo>
                  <a:lnTo>
                    <a:pt x="0" y="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276670" y="2308192"/>
            <a:ext cx="4616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Feature  </a:t>
            </a:r>
            <a:r>
              <a:rPr sz="1000" dirty="0">
                <a:latin typeface="Arial"/>
                <a:cs typeface="Arial"/>
              </a:rPr>
              <a:t>Mask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19203" y="2900955"/>
            <a:ext cx="4417060" cy="1042669"/>
            <a:chOff x="4419203" y="2900955"/>
            <a:chExt cx="4417060" cy="1042669"/>
          </a:xfrm>
        </p:grpSpPr>
        <p:sp>
          <p:nvSpPr>
            <p:cNvPr id="26" name="object 26"/>
            <p:cNvSpPr/>
            <p:nvPr/>
          </p:nvSpPr>
          <p:spPr>
            <a:xfrm>
              <a:off x="4419203" y="2900955"/>
              <a:ext cx="4416643" cy="39681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38264" y="3318968"/>
              <a:ext cx="192405" cy="603885"/>
            </a:xfrm>
            <a:custGeom>
              <a:avLst/>
              <a:gdLst/>
              <a:ahLst/>
              <a:cxnLst/>
              <a:rect l="l" t="t" r="r" b="b"/>
              <a:pathLst>
                <a:path w="192404" h="603885">
                  <a:moveTo>
                    <a:pt x="0" y="603448"/>
                  </a:moveTo>
                  <a:lnTo>
                    <a:pt x="1920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15338" y="3277793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9974" y="45949"/>
                  </a:moveTo>
                  <a:lnTo>
                    <a:pt x="0" y="36399"/>
                  </a:lnTo>
                  <a:lnTo>
                    <a:pt x="28099" y="0"/>
                  </a:lnTo>
                  <a:lnTo>
                    <a:pt x="29974" y="459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15338" y="3277793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29974" y="45949"/>
                  </a:moveTo>
                  <a:lnTo>
                    <a:pt x="28099" y="0"/>
                  </a:lnTo>
                  <a:lnTo>
                    <a:pt x="0" y="36399"/>
                  </a:lnTo>
                  <a:lnTo>
                    <a:pt x="29974" y="459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3086" y="3426643"/>
              <a:ext cx="68580" cy="468630"/>
            </a:xfrm>
            <a:custGeom>
              <a:avLst/>
              <a:gdLst/>
              <a:ahLst/>
              <a:cxnLst/>
              <a:rect l="l" t="t" r="r" b="b"/>
              <a:pathLst>
                <a:path w="68579" h="468629">
                  <a:moveTo>
                    <a:pt x="68249" y="4684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67511" y="3383868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0" y="45049"/>
                  </a:moveTo>
                  <a:lnTo>
                    <a:pt x="9324" y="0"/>
                  </a:lnTo>
                  <a:lnTo>
                    <a:pt x="31124" y="40499"/>
                  </a:lnTo>
                  <a:lnTo>
                    <a:pt x="0" y="450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67511" y="3383868"/>
              <a:ext cx="31750" cy="45085"/>
            </a:xfrm>
            <a:custGeom>
              <a:avLst/>
              <a:gdLst/>
              <a:ahLst/>
              <a:cxnLst/>
              <a:rect l="l" t="t" r="r" b="b"/>
              <a:pathLst>
                <a:path w="31750" h="45085">
                  <a:moveTo>
                    <a:pt x="31124" y="40499"/>
                  </a:moveTo>
                  <a:lnTo>
                    <a:pt x="9324" y="0"/>
                  </a:lnTo>
                  <a:lnTo>
                    <a:pt x="0" y="45049"/>
                  </a:lnTo>
                  <a:lnTo>
                    <a:pt x="31124" y="40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13633" y="3379668"/>
              <a:ext cx="301625" cy="559435"/>
            </a:xfrm>
            <a:custGeom>
              <a:avLst/>
              <a:gdLst/>
              <a:ahLst/>
              <a:cxnLst/>
              <a:rect l="l" t="t" r="r" b="b"/>
              <a:pathLst>
                <a:path w="301625" h="559435">
                  <a:moveTo>
                    <a:pt x="301374" y="55899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3108" y="334161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6674" y="45524"/>
                  </a:moveTo>
                  <a:lnTo>
                    <a:pt x="0" y="0"/>
                  </a:lnTo>
                  <a:lnTo>
                    <a:pt x="34374" y="30599"/>
                  </a:lnTo>
                  <a:lnTo>
                    <a:pt x="6674" y="45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93108" y="334161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374" y="30599"/>
                  </a:moveTo>
                  <a:lnTo>
                    <a:pt x="0" y="0"/>
                  </a:lnTo>
                  <a:lnTo>
                    <a:pt x="6674" y="45524"/>
                  </a:lnTo>
                  <a:lnTo>
                    <a:pt x="34374" y="30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43386" y="3917654"/>
            <a:ext cx="2012314" cy="539750"/>
            <a:chOff x="443386" y="3917654"/>
            <a:chExt cx="2012314" cy="539750"/>
          </a:xfrm>
        </p:grpSpPr>
        <p:sp>
          <p:nvSpPr>
            <p:cNvPr id="37" name="object 37"/>
            <p:cNvSpPr/>
            <p:nvPr/>
          </p:nvSpPr>
          <p:spPr>
            <a:xfrm>
              <a:off x="1253314" y="3922417"/>
              <a:ext cx="1197610" cy="207010"/>
            </a:xfrm>
            <a:custGeom>
              <a:avLst/>
              <a:gdLst/>
              <a:ahLst/>
              <a:cxnLst/>
              <a:rect l="l" t="t" r="r" b="b"/>
              <a:pathLst>
                <a:path w="1197610" h="207010">
                  <a:moveTo>
                    <a:pt x="1197377" y="0"/>
                  </a:moveTo>
                  <a:lnTo>
                    <a:pt x="0" y="2065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10717" y="41134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272" y="30999"/>
                  </a:moveTo>
                  <a:lnTo>
                    <a:pt x="0" y="22849"/>
                  </a:lnTo>
                  <a:lnTo>
                    <a:pt x="39922" y="0"/>
                  </a:lnTo>
                  <a:lnTo>
                    <a:pt x="45272" y="309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10717" y="41134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39922" y="0"/>
                  </a:moveTo>
                  <a:lnTo>
                    <a:pt x="0" y="22849"/>
                  </a:lnTo>
                  <a:lnTo>
                    <a:pt x="45272" y="30999"/>
                  </a:lnTo>
                  <a:lnTo>
                    <a:pt x="3992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8149" y="413864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47759" y="4210302"/>
              <a:ext cx="99402" cy="1877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34469" y="4444171"/>
            <a:ext cx="1133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latin typeface="Arial"/>
                <a:cs typeface="Arial"/>
              </a:rPr>
              <a:t>Task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45930" y="3917654"/>
            <a:ext cx="2131060" cy="535940"/>
            <a:chOff x="2445930" y="3917654"/>
            <a:chExt cx="2131060" cy="535940"/>
          </a:xfrm>
        </p:grpSpPr>
        <p:sp>
          <p:nvSpPr>
            <p:cNvPr id="44" name="object 44"/>
            <p:cNvSpPr/>
            <p:nvPr/>
          </p:nvSpPr>
          <p:spPr>
            <a:xfrm>
              <a:off x="2450692" y="3922417"/>
              <a:ext cx="1316355" cy="204470"/>
            </a:xfrm>
            <a:custGeom>
              <a:avLst/>
              <a:gdLst/>
              <a:ahLst/>
              <a:cxnLst/>
              <a:rect l="l" t="t" r="r" b="b"/>
              <a:pathLst>
                <a:path w="1316354" h="204470">
                  <a:moveTo>
                    <a:pt x="0" y="0"/>
                  </a:moveTo>
                  <a:lnTo>
                    <a:pt x="1316024" y="2039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64317" y="411081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99"/>
                  </a:moveTo>
                  <a:lnTo>
                    <a:pt x="4799" y="0"/>
                  </a:lnTo>
                  <a:lnTo>
                    <a:pt x="45124" y="22174"/>
                  </a:lnTo>
                  <a:lnTo>
                    <a:pt x="0" y="310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64317" y="411081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99"/>
                  </a:moveTo>
                  <a:lnTo>
                    <a:pt x="45124" y="22174"/>
                  </a:lnTo>
                  <a:lnTo>
                    <a:pt x="4799" y="0"/>
                  </a:lnTo>
                  <a:lnTo>
                    <a:pt x="0" y="3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74393" y="413519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1497596" y="313499"/>
                  </a:moveTo>
                  <a:lnTo>
                    <a:pt x="0" y="313499"/>
                  </a:lnTo>
                  <a:lnTo>
                    <a:pt x="0" y="0"/>
                  </a:lnTo>
                  <a:lnTo>
                    <a:pt x="1497596" y="0"/>
                  </a:lnTo>
                  <a:lnTo>
                    <a:pt x="1497596" y="31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74393" y="4135191"/>
              <a:ext cx="1497965" cy="313690"/>
            </a:xfrm>
            <a:custGeom>
              <a:avLst/>
              <a:gdLst/>
              <a:ahLst/>
              <a:cxnLst/>
              <a:rect l="l" t="t" r="r" b="b"/>
              <a:pathLst>
                <a:path w="1497964" h="313689">
                  <a:moveTo>
                    <a:pt x="0" y="0"/>
                  </a:moveTo>
                  <a:lnTo>
                    <a:pt x="1497596" y="0"/>
                  </a:lnTo>
                  <a:lnTo>
                    <a:pt x="1497596" y="313499"/>
                  </a:lnTo>
                  <a:lnTo>
                    <a:pt x="0" y="31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53267" y="4187441"/>
              <a:ext cx="147624" cy="1997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169862" y="4444171"/>
            <a:ext cx="1327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Gender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Predictions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01893" y="3608917"/>
            <a:ext cx="1497965" cy="31369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400" dirty="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242610" y="3661234"/>
            <a:ext cx="886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Representation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92643" y="3990360"/>
            <a:ext cx="1175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Reconstruction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50183" y="4006620"/>
            <a:ext cx="589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latin typeface="Arial"/>
                <a:cs typeface="Arial"/>
              </a:rPr>
              <a:t>Task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69380" y="4006620"/>
            <a:ext cx="9613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Adversarial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idx="2"/>
          </p:nvPr>
        </p:nvSpPr>
        <p:spPr>
          <a:xfrm>
            <a:off x="-13447" y="122640"/>
            <a:ext cx="7229743" cy="857250"/>
          </a:xfrm>
        </p:spPr>
        <p:txBody>
          <a:bodyPr>
            <a:normAutofit/>
          </a:bodyPr>
          <a:lstStyle/>
          <a:p>
            <a:r>
              <a:rPr lang="en-IN" spc="-10" dirty="0"/>
              <a:t>Evaluate Sensitive </a:t>
            </a:r>
            <a:r>
              <a:rPr lang="en-IN" spc="-5" dirty="0"/>
              <a:t>Information</a:t>
            </a:r>
            <a:r>
              <a:rPr lang="en-IN" spc="-80" dirty="0"/>
              <a:t> </a:t>
            </a:r>
            <a:r>
              <a:rPr lang="en-IN" spc="-5" dirty="0"/>
              <a:t>Leakage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475248" y="1216356"/>
            <a:ext cx="705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Train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 attacker f(y) that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reverse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engineer the gender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82839" y="1797053"/>
            <a:ext cx="2832735" cy="1285875"/>
            <a:chOff x="1082839" y="1797053"/>
            <a:chExt cx="2832735" cy="1285875"/>
          </a:xfrm>
        </p:grpSpPr>
        <p:sp>
          <p:nvSpPr>
            <p:cNvPr id="6" name="object 6"/>
            <p:cNvSpPr/>
            <p:nvPr/>
          </p:nvSpPr>
          <p:spPr>
            <a:xfrm>
              <a:off x="1082839" y="1797053"/>
              <a:ext cx="2832563" cy="9118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8808" y="2724844"/>
              <a:ext cx="2721083" cy="357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332664" y="3616077"/>
            <a:ext cx="1765671" cy="3211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25711" y="3379453"/>
            <a:ext cx="1415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Bias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Amplification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88221" y="2448518"/>
            <a:ext cx="2577819" cy="231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78886" y="2154054"/>
            <a:ext cx="1388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Data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Resampling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>
            <a:spLocks noChangeAspect="1"/>
          </p:cNvSpPr>
          <p:nvPr/>
        </p:nvSpPr>
        <p:spPr>
          <a:xfrm>
            <a:off x="1120294" y="3260144"/>
            <a:ext cx="2726991" cy="8542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3" name="object 13"/>
          <p:cNvGrpSpPr/>
          <p:nvPr/>
        </p:nvGrpSpPr>
        <p:grpSpPr>
          <a:xfrm>
            <a:off x="1393512" y="4208666"/>
            <a:ext cx="2555240" cy="358775"/>
            <a:chOff x="1393512" y="4208666"/>
            <a:chExt cx="2555240" cy="358775"/>
          </a:xfrm>
        </p:grpSpPr>
        <p:sp>
          <p:nvSpPr>
            <p:cNvPr id="14" name="object 14"/>
            <p:cNvSpPr/>
            <p:nvPr/>
          </p:nvSpPr>
          <p:spPr>
            <a:xfrm>
              <a:off x="1393512" y="4208666"/>
              <a:ext cx="2221904" cy="35833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42694" y="4282516"/>
              <a:ext cx="1105447" cy="2222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10" dirty="0"/>
              <a:t>Accuracy </a:t>
            </a:r>
            <a:r>
              <a:rPr lang="en-IN" spc="-5" dirty="0"/>
              <a:t>and </a:t>
            </a:r>
            <a:r>
              <a:rPr lang="en-IN" spc="-10" dirty="0"/>
              <a:t>Bias</a:t>
            </a:r>
            <a:r>
              <a:rPr lang="en-IN" spc="-80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sp>
        <p:nvSpPr>
          <p:cNvPr id="3" name="object 3"/>
          <p:cNvSpPr/>
          <p:nvPr/>
        </p:nvSpPr>
        <p:spPr>
          <a:xfrm>
            <a:off x="1328154" y="1601812"/>
            <a:ext cx="6315208" cy="2112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29886" y="3851667"/>
            <a:ext cx="3684904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blackout-face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 out using </a:t>
            </a:r>
            <a:r>
              <a:rPr sz="1000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face</a:t>
            </a:r>
            <a:r>
              <a:rPr sz="1000" spc="-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detector</a:t>
            </a:r>
            <a:endParaRPr sz="1000">
              <a:latin typeface="Arial"/>
              <a:cs typeface="Arial"/>
            </a:endParaRPr>
          </a:p>
          <a:p>
            <a:pPr marL="12700" marR="624205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blur-sgem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 out using ground truth </a:t>
            </a:r>
            <a:r>
              <a:rPr sz="1000" dirty="0">
                <a:latin typeface="Arial"/>
                <a:cs typeface="Arial"/>
              </a:rPr>
              <a:t>segmentation  </a:t>
            </a:r>
            <a:r>
              <a:rPr sz="1000" spc="-5" dirty="0">
                <a:latin typeface="Arial"/>
                <a:cs typeface="Arial"/>
              </a:rPr>
              <a:t>blackout-box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blackout using bounding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boxes</a:t>
            </a:r>
            <a:endParaRPr sz="1000">
              <a:latin typeface="Arial"/>
              <a:cs typeface="Arial"/>
            </a:endParaRPr>
          </a:p>
          <a:p>
            <a:pPr marL="2335530">
              <a:lnSpc>
                <a:spcPts val="1650"/>
              </a:lnSpc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3237" y="3881861"/>
            <a:ext cx="1754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original </a:t>
            </a:r>
            <a:r>
              <a:rPr sz="1000" dirty="0">
                <a:latin typeface="Arial"/>
                <a:cs typeface="Arial"/>
              </a:rPr>
              <a:t>- </a:t>
            </a:r>
            <a:r>
              <a:rPr sz="1000" spc="-5" dirty="0">
                <a:latin typeface="Arial"/>
                <a:cs typeface="Arial"/>
              </a:rPr>
              <a:t>no debiasing </a:t>
            </a:r>
            <a:r>
              <a:rPr sz="1000" dirty="0">
                <a:latin typeface="Arial"/>
                <a:cs typeface="Arial"/>
              </a:rPr>
              <a:t>mask  random - </a:t>
            </a:r>
            <a:r>
              <a:rPr sz="1000" spc="-5" dirty="0">
                <a:latin typeface="Arial"/>
                <a:cs typeface="Arial"/>
              </a:rPr>
              <a:t>adding </a:t>
            </a:r>
            <a:r>
              <a:rPr sz="1000" dirty="0">
                <a:latin typeface="Arial"/>
                <a:cs typeface="Arial"/>
              </a:rPr>
              <a:t>random</a:t>
            </a:r>
            <a:r>
              <a:rPr sz="1000" spc="-10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noise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Qualitative</a:t>
            </a:r>
            <a:r>
              <a:rPr lang="en-IN" spc="-95" dirty="0"/>
              <a:t> </a:t>
            </a:r>
            <a:r>
              <a:rPr lang="en-IN" spc="-5" dirty="0"/>
              <a:t>Results</a:t>
            </a:r>
            <a:endParaRPr lang="en-IN" dirty="0"/>
          </a:p>
        </p:txBody>
      </p:sp>
      <p:grpSp>
        <p:nvGrpSpPr>
          <p:cNvPr id="3" name="object 3"/>
          <p:cNvGrpSpPr/>
          <p:nvPr/>
        </p:nvGrpSpPr>
        <p:grpSpPr>
          <a:xfrm>
            <a:off x="1274351" y="1178321"/>
            <a:ext cx="6331585" cy="3099435"/>
            <a:chOff x="1274351" y="1178321"/>
            <a:chExt cx="6331585" cy="3099435"/>
          </a:xfrm>
        </p:grpSpPr>
        <p:sp>
          <p:nvSpPr>
            <p:cNvPr id="4" name="object 4"/>
            <p:cNvSpPr/>
            <p:nvPr/>
          </p:nvSpPr>
          <p:spPr>
            <a:xfrm>
              <a:off x="1274351" y="1178321"/>
              <a:ext cx="6331067" cy="3098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9072" y="1298322"/>
              <a:ext cx="2285365" cy="2192655"/>
            </a:xfrm>
            <a:custGeom>
              <a:avLst/>
              <a:gdLst/>
              <a:ahLst/>
              <a:cxnLst/>
              <a:rect l="l" t="t" r="r" b="b"/>
              <a:pathLst>
                <a:path w="2285365" h="2192654">
                  <a:moveTo>
                    <a:pt x="0" y="0"/>
                  </a:moveTo>
                  <a:lnTo>
                    <a:pt x="741898" y="0"/>
                  </a:lnTo>
                  <a:lnTo>
                    <a:pt x="741898" y="723298"/>
                  </a:lnTo>
                  <a:lnTo>
                    <a:pt x="0" y="723298"/>
                  </a:lnTo>
                  <a:lnTo>
                    <a:pt x="0" y="0"/>
                  </a:lnTo>
                  <a:close/>
                </a:path>
                <a:path w="2285365" h="2192654">
                  <a:moveTo>
                    <a:pt x="1543471" y="1469272"/>
                  </a:moveTo>
                  <a:lnTo>
                    <a:pt x="2285370" y="1469272"/>
                  </a:lnTo>
                  <a:lnTo>
                    <a:pt x="2285370" y="2192570"/>
                  </a:lnTo>
                  <a:lnTo>
                    <a:pt x="1543471" y="2192570"/>
                  </a:lnTo>
                  <a:lnTo>
                    <a:pt x="1543471" y="1469272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52781" y="4305224"/>
            <a:ext cx="1362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Wang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et al,</a:t>
            </a:r>
            <a:r>
              <a:rPr sz="1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Summary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377377" y="1076632"/>
            <a:ext cx="8178800" cy="370712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93700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93700" algn="l"/>
                <a:tab pos="3943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8509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50900" algn="l"/>
                <a:tab pos="8515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Prevents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ML models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biasing toward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groups when allocating favorable</a:t>
            </a:r>
            <a:r>
              <a:rPr sz="1400" spc="-1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outcomes</a:t>
            </a:r>
            <a:endParaRPr sz="1400">
              <a:latin typeface="Arial"/>
              <a:cs typeface="Arial"/>
            </a:endParaRPr>
          </a:p>
          <a:p>
            <a:pPr marL="394335" indent="-367030">
              <a:lnSpc>
                <a:spcPct val="100000"/>
              </a:lnSpc>
              <a:spcBef>
                <a:spcPts val="655"/>
              </a:spcBef>
              <a:buChar char="●"/>
              <a:tabLst>
                <a:tab pos="394335" algn="l"/>
                <a:tab pos="39497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Group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Treatments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85153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51535" algn="l"/>
                <a:tab pos="85216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Demographic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Parity</a:t>
            </a:r>
            <a:endParaRPr sz="1400">
              <a:latin typeface="Arial"/>
              <a:cs typeface="Arial"/>
            </a:endParaRPr>
          </a:p>
          <a:p>
            <a:pPr marL="851535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51535" algn="l"/>
                <a:tab pos="852169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Equalized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Odds/Opportunity</a:t>
            </a:r>
            <a:endParaRPr sz="1400">
              <a:latin typeface="Arial"/>
              <a:cs typeface="Arial"/>
            </a:endParaRPr>
          </a:p>
          <a:p>
            <a:pPr marL="386080" indent="-367665">
              <a:lnSpc>
                <a:spcPct val="100000"/>
              </a:lnSpc>
              <a:spcBef>
                <a:spcPts val="775"/>
              </a:spcBef>
              <a:buChar char="●"/>
              <a:tabLst>
                <a:tab pos="386080" algn="l"/>
                <a:tab pos="38671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Individual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Treatments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8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 Through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Awareness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4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84328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43280" algn="l"/>
                <a:tab pos="84391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Counterfactual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Fairness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7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Resampling, Reweighting,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Optimized-preprocessing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Regularization, Adversarial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Post-processing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Methods: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Learning 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-5" dirty="0"/>
              <a:t>Summary</a:t>
            </a: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620389" y="1134229"/>
            <a:ext cx="4390390" cy="2737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0" indent="-367665">
              <a:lnSpc>
                <a:spcPct val="100000"/>
              </a:lnSpc>
              <a:spcBef>
                <a:spcPts val="525"/>
              </a:spcBef>
              <a:buChar char="●"/>
              <a:tabLst>
                <a:tab pos="381000" algn="l"/>
                <a:tab pos="3816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NLP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Debiasing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Word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Embeddings</a:t>
            </a:r>
            <a:endParaRPr sz="14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Augmentation</a:t>
            </a:r>
            <a:endParaRPr sz="1400">
              <a:latin typeface="Arial"/>
              <a:cs typeface="Arial"/>
            </a:endParaRPr>
          </a:p>
          <a:p>
            <a:pPr marL="1295400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5400" algn="l"/>
                <a:tab pos="12960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Gender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Swapping</a:t>
            </a:r>
            <a:endParaRPr sz="1400">
              <a:latin typeface="Arial"/>
              <a:cs typeface="Arial"/>
            </a:endParaRPr>
          </a:p>
          <a:p>
            <a:pPr marL="8382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8200" algn="l"/>
                <a:tab pos="838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Fair Representation for Pre-trained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Encoders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endParaRPr sz="15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11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Fair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Visual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Representations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Counterfactual Face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Attribution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Gender Equalized Image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Captioning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Adversarial Removal of Gender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19205</TotalTime>
  <Words>863</Words>
  <Application>Microsoft Office PowerPoint</Application>
  <PresentationFormat>On-screen Show (16:9)</PresentationFormat>
  <Paragraphs>229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Tahoma</vt:lpstr>
      <vt:lpstr>Times New Roman</vt:lpstr>
      <vt:lpstr>Trebuchet MS</vt:lpstr>
      <vt:lpstr>3_Office Theme</vt:lpstr>
      <vt:lpstr>Fair, Accountable, Transparent Machine Learning (FAccT ML) ZG517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BITS</cp:lastModifiedBy>
  <cp:revision>86</cp:revision>
  <dcterms:created xsi:type="dcterms:W3CDTF">2021-03-10T15:42:36Z</dcterms:created>
  <dcterms:modified xsi:type="dcterms:W3CDTF">2025-06-16T07:49:14Z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