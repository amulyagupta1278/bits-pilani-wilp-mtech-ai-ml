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media/image8.jpg" ContentType="image/jpg"/>
  <Override PartName="/ppt/ink/ink3.xml" ContentType="application/inkml+xml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ink/ink4.xml" ContentType="application/inkml+xml"/>
  <Override PartName="/ppt/media/image20.jpg" ContentType="image/jpg"/>
  <Override PartName="/ppt/media/image21.jpg" ContentType="image/jpg"/>
  <Override PartName="/ppt/media/image23.jpg" ContentType="image/jpg"/>
  <Override PartName="/ppt/media/image24.jpg" ContentType="image/jpg"/>
  <Override PartName="/ppt/ink/ink5.xml" ContentType="application/inkml+xml"/>
  <Override PartName="/ppt/ink/ink6.xml" ContentType="application/inkml+xml"/>
  <Override PartName="/ppt/media/image25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3.jpg" ContentType="image/jpg"/>
  <Override PartName="/ppt/media/image54.jpg" ContentType="image/jpg"/>
  <Override PartName="/ppt/media/image55.jpg" ContentType="image/jpg"/>
  <Override PartName="/ppt/media/image56.jpg" ContentType="image/jpg"/>
  <Override PartName="/ppt/media/image57.jpg" ContentType="image/jpg"/>
  <Override PartName="/ppt/media/image58.jpg" ContentType="image/jpg"/>
  <Override PartName="/ppt/media/image59.jpg" ContentType="image/jpg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media/image69.jpg" ContentType="image/jpg"/>
  <Override PartName="/ppt/media/image70.jpg" ContentType="image/jpg"/>
  <Override PartName="/ppt/media/image71.jpg" ContentType="image/jpg"/>
  <Override PartName="/ppt/media/image72.jpg" ContentType="image/jpg"/>
  <Override PartName="/ppt/media/image73.jpg" ContentType="image/jpg"/>
  <Override PartName="/ppt/media/image74.jpg" ContentType="image/jpg"/>
  <Override PartName="/ppt/media/image75.jpg" ContentType="image/jpg"/>
  <Override PartName="/ppt/media/image76.jpg" ContentType="image/jpg"/>
  <Override PartName="/ppt/media/image77.jpg" ContentType="image/jpg"/>
  <Override PartName="/ppt/media/image78.jpg" ContentType="image/jpg"/>
  <Override PartName="/ppt/media/image80.jpg" ContentType="image/jpg"/>
  <Override PartName="/ppt/media/image81.jpg" ContentType="image/jpg"/>
  <Override PartName="/ppt/media/image82.jpg" ContentType="image/jpg"/>
  <Override PartName="/ppt/media/image83.jpg" ContentType="image/jpg"/>
  <Override PartName="/ppt/media/image84.jpg" ContentType="image/jpg"/>
  <Override PartName="/ppt/media/image85.jpg" ContentType="image/jpg"/>
  <Override PartName="/ppt/media/image86.jpg" ContentType="image/jpg"/>
  <Override PartName="/ppt/media/image95.jpg" ContentType="image/jpg"/>
  <Override PartName="/ppt/media/image96.jpg" ContentType="image/jpg"/>
  <Override PartName="/ppt/media/image97.jpg" ContentType="image/jpg"/>
  <Override PartName="/ppt/media/image98.jpg" ContentType="image/jpg"/>
  <Override PartName="/ppt/media/image99.jpg" ContentType="image/jpg"/>
  <Override PartName="/ppt/media/image100.jpg" ContentType="image/jpg"/>
  <Override PartName="/ppt/media/image101.jpg" ContentType="image/jpg"/>
  <Override PartName="/ppt/media/image102.jpg" ContentType="image/jpg"/>
  <Override PartName="/ppt/media/image103.jpg" ContentType="image/jpg"/>
  <Override PartName="/ppt/media/image104.jpg" ContentType="image/jpg"/>
  <Override PartName="/ppt/media/image105.jpg" ContentType="image/jpg"/>
  <Override PartName="/ppt/media/image106.jpg" ContentType="image/jpg"/>
  <Override PartName="/ppt/media/image107.jpg" ContentType="image/jpg"/>
  <Override PartName="/ppt/media/image127.jpg" ContentType="image/jpg"/>
  <Override PartName="/ppt/media/image128.jpg" ContentType="image/jpg"/>
  <Override PartName="/ppt/media/image129.jpg" ContentType="image/jpg"/>
  <Override PartName="/ppt/media/image130.jpg" ContentType="image/jpg"/>
  <Override PartName="/ppt/media/image131.jpg" ContentType="image/jpg"/>
  <Override PartName="/ppt/media/image132.jpg" ContentType="image/jpg"/>
  <Override PartName="/ppt/media/image134.jpg" ContentType="image/jpg"/>
  <Override PartName="/ppt/media/image135.jpg" ContentType="image/jpg"/>
  <Override PartName="/ppt/media/image136.jpg" ContentType="image/jpg"/>
  <Override PartName="/ppt/media/image137.jpg" ContentType="image/jpg"/>
  <Override PartName="/ppt/media/image138.jpg" ContentType="image/jpg"/>
  <Override PartName="/ppt/media/image140.jpg" ContentType="image/jpg"/>
  <Override PartName="/ppt/media/image141.jpg" ContentType="image/jpg"/>
  <Override PartName="/ppt/media/image142.jpg" ContentType="image/jpg"/>
  <Override PartName="/ppt/media/image143.jpg" ContentType="image/jpg"/>
  <Override PartName="/ppt/media/image144.jpg" ContentType="image/jpg"/>
  <Override PartName="/ppt/media/image145.jpg" ContentType="image/jpg"/>
  <Override PartName="/ppt/media/image146.jpg" ContentType="image/jpg"/>
  <Override PartName="/ppt/ink/ink7.xml" ContentType="application/inkml+xml"/>
  <Override PartName="/ppt/media/image147.jpg" ContentType="image/jpg"/>
  <Override PartName="/ppt/media/image148.jpg" ContentType="image/jpg"/>
  <Override PartName="/ppt/ink/ink8.xml" ContentType="application/inkml+xml"/>
  <Override PartName="/ppt/media/image149.jpg" ContentType="image/jpg"/>
  <Override PartName="/ppt/media/image150.jpg" ContentType="image/jpg"/>
  <Override PartName="/ppt/media/image151.jpg" ContentType="image/jpg"/>
  <Override PartName="/ppt/media/image152.jpg" ContentType="image/jpg"/>
  <Override PartName="/ppt/media/image153.jpg" ContentType="image/jpg"/>
  <Override PartName="/ppt/media/image154.jpg" ContentType="image/jpg"/>
  <Override PartName="/ppt/media/image155.jpg" ContentType="image/jpg"/>
  <Override PartName="/ppt/media/image156.jpg" ContentType="image/jpg"/>
  <Override PartName="/ppt/media/image157.jpg" ContentType="image/jpg"/>
  <Override PartName="/ppt/media/image158.jpg" ContentType="image/jpg"/>
  <Override PartName="/ppt/media/image159.jpg" ContentType="image/jpg"/>
  <Override PartName="/ppt/media/image160.jpg" ContentType="image/jpg"/>
  <Override PartName="/ppt/media/image161.jpg" ContentType="image/jpg"/>
  <Override PartName="/ppt/media/image162.jpg" ContentType="image/jpg"/>
  <Override PartName="/ppt/media/image163.jpg" ContentType="image/jpg"/>
  <Override PartName="/ppt/media/image164.jpg" ContentType="image/jpg"/>
  <Override PartName="/ppt/media/image165.jpg" ContentType="image/jpg"/>
  <Override PartName="/ppt/media/image166.jpg" ContentType="image/jpg"/>
  <Override PartName="/ppt/media/image167.jpg" ContentType="image/jpg"/>
  <Override PartName="/ppt/media/image170.jpg" ContentType="image/jpg"/>
  <Override PartName="/ppt/media/image171.jpg" ContentType="image/jpg"/>
  <Override PartName="/ppt/media/image172.jpg" ContentType="image/jpg"/>
  <Override PartName="/ppt/media/image173.jpg" ContentType="image/jpg"/>
  <Override PartName="/ppt/ink/ink9.xml" ContentType="application/inkml+xml"/>
  <Override PartName="/ppt/media/image174.jpg" ContentType="image/jpg"/>
  <Override PartName="/ppt/media/image175.jpg" ContentType="image/jpg"/>
  <Override PartName="/ppt/media/image176.jpg" ContentType="image/jpg"/>
  <Override PartName="/ppt/media/image177.jpg" ContentType="image/jpg"/>
  <Override PartName="/ppt/media/image178.jpg" ContentType="image/jpg"/>
  <Override PartName="/ppt/media/image179.jpg" ContentType="image/jpg"/>
  <Override PartName="/ppt/media/image180.jpg" ContentType="image/jpg"/>
  <Override PartName="/ppt/media/image181.jpg" ContentType="image/jpg"/>
  <Override PartName="/ppt/media/image18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147"/>
  </p:notesMasterIdLst>
  <p:sldIdLst>
    <p:sldId id="483" r:id="rId2"/>
    <p:sldId id="484" r:id="rId3"/>
    <p:sldId id="489" r:id="rId4"/>
    <p:sldId id="490" r:id="rId5"/>
    <p:sldId id="491" r:id="rId6"/>
    <p:sldId id="492" r:id="rId7"/>
    <p:sldId id="494" r:id="rId8"/>
    <p:sldId id="495" r:id="rId9"/>
    <p:sldId id="496" r:id="rId10"/>
    <p:sldId id="497" r:id="rId11"/>
    <p:sldId id="498" r:id="rId12"/>
    <p:sldId id="499" r:id="rId13"/>
    <p:sldId id="493" r:id="rId14"/>
    <p:sldId id="500" r:id="rId15"/>
    <p:sldId id="501" r:id="rId16"/>
    <p:sldId id="502" r:id="rId17"/>
    <p:sldId id="503" r:id="rId18"/>
    <p:sldId id="504" r:id="rId19"/>
    <p:sldId id="505" r:id="rId20"/>
    <p:sldId id="506" r:id="rId21"/>
    <p:sldId id="507" r:id="rId22"/>
    <p:sldId id="508" r:id="rId23"/>
    <p:sldId id="509" r:id="rId24"/>
    <p:sldId id="510" r:id="rId25"/>
    <p:sldId id="511" r:id="rId26"/>
    <p:sldId id="512" r:id="rId27"/>
    <p:sldId id="513" r:id="rId28"/>
    <p:sldId id="514" r:id="rId29"/>
    <p:sldId id="515" r:id="rId30"/>
    <p:sldId id="516" r:id="rId31"/>
    <p:sldId id="517" r:id="rId32"/>
    <p:sldId id="518" r:id="rId33"/>
    <p:sldId id="519" r:id="rId34"/>
    <p:sldId id="520" r:id="rId35"/>
    <p:sldId id="521" r:id="rId36"/>
    <p:sldId id="522" r:id="rId37"/>
    <p:sldId id="523" r:id="rId38"/>
    <p:sldId id="524" r:id="rId39"/>
    <p:sldId id="525" r:id="rId40"/>
    <p:sldId id="526" r:id="rId41"/>
    <p:sldId id="527" r:id="rId42"/>
    <p:sldId id="528" r:id="rId43"/>
    <p:sldId id="529" r:id="rId44"/>
    <p:sldId id="530" r:id="rId45"/>
    <p:sldId id="531" r:id="rId46"/>
    <p:sldId id="532" r:id="rId47"/>
    <p:sldId id="533" r:id="rId48"/>
    <p:sldId id="534" r:id="rId49"/>
    <p:sldId id="535" r:id="rId50"/>
    <p:sldId id="536" r:id="rId51"/>
    <p:sldId id="537" r:id="rId52"/>
    <p:sldId id="538" r:id="rId53"/>
    <p:sldId id="539" r:id="rId54"/>
    <p:sldId id="540" r:id="rId55"/>
    <p:sldId id="543" r:id="rId56"/>
    <p:sldId id="544" r:id="rId57"/>
    <p:sldId id="545" r:id="rId58"/>
    <p:sldId id="546" r:id="rId59"/>
    <p:sldId id="547" r:id="rId60"/>
    <p:sldId id="550" r:id="rId61"/>
    <p:sldId id="551" r:id="rId62"/>
    <p:sldId id="552" r:id="rId63"/>
    <p:sldId id="605" r:id="rId64"/>
    <p:sldId id="606" r:id="rId65"/>
    <p:sldId id="607" r:id="rId66"/>
    <p:sldId id="608" r:id="rId67"/>
    <p:sldId id="610" r:id="rId68"/>
    <p:sldId id="609" r:id="rId69"/>
    <p:sldId id="611" r:id="rId70"/>
    <p:sldId id="612" r:id="rId71"/>
    <p:sldId id="613" r:id="rId72"/>
    <p:sldId id="614" r:id="rId73"/>
    <p:sldId id="615" r:id="rId74"/>
    <p:sldId id="616" r:id="rId75"/>
    <p:sldId id="617" r:id="rId76"/>
    <p:sldId id="618" r:id="rId77"/>
    <p:sldId id="619" r:id="rId78"/>
    <p:sldId id="620" r:id="rId79"/>
    <p:sldId id="621" r:id="rId80"/>
    <p:sldId id="622" r:id="rId81"/>
    <p:sldId id="623" r:id="rId82"/>
    <p:sldId id="624" r:id="rId83"/>
    <p:sldId id="625" r:id="rId84"/>
    <p:sldId id="626" r:id="rId85"/>
    <p:sldId id="627" r:id="rId86"/>
    <p:sldId id="628" r:id="rId87"/>
    <p:sldId id="629" r:id="rId88"/>
    <p:sldId id="630" r:id="rId89"/>
    <p:sldId id="631" r:id="rId90"/>
    <p:sldId id="632" r:id="rId91"/>
    <p:sldId id="633" r:id="rId92"/>
    <p:sldId id="634" r:id="rId93"/>
    <p:sldId id="635" r:id="rId94"/>
    <p:sldId id="636" r:id="rId95"/>
    <p:sldId id="554" r:id="rId96"/>
    <p:sldId id="555" r:id="rId97"/>
    <p:sldId id="556" r:id="rId98"/>
    <p:sldId id="557" r:id="rId99"/>
    <p:sldId id="558" r:id="rId100"/>
    <p:sldId id="559" r:id="rId101"/>
    <p:sldId id="560" r:id="rId102"/>
    <p:sldId id="561" r:id="rId103"/>
    <p:sldId id="562" r:id="rId104"/>
    <p:sldId id="563" r:id="rId105"/>
    <p:sldId id="564" r:id="rId106"/>
    <p:sldId id="565" r:id="rId107"/>
    <p:sldId id="566" r:id="rId108"/>
    <p:sldId id="567" r:id="rId109"/>
    <p:sldId id="568" r:id="rId110"/>
    <p:sldId id="569" r:id="rId111"/>
    <p:sldId id="570" r:id="rId112"/>
    <p:sldId id="571" r:id="rId113"/>
    <p:sldId id="572" r:id="rId114"/>
    <p:sldId id="573" r:id="rId115"/>
    <p:sldId id="574" r:id="rId116"/>
    <p:sldId id="575" r:id="rId117"/>
    <p:sldId id="576" r:id="rId118"/>
    <p:sldId id="577" r:id="rId119"/>
    <p:sldId id="578" r:id="rId120"/>
    <p:sldId id="579" r:id="rId121"/>
    <p:sldId id="580" r:id="rId122"/>
    <p:sldId id="581" r:id="rId123"/>
    <p:sldId id="582" r:id="rId124"/>
    <p:sldId id="583" r:id="rId125"/>
    <p:sldId id="584" r:id="rId126"/>
    <p:sldId id="585" r:id="rId127"/>
    <p:sldId id="586" r:id="rId128"/>
    <p:sldId id="587" r:id="rId129"/>
    <p:sldId id="588" r:id="rId130"/>
    <p:sldId id="589" r:id="rId131"/>
    <p:sldId id="590" r:id="rId132"/>
    <p:sldId id="591" r:id="rId133"/>
    <p:sldId id="592" r:id="rId134"/>
    <p:sldId id="593" r:id="rId135"/>
    <p:sldId id="594" r:id="rId136"/>
    <p:sldId id="595" r:id="rId137"/>
    <p:sldId id="596" r:id="rId138"/>
    <p:sldId id="597" r:id="rId139"/>
    <p:sldId id="598" r:id="rId140"/>
    <p:sldId id="599" r:id="rId141"/>
    <p:sldId id="600" r:id="rId142"/>
    <p:sldId id="601" r:id="rId143"/>
    <p:sldId id="602" r:id="rId144"/>
    <p:sldId id="603" r:id="rId145"/>
    <p:sldId id="604" r:id="rId14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7-05T05:15:47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4498 4194 0</inkml:trace>
  <inkml:trace contextRef="#ctx0" brushRef="#br0" timeOffset="32519.084">15266 8136 0,'0'0'0,"14"0"203,-1 0-203,0 0 16,40 0-1,26 0 1,41 0 0,-15 0-1,1 13 1,0 0-1,-66-13-15,-1 14 16,-12-14-16,26 0 16,13 0 15,-53 0-31,14 0 31,12 0-15,-26 0-1,-39 0 17</inkml:trace>
  <inkml:trace contextRef="#ctx0" brushRef="#br0" timeOffset="110269.686">10544 8176 0,'0'0'0,"-27"-14"47,27 1-16,-13 13-15</inkml:trace>
  <inkml:trace contextRef="#ctx0" brushRef="#br0" timeOffset="110721.048">10544 8176 0,'0'0'0,"-53"-14"15,66 14 32,0 0-31,0 14-16,14-14 16,-1 0-1,1 0 1,12 0-1,1 13 1,26-13 0,-13 13-1,13-13 1,1 0 0,52 13-1,-53-13 1,13 0-1,14 0 1,-14 0 15,27 14-15,-66-14 0,-67 0 15,-39 0-31</inkml:trace>
  <inkml:trace contextRef="#ctx0" brushRef="#br0" timeOffset="111137.187">10636 8136 0,'0'0'16,"66"-13"15,-39 13-15,13 0-16,39-14 15,53 14 1,53 0-1,-79 0 1,53 0-16</inkml:trace>
  <inkml:trace contextRef="#ctx0" brushRef="#br0" timeOffset="111436.486">10702 8057 0,'0'0'0,"80"0"63,12 0-63,1 0 15,13 0 1,-14 13-16,54 13 16</inkml:trace>
  <inkml:trace contextRef="#ctx0" brushRef="#br0" timeOffset="111588.878">11139 8070 0,'0'0'0,"159"13"15</inkml:trace>
  <inkml:trace contextRef="#ctx0" brushRef="#br0" timeOffset="128355.684">16312 7302 0,'0'0'0,"13"0"63,0-13-63,0 0 15,53-27 1,80-52-1,-40 12-15,172-158 16,-1 0 0,-91 93-1,-107 92 17,-79 39-17,-13 14 16</inkml:trace>
  <inkml:trace contextRef="#ctx0" brushRef="#br0" timeOffset="128954.641">17740 5345 0,'0'0'0,"0"13"93,0 13-77,-13 14-16,-13 39 16,-54 133-1,54-93 1,13-53 0,13-26-1,13 0 1,26-27-1,1-13 1,66-27 0,-13-12-1,-14 12 1,-26 27 0,-40 0-16,27 27 15</inkml:trace>
  <inkml:trace contextRef="#ctx0" brushRef="#br0" timeOffset="129188.401">17462 5715 0,'0'0'0,"93"0"47,13-13-31,106-14 0,-120-12-1</inkml:trace>
  <inkml:trace contextRef="#ctx0" brushRef="#br0" timeOffset="129392.069">17740 5331 0,'0'0'0,"133"-13"62,-28-13-62,120-1 31</inkml:trace>
  <inkml:trace contextRef="#ctx0" brushRef="#br0" timeOffset="129638.544">18177 5728 0,'0'0'0,"79"13"63,-52-13-63,12 27 15,28 13 1,-28-1-16,1 14 16</inkml:trace>
  <inkml:trace contextRef="#ctx0" brushRef="#br0" timeOffset="129837.307">18441 5649 0,'-92'92'47,"26"1"-31,-14 0-16,1 12 16,79-25-1</inkml:trace>
  <inkml:trace contextRef="#ctx0" brushRef="#br0" timeOffset="130104.457">18852 5398 0,'0'0'0,"13"79"47,-13 0-47,13 27 16,-39 132 0,-1-145-16,-26 105 15,0-65 1,40-81-1</inkml:trace>
  <inkml:trace contextRef="#ctx0" brushRef="#br0" timeOffset="130337.291">18957 5596 0,'0'0'0,"67"13"63,-41 14-63,0 78 16,-52 41-1,-53-67 1</inkml:trace>
  <inkml:trace contextRef="#ctx0" brushRef="#br0" timeOffset="130685.826">19447 5398 0,'0'0'0,"0"26"63,0 0-63,0 14 15,-13 106-15,-14-14 16,14-66 0,13-13-1,26-13 17</inkml:trace>
  <inkml:trace contextRef="#ctx0" brushRef="#br0" timeOffset="131086.097">19963 5702 0,'0'0'0,"-106"-13"47,66 13-31,-13 13-1,-39 40-15,52-14 32,27 1-17,26-27 1,53-13 0,0-26-1,1-1 1,-41 14-1,-13 13-15,0 0 16,1 13 15,-1 27-15,0 0 0,0-27-16,14-13 15</inkml:trace>
  <inkml:trace contextRef="#ctx0" brushRef="#br0" timeOffset="131287.348">20188 5649 0,'0'66'46,"0"-40"-46,-14 1 16,1 26 0,13-13-1</inkml:trace>
  <inkml:trace contextRef="#ctx0" brushRef="#br0" timeOffset="131435.888">20227 5477 0,'0'0'16,"14"-53"31</inkml:trace>
  <inkml:trace contextRef="#ctx0" brushRef="#br0" timeOffset="132753.826">20320 5702 0,'0'0'16,"66"53"31,-53-27-32,-13-13 1,14 27-16,-14-13 16,0-14-1,0-26 17,39-40-17,41-14 1,-1 28-1,-39 26 1,-14 13-16,-13 0 16,-13 13-16,14 40 15,-14 0 1,0 0 0,0-14-1,26-12 1,53-27-1,67-40 17,39-26-32,-53-14 31,-105 67-15,-14-13-1,-13 13-15,-13-1 16,-14 1-1,-105 26 1,40 27 0,52-14-1,27 1 1,13-14 0,53 0-1,0-13 1,-14-13-1,-26 0 1,1 13 15,-1 13-15,0 27 0,14 0-1,-1-14 1,40-26-1,-26 0-15,52-53 16,28-66 0,12-79-1,-53-80 1,-79 212 0,0 26-1,0 27 1,0 26 15,0 0-15,-13 80-16,0 66 15,-14-54 17,1 1-17,-1-40 1,14 0-1,0-26 1,13-13 0,40-41-1,92-65 1,-39 39 0,-41 1-1,-12 39 1,-13 13-1,-27 27 1,-14 12 0,-25-12 15,-14-13-15,40-14-16,-54-13 15,14-13 1,14-14-1,26-13 1,26-12-16</inkml:trace>
  <inkml:trace contextRef="#ctx0" brushRef="#br0" timeOffset="132952.75">22185 5583 0,'0'0'0,"-26"66"62,13-40-46,-27 40 0,40-13-1,0-26-15</inkml:trace>
  <inkml:trace contextRef="#ctx0" brushRef="#br0" timeOffset="133134.068">22212 5292 0,'0'0'0,"26"-53"47,1 26-47</inkml:trace>
  <inkml:trace contextRef="#ctx0" brushRef="#br0" timeOffset="133600.924">22556 5173 0,'0'0'0,"0"66"47,-27 66-31,1 40 0,-14-66-1,27-53 1,13 13-1,-13 13 17,39-65-32,1-1 0,131-53 31,-12-26-31,-80-27 31,-53 80-15,-13 0-1,0 26 17,-13 40-17,0 13 1,13-13 0,39 0-1,1-53 1</inkml:trace>
  <inkml:trace contextRef="#ctx0" brushRef="#br0" timeOffset="133819.991">22939 5384 0,'0'0'0,"0"-13"63,-13 13-47,-13 13-16,12-13 0</inkml:trace>
  <inkml:trace contextRef="#ctx0" brushRef="#br0" timeOffset="134151.951">23138 5173 0,'0'-14'47,"13"41"-31,-13 26 0,13 39-16,-13 107 15,-26-40 1,13-54-1,13-38 1,13-41 0,53-26-1</inkml:trace>
  <inkml:trace contextRef="#ctx0" brushRef="#br0" timeOffset="134450.223">23006 5530 0,'0'0'0,"52"13"47,-38-13-32</inkml:trace>
  <inkml:trace contextRef="#ctx0" brushRef="#br0" timeOffset="134705.209">23006 5530 0,'0'0'15,"39"39"-15,-52-25 47,0-14-31,26 0 15</inkml:trace>
  <inkml:trace contextRef="#ctx0" brushRef="#br0" timeOffset="135482.15">23058 5530 0,'27'0'94,"-1"13"-94,14-13 15,13 13 1,92 0-1</inkml:trace>
  <inkml:trace contextRef="#ctx0" brushRef="#br0" timeOffset="135998.938">23442 5530 0,'0'0'15,"-13"26"32,13 1-31,13-1-16,-13 1 15,13-1 1,1-13-16,25 27 16,27-14-1,27-12 1,52-54 0,-78 0-1,-41 14 1,-39 52 31,-40 120-32,-53 39 1,-13-26 0,-106 13 15,-26-106-16,-173-66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7-05T05:18:43.0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16484 1812 0,'0'0'0,"13"0"62,-13 14 32,-13-1-78,13 13-1,-14-12-15,1 12 16,0 0-16,0 1 15,-27 92 1,13-53 0,14-26-1,0-27 1,13 0 15,13-13 32,14 13-48,-1-13-15,27 14 16,119-1 0,-26-13-1,-93 13 1,-106-13 31,-27 13-47</inkml:trace>
  <inkml:trace contextRef="#ctx0" brushRef="#br0" timeOffset="1482.056">17145 1879 0,'0'-14'63,"0"28"-17,0-1-46,0 13 16,-13 54 0,0 12-1,-1-12 1,1 12 0,13-65-1,0-14 1,-13-13-1,13-27 1,0-12-16</inkml:trace>
  <inkml:trace contextRef="#ctx0" brushRef="#br0" timeOffset="2335.666">17555 1892 0,'0'13'62,"0"13"-62,0 1 16,0 39 0,0 27-1,-13-27 1,13-40-16,-13 27 31,-1-26-15,14-14-16,-13-13 31,26-40-15,54-171-1,-1 52 1,-40 79 0,-13 27-1,1 27 1,-14 39 15,0 27-15,13 53-1,13 52 1,14-66 0,0-12-1,13-41 1,-14-26-1,27-13 1,14-40 0,-14-13-1,-26 13 1,-27 40-16,-13-1 16,13 14-1,-13 14 16,0-1-15,-13 93 0,13-40-1,0-13 1,13-14 0,14 14 15,12-26-31,1-27 15</inkml:trace>
  <inkml:trace contextRef="#ctx0" brushRef="#br0" timeOffset="2713.916">18706 1918 0,'0'0'0,"-53"53"47,27-13-31,12 13-1,-25 26-15,26 0 16,13-12 15,26-14-15,93-1-1,13-38 1,-13-14 0,-52 0-1,-28 0 1,-26 0-16,-13-14 15,-39 14 1</inkml:trace>
  <inkml:trace contextRef="#ctx0" brushRef="#br0" timeOffset="2930.665">18640 2209 0,'0'0'0,"66"-13"31,0 13-15,-13 0 0,93 0-1</inkml:trace>
  <inkml:trace contextRef="#ctx0" brushRef="#br0" timeOffset="3130.935">18627 1931 0,'0'0'0,"119"-26"46,-40 26-30,-13-13 0,53-27-1</inkml:trace>
  <inkml:trace contextRef="#ctx0" brushRef="#br0" timeOffset="3514.893">19394 1786 0,'0'13'63,"0"0"-48,13-13-15,14 14 16,-14 12 0,13 1-1</inkml:trace>
  <inkml:trace contextRef="#ctx0" brushRef="#br0" timeOffset="3645.692">19632 1812 0,'0'0'0,"-66"53"31,39-39-15</inkml:trace>
  <inkml:trace contextRef="#ctx0" brushRef="#br0" timeOffset="4314.357">15968 1627 0,'0'0'0,"0"-13"47,0 26-15,-14 0-32,-12 40 15,-1-39 1</inkml:trace>
  <inkml:trace contextRef="#ctx0" brushRef="#br0" timeOffset="4472.688">15769 1746 0,'0'0'0,"-79"53"47</inkml:trace>
  <inkml:trace contextRef="#ctx0" brushRef="#br0" timeOffset="103014.362">7594 7752 0,'0'-13'46,"13"13"95,13 0-125,1 0-1,12 0-15,28 0 16,-1-13-16,145 13 16,1 0 15,-53-13-16,-40 13 1,-66 0 0,-40 0-1,0 0 1,-13-14 62,-26 14-47,-1 14-31,1-14 0</inkml:trace>
  <inkml:trace contextRef="#ctx0" brushRef="#br0" timeOffset="152294.746">6892 10782 0,'0'13'93,"14"-13"-77,12 0 0,40 0-1,40 0-15,159 0 16,-14-13 0</inkml:trace>
  <inkml:trace contextRef="#ctx0" brushRef="#br0" timeOffset="152793.355">8427 10702 0,'79'0'47,"14"-13"-31,39-13-16,-13 12 16,40 1-1</inkml:trace>
  <inkml:trace contextRef="#ctx0" brushRef="#br0" timeOffset="155553.909">12912 10544 0,'13'0'141,"0"0"-141,14 0 0,12 0 15,41 13 1,39-13 0,26 0-1,-26 0 1,-79 0-16,39 0 16,-13 0 15,-13 0-16,-13 0 1,0 13 0,-14-13-1,-13 0 1,1 0 0,-1 0 15,0 13 47,0-13-62,-13 14-1,14-14-15,-1 13 31,0 0-15,0 13 0,14 1-1,-1 13 1,14 52 0,-40-26-1,13 27 1,-13 13-1,-13 0 1,13-1 0,0 41-1,-13-14 1,13 14 0,0 39-1,13-119 1,-13 0-1,13-13 17,-13-13-17,13-27-15,-13 0 32,-13-13 14,-13 14-46,12-1 16,-25 0 0,-1 14-1,0-14 1,14-13 0,-1 13-16,-65-13 15,26 0 1,-27 0 15,-132 0-15,40 0-1,0 0 1,-14 0 0,-105 26-1,145-12 1,14-14-1,13 13 1,12 0 0,41-13-1,-13 13 1,52-13 0,27 0-1,-1 0 79,1 0-94,0 0 16,-80 27-1</inkml:trace>
  <inkml:trace contextRef="#ctx0" brushRef="#br0" timeOffset="161288.844">5199 12091 0,'0'0'0,"13"-52"47,-13 38-31,0-12-1,0 13-15,-13-14 16,-13 14 0,-27 0-1,-93 39 1,54 40 0,12-13-1,40-13 1,40 0-1,14-14 1,12-13-16,14 1 16,13-1 15,-14-26-31,28-40 31,-28 26-15,-12 1-1,12 12 1,-12 14 0,-1 14-1,-26-1 1,14 0 0,-1-13 15,-13 13-16,0 1 1,0-1 0,13 0-1,0-13 17</inkml:trace>
  <inkml:trace contextRef="#ctx0" brushRef="#br0" timeOffset="161933.749">4498 12131 0,'0'0'0,"13"0"62,0 0-62,1 0 16,12 0-1,14-13 1,13-40 0,-40 27-1,13-27-15,-12 13 16,-14 13 15,-27 41-15,-39 52-1,-13 13 1,26 1 0,39-14-1,14 0 1,106-26 0,53-40-1,-13-40 1</inkml:trace>
  <inkml:trace contextRef="#ctx0" brushRef="#br0" timeOffset="162357.465">5662 11880 0,'0'0'0,"-13"-13"62,13-1 32,0 1-78</inkml:trace>
  <inkml:trace contextRef="#ctx0" brushRef="#br0" timeOffset="162718.129">5331 11946 0,'0'0'0,"40"-27"47,-27 14-16,1 13-15,-1 0-1,13 13 1,-26 1-1,0-1 1</inkml:trace>
  <inkml:trace contextRef="#ctx0" brushRef="#br0" timeOffset="163133.674">5675 11893 0,'0'0'0,"-53"-53"32,27 53-17,-40 0 1,-14 27 0,1 12-1,39 1 1,40-14-1,0 1-15,80 13 16,39-14 0,-13 0-1,-40 1 1,-27 13 15,-52-14-15,-53 1-1,-27-1 1,27-26 0,40 0-16,-1 0 15,27-26 1</inkml:trace>
  <inkml:trace contextRef="#ctx0" brushRef="#br0" timeOffset="163367.513">5755 12012 0,'0'0'0,"26"0"62,-13 13-62,14 14 16,-14-14-1,53 53 1,-13-53 0,-13-13-1</inkml:trace>
  <inkml:trace contextRef="#ctx0" brushRef="#br0" timeOffset="163548.911">6019 12091 0,'0'0'16,"27"93"30,-27-40-46,0 26 16,-40 120 0,14-146-1,-14 13 1,-39-26 0,-1-40-1</inkml:trace>
  <inkml:trace contextRef="#ctx0" brushRef="#br0" timeOffset="163965.457">6800 12158 0,'0'0'0,"13"0"62,0-40-62,14-26 16,52-252 0,-79 173-1,0 105 1,0 14 15,0 65-15,-13 27-1,-40 146 1,40-27 0,13-119-1,26-39 1,14-1-1</inkml:trace>
  <inkml:trace contextRef="#ctx0" brushRef="#br0" timeOffset="164131.883">6826 11946 0,'53'0'31,"13"-13"-15,120-14-1</inkml:trace>
  <inkml:trace contextRef="#ctx0" brushRef="#br0" timeOffset="164431.858">7395 11959 0,'0'0'16,"-40"-26"31,27 26-31,-27 0-16,-26 53 15,13 26 1,40-13-1,66 0 17,26-66-17,14-53 1,-14-26 0,-65 39-16,-67-79 15</inkml:trace>
  <inkml:trace contextRef="#ctx0" brushRef="#br0" timeOffset="166146.48">8308 12184 0,'0'0'16,"0"-13"30,13-14-30,0-26 0,27-39-1,0 12 1,-1 41 0,-25 26-1,12 13 1,1 52-1,-1 28 1,-26-40-16,13 39 16,0-26-1,1-27 1,25-12 0,14-14-1,66-67 16,-39-12-15,-14 0 0,-40-1-1,-26 67 1,-39 26 15,-14 67-15,-13 12-1,66 14 1,92-66 0,120-14-1,52-52 1,-12-40 0,-133 26-1,13-39 1,-79 39-16,-53 13 31,-13-12-15,-159 39-1,79 39 1,27 1 0,26 0-1,54 13 1,25-40-1,14-13 1,0-13 0,0-14-1,-26 14 1,-1 13 0,0 13-1,1 14 1,13 12-1,-14-25 17,1-1-17,-1 0 1,14-13-16</inkml:trace>
  <inkml:trace contextRef="#ctx0" brushRef="#br0" timeOffset="166596.938">10491 12052 0,'0'0'0,"13"-80"32,-13 67-17,-40-27 1,-13 27-16,-13 13 15,-66 27-15,53 12 16,39 14 15,66 13-15,93-52 0,67-41-1,-67-65 1,-53-41-1,-27 14 1,-39 93-16,-13-14 16,0 27-1,0 26 1,-93 252 0,93-54-1,39-118 16,40-14-15</inkml:trace>
  <inkml:trace contextRef="#ctx0" brushRef="#br0" timeOffset="168044.133">8797 12991 0,'14'-53'63,"-14"40"-48,0 0 1,-53 13 0,-13 13-1,-1 40 1,28-13-1,25 12 1,28-12 0,-1-27-16,40 1 15,-27-14 1,14-14 0,-14-91 15,-26 38-31,0 28 15,-13 12 17,0 27-17,53 13 17,-1 1-17,41-14 1,26-27-1,-27 14 1,-39 13-16,-27 13 16,0 27-1,-26 13 1,-14 0 0,14-14-1,13-25 1,0-1-1,13-13 17,1-13-17,12-14 1,27-12 0,-26 25-1,-27 1 1,13 13-1,-13 13 1,26 1 0,-13 12-1,27 27 1,-13-40 0,25-13-1,1-13 1,14-40-1,38-159 1,-65 67 15,-40 92-15,-13 26 0,0 1-1,-1 92 16,1 93-15,0-27 0,13-92-1,13 39 1,67-52 0</inkml:trace>
  <inkml:trace contextRef="#ctx0" brushRef="#br0" timeOffset="168227.943">9869 12898 0,'0'0'0,"-27"67"47,14-54-47,13 13 15,-39 27 1</inkml:trace>
  <inkml:trace contextRef="#ctx0" brushRef="#br0" timeOffset="168388.851">9842 12740 0,'0'0'0,"27"-14"63,-14 28-63</inkml:trace>
  <inkml:trace contextRef="#ctx0" brushRef="#br0" timeOffset="168980.768">9988 12912 0,'0'0'0,"66"26"63,-53 1-63,1-14 15,-1 0-15,0 14 16,-13-14 0,0-40 15,13 14-15,14-27-1,-14 14 1,0 26-16,0-13 15,1 26 1,12 13 0,-13-12-1,27 25 1,13-25 0,26-14-1,1 0 1,-1-40-1,-39 13-15,-14-26 16,-13 1 0,-13 25 15,0 40 0,0 27-15,14 13-1,25-13 1,160-54 0</inkml:trace>
  <inkml:trace contextRef="#ctx0" brushRef="#br0" timeOffset="169464.695">11536 12502 0,'0'0'0,"13"13"63,0 13-48,14 120 1,-27 13-1,0-107-15,-13-25 16,13-1 0,-14-12-1,28-67 17,78-40-17,-26 53 16,-52 40-31,25 14 16,-39-1 0,13 40-1,-39 26 1,-14-52 0,-13-1-1,-26-26 1,-40-40-1,92-26 1</inkml:trace>
  <inkml:trace contextRef="#ctx0" brushRef="#br0" timeOffset="170830.451">12091 12753 0,'0'0'0,"-13"13"62,-13 14-46,-14 26 0,14-14-1,12 1 1,41-14-1,26-26 1,13-39 0,-40 12-16,1-26 15,-27 14 1,-40-1 0,0 13-1,27 14 1,40 13 15,39 27-15,0-14-1,0 13 1,-39-26 0,-1 14-1,-13-1 1,-13 13-1,0 27 1,-13-13 0,0 26-1,39-39 1,14-14 0,53-40-1,-54-26 1,-12-26-1,-41 13 1,-52 13 0,-13 26 15,52 27-31,-12 0 16,52 0 15,13 0-16,1 0 1,26 0-16,119-39 16,40-41-1,-80 14 1,-66 13 0,-13-53-1,-40 54 1,-26 38-1,-27 14 1,-66 80 0,53 12 15,53 1-15,0 0-1,27-1 1,-14 14-1,0-80 1,-13-12 0,-13-28 15,13 1-31,0-40 16,27-13-1,52 0 1,27 26-1,-27 27 1,-13 13 0,-66 13-1,-53 27 17,-66 13-17,53-40 1,40-13-1,13 0 1,26 0 15,66 40-15,-13 0 0,0-1-1,14 1 1,26-14-1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7-05T05:24:50.0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14698 4128 0,'39'0'125,"27"13"-109,40 0-1,199 0 1,25 0 0,94 1-1,-305-14 1</inkml:trace>
  <inkml:trace contextRef="#ctx0" brushRef="#br0" timeOffset="3083.591">6826 4696 0,'0'0'0,"53"0"46,13 0-30,53 0-16,14 0 16,118 0-1,-132 0 1,-79-13-16</inkml:trace>
  <inkml:trace contextRef="#ctx0" brushRef="#br0" timeOffset="3514.206">7051 4617 0,'0'0'15,"-13"53"32,-40-27-31,-66 27-1,13 13 1,80-26 0,39 0-1,27-14 1,39 1-1,14-14 1,-54-13 0,14 0-1,-40-13 1,-13-40 0,-39-53-1,25 27 1,54-40-1</inkml:trace>
  <inkml:trace contextRef="#ctx0" brushRef="#br0" timeOffset="4014.383">8136 4762 0,'0'0'0,"13"14"62,-13-1-46,13 0-16,1 14 16,12-1-1,-13-13-15,40 1 16,0-28-1,0-39 17,-26-13-17,-14 13 1,-13 40 0,-13 13-1,-27 40 1,-26 26-1,0 0-15</inkml:trace>
  <inkml:trace contextRef="#ctx0" brushRef="#br0" timeOffset="4846.999">8493 4696 0,'0'0'0,"0"-53"31,0 27-15,-26 0-1,-54 12 1,1 28-1,0 38 1,26 1 0,26 0-1,27 0 1,0-26-16,27 12 16,12-25-1,27-28 1,106-171 15,-66-13-31,-66 65 16,-40 54 15,0 26-15,0 13-1,-13 27-15,13 0 16,-14 39-1,-12 67 1,13 172 0,13-133-1,13-53 1,13-26 0,54 13-1,52-26 1,80-93-1,-120-66 1,-39 0 0,-53 79 15,-26-13-15,-53 80-1,-41 39 1,68 27-1,25-14 1,93 40 0,106-66-1,13-40 1,-79-66 0,-40-13-1</inkml:trace>
  <inkml:trace contextRef="#ctx0" brushRef="#br0" timeOffset="5146.231">9671 4710 0,'0'0'0,"39"-53"31,-39-13-16,-13 26 1,-80 27 0,-12 26-1,25 53 1,54 27 0,26-41-16,26 41 15,54-14 1,39-26-1,13-39 1</inkml:trace>
  <inkml:trace contextRef="#ctx0" brushRef="#br0" timeOffset="5346.1">9922 4723 0,'0'0'0,"66"79"62,-40-52-62,1 65 16,-27 14 0</inkml:trace>
  <inkml:trace contextRef="#ctx0" brushRef="#br0" timeOffset="5500.503">10067 4471 0,'0'0'0,"40"-39"62</inkml:trace>
  <inkml:trace contextRef="#ctx0" brushRef="#br0" timeOffset="5879.976">10557 4696 0,'0'0'0,"13"-79"32,-13 53-32,-40-1 15,-39 54 1,39 39 15,54 13-15,52-13-1,26 0 1,-52-26-16,39 0 16,-26 13-1,-26-27 1,-54-26 0,-131 0-1,39-26 1</inkml:trace>
  <inkml:trace contextRef="#ctx0" brushRef="#br0" timeOffset="6095.749">10967 4789 0,'0'0'0,"26"26"62,-12 14-46,-14 26-16,-14 53 16,-12-39-1</inkml:trace>
  <inkml:trace contextRef="#ctx0" brushRef="#br0" timeOffset="6277.584">11179 4471 0,'0'0'0,"13"-79"31,0 53-15,-13 12-1,-93 94 1</inkml:trace>
  <inkml:trace contextRef="#ctx0" brushRef="#br0" timeOffset="7061.837">11628 4908 0,'0'0'0,"27"-66"47,-27 53-47,-13-1 16,-27 1-1,-26 26 1,-14 40-1,41 13 1,39 1 0,53-41-1,26-26 1,0-53 0,-52-26-1,-27 39-15,-27-39 16,-25 26-1,12 26 1,13 27 0,41 40 15,39 0-15,26-14-1,14-26 1,-1 0-1,1 0 1,-80 0 0,0 13-1,-13 27 1,-40 66 0,27-53-1,0-27 1,13-12-1,13-14 1,40-27 0,0 1-1,40-27-15,-27 13 32,-26 40-17,26 40 1,-13 13-1,-27 0 1,0-14 0,14 14-1</inkml:trace>
  <inkml:trace contextRef="#ctx0" brushRef="#br0" timeOffset="37136.677">3096 10451 0,'0'13'141,"26"-13"-94,-13 0-47,14 0 15,12 0 1,-12 0-16,79 14 15,-40-1 1</inkml:trace>
  <inkml:trace contextRef="#ctx0" brushRef="#br0" timeOffset="40201.848">7117 10186 0,'14'0'125,"25"14"-125,27-14 16,53 0 0,0 0-16,93 0 15,-119-27 1</inkml:trace>
  <inkml:trace contextRef="#ctx0" brushRef="#br0" timeOffset="46145.241">8308 11192 0,'0'0'0,"0"-13"32,0-1-17,13 14 32,14 0-31,39 0-16,119 14 15</inkml:trace>
  <inkml:trace contextRef="#ctx0" brushRef="#br0" timeOffset="63931.009">4802 4895 0,'0'13'63,"0"0"78,13-13-126,-13 13 16,14-13-15,-14 14 0,13-1-1,0-13 1,-13 13 0,13-13-1,1 13 1,-1-13-1,-13 14 1,13-14 0,0 0-1,0 13 1,1 0 15,-1-13-15,-13 13-1,13-13 1,0 14 15,1-1-15,-1 0 0,0 0-1,14 0 1,-14 1-1,13-1 1,-13-13 0,14 13-1,-14 0 1,14 1 0,12-1-1,-25 0 16,12 14-31,0-14 16,-12 0 15,-1-13-31,0 13 16,14 0 0,-14 1 15,0-14-31,-13 13 15,27 0 1,-1 0 0,-13 14-1,0-14 1,1 0 0,25 14-1,-25-14 1,12 13-1,-13-12 17,27 12-17,-27-13 1,14 1 0,-27-1-1,13-13 1,0 13-1,0-13 1,-13 13 0,14-13-1,12 13 1,-13 1 0,0-1-1,1-13 1,-1 13 15,0 0 0,0-13-15,1 0 0,12 14-1,-13-1 1,1-13-1,-14 13 1,13-13 0,0 13-1,0 1 1,0-1 0,1-13 15,-14 13-31,13-13 15,-13 13 17,13-13-17,0 13 1,1 1 0,-1-14-1,0 26 1,0-13-1,0 1 1,1-14-16,-1 13 16,0 0-1,-13 0 1,13-13 0,-13 14-1,0-1 1,14 0-1,-14 0 17,13 0-17,0 1 1,-13-1 0,0 0 15,13 0-16,-13 1 17,0-1 15,0 0 15,0 0-15,14-13-16,-14 13-31,0 1 31,13-14-15,-13 13 0,13 0 15,-13 0-15,13-13-1,-13 14-15,0-1 16,13 0 15,-13 0-15,0 1-1,0-1 1,14-13 0,-14 13-16,0 13 31,0-12-16,13-1 1,-13 0 0,13 14-1,-13-14 1,13 0 0,-13 0-1,14-13 1,-14 14-1,0-1 32,13-13-15,-13 13-17,0 0 1,0 0-1,0 1 1,0-1 0,0 0 31,0 0-16,0 1 0,0-1 0,0 0-15,0 0 0,-13 1-1,13-1 1,0 0 15,0 0 0,0 0 47,0 1 32,0-1-63,0 0 0,-14-13-47,14 13 46,-13-13-30,13 14 0,-13-14-1,13 13 1,0 0 0,-13 0-1,-1 1 1,1-1-1,0-13 1,13 13 0,-13-13-16,13 13 15,-13-13 1,13 13 0,-14-13-1,14 14 16,-13-14-15,0 0 15,0 0-15,13 13 0,-14-13-1,1 13 1,0-13-1,13 13 1,-27-13 0,14 14-1,0-14 1,0 13 0,-14 0-1,14-13 1,0 0 15,0 13-31,-14 0 16,14-13-1,0 0 1,0 14 15,-1-14-15,14 13-16,-13-13 31,0 13-15,0-13-1,-1 0 1,1 13 0,0-13-1,0 0 1,-1 0-1,1 0 17,0 14-32,0-14 31,-14 0-15,14 13-1,0-13 1,0 13-1,-14-13 1,14 0 0,0 13-1,-1-13 1,1 0 0,-13 0-1,13 14 1,-1-14-1,14 13 1,-13-13 47,0 0-32,0 0-31,-1 0 15,1 0 1,-13 0 0,13 0-16,-1 13 15,1-13 1,0 0 15,0 13 0,-1-13-15,1 0-16,-13 13 16,-1 14 15,1-14-31,13 14 31,-1-14-15,1 0-1,0 0 1,13 1 0,-13-14-1,-1 0 32,14 13-47,-13-13 16,13 13 15,-13-13-31,0 0 31,-1 13 32,1-13-32,0 0-15,13 13 15,-13-13 16,0 0-16,13 14-15,-14-14 15,1 0 94,0 0-109,0 0-1,-1 0 1,1 0-16,-13 0 15,26 13 204,-14-13-203,1 0-1,13 13 1,-13-13 0,0 0 46,13 13-46,-13-13 15,13 14-15,-14-14-1,14 13 1,-13-13 46,13 13-46,-13-13 15,13 13 1,-13-13-17,-1 0 32,14 13-31,-13-13-1,0 0 17,13 14-17,-13-14-15,13 13 31,-14-13-31,14 13 32,-13-13-17,13 13 1,-13-13-16,0 14 31,0-1-15,13 0-1,-14 0 17,14 1 15,-13-14-16,13 13 0,-13-13 0,0 13 1,-1-13-1,14 13-16,-13-13 17,13 13 30,-13-13-46,13 14 31,-13-14-47,13 13 47,-13-13-32,13 13 1,-14 0-1,14 1 17,-13-14-1,13 13-15,0 0 15,0 0 31,-13-13-46,13 14 15,0-1 16,-13-13-47,13 13 31,0 0 1,0 0-1,0 1 0,-14-14-31,14 13 63,0 0-32,0 0 16,0 1 15,0-1 1,0 0-16,0 0-1,0 1 189,0-1-157,0 0 78,0 0-125,0 0 1,0 1-17,0-1 17,0 0-1,0 0-16,0 1 1,0-1 0,-13-13-1,13 13 1,0 0 31,0 1 0,0-1-16,0 0 0,0 0 32,0 0-32,-13-13-15,13 14 15,0-1 31,0 0-30,-13 0 14,13 1-30,0-1 0,-14-13-16,14 13 15,-13 13 1,-13-12 0,13-1-1,-14 13 16,14 1-15,0-14 0,13 0-1,0 1-15,0-1 16,-14 0 0,1 0-1,13 0 1,-13 1-1,0-1 1,13 0 15,-14-13-15,14 13 0,0 1 15,-13-14-16,13 13 17,0 0 30,-13-13-15,13 13 0,-13 1 47,13-1-63,-13-13 0,13 13 0,-14-13-15,14 13 15,-13-13 16,13 13-47,-13 1 31,0-14-15,13 13 0,-14-13-1,14 13 1,-13-13 0,0 13-1,0-13 1,0 14-1,-1-1 17,1-13-17,13 13 1,-13-13-16,0 0 16,13 13-1,-14-13 1,14 13 15,0 1-15,-13-14-1,13 13 1,-13-13 156,0 0-110,13 13-62,0 0 110,0 1-63,-14-14 46,14 13-93,0 0 47,-13-13-47,13 13 31,0 1 1,0-1 46,-13-13-63,13 13 17,-13 0-1,0 0-15,-1 1 15,1-1-16,0-13 17,13 13-17,-13-13-15,-1 13 16,1 1 0,-13-1-1,12 0 1,1 0-1,0 1 1,0-1 15,0 0-15,-1 0 0,1 0-1,0 1 1,-14 12-1,14 1 1,0-14 0,0 0-1,-1 0 1,1 1-16,0-1 16,0 0-1,-14 0 1,14 14 15,-13 12-15,-1-12-1,27-14 1,-13 0 0,0 14-1,-1-1 1,1-13-1,0 14 1,-13-1 0,-14 27-1,13-13 1,14 13 0,-13-13-1,-1 39 1,1-26 15,26-13-15,-13 12-1,13-12 1,13 0 0,0-1-1,-13-12 1,0-1-1,0-12 1,0 25 0,0-12-1,13 12 1,1 1 0,-14-13-1,13 26 1,-13-14 15,0 14-15,-13 0-1,13-26-15,-14 12 16,14 1 0,0-14-1,0-12 1,0-1-1,-13-13 204,0 0-188,13-13-15,-13-1 0,13 1-1,-14 13 1,14-13-16,-13 0 16,0-1-1,0 1 1,-1 0 15,1 13-15,0-13-1,0 13 17,13-13-17,-13 13 63,26 0 0,-13 13-78,13 0 16,0 0-16,14 27 16,12 0 15,-12-1-15,-1-25-16,1 12 15,12 14 1,-12-14-1,-14-13 1,0 1 15,-26-14 32,0 0-48,13-14 1,0 1 0,-27-40-1</inkml:trace>
  <inkml:trace contextRef="#ctx0" brushRef="#br0" timeOffset="64697.989">3307 10398 0,'0'0'16,"-53"-66"15,40 53-15,26 13 93,1 0-93,-1 13-1,27 0 1,12-13 0,15 0-1,52-13 1,-53 13-1,-40-13 1,-39 13 62,0 0-78,0 0 47,-1 0-16,14 13-15,-13-13 0,13 13-1,-13-13-15,0 0 31,13 13-15,-14-13 0,-25 27-1,-1-1 1,-26 14 0,-13 26-1,39-26-15,-40 26 16,41-26-1,12-1 1,27-12 15,14-1-15,-1-26-16</inkml:trace>
  <inkml:trace contextRef="#ctx0" brushRef="#br0" timeOffset="91895.481">8242 5728 0,'0'0'0,"0"-66"31,0 53-16,0 26 32,0 14-31,13 12-16,-13 14 16,0 53-1,13-13 1,-13-14-1,0-13 1</inkml:trace>
  <inkml:trace contextRef="#ctx0" brushRef="#br0" timeOffset="92224.3">8043 5543 0,'0'0'0,"106"-53"32,-26 40-17,105 13 1,-53 26 0,-66 27-1,-13 80 1,-40 144-1,-79-158 1,0-39 0,-27-14-1,-79-13 1,27-40 0,79-26-1</inkml:trace>
  <inkml:trace contextRef="#ctx0" brushRef="#br0" timeOffset="92691.558">8771 5953 0,'0'0'0,"13"40"62,0-14-62,-13 1 16,14 12-16,-1 28 16,27-15-1,12-25 1,-12-27-1,26-53 1,-26-40 0,-27 27-1,-52 13 1,-41 53 0,-65 66-1,65 14 1,67-1-1,26 14 1,67-40 0,211-27-1,-146-79 1</inkml:trace>
  <inkml:trace contextRef="#ctx0" brushRef="#br0" timeOffset="92974.896">9327 6072 0,'0'0'15,"-14"0"48,1 13-63,-27 27 15,-26 92 1,66-52 0,14-14-1,52 0 1,26-39 0,14-27-1</inkml:trace>
  <inkml:trace contextRef="#ctx0" brushRef="#br0" timeOffset="93190.665">9671 6165 0,'13'39'62,"0"28"-46,-13 12 0,-53 14-1</inkml:trace>
  <inkml:trace contextRef="#ctx0" brushRef="#br0" timeOffset="93329.594">9750 5966 0,'0'0'0</inkml:trace>
  <inkml:trace contextRef="#ctx0" brushRef="#br0" timeOffset="93689.477">10160 6138 0,'-79'-39'31,"26"25"-15,13 14-1,-39 14 1,65 25-16,54 14 31,53 0-15,13 13 0,-67-39-16,41 12 15,-54-12 1,-13-1-1,-52-12 1,-107-1 0,27 0-1</inkml:trace>
  <inkml:trace contextRef="#ctx0" brushRef="#br0" timeOffset="93890.318">10517 6112 0,'0'0'0,"40"13"62,-27 27-62,-13 26 16,-13 53-1,0-53-15</inkml:trace>
  <inkml:trace contextRef="#ctx0" brushRef="#br0" timeOffset="94055.976">10702 5966 0,'0'0'0,"-66"0"47</inkml:trace>
  <inkml:trace contextRef="#ctx0" brushRef="#br0" timeOffset="94788.909">11099 6297 0,'0'0'0,"40"-66"47,-40 39-32,-13 14-15,-40-13 16,-40 26 15,-13 66-15,67-13-1,52 0 1,53-27 0,0-26-16,93-26 15,-66-27 1,-67 0-1,-26-26 1,-26 26 0,-54 13-1,40 40 1,27 26 0,26 14-1,27-27 1,53-13-1,-1 0 17,1-13-17,-27 13 1,-13 40 0,-53 13-1,0 0 1,-13-27-1,13-13 1,26-13 0,27-39-1,40-14 1,-1 13 0,14 27-1,-53 52 1,-13 14-1,-53 80 17</inkml:trace>
  <inkml:trace contextRef="#ctx0" brushRef="#br0" timeOffset="95288.985">10028 6787 0,'0'0'0,"0"-53"47,13 53-47,0 0 15,27-14-15,92 14 16,14 14-1,-93-1 1,0 0-16,-14 0 16</inkml:trace>
  <inkml:trace contextRef="#ctx0" brushRef="#br0" timeOffset="95492.669">10239 6787 0,'0'0'0,"40"79"47,-13-39-31,-14-1-16,0 14 16,13 53-1,-12-40 1,-1 27-16</inkml:trace>
  <inkml:trace contextRef="#ctx0" brushRef="#br0" timeOffset="96387.711">10702 7250 0,'14'-67'63,"12"-12"-48,-13-27 1,14 27 0,12 26-1,-25 40-15,12 13 16,14 13-1,0 40 1,-27 13 15,-13 66-15,0-66 0,13-13-1,13 0 1,54-26-1,-1-41 1,27-25 0,0-14-1,-40-13 1,-26-27 0,-40 40-1,-14 27 1,-38 26-1,-41 66 17,40 13-32,40 1 31,26-14-15,53-13-1,252 0 1,-41-93-1,-78-53 1,-106-26 0,-67 27-1,-52 39 1,-1 26 0,-26 27-1,-13 66 1,13 67-1,53-41 1,27-26 15,25-13-15,120-13 0,27-106-1,-80-40 1,-26 14-1</inkml:trace>
  <inkml:trace contextRef="#ctx0" brushRef="#br0" timeOffset="105641.956">12832 8057 0,'-13'-27'62,"13"14"-62,-13 13 16,0 13 15</inkml:trace>
  <inkml:trace contextRef="#ctx0" brushRef="#br0" timeOffset="106079.773">12779 7977 0,'0'0'0,"0"-26"15,14-14 1,-14 14 0,13-14-1,-13 27 1,0-1 0,13 14 30,-13 14-14,0 25-17,0 14-15,0 132 32,-26-79-32,12 13 15,-65 265 1,26-146-1,13-39 1,14-14 0,13-132-1,-1 0 1,-12-27 0</inkml:trace>
  <inkml:trace contextRef="#ctx0" brushRef="#br0" timeOffset="106646.664">12978 7911 0,'0'0'0,"53"-79"47,-40 65-31,0 14 46,-13 14-62,0-1 16,13 0 0,-13 27-1,27 13 1,-1 92-1,-12-39-15,-14 145 16,0 14 0,-27 13-1,14-53 1,13-27 0,0-132-1,-13 0 1,-27-13-1,-13-39 1</inkml:trace>
  <inkml:trace contextRef="#ctx0" brushRef="#br0" timeOffset="107181.485">11972 8639 0,'93'-27'63,"-40"27"-47,145 0-1,40 27 1,54-1-1,38-26 1,-145 0-16,-13 0 16,-26-13-16,39-14 15,-145 14 1,-27-13 0,-13 12-1,0-12 1,-26 26-1,-14 26 1,-26 41 0</inkml:trace>
  <inkml:trace contextRef="#ctx0" brushRef="#br0" timeOffset="107678.634">12237 8956 0,'0'0'16,"40"-13"30,-14 0-30,146-1 0,93 14-1,237 27 1,-144-27 0,-120-13-1,-159 13 1,-79-14-1,-26 1 1,-93 0 0,13 13-1</inkml:trace>
  <inkml:trace contextRef="#ctx0" brushRef="#br0" timeOffset="108311.589">13348 8440 0,'53'-66'47,"-40"53"-31,-13 0 0,14 13-16,-14-14 15,13 14 16,0 14-15,66 52 0,1 13-1,12 0 1,14 1 0,-13 12-1,-53-65-15,12 26 16,-12-13-1,-40-14 1,-26 0 0,-93 54 15,26-14-15,0 0-1,1 27 1,-1-1-1,1 14 1,65-66 0,-13-14-1</inkml:trace>
  <inkml:trace contextRef="#ctx0" brushRef="#br0" timeOffset="115621.586">14896 9446 0,'0'0'0,"-106"0"31,67 0-31,-28 0 31,41 0-31,-14 0 16,1 13-1</inkml:trace>
  <inkml:trace contextRef="#ctx0" brushRef="#br0" timeOffset="115787.379">14592 9459 0,'53'-13'47,"-40"-1"-32,13 14 1,67-13-1,39 13 1</inkml:trace>
  <inkml:trace contextRef="#ctx0" brushRef="#br0" timeOffset="118119.033">15875 9499 0,'0'-27'62,"13"27"-15,14 0-31,12 0-16,54 13 15,66 1 1</inkml:trace>
  <inkml:trace contextRef="#ctx0" brushRef="#br0" timeOffset="119052.642">17026 9909 0,'13'0'94,"0"0"-78,1 0-1,-1 0 1,0 0-16,0 0 15,53 0 1,27-27 0,-27 14-16,53 0 15</inkml:trace>
  <inkml:trace contextRef="#ctx0" brushRef="#br0" timeOffset="119836.455">18190 9948 0,'40'0'62,"-14"0"-62,54 0 16,12 0 0</inkml:trace>
  <inkml:trace contextRef="#ctx0" brushRef="#br0" timeOffset="120369.321">19447 9909 0,'0'0'0,"13"0"47,0 0-31,14 0 0,65 0-1,67 0 1</inkml:trace>
  <inkml:trace contextRef="#ctx0" brushRef="#br0" timeOffset="121150.451">20638 9379 0,'0'0'0,"13"0"79,13 0-64,27-13-15,26 13 0,120-13 31,-67-13-15</inkml:trace>
  <inkml:trace contextRef="#ctx0" brushRef="#br0" timeOffset="123419.75">22199 6548 0,'0'0'0,"13"0"63,0 0-48,13-13-15,27 13 16,0 0-16,146 13 16,-41 1-1,-105-1-15,-26-13 31,13 0-15,-14 0 0,-26 13 62,13 0-63,0 1 1,27 39 0,-13-14-1,12 41 1,-12 39 0,-14 79-1,0-92-15,-13 79 31,-13-13-15,-13-13 0,12 0-1,-25 26 1,25-106 0,1-39-1,0 13 1,0 0-1,13-27 1,-14-13 0,-25-13-1,-27 14 1,-67-14 0,41 0-1,-14-14 1,-13 1 15,0 13-15,-53 0-1</inkml:trace>
  <inkml:trace contextRef="#ctx0" brushRef="#br0" timeOffset="130126.432">21788 4551 0,'0'0'0,"0"-53"32,0 40-17,14-1-15,-14 1 16,13 0 0,-13 26 15,13 14-16,-13-1 1,0 40 0,27 14-1,12-27 1,41-14 0,-1-26-1,-26-13-15,40-26 16,-27-27-1,-27 0 1,-12 27 0,-27 13-1,0 26 1,-13 40 0,-1 26 15,1 14-16,-27 26 1,27-66 0,-13-27-1,-40-26 1,-53-13 0,66 0-16,-40-27 15,-39 0 1</inkml:trace>
  <inkml:trace contextRef="#ctx0" brushRef="#br0" timeOffset="130426.101">22569 4948 0,'0'0'16,"53"-27"31,-40 54-32,0-1 1,1 14-16,-14 0 0,0 39 15,0-13 1,-27-13 0,14-53-1</inkml:trace>
  <inkml:trace contextRef="#ctx0" brushRef="#br0" timeOffset="130642.793">22992 5106 0,'0'0'0,"14"80"47,-14-54-47,-27 54 16,-66-14-1,14-26 1</inkml:trace>
  <inkml:trace contextRef="#ctx0" brushRef="#br0" timeOffset="131160.995">23257 4604 0,'0'0'0,"66"79"47,-53-26-31,14 26-1,-14 1 1,13-27 0,1-27-1,26-39 1,13-53 0,13 13-1,-52 26 1,-1 1-1,-13 26 1,1 40 0,-1 26-1,-40 13 1,-52 27 0,0-66-1,-1-14 1,-12-26-1,-14 0 1,53 0-16,27-13 16</inkml:trace>
  <inkml:trace contextRef="#ctx0" brushRef="#br0" timeOffset="131496.337">23905 5106 0,'0'0'0,"66"0"31,-53 0-15,14 53-1,-27-26 1,-13-1-16,-14 40 15,14-13 1,0-26 0,39-1-1,186 1 1,-40-40 0,-53-80-1</inkml:trace>
  <inkml:trace contextRef="#ctx0" brushRef="#br0" timeOffset="131775.975">24593 4683 0,'0'0'0,"26"79"47,-12 14-47,-14 132 16,0-13-1,-66-27 1,-80-13-1,40-119 1,-66 26-16</inkml:trace>
  <inkml:trace contextRef="#ctx0" brushRef="#br0" timeOffset="132294.225">21669 4035 0,'0'0'0,"-26"93"47,-40-1-31,-27 14-16,-13 13 15,-52 106 1,78-27-16,120 27 31,224 27-15,41-80-16</inkml:trace>
  <inkml:trace contextRef="#ctx0" brushRef="#br0" timeOffset="134175.17">16444 4683 0,'0'-66'47,"0"40"-47,0-1 16,0 14-16,-40-27 16,-92 27-1,-146 13 1,106 40-1,-79 26 1,92 13 0,66 0-1,14 41 1,13 38 0,-27 1-1,40-106 1,27-13-1,-14-14 1,-52 1 0</inkml:trace>
  <inkml:trace contextRef="#ctx0" brushRef="#br0" timeOffset="134789.585">14803 4961 0,'40'26'63,"-40"1"-63,13 13 15,27 52 1,26 80 0,-53-119-1,1-26-15,-1 39 16,-13-27 15,0-25-15,-27-14-1,-65-159 1,52 0 0,27 53-1,13 40 1,13 53-16,0-27 15,1 27 1,25 26 0,107 53-1,26 27 1,-66-27 0,-93-13-1,-40 13 1,-158 27-1,-225 39 17,265-79-32</inkml:trace>
  <inkml:trace contextRef="#ctx0" brushRef="#br0" timeOffset="136121.858">13573 4723 0,'0'0'0,"0"-13"78,13 13-78,-13-14 16,14-12-1,-14-14 1,0 14 0,-14 13-1,1 13 1,-13 13-16,-67 66 15,-13 67 1,40 26 0,79-27 15,146 67-15,-40-106-1,-53-53 1,0-14-16</inkml:trace>
  <inkml:trace contextRef="#ctx0" brushRef="#br0" timeOffset="136339.038">13798 4961 0,'0'0'0,"53"26"63,-27 14-63,1-13 15,13 52 1,-14-13 0,-13-26-16</inkml:trace>
  <inkml:trace contextRef="#ctx0" brushRef="#br0" timeOffset="136504.613">13970 5080 0,'0'0'0,"-26"-40"63,12 67-63,-52 39 15,-13 66 1,39-26-1</inkml:trace>
  <inkml:trace contextRef="#ctx0" brushRef="#br0" timeOffset="136705.253">14420 5358 0,'-13'66'62,"-14"-26"-62,-26 52 16,40-65-16</inkml:trace>
  <inkml:trace contextRef="#ctx0" brushRef="#br0" timeOffset="136872.023">14777 5662 0,'0'0'0,"-132"66"63,-14 14-48</inkml:trace>
  <inkml:trace contextRef="#ctx0" brushRef="#br0" timeOffset="137086.418">15240 5477 0,'0'0'0,"13"-13"63,-13 26-63</inkml:trace>
  <inkml:trace contextRef="#ctx0" brushRef="#br0" timeOffset="137259.126">15690 5543 0,'0'0'0,"-80"-26"46</inkml:trace>
  <inkml:trace contextRef="#ctx0" brushRef="#br0" timeOffset="137437.331">15835 5517 0,'14'0'62,"-14"13"-62</inkml:trace>
  <inkml:trace contextRef="#ctx0" brushRef="#br0" timeOffset="137704.065">16206 4921 0,'0'0'0,"92"27"62,-26 12-46,14 28-16,-1-15 16,-13 1-16,14 14 15,-41-15 1,-25-25 0</inkml:trace>
  <inkml:trace contextRef="#ctx0" brushRef="#br0" timeOffset="137909.36">16576 5054 0,'0'0'0,"-53"52"47,0-12-31,14 0-1,-67 66 1,-53 66 0</inkml:trace>
  <inkml:trace contextRef="#ctx0" brushRef="#br0" timeOffset="138285.897">17092 5133 0,'79'-66'31,"-92"79"1,0 0-17,-13 27 1,-41 39-1,14 14 1,53-53-16,0 26 16,27-27-1,13-25 1,-27-28 0,0-25-1,-26 12 1,-14 27-1,-39 27 1,13 26 0</inkml:trace>
  <inkml:trace contextRef="#ctx0" brushRef="#br0" timeOffset="138519.66">17502 4670 0,'0'0'0,"80"-79"0,-67 79 16,40 52 0,-27 187-1,-224 105 1,-305 92-1</inkml:trace>
  <inkml:trace contextRef="#ctx0" brushRef="#br0" timeOffset="151276.332">14724 10239 0,'0'0'0,"-13"-13"47,0 13-31,-1-13 0,1 13 15,26 0 63,27 0 140,13 0-234,53-13 16,13 13-16,93-14 15,-120 14 16,-92 0-15,-66 14-16</inkml:trace>
  <inkml:trace contextRef="#ctx0" brushRef="#br0" timeOffset="151578.909">14446 10464 0,'0'0'0,"80"0"47,-1-13-32,106-13 1,-13 26 0,-26-14-1,-40 14 1,-54-13-16</inkml:trace>
  <inkml:trace contextRef="#ctx0" brushRef="#br0" timeOffset="151942.569">15042 9988 0,'26'13'63,"0"14"-47,54 39-1,92 40 1,40 92-1,-186-132 1,-66-13 0,-251 66-1,-79-13 1</inkml:trace>
  <inkml:trace contextRef="#ctx0" brushRef="#br0" timeOffset="162317.308">21550 10120 0,'0'-39'47,"0"25"-47,0 1 16,0 0-1,0 0 1,0 26 62,0 0-62,14 14-16,-14 39 15,13 119 1,-26 0-1,-14-79 1,1-53-16,12 0 16,-39 0-1,1-27 1</inkml:trace>
  <inkml:trace contextRef="#ctx0" brushRef="#br0" timeOffset="162616.614">21603 10200 0,'0'0'0,"80"-27"32,-54 27-17,14 13 1,-1 14-1,-25 92 1,-28-40 0,-25-12-1,-1-41 1,27-26 0,-40 0-1,-40-26-15</inkml:trace>
  <inkml:trace contextRef="#ctx0" brushRef="#br0" timeOffset="163017.03">22093 10279 0,'-14'13'78,"1"1"-78,-40 12 16,0 14 0,40-1-1,13-12 1,13-1 15,14-26-31,13 0 16,12-13-1,-25-27 1,-14-26 0,-13-13-1,-26 52 1,-67 27-1</inkml:trace>
  <inkml:trace contextRef="#ctx0" brushRef="#br0" timeOffset="163352.406">22463 10266 0,'-66'-40'47,"40"40"-31,-14 40 0,27 13-1,39 13 1,27 0-1,13 13 1,-53-39 0,-13-27-1,-39-13 1,-27-26 0,26-1-16</inkml:trace>
  <inkml:trace contextRef="#ctx0" brushRef="#br0" timeOffset="163599.054">22754 10014 0,'0'0'0,"0"53"31,-13 14-15,13 131 0,26-26-1,1-53 1,-14-26 0</inkml:trace>
  <inkml:trace contextRef="#ctx0" brushRef="#br0" timeOffset="163748.364">22675 10358 0,'0'0'0,"53"0"47,-14 14-47,28 12 16,52 14-1</inkml:trace>
  <inkml:trace contextRef="#ctx0" brushRef="#br0" timeOffset="163950.446">23111 10636 0,'0'0'15,"80"0"17,-41 0-17,54 0 1,-27 0-16</inkml:trace>
  <inkml:trace contextRef="#ctx0" brushRef="#br0" timeOffset="164735.207">23508 10147 0,'0'0'0,"40"92"62,-40 1-62,0 92 16,-27-66 15,1-26-15,26-53 0,-13-14-1,26-39 1,0 0-1,27-27 1,13 27 0,-27-1-1,-12 28 1,-1-1 0,0 27-1,0-1 16,0-26-15,14 1 0,-14-14-16,40-40 15,-13-13 1,-1 13 0,-12 27-1,-27 0 1,0 39 15,-13 14-15,-14 26-1,27-39-15,-13 26 16,13-27 0,13-26-1,14 0 1,26-53 15,-27-53-15,-39 40-1,-14 13 1,-12 40 0,-28 53-1</inkml:trace>
  <inkml:trace contextRef="#ctx0" brushRef="#br0" timeOffset="164999.295">24381 10702 0,'0'0'15,"-13"-53"16,-40 40-31,-13 53 16,0 26 15,39 27-15,27-54-16,53 54 16,66-14-1,40-65 1</inkml:trace>
  <inkml:trace contextRef="#ctx0" brushRef="#br0" timeOffset="165417.913">21855 11456 0,'0'0'0,"-27"-39"47,27 26-32,13-1 1,-13 1 0,0 26 15,0 14-31,-13 26 16,0 26-1,-27 67 1,27-80-16,13-13 15,-26-27 17,-54-39-32</inkml:trace>
  <inkml:trace contextRef="#ctx0" brushRef="#br0" timeOffset="165565.219">21590 11615 0,'0'0'0,"93"27"31,-27-1-15,-13-13-16,13 14 15,0-14 1</inkml:trace>
  <inkml:trace contextRef="#ctx0" brushRef="#br0" timeOffset="165998.21">22132 11681 0,'0'0'16,"0"27"31,0-14-32,0 14 1,0 12-1,14-12 1,-1-14 0,0-13-1,14-40 1,12-13 0,-39 14-1,-13 25 1,-40 28-1,-13 39 1,0 13 0,53 0 15,-1-40-31,14 27 16,40-26-1,92-14 1,27-53-16</inkml:trace>
  <inkml:trace contextRef="#ctx0" brushRef="#br0" timeOffset="166547.365">22701 11721 0,'0'0'0,"-79"13"47,39 1-47,-52 52 15,25 0 1,41 0 0,26 0 15,66-53-15,119-66-1,53-92 1,-132 52-16,13-52 15,-66 65 1,-39 41 0,-1 12-1,-26 27 1,-133 185 0,0 14-1,94-93 1,38-53-1,14-27 1,-13 27-16,13-40 16,53-13 15,40-13-15,-1 0-1,-65 0-15,26 26 16,-40 13-1,0 1 1,-92 12 0,-14-12-1</inkml:trace>
  <inkml:trace contextRef="#ctx0" brushRef="#br0" timeOffset="167261.81">21722 12409 0,'0'0'0,"0"-13"62,14 13-30,-14 13-17,13 0-15,-13 0 16,13 27 0,0 13-1,-13-40-15,0 27 16,0-27 15,13-26-15,14 0-1,52-14 17,-52 14-17,-14 13 1,-13 13-1,26 0 1,-12 14 0,12-1-1,14-12 1,13-14 0,13-40-1,-40 13 1,-12 14-1,-1 13 32,-13 13-47,13 14 32,-13-1-17,13 1 1,0-14-1,1-13-15</inkml:trace>
  <inkml:trace contextRef="#ctx0" brushRef="#br0" timeOffset="167412.805">22371 12369 0,'-67'0'63</inkml:trace>
  <inkml:trace contextRef="#ctx0" brushRef="#br0" timeOffset="167964.285">22595 12541 0,'0'0'0,"40"-66"31,-53 40-31,0 26 16,-54-14 0,1 28-1,13 39 1,40-27-16,0 27 31,39-13-31,27-27 16,27 0 15,-1-13-15,-66-13-1,1 13 1,-14 40-1,-14 118 1,14-52 0,-13-40-1,13 0 1,13-52 0,53-94 15,14-78-16,-14 52 1,-40 66 0,-12 14-16,25-14 31,14 13-15,-13 1-16</inkml:trace>
  <inkml:trace contextRef="#ctx0" brushRef="#br0" timeOffset="168777.683">23178 12568 0,'0'39'63,"0"-12"-63,-14 39 15,1 0 1,0-13 0,39-40-1,40-26 17,14-27-17,-14 1 1,-40 25-16,14-12 15,-27 26 32,-13 40-31,14 13 0,-1 0-1,13-27 1,14 0-1,-14-26-15,54-13 32,-1-40-32,-13-13 15,-39 40 17,-27 12-17,-14 28 16,-12 39-15,-14 13 0,14-40-16,13 27 15,13-26 1,39-27 0,107-14-1,145-131 1,-198 92-1,-54 40 1,-12 13 0,26 26-1,39 80 17,-65-13-17,-41-14 1,-78-13-1,-583-39 1</inkml:trace>
  <inkml:trace contextRef="#ctx0" brushRef="#br0" timeOffset="170310.113">9512 11470 0,'13'0'62,"13"0"-46,14-14-16,13 14 16,53 0-1</inkml:trace>
  <inkml:trace contextRef="#ctx0" brushRef="#br0" timeOffset="170460.24">9432 11615 0,'0'0'0,"186"27"15,250 12 17</inkml:trace>
  <inkml:trace contextRef="#ctx0" brushRef="#br0" timeOffset="183500.361">10901 10398 0,'0'-13'47,"0"0"-31,0-1-1,0 1-15,13 0 31,-13 0-15,0 26 31,-13 13-31,-27 94-1,0 51 1,40-38-1,14-54 1,-1-26 0,-13-26-16,0-1 15,0-13 1,0-39 0,-13-67-1,13-185 16,39 93-15,14 53 0,-13 66-1,0 26 1,79 14 0,-27 39-1,-26 53 1,-52 79-1,-94 27 1,-105-26 0,106-93-1,39-40 1,0-13 0,40-13-1,40-14 16,13 1-15,13 39 0,0 27-1,-39-14-15,12 27 16,1 0 0,-27-13-1,27-27 1,-14 0-1</inkml:trace>
  <inkml:trace contextRef="#ctx0" brushRef="#br0" timeOffset="183932.9">11615 10729 0,'0'0'0,"-13"-66"47,13 39-47,-26-12 16,-1 12-1,-26 27 1,-13 40 0,0 39-1,26 40 1,40-53-1,40-26 1,13-40 0,13-26-1,13-41 1,-52 28 0,-14 39-1,0 26 16,-13 1-15,0 12 0,40 28-1</inkml:trace>
  <inkml:trace contextRef="#ctx0" brushRef="#br0" timeOffset="184332.64">11800 10702 0,'14'80'63,"-14"-54"-63,0 40 15,-14-13 1,14-79 31,0-1-32,40-65 1,-13 65 0,-14 14-16,13 0 15,1 26 1,-1 40-1,1 13 1,-27-13 0,13-26-1,13-14 1</inkml:trace>
  <inkml:trace contextRef="#ctx0" brushRef="#br0" timeOffset="184881.593">12462 10848 0,'0'0'0,"-66"-40"47,26 27-47,0 13 15,-39 0 1,26 0 0,13 0-1,27 13 1,26 40 0,14-13-1,13-14 1,12-12-1,15-41 1,-15 1 0,68-120-1,-28-66 1,-52 40 0,-40 93-1,0 26 1,0 40-1,-53 106 1,-26 92 0,52 13-1,27-132 1,13 0 0,27 1-1,13-54 1,26-26-1</inkml:trace>
  <inkml:trace contextRef="#ctx0" brushRef="#br0" timeOffset="185815.004">13044 10729 0,'0'0'0,"-26"26"62,-1 1-46,1-1-16,-27 67 15,26-27 1,27-26 0,13-14-1,1-26-15,25-26 16,1-40 15,-27-27-15,-26 14-1,-80 26 1,54 39 0,12 14-1,27 27 1,40-1-1,39-12 1,-26-14-16,53 0 16,-13-14-1,-27 1 1,-40 13 0,-26 13-1,0 40 1,-13 27 15,0-1-15,0-13-1,13-53 1,26-52 15,1 12-31,-1-12 16,40-54-1,-39 66 1,-14 27 0,0 40-1,0 13 1,-13 40 0,-13-67-1,13 1 1,13-54 15,53-26-15,14-26 15,12 13-15,-65 39-16,-1 14 15,27 26 1,-26 40-1,-1 27 1,-26 12 0,-66 54-1</inkml:trace>
  <inkml:trace contextRef="#ctx0" brushRef="#br0" timeOffset="186414.162">11681 11364 0,'14'66'46,"-14"-26"-30,0-1-16,-14 41 31,14-41-31,-13-12 16,13-1-16,0 27 16,-13-39-1,-14-41 16,14-13-31,-13-79 16,13-39 0,13 52-1,26 66 1,0 27-16,146 0 16,40 26-1,-80 13 1,-79-13-1,-53 14 1</inkml:trace>
  <inkml:trace contextRef="#ctx0" brushRef="#br0" timeOffset="186567.335">11615 11576 0,'0'0'0,"159"0"47,-106 0-47,0-14 0,13-12 16</inkml:trace>
  <inkml:trace contextRef="#ctx0" brushRef="#br0" timeOffset="186913.535">12263 11536 0,'0'0'0,"-52"-27"62,25 41-46,-66 25-1,27 27 1,53 1 0,40-14-1,25-40 1,-12-26 0,0-27-1,-27 0-15,0-13 16,-13 14-1,-66 52 1</inkml:trace>
  <inkml:trace contextRef="#ctx0" brushRef="#br0" timeOffset="188046.284">12277 11827 0,'0'0'15,"39"-66"17,-25 39-17,-1 1-15,-13 13 16,26-40 0,14 26-1,0 27 1,-1 13-1,1 27 1,-14 0 0,-12-27-16,-14 40 31,0 0-15,0-13-1,13-27 1,66 0-1,14-39 1,13-27 0,-27-13-1,-39 13 1,-40 13 0,-27 27-1,-26 39 1,1 27-1,25 0 1,14 13 15,53-53-15,26-13 0,106-26-1,26-80 1,-145 53-1,-13 0 1,-27 40 0,-13 66 15,0 13-15,13-13-1,0 13 1,-13-13-1,-13-27 1,-40-12 0,0-14 15,27 0-31,13 0 16,-1-14-16,1 14 15,40 14 16,-14-1-15,79 13 0,-12-12-1,12-28 1,14-65 0,0-80-1,-53-26 1,-40 119-16,-13 0 15,0 39 1,0 14 0,0 40 15,0 65-15,-13 14-1,13-27 1,0 1-1,53 12 1,26-65 0,-13-27-1</inkml:trace>
  <inkml:trace contextRef="#ctx0" brushRef="#br0" timeOffset="188196.719">13692 11708 0,'0'0'0,"172"40"31,27-14-31,-107-13 16</inkml:trace>
  <inkml:trace contextRef="#ctx0" brushRef="#br0" timeOffset="191742.508">6019 6324 0,'0'0'0,"27"-67"47,-14 67-47,0-26 16,-13 39-1,-26 40 1</inkml:trace>
  <inkml:trace contextRef="#ctx0" brushRef="#br0" timeOffset="192192.51">7752 7726 0,'0'0'0,"-13"0"62,-13 0-62,-1 0 0</inkml:trace>
  <inkml:trace contextRef="#ctx0" brushRef="#br0" timeOffset="192663.488">4868 7792 0,'-26'13'63</inkml:trace>
  <inkml:trace contextRef="#ctx0" brushRef="#br0" timeOffset="193330.33">8096 8136 0</inkml:trace>
  <inkml:trace contextRef="#ctx0" brushRef="#br0" timeOffset="193803.485">5424 8057 0,'0'0'0,"-13"-14"62</inkml:trace>
  <inkml:trace contextRef="#ctx0" brushRef="#br0" timeOffset="194141.685">8811 8123 0,'0'0'0,"-53"13"46</inkml:trace>
  <inkml:trace contextRef="#ctx0" brushRef="#br0" timeOffset="195823.656">7541 8176 0,'66'0'47,"-40"0"-47,1 0 15,-1 0 1,1 0-16,12 0 16</inkml:trace>
  <inkml:trace contextRef="#ctx0" brushRef="#br0" timeOffset="195973.118">7580 8268 0,'0'0'0,"93"-13"16,26 0-16</inkml:trace>
  <inkml:trace contextRef="#ctx0" brushRef="#br0" timeOffset="213192.677">12263 12197 0,'0'0'0,"0"-13"47,14 13 0,12 0-47,40 0 15,172 0 1,14 0 0,-146 0-16,13-13 15,-93 13 1</inkml:trace>
  <inkml:trace contextRef="#ctx0" brushRef="#br0" timeOffset="213874.993">12449 11390 0,'0'0'0,"53"-39"47,-40 39-31,-13-14-16,13 14 47,13 0-47,41 0 15,38 14-15,213 12 16</inkml:trace>
  <inkml:trace contextRef="#ctx0" brushRef="#br0" timeOffset="-212806.777">1733 8612 0,'0'0'0,"-66"93"16,53-27-1,26-13 1,27-13 15,-14-14-31,27 14 16,-27-14 0,-12 14-1,-41 0 1,-52 39-1,-93 133 1,106-54 0,52-65-1,41-80 1</inkml:trace>
  <inkml:trace contextRef="#ctx0" brushRef="#br0" timeOffset="-211556.156">1548 7699 0,'0'0'0,"-66"27"32,39-14-32,-12 27 15,25 13 1,28 0-1,91 13 1,54 13 15,-93-52-31,14 39 16,-27 13 0,-27 14-1,-92 26 1,-66-53-1,26-13 1,40-27 0,39 1-1,14-1 1,79 40 0,13 0-1,1 14 1,-14 52-1,-53-66 17,-13 0-32,-53 1 31,-66 38-15,-40 81-1,14 171 1,145-106-1,119-39 1,119-67 0,225-39-1,-251-79 1</inkml:trace>
  <inkml:trace contextRef="#ctx0" brushRef="#br0" timeOffset="-210759.754">1416 7964 0,'0'0'0,"66"-26"47,13-14-47,14-13 15,79-26 1</inkml:trace>
  <inkml:trace contextRef="#ctx0" brushRef="#br0" timeOffset="-158500.629">17476 11800 0,'0'0'0,"-27"0"47,14 0-16,0 0-31,0 0 15,-14 14 1,40-14 15,67 0-31,12 13 16,-12-13 0,-80 26 15</inkml:trace>
  <inkml:trace contextRef="#ctx0" brushRef="#br0" timeOffset="-158386.593">17304 11986 0,'0'0'0,"66"13"32,93 0-17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7-05T05:29:53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7408 8956 0,'-13'0'78,"0"13"-62,0 1-16,-1 12 15,-25 14 1,-67 92 0,53-39-1,40 12 1,119 15 0,92-41-16</inkml:trace>
  <inkml:trace contextRef="#ctx0" brushRef="#br0" timeOffset="1149.187">11933 8956 0,'0'0'0,"0"-13"63,13 26-32,0-13-31,0 27 15,40 12 1,13 14 0,-13 53-1,-53-13 1,-105 12 0,-107 15-1,40-81 1</inkml:trace>
  <inkml:trace contextRef="#ctx0" brushRef="#br0" timeOffset="12922.347">6297 9366 0,'0'0'0,"27"0"157,25-13-142,41-13 1,132-1 0,-66 1-1,-106 26-15,0-14 16,-40 14-1,-13 14 1</inkml:trace>
  <inkml:trace contextRef="#ctx0" brushRef="#br0" timeOffset="13207.318">6284 9446 0,'0'0'0,"106"-14"31,-27 1-15,133-13-1,13-27 1,0 0 0,-186 40-1</inkml:trace>
  <inkml:trace contextRef="#ctx0" brushRef="#br0" timeOffset="13520.581">6959 9009 0,'92'27'47,"-65"-1"-31,12 14-16,1-1 15,13 28 1,-53 25 0,-490 133-1</inkml:trace>
  <inkml:trace contextRef="#ctx0" brushRef="#br0" timeOffset="15253.28">1349 7964 0,'0'-13'78,"0"0"-62,0-1-16,-13 1 16,-13 0-16,-1 0 31,1-1-15,-1 28-1,-12 12 1,-1 40-1,27-39-15,-14 52 16,27-13 0,53 0-1,66-26 1,53-53 0</inkml:trace>
  <inkml:trace contextRef="#ctx0" brushRef="#br0" timeOffset="15855.648">1707 7990 0,'0'0'0,"0"14"47,0-1-31,0 13-1,-14 1-15,1 39 16,0 0 0,13-13-1,0-27 1,0-78 15,0-15-15,0-12-1,0 26 17,0 40-32,0 0 15,13 13 1,14 13-1,25 27 1,68 26 0,-41-27-1,0-12 1,-39-27 0,-14 0-1,-26-27-15,0-39 16,0 0-1,0 0 1,-13 13 0,13 27 15,13 12-31</inkml:trace>
  <inkml:trace contextRef="#ctx0" brushRef="#br0" timeOffset="16502.403">2381 8017 0,'0'0'0,"0"26"47,0 1-31,0 12-16,-13 41 31,0-1-31,0-26 31,13-26-15,-14-54-1,14-13 1,14-79 0,-1 27-1,0 39 1,0 26-16,-13 1 16,13 13-1,40 39 16,14 27-15,-1 0 0,13 13 15,-13 0-15,-13-26-1,-40-14-15,14-12 16,-1-14-1,-12-40 1,52-198 0,-53 145-1,13-52 1,-39 92 0</inkml:trace>
  <inkml:trace contextRef="#ctx0" brushRef="#br0" timeOffset="17818.981">3387 8162 0,'92'0'31,"-52"-13"-15,13 0-16,0 13 16,92-40-1,-79 40 1,-52-13-1,-147 13 1</inkml:trace>
  <inkml:trace contextRef="#ctx0" brushRef="#br0" timeOffset="18050.263">3612 7977 0,'0'0'0,"0"40"47,0 0-31,0 52-1,26 54 1,-13 26-1</inkml:trace>
  <inkml:trace contextRef="#ctx0" brushRef="#br0" timeOffset="21980.46">1614 9234 0,'0'0'0,"0"-13"63,0 0-63,0 26 62,0 13-62,0 40 0,0 14 16,0 105-1,0-92 1,13-54 0,-13 1-1,-13-27 1,-13-53 0,-14-65-1,27-81 1,26 41-1,13 79 17,-12 39-32,38-26 15,28 27 1,-1 26 0,1 79-1,-67 14 1,-146 52-1,-38-12 1,65-80 0,66-53-1,146-14 17,53-12-17,-54 26 1,-25 26-1,-41 14 17,-25-13-17,-14-1 1,0-13-16</inkml:trace>
  <inkml:trace contextRef="#ctx0" brushRef="#br0" timeOffset="22497.64">2209 9406 0,'-13'79'47,"13"-26"-47,-26 27 16,12-1 15,1-39-15,13-27-1,-13-53 1,0-52 0,13-1-1,0 27 1,0 39-1,26 41 1,27 25 0,0 41-1,13-14 1,0 0 0,-39-40-1,-14-26 1,-13-52-1,0-81 17,0 80-32,0-26 15,0 39 1,0 27 0,13 26-16</inkml:trace>
  <inkml:trace contextRef="#ctx0" brushRef="#br0" timeOffset="22981.061">2672 9512 0,'0'0'0,"14"53"62,-14-27-62,13 14 16,-13 52-1,0-52 1,13-27 15,-13-39-15,0-1 0,13-39-16,0-53 15,1 53 1,-14 26-1,13 27 1,27 40 0,39 105-1,-26-53 1,-13-13 0,12-26-1,-25-40 1,26-92 15,0-94-15,-27 41-1,-39 52 1</inkml:trace>
  <inkml:trace contextRef="#ctx0" brushRef="#br0" timeOffset="23612.452">1336 7395 0,'0'0'0,"-26"0"62,39 0-46,13-26-1,27-1-15,27-13 16,78-39 0,-65 13-1,-80 26 1,-39 1 0</inkml:trace>
  <inkml:trace contextRef="#ctx0" brushRef="#br0" timeOffset="23978.921">1601 7011 0,'0'0'0,"53"27"63,-27-14-48,1 0-15,-1 14 16,14 26 0,-27-40-16,13 27 15,-12-1 1,-14-25 0,-27-1-1,-13-13 16,1-13-31,12-14 32,14-13-17,0-52 1,39 26 0</inkml:trace>
  <inkml:trace contextRef="#ctx0" brushRef="#br0" timeOffset="24313.224">2143 6760 0,'0'0'0,"0"-66"31,0 53-31,-13-14 15,-27 27 1,-66 80 15,53 39-15,27-27 0,39-12-1,53-1 1,-26-52-16,13-1 15,132-13 1</inkml:trace>
  <inkml:trace contextRef="#ctx0" brushRef="#br0" timeOffset="25011.481">2355 7011 0,'0'14'63,"-13"-14"-63,-1 26 16,-12 27-1,26 0 1,13-27-1,40 1 1,-13-27 0,-14-13-16,-13-27 15,-26-13 1,-40-26 0,0 26-1,14 26 1,25 14-1,67 26 1,27 1 15,26-14-15,-27 0 0,-26 0-1,-40 13 1,-13 0-1,0 40 1,0 26 0,13-39-1,1-40 1,-1 0 0,26-40-1,-25 14 1,-1 13 15,0 26 0,0 0-15,27 14 0,13-1-1</inkml:trace>
  <inkml:trace contextRef="#ctx0" brushRef="#br0" timeOffset="25311.48">2950 6959 0,'79'52'62,"-65"-25"-62,25 13 16,-25-27-1,25 0 1,-25-26 0,-1-40-1,26-66 1,-25 66-1,12 26 1</inkml:trace>
  <inkml:trace contextRef="#ctx0" brushRef="#br0" timeOffset="25436.734">3413 7183 0,'0'0'15</inkml:trace>
  <inkml:trace contextRef="#ctx0" brushRef="#br0" timeOffset="26196.959">1151 10649 0,'0'0'0,"13"-13"63,0 0-48,27-27-15,13-13 16,106-92-1,-40 13 1,-66 79 0</inkml:trace>
  <inkml:trace contextRef="#ctx0" brushRef="#br0" timeOffset="26593.283">1508 10173 0,'0'0'0,"27"0"47,-14 0-32,0 13-15,14 1 16,12 12-1,14 14 1,-40-27 0,-13 27 15,-26-1-31,-27 1 31,27-27-15,26-26-1,-14-40 1,14-39 0,-26-94-1</inkml:trace>
  <inkml:trace contextRef="#ctx0" brushRef="#br0" timeOffset="27678.367">966 11165 0,'0'0'0,"0"14"62,0-28-62,0 1 16,0-27-1,0-12 1,0-1 0,13 13-1,40 14 1,0 26 0,-14 13-1,1 26 1,0 28-1,-40-15 1,13 1 0,0-13-1,27-27 1,66-26 15,-27-27-15,1-26-1,-41 0 1,-12-26 0,-27 78-1,-27 14 1,-12 40 0,-1 13-1,40-13-15,13 26 16,119-40-1</inkml:trace>
  <inkml:trace contextRef="#ctx0" brushRef="#br0" timeOffset="27926.413">1918 10874 0,'0'0'0,"-66"0"63,26 27-48,14-1-15,-1 14 16,14-14-16,13 27 16,40 0-1,39-26 1,27-14-1,-26-13 1</inkml:trace>
  <inkml:trace contextRef="#ctx0" brushRef="#br0" timeOffset="28179.429">2262 11020 0,'0'0'16,"27"13"31,-27 14-32,0 12-15,0 27 16</inkml:trace>
  <inkml:trace contextRef="#ctx0" brushRef="#br0" timeOffset="28357.897">2487 10954 0,'0'0'0</inkml:trace>
  <inkml:trace contextRef="#ctx0" brushRef="#br0" timeOffset="30023.333">7990 9287 0,'0'0'0,"14"0"141,-1 0-125,13 0-16,1 0 15,26 13-15,-40-13 16</inkml:trace>
  <inkml:trace contextRef="#ctx0" brushRef="#br0" timeOffset="30308.19">9022 9327 0,'0'0'16,"40"0"30,-27 13-30</inkml:trace>
  <inkml:trace contextRef="#ctx0" brushRef="#br0" timeOffset="30573.417">9882 9353 0,'0'0'0,"66"-26"47,-52 26-47,-1-14 15,13 14 1,67 0 0</inkml:trace>
  <inkml:trace contextRef="#ctx0" brushRef="#br0" timeOffset="30776.704">10993 9446 0,'0'0'0,"133"-67"47,-107 54-47,27 0 15,-13 13 1,13-13-1</inkml:trace>
  <inkml:trace contextRef="#ctx0" brushRef="#br0" timeOffset="30927.78">11708 9406 0,'0'0'0,"53"-66"31,-53 53-15</inkml:trace>
  <inkml:trace contextRef="#ctx0" brushRef="#br0" timeOffset="37956.035">8890 8361 0,'0'0'0,"40"-53"47,-93 53-31,-40 0-1</inkml:trace>
  <inkml:trace contextRef="#ctx0" brushRef="#br0" timeOffset="38883.103">7938 9340 0,'0'13'110</inkml:trace>
  <inkml:trace contextRef="#ctx0" brushRef="#br0" timeOffset="39332.144">9710 9327 0,'-13'13'94</inkml:trace>
  <inkml:trace contextRef="#ctx0" brushRef="#br0" timeOffset="39648.339">11218 9406 0</inkml:trace>
  <inkml:trace contextRef="#ctx0" brushRef="#br0" timeOffset="39886.692">11933 9406 0,'0'0'16</inkml:trace>
  <inkml:trace contextRef="#ctx0" brushRef="#br0" timeOffset="46427.322">1918 8599 0,'0'0'0,"66"-40"31,-39 27-15,-1 0-16,40 0 15,14-1 1,52 41-1</inkml:trace>
  <inkml:trace contextRef="#ctx0" brushRef="#br0" timeOffset="47110.513">2447 10213 0,'0'0'0,"93"-13"16,-27-1 0,106-12-1,-13 13 1</inkml:trace>
  <inkml:trace contextRef="#ctx0" brushRef="#br0" timeOffset="74473.073">10451 6959 0,'0'-14'63,"-13"14"-32,0 0 16,13-13-47,-14 0 31,14 0 0,-13 13-15,0-14 0,-14 14-1,-12 0 1,26 0-16,-14 14 16,14-14-1,0 0 1,-1 0 15,1 0-15,-13-14 15,12 14-15,-12 0-1,13 0-15,-14 0 16,27-13-1,-13 13 48,0 0-32,13-13-31,-13 13 16,-1 0-16,1 0 15,0 0 1,0 0 31,-1 0-31,1 0-1,0 13 1,-13-13-1,-1 13 1,14 1 0,0-14-16,-1 13 15,1 0 17,0-13-17,0 13 1,-1 1-1,1-1 17,0 0-17,13 0-15,-13 0 16,0 14 0,-1-14-1,14 0 16,0 1-31,-13-1 32,13 0-17,0 0 1,0 1 0,0-1-1,0 0 16,13 0-15,-13 0 0,14-13-1,-1 14 1,-13-1 0,0 0-1,13-13 1,0 13-1,0-13 1,1 14 0,-1-14-1,0 13 17,14-13-32,-1 13 15,1-13 1,-1 0-1,0 13 1,1-13 15,-1 0-15,-12 0 0,12 0-1,-13 0-15,1 0 16,12 0-1,-13 0 1,14 0 0,26 0-1,-27 0 1,1 0 0,-14 0-1,13 0 1,-13 0 15,1 0-15,-1 0-1,-13-13 1,26 13 0,-26-13-1,14 0 1,-1-1-1,13 1 1,-12 0 0,-1 0-1,0-1 1,-13 1 0,0-13-1,0-1 1,0 14 15,0-13-31,0-14 31,-13 13-15,0 1 0,-14 0-1,-13-1 1,14 14-1,-1 0 1,1-1 0,-14-12-1</inkml:trace>
  <inkml:trace contextRef="#ctx0" brushRef="#br0" timeOffset="76053.9">12078 6443 0,'-26'-27'63,"13"14"-63,-1 13 16,1-13-1,0 13 1,-14 0-16,-12 0 15,-1 0 1,0 0 0,14 13 15,-1 0-15,1 0-1,0 14 1,12-14-16,-25 14 15,12-1 1,1 0 0,12 1-1,1-1 1,0 14 0,13-13-1,0-1 1,0 0-1,13 14 17,0-27-17,14 14 1,-1-1 0,1-13-1,39 14 1,-13-27-1,-13 13 1,-1-13 0,14 0-1,-26 0 1,-14-13 0,13 0-1,1 13 1,26-14-1,-27 1 1,1 0 0,-14 0 15,13-27-15,-12 14-1,-14-1 1,0-12-1,0-1 1,-14 13 0,-12-12-1,13 12 1,-1 1 0,-25-14-1,-1 27 1,-66 0-1</inkml:trace>
  <inkml:trace contextRef="#ctx0" brushRef="#br0" timeOffset="77719.573">12131 7369 0,'0'0'0,"0"-14"62,0 1-46,-13 13-1,0-13 1,-1 13-16,1 0 16,-13-13-1,-1 13 17,14 0-32,-13-14 15,12 14 1,-12-13-1,-1 13 1,1 0 0,13 0-1,0-13 1,-1 13 0,1 0-1,-13 0 1,12 13-1,-12-13 1,13 13 0,-14 14 15,14-1-15,13 1-1,-13-1 1,0 1-1,13-14-15,-14 13 16,14 1 0,0-14-1,-13 0 1,13 27 0,0-27-1,13 14 1,1-1-1,-1 1 1,13-1 0,-12-13-1,-1 1 1,13-1 15,14 0-15,-14 0-1,27-13 1,-13 0 0,0 0-1,26 0 1,-27-13 0,-12 0-1,-1 0 1,14-1-1,0-12 1,-1-1 0,-12-12-1,-1-1 17,-26-26-17,0 13 1,-13-13-1,-27 26 1,-52-13 0,-54 27-1</inkml:trace>
  <inkml:trace contextRef="#ctx0" brushRef="#br0" timeOffset="79501.058">11972 8281 0,'-13'-39'47,"0"26"-15,13-1-17,-13 14-15,13-13 16,-14 13-16,1-13 15,-26 0 1,12-1 0,-13 14-1,1-13 17,26 0-17,-14 13 1,1 0-1,-1 0 1,1 0 0,-14 13-1,14 0 1,12 1 0,-12 12-1,-1 1 1,14 12-1,-13 1 1,-1 13 0,14-13-1,-13 12 1,26-12 15,-14 0-15,14-1-1,14 28 1,12-28 0,-13-12-1,14-1 1,-1-13 0,14 14-1,0-27 1,-14 13-1,27 0 1,13-13 0,-13 0-1,0 0 1,-27 0 15,14-26-15,-14-1-1,1 1 1,-1 0 0,-12-1-1,25-13 1,-25 14 0,-1-1-1,0 1 1,0 0-1,-13 12-15,0-12 16,13-1 0,-13 14-1,0-13 1,-13-14 15,0 14-15,-13-1-1,-1 1 1,-13-1 0,14 1-1,-40-1 1,-53-12 0</inkml:trace>
  <inkml:trace contextRef="#ctx0" brushRef="#br0" timeOffset="99818.077">10134 7329 0,'0'0'0,"0"-13"63,13 13 124,-13 13-187,0 0 16,13 0-16,0 27 15,-13 13 1,0 13 15,0-39-31,-13 39 16,-13 0-1,-1-13 1,1 13 0,-1 0-1,-26 40 1,27-40 0,-1-13-1,-12 0 1,-1 0-1,0 13 1,14-26 0,-14 13-1,0 0 1,-12 26 15,25-53-15,1 1-1,-14-14 1,13 13 0,-12 14-1,-1 0 1,27-14 0,0-12-1,-1 12 1,14-13-1,0 0 1,-13 1 0,13-1-1,13-13 32,-13 13-31,14-13-1,-1 0 1,0 0 0,0 13-1,1-13 1,-1 0 0,0 14-1,0-14 1,14 0-1,12 13 1,-12-13-16,-14 13 16</inkml:trace>
  <inkml:trace contextRef="#ctx0" brushRef="#br0" timeOffset="100766.771">9723 8837 0,'-26'0'0,"52"0"31,41 0-31,-15 0 16,15 0-1,-1 0 1,0 0 0,-13 0-1,-27 0 1,1 13 0,-14 1-1,13-1 1,-12-13-1,25 13 1,-25-13-16,25 13 16,-25-13-1,-1 0 126,-13-13-125,0 0 46,0 0-46,0-1-16,-13 1 31,-1 0-31,1 0 31,0-1-31,26 28 110,0-1-110,14 0 15,-1 27 1,14-14-1,-14 1 1,-12 12 0,-1 1-1,-26-13 1,-27-14 0,0 0-1,1 0 16,12-13-31,14 0 16,0 0 0,13-26-1,0-27 1,66-66 0,-53 13-1</inkml:trace>
  <inkml:trace contextRef="#ctx0" brushRef="#br0" timeOffset="101684.004">9459 9353 0,'0'0'16,"13"-40"31,-26 27-32,26 13 32,0 0-47,27 0 16,26 0 0,252-13-1,-93 0 1,-14 13-1,-92 0 1,-53 0 0,-52 0-16,25 0 15,-25 0 17,-28 0-1,-12 0-16,-67 13 1,54-13-16</inkml:trace>
  <inkml:trace contextRef="#ctx0" brushRef="#br0" timeOffset="101965.777">9538 9459 0,'80'-27'47,"-27"27"-47,26-13 16,146-13-16,26 12 31,-39 1-15,-80 13-1</inkml:trace>
  <inkml:trace contextRef="#ctx0" brushRef="#br0" timeOffset="104279.412">11404 9287 0,'0'-13'47,"13"13"47,13 0-94,27 0 16,53-14-1,-13 1 1</inkml:trace>
  <inkml:trace contextRef="#ctx0" brushRef="#br0" timeOffset="105563.242">12356 8453 0,'0'-13'63,"13"13"-63,-13 13 31</inkml:trace>
  <inkml:trace contextRef="#ctx0" brushRef="#br0" timeOffset="106862.031">8824 6469 0,'0'0'0,"13"40"62,-39-27-62,-1-13 16,-26 13 0,14 0-1,52-13 1,26 0-1,1 0 1,-13 0 0,-14 0-1,0 0 1,0-13 0,1 0 15,-14 0-16,13-14 1,0 1 0,-13-1-1,-13 14 1,-14 0 0,-12 13-1,-1 13-15,-39 40 16,26 13-1,13 0 1,40 40 15,40-40-15,26-26 0,13-27-1,-13-26 1,-39 0-16,-1-67 15,-26-39 1,-26 27 0,-40 39-1,-93 53 1</inkml:trace>
  <inkml:trace contextRef="#ctx0" brushRef="#br0" timeOffset="108077.254">9036 7289 0,'0'0'0,"0"-66"47,0 53-32,-14 13 1,-12 13-1,13 0 1,-40 14 0,13 12-1,0 41 1,27-14 0,13 0-1,0 0 1,27-13-1,25 13 1,-12-39 0,0-14-1,13-26 1,0-40 15,0-132-15,-40 52-1,-40 67 1,-78 40 0,-28 13-16</inkml:trace>
  <inkml:trace contextRef="#ctx0" brushRef="#br0" timeOffset="115120.965">11906 8401 0,'0'0'0,"-13"-40"47,13 27-16,0-1-15,-13 14-16,13-13 15,-13 13 1,-1-13-1,14 0 1,-13-1 0,13 1-1,-13 0 1,-27 13 0,14-13-1,-14 13 1,27 0-1,0-13 1,-1-1 0,1 14-1,0-13 1,-14 13 0,-12 0-1,26 0 1,-1 13-1,-12 1 1,13-1 0,-14 0-1,14 0 1,0 14 0,-14-1-1,14 27 1,0-26-1,13 12 17,0-12-17,0 12 1,0-12 0,13 12-1,-13 1 1,13 0-1,14 0 1,-14-27 0,13 0-1,14 13 1,13-12 0,-13-14-1,13 13 1,-27-13 15,14 0-15,-1-13-1,-25 13 1,12-14 0,1 1-1,12 13 1,-12-13-1,-14 0 1,0 0 0,0-14-1,1 1 1,-1-1 0,-13 1-1,13 12 1,-13-25 15,0 12-31,-13 14 31,0-13-15,-1 12 0,1 1-1,13 0-15,-13 0 16,0 0-1,-1-1 17,1 1-17,-13 0 1,13 0 0,-14-1-1,1 1 1,-40 13-1,39 0 1,1 0 15,-14 0-15,27 0-16,-67 13 16</inkml:trace>
  <inkml:trace contextRef="#ctx0" brushRef="#br0" timeOffset="115397.075">11589 8374 0,'13'-13'47,"-53"26"0</inkml:trace>
  <inkml:trace contextRef="#ctx0" brushRef="#br0" timeOffset="116270.026">8030 9406 0,'0'0'0,"79"0"31,-39 0-15,26-13 0,40 13-1,-40 0 1</inkml:trace>
  <inkml:trace contextRef="#ctx0" brushRef="#br0" timeOffset="116486.186">9300 9353 0,'0'0'16,"0"-40"31,0 54-32,13-14 1,1 13-16</inkml:trace>
  <inkml:trace contextRef="#ctx0" brushRef="#br0" timeOffset="116687.557">9432 9366 0,'-13'0'109,"-13"13"-109,12-13 16,-12 14-16</inkml:trace>
  <inkml:trace contextRef="#ctx0" brushRef="#br0" timeOffset="118573.135">11655 8784 0,'-13'27'47</inkml:trace>
  <inkml:trace contextRef="#ctx0" brushRef="#br0" timeOffset="130341.65">9036 9565 0,'-27'0'78,"14"0"-63,0 0-15</inkml:trace>
  <inkml:trace contextRef="#ctx0" brushRef="#br0" timeOffset="132586.364">10345 6866 0</inkml:trace>
  <inkml:trace contextRef="#ctx0" brushRef="#br0" timeOffset="132939.257">10345 6866 0,'0'0'15,"-92"-79"1,92 65 0,-27 1-1,1 0 1,-1 13 0,1 0-1,13 0 1,-1 0-1,1 0 1,0 13 0</inkml:trace>
  <inkml:trace contextRef="#ctx0" brushRef="#br0" timeOffset="133121.567">10094 6773 0,'-27'14'63</inkml:trace>
  <inkml:trace contextRef="#ctx0" brushRef="#br0" timeOffset="133651.875">10001 6787 0,'0'-14'63</inkml:trace>
  <inkml:trace contextRef="#ctx0" brushRef="#br0" timeOffset="134853.906">10001 6826 0,'-13'-13'62,"0"13"-31,0 0-15,-1 0 0,1 13-1,-27-13 1</inkml:trace>
  <inkml:trace contextRef="#ctx0" brushRef="#br0" timeOffset="135436.819">9842 6839 0,'-13'27'63,"13"-14"-48,-13-13-15,0 27 16,0-14-1,-1 0 1,1 0 0,0-13 15,13 14 0,0-1-15,13-13-1,-13 26 1,-13 14 0,0-27-16,-1 27 15,1 0 1,0-27 0,0 0-1,13 0 1,-13 0-1,13 1 32,0-1-31,13 0 0,0 0-1,-13 1 1,13 12-1,-13 14 1</inkml:trace>
  <inkml:trace contextRef="#ctx0" brushRef="#br0" timeOffset="135620.223">9723 7382 0,'0'0'16,"40"0"31,-27 0-32,1 13 1,-1 27 0</inkml:trace>
  <inkml:trace contextRef="#ctx0" brushRef="#br0" timeOffset="135809.762">9922 7435 0,'0'0'0,"66"-27"47,-53 27-31,14-13-1,-1 13 1,-13 13-1,14 27 1</inkml:trace>
  <inkml:trace contextRef="#ctx0" brushRef="#br0" timeOffset="135973.963">10213 7435 0,'0'0'15,"53"-53"32,-40 53-31,0 13-1,-13 14 1</inkml:trace>
  <inkml:trace contextRef="#ctx0" brushRef="#br0" timeOffset="136123.322">10319 7448 0,'53'0'47,"-53"13"-31,13-13-16</inkml:trace>
  <inkml:trace contextRef="#ctx0" brushRef="#br0" timeOffset="136271.269">10438 7435 0,'0'0'16,"53"-66"-1,-40 52 1,0 1 0,-26 26-1</inkml:trace>
  <inkml:trace contextRef="#ctx0" brushRef="#br0" timeOffset="136469.969">10570 7329 0,'0'0'0,"27"-40"62,-27 27-62,13 13 16,0-13-1</inkml:trace>
  <inkml:trace contextRef="#ctx0" brushRef="#br0" timeOffset="136653.335">10636 7197 0,'0'0'0,"13"-53"31,-13 13-15,0 0 0,0 27-1,0 0 1,0 0 0,-13 13-1,-53 0 1</inkml:trace>
  <inkml:trace contextRef="#ctx0" brushRef="#br0" timeOffset="136837.177">10451 6879 0,'0'0'0,"0"-66"47,0 40-47,-13 12 15,0 1 1,-40 26 0,13 14-1</inkml:trace>
  <inkml:trace contextRef="#ctx0" brushRef="#br0" timeOffset="137019.021">10253 6800 0,'0'0'0,"-27"-27"47,27 41-32,-13-14-15</inkml:trace>
  <inkml:trace contextRef="#ctx0" brushRef="#br0" timeOffset="137136.471">10253 6800 0,'0'0'0,"-53"-27"15,39 14 1</inkml:trace>
  <inkml:trace contextRef="#ctx0" brushRef="#br0" timeOffset="137852.893">11827 6416 0,'0'0'0,"26"-66"31,-26 53-15,-13 26 31,-13 0-47,-14 14 15,-13 26 1</inkml:trace>
  <inkml:trace contextRef="#ctx0" brushRef="#br0" timeOffset="138003.927">11721 6456 0,'0'-13'47,"-26"26"-31,-1 27 0,-26-1-1</inkml:trace>
  <inkml:trace contextRef="#ctx0" brushRef="#br0" timeOffset="138168.879">11576 6668 0,'0'0'0,"0"13"47,-14-13-31,-12 39-1,-40 28-15</inkml:trace>
  <inkml:trace contextRef="#ctx0" brushRef="#br0" timeOffset="138338.525">11470 7011 0,'0'0'0,"26"0"62,1 14-46,-14-1-16,53 40 15</inkml:trace>
  <inkml:trace contextRef="#ctx0" brushRef="#br0" timeOffset="138719.536">11761 7064 0,'0'0'0,"66"-53"31,-40 40-15,27-13 0,-40 26-16,27 0 15,0 0 1,-27 0-1,14 0 17,-1 0-32,0 0 15,1-27 17,-1 1-17,1-1 1,-14 1-1,0 26 1,1 0 0,12 13-1</inkml:trace>
  <inkml:trace contextRef="#ctx0" brushRef="#br0" timeOffset="138852.232">12290 6853 0,'0'0'0,"66"-106"47,-66 93-47,13-14 15,-39 14 1</inkml:trace>
  <inkml:trace contextRef="#ctx0" brushRef="#br0" timeOffset="139001.429">12224 6416 0,'0'0'0,"-40"-92"31,0 52-15,-52 40 0,-14 13-1</inkml:trace>
  <inkml:trace contextRef="#ctx0" brushRef="#br0" timeOffset="139585.239">12277 7197 0,'13'-14'62,"-40"14"-46,-12 14-1,12-14-15</inkml:trace>
  <inkml:trace contextRef="#ctx0" brushRef="#br0" timeOffset="139767.42">12158 7144 0,'0'0'0,"0"-53"31,0 13-15,-14 40 0,-52 27-1,-13-1 1</inkml:trace>
  <inkml:trace contextRef="#ctx0" brushRef="#br0" timeOffset="139952.316">11840 7183 0,'0'0'0,"-13"0"63,-14 14-48,14-14 1,-53 26 0,26 1-16</inkml:trace>
  <inkml:trace contextRef="#ctx0" brushRef="#br0" timeOffset="140149.97">11628 7276 0,'0'0'0,"-13"26"62,0-12-62,-13 12 0,-41 40 16,28-13 0,-27 0-1</inkml:trace>
  <inkml:trace contextRef="#ctx0" brushRef="#br0" timeOffset="140300.323">11417 7580 0,'53'40'47,"-27"-14"-32,-13 14 1,-13 26-1,-13-13 1</inkml:trace>
  <inkml:trace contextRef="#ctx0" brushRef="#br0" timeOffset="140483.888">11576 7871 0,'0'0'15,"119"0"16,-93 14-31,1-14 16,25 26 0,-25 1-1,-1-1 1,-12 0-16</inkml:trace>
  <inkml:trace contextRef="#ctx0" brushRef="#br0" timeOffset="140685.126">12118 7938 0,'0'0'0,"79"-53"47,-65 39-32,-1 14 1,0 0-1,13 0 1</inkml:trace>
  <inkml:trace contextRef="#ctx0" brushRef="#br0" timeOffset="140874.983">12409 7699 0,'0'0'0,"40"-53"32,-40 40-32,0-13 15,-14-1 1,-12 14-16,-27-27 31</inkml:trace>
  <inkml:trace contextRef="#ctx0" brushRef="#br0" timeOffset="141031.791">12250 7395 0,'0'0'0,"0"-119"31,0 106-15,0-27-1,-13 40-15,-66 13 16</inkml:trace>
  <inkml:trace contextRef="#ctx0" brushRef="#br0" timeOffset="142364.998">12250 8176 0,'0'0'0,"80"26"16,-14 1-1,0-1 1,-13 27 0,-14 13-1,-25-39-15,-1 65 16,0-13 0,-13-12 15,13-14-16,1 26 1,-28 0 0,-12-13-1,-1-13 1,1 14 0,13-41-16,-14 27 15,1 0 1,-1-13-1,14-14 1,-40 0 0,-13-12-1,-40 12 1</inkml:trace>
  <inkml:trace contextRef="#ctx0" brushRef="#br0" timeOffset="143013.947">12343 9181 0,'0'0'0,"26"-13"62,-39 13-46,-13 13 0,-41 14-1,1-14 1,27 13 0,12-13-1,14 14 1,13-14-1,26 14 1,1-14 0,-1 0-1,1 0 1,-14 0-16,27 14 16,-14-1-1,-13-12 16,14-1-15,-14-13 0,-13-13-1,0-27 1,0-13 0,-53-53-1,-13 53 1</inkml:trace>
  <inkml:trace contextRef="#ctx0" brushRef="#br0" timeOffset="178288.839">17304 6522 0,'0'-13'172,"-13"13"-172,13-13 31,-14 13 0,14-14-31,0 1 32,-13 0-32,0 0 15,13-1 1,-13 1-1,-1 13-15,1-13 16,0 0 0,0-1 15,-1 14-15,-12-26-1,0 13 1,-1 13-1,1-13 1,12 13 0,-12 0-1,13-14 1,-1 14 0,-12-13-1,-14-13 16,14 26-15,13-14 0,-14 14-1,14 0 1,0-13 0,0 13-1,-14 13 1,1 1-1,-14 12 1,13-13 0,14 1-1,0-1 17,0 0-17,0 0-15,13 0 16,-14 1-1,1 12 1,0 14 0,-14 26-1,27-26 1,-13-1 0,13-12-1,0 26 1,13-27 15,-13 1-15,14 12-16,-14-12 31,0 26-15,-14-14-1,1 28 1,0-15-1,13 15 1,0-41-16,0 14 16,13-1-1,-13-12 1,13-1 0,1 1-1,12-14 1,1 13-1,-1-12 1,14-1 0,13 13 15,-27-26-15,14 0-1,-14 0 1,1 0-1,26-13 1,-14 0 0,1 0-1,-14-1 1,1-12 0,-14 0-1,0-1 1,1 14-1,-1-14 1,13-12 0,-26 12 15,13-12-15,-13-1-1,0 27 1,0-14-16,0-12 15,0-1 1,0 0 0,0 14-1,14-27 1,-14 13 0,13 14-1,-13-1 1,13 1-1,-13-1 1,13 1 0,-13-1 15,0-12-15,0-1-1,0 14 1,0-1-1,0 1 1,-13-14 0,-13 0-1,-14 14 1,0-14 0,1 14-1,-67-1 1,26 1-1</inkml:trace>
  <inkml:trace contextRef="#ctx0" brushRef="#br0" timeOffset="181634.004">17912 8334 0,'0'0'0,"14"-13"47,-14 0-32,-14 0 1,1 13-1,-13 0 1,-14 0 0,0-14-1,27 1 1,0 0 0,-14 0-1,-12 13 1,25-13-16,-52 13 15,13 0 1,-13-14 0,13 14-1,-13-13 17,26 0-17,14 13 1,-14-13-1,14-1 1,-27-12 0,13 13-1,14-1 1,-14 1 0,14 13-1,-27 0 1,13 0-1,14 13 1,-14-13 0,0 0-1,27 0-15,-27 0 16,14 14 15,-1-14-15,1 13-1,-27-13 1,13 13 0,1 0-1,-14 1 1,0 12 0,26 1-1,1-1 1,13 0-1,-14 1 1,14-1 0,13 1-1,-13-14 1,13 14 15,0-1-15,13 0-1,0 1 1,-13-14 0,27 14-1,-1-1 1,1-13 0,-1 0-1,14 14 1,13-14-1,-27 0-15,14 14 16,13-14 0,-27 0-1,14 1 1,0-1 15,-14-13-15,0 13-1,14 0 1,0 0 0,13 1-1,-14-14 1,1 13 0,0 0-1,26 0 1,-13-13-1,-13 0 1,-14 0 0,27 0 15,-40 0-31,14 0 0,-1 0 16,14 0-1,-1 0 1,1 0-1,0 0 1,13-13 0,-27 0-1,1-14 1,12-12 0,14-14-1,-26 40 1,-14-1-1,0 1 1,0 13 0,1-26-1,-1 12 1,13-12 15,-12-14-31,-1 14 31,13-14-15,-26 27 0,0 0-1,0 0 1,0-14 0,-26 1-1,13 12 1,-14-12-1,1 13 1,-14-14 0,0 14-1,-13 13 1,-66 0 15</inkml:trace>
  <inkml:trace contextRef="#ctx0" brushRef="#br0" timeOffset="181783.054">17661 8281 0,'0'0'0,"-79"0"63</inkml:trace>
  <inkml:trace contextRef="#ctx0" brushRef="#br0" timeOffset="183247.424">17899 8705 0,'-13'0'141,"-14"13"-141,14-13 16</inkml:trace>
  <inkml:trace contextRef="#ctx0" brushRef="#br0" timeOffset="183430.562">17899 8705 0,'0'0'0,"-66"0"0,79 0 15,-13 13 63</inkml:trace>
  <inkml:trace contextRef="#ctx0" brushRef="#br0" timeOffset="183572.838">17873 8705 0,'0'0'0</inkml:trace>
  <inkml:trace contextRef="#ctx0" brushRef="#br0" timeOffset="183715.783">17873 8705 0,'0'-13'16,"-14"13"0,1 0-1,0 0-15</inkml:trace>
  <inkml:trace contextRef="#ctx0" brushRef="#br0" timeOffset="184580.424">17846 8678 0,'13'-13'62,"1"13"-46,-1 0-1,27 0 1,-1 27 0,27-14-1</inkml:trace>
  <inkml:trace contextRef="#ctx0" brushRef="#br0" timeOffset="185811.99">18190 8758 0,'0'0'15,"79"39"1,-39-12 15,-13 26-15,-14 13-1,-13-26 1,0-1 0,-13 14-1,13-40 1,-53 40-1,0-13 1,-13 13 0,0-13-1,-40 13 1,53-27 0,13-13-1,0 0 1,-13 1-1,14-1 1,-41 0 0,-12 0-1,12-13 1,14 0 0,-26-39-1,39-1 1,13-13-1,14 13 1,-14-12 0,13 25-1,1 14 1,0 0 0,-14 13-1,-13-14 1,26 14-1,14 0 1,26 0 31,1 0-31,-1 0-1,-13 14 79,0-1-94,0 0 16,0 0-16,0 14 15,0-14-15,-13 27 16,13-1-1,-14-12 17,14-1-17,0-39 17,0-13-17,14-27 1,25-27-1,-25 27 1,-14 27 0,13 13-1,0 26 17,-13 0-32,27 14 15,-1-1 1,0-13-1,14 1 1,-27-14 0,14 0-1,-27 13 17,0 0-17,-80 27 1,-12-1-1,-173 27 1</inkml:trace>
  <inkml:trace contextRef="#ctx0" brushRef="#br0" timeOffset="189193.106">16523 7011 0,'0'0'0,"27"-13"62,-41 13 17,1 13-64,-13-13-15,13 14 16,-27-14-1,-13 13 1,13-13 0,1 13-1,-1 0 1,13 1 0,14-14-16,-27 13 15,1 0 1,-27 14-1,13-14 1,-27 13 0,41-13 15,-14 1-15,0-1-1,-13 13 1,-27 27-1,40-26 1,-13-1 0,13 1-1,-39 12 1,25 1 0,-12-14-1,-14 27 1,1-13-1,-41 26 1,54-26 15,0 0-15,13 13 0,-53 39-1,52-39 1,14 0-1,-13 13 1,13-13 0,1 0-1,-1 13 1,26-26 0,1 13-1,-27 13 1,26 0-1,-12-13 1,-1 0 0,-13-14-1,0 14 17,27-26-32,-27 39 15,0-13 1,0 0-1,0 26 1,13-39 0,14-14-1,13-12 1,-1 12 0,1-13-1,13 1 1,0-1-1,-13-13 1,13 13 15,-13-13 1,13-13 61,-14 13-77,14-13-16,0-1 16,0 1-1,-13 13 1,13-13-1,0 0 1,0-1 0,0 1-1,0 0 17,0 26 77,0 0-93,0 1-1,0-1-15,0 0 16,-13 27-1,13-27-15,0 27 16,-13-27 0,13 0-1,0 0 17,0-26-1,0-13-16,0-27 1,13 0 0,-13 40-16,13-14 15,-13 1 1,13 26 46,1 0-46,12 13-16,27 0 16,93 0 15,-67 1-15,-39-14-1,-14 13 1,-26 0 46,-13-13-62,0 13 16,-67 40 0,27-13-1,-13-14 1,13-12-1,-13 12 1,13-13 0</inkml:trace>
  <inkml:trace contextRef="#ctx0" brushRef="#br0" timeOffset="189409.905">13652 9115 0,'14'0'47,"-1"0"-31</inkml:trace>
  <inkml:trace contextRef="#ctx0" brushRef="#br0" timeOffset="190893.236">14116 9327 0</inkml:trace>
  <inkml:trace contextRef="#ctx0" brushRef="#br0" timeOffset="191458.134">14261 9446 0,'0'0'0</inkml:trace>
  <inkml:trace contextRef="#ctx0" brushRef="#br0" timeOffset="191675.008">14261 9446 0,'0'0'0,"13"26"16</inkml:trace>
  <inkml:trace contextRef="#ctx0" brushRef="#br0" timeOffset="192298.316">14327 9432 0</inkml:trace>
  <inkml:trace contextRef="#ctx0" brushRef="#br0" timeOffset="194904.946">16126 6429 0,'14'-13'62,"-14"0"-46,-27 13 46,14 0-46,0 0-16</inkml:trace>
  <inkml:trace contextRef="#ctx0" brushRef="#br0" timeOffset="195091.938">16126 6429 0,'0'0'16,"-39"-39"-16,39 12 47,0 14-32,-14 13 1,1 0 0,0 0-1,-27 13-15</inkml:trace>
  <inkml:trace contextRef="#ctx0" brushRef="#br0" timeOffset="195221.522">15994 6337 0,'0'0'16,"-13"-53"31,-27 79-32,-39 1-15</inkml:trace>
  <inkml:trace contextRef="#ctx0" brushRef="#br0" timeOffset="195406.85">15809 6376 0,'0'0'0,"0"-13"62,-27 26-46,1 1-16,-1-1 0</inkml:trace>
  <inkml:trace contextRef="#ctx0" brushRef="#br0" timeOffset="195587.549">15716 6496 0,'-26'66'63,"-1"-13"-63</inkml:trace>
  <inkml:trace contextRef="#ctx0" brushRef="#br0" timeOffset="195790.303">15716 6760 0,'13'13'47,"1"1"-16,-1-1-31,13 0 15</inkml:trace>
  <inkml:trace contextRef="#ctx0" brushRef="#br0" timeOffset="195955.137">15822 6853 0,'0'0'0,"13"0"47,1 13-31,-14 0-1</inkml:trace>
  <inkml:trace contextRef="#ctx0" brushRef="#br0" timeOffset="196137.278">15915 6906 0,'0'0'0,"26"0"63,-13 0-63,1 0 16,25 13-1</inkml:trace>
  <inkml:trace contextRef="#ctx0" brushRef="#br0" timeOffset="196308.498">16153 6919 0,'0'0'0,"26"-40"63,-13 40-48,1 0 1</inkml:trace>
  <inkml:trace contextRef="#ctx0" brushRef="#br0" timeOffset="196487.865">16245 6826 0,'0'0'0,"27"-53"47,-27 40-31,13 0 15,0 13-31,-13-13 0</inkml:trace>
  <inkml:trace contextRef="#ctx0" brushRef="#br0" timeOffset="196904.903">16312 6654 0,'0'0'0,"13"-66"47,-13 53-32,0 0 1,0-1-1,0 1 1,0-13 0,-13 13-1,-1-1 1,1 1 0,0-13-1,13-1 1,0 1-1,13-1 1,-13 14 15,-13 13 1,0 0-17,-14 0 1,1 0-16</inkml:trace>
  <inkml:trace contextRef="#ctx0" brushRef="#br0" timeOffset="197058.82">16153 6337 0,'0'0'16,"13"-66"31,-13 52-47,-40 28 31,-26 12-31</inkml:trace>
  <inkml:trace contextRef="#ctx0" brushRef="#br0" timeOffset="197236.976">15981 6297 0,'0'0'0,"13"-13"78,-13 26-78,0 0 0</inkml:trace>
  <inkml:trace contextRef="#ctx0" brushRef="#br0" timeOffset="197419.883">15981 6297 0,'0'0'0,"-13"0"16,26-13-1,0 0 1,-13 26-1,-13 0 1</inkml:trace>
  <inkml:trace contextRef="#ctx0" brushRef="#br0" timeOffset="197583.33">15941 6324 0</inkml:trace>
  <inkml:trace contextRef="#ctx0" brushRef="#br0" timeOffset="197746.593">15941 6324 0,'0'0'0,"0"-14"15</inkml:trace>
  <inkml:trace contextRef="#ctx0" brushRef="#br0" timeOffset="198353.839">15558 5662 0,'0'-66'46,"13"53"-46,-13-1 32,13 14-17,-13 14-15,40 25 32,-14 14-17,14-13 1,-14-14-16,27 27 15,13-13 1,-13 26 0,13-13-1,-13 53 1,-26-40 0,-27-26-1,0-1 1,0-12-1,0-14 17,-13 0-32,-27 1 31</inkml:trace>
  <inkml:trace contextRef="#ctx0" brushRef="#br0" timeOffset="198707.801">15862 6231 0,'13'-27'62,"0"27"-15,-13 14-47,13-1 16,1 27 0,12-14-1,1 14 1,-1-14-1,-13-13 1,-26-13 0,-27 0-1</inkml:trace>
  <inkml:trace contextRef="#ctx0" brushRef="#br0" timeOffset="199868.688">15849 6178 0,'0'-13'63,"13"13"-48,0 0-15,0 0 16,40 0 0,0-13-1,13 13 1,27 0 0,-67 0-1,-26 13 95,0 0 77,-13-13 282,13 13-469,-13-13 15,0 27 1,-14-1 0,27-13-16,-40 27 31,-12 26-31,12-13 16</inkml:trace>
  <inkml:trace contextRef="#ctx0" brushRef="#br0" timeOffset="206180.803">17383 9260 0,'40'-13'47,"-40"0"-47,13 13 16,-39 0-1,-27 13 1</inkml:trace>
  <inkml:trace contextRef="#ctx0" brushRef="#br0" timeOffset="-207671.904">13838 9300 0,'0'0'0,"0"13"78,-27-13-62</inkml:trace>
  <inkml:trace contextRef="#ctx0" brushRef="#br0" timeOffset="-201733.373">14830 5001 0,'-13'-14'31,"-1"14"-15,1 0-1</inkml:trace>
  <inkml:trace contextRef="#ctx0" brushRef="#br0" timeOffset="-199951.905">14856 5054 0,'0'0'0,"0"-53"63,14 53-63,-28 0 78,1 0-63,-13 0 1,-1-14-16,1 14 16,-14 0-1,0 0 1,27 0-16,0 0 16,0 14-1,39-1 16,1 0-15,26-13 0,-27 0-1,0-13 17,-12 13-32,-1 0 15,-13-13-15,13 13 16,0 0 15,27 39-15,0-12-1,-27 26 1,0 39 0,-13 27-1,0-26 1,-13-67-16,0 41 15,-1-28 1,1-26 0,-26-39-1,-1-40 17,13-53-17,27 26 1,14 27-1,25 0-15</inkml:trace>
  <inkml:trace contextRef="#ctx0" brushRef="#br0" timeOffset="-199220.268">15147 5133 0,'0'0'0,"27"-27"63,-14 27-48,-13 27-15,13 13 32,1-14-17,-1 1 1,13-54-1,-13-13 1,-13-13 0,-13 1-1,0 25 1,0 14-16,-27 13 16,0 40-1,1 26 1,25 0-1,67 13 1,0-39 0,53-27-1,0-26 17,-13-27-17,-14-13 1,-53 40-16,-12-13 15,-1 26 1,-13 26 15,0 1-31,0 12 16,-13 14 0,13-26-1,13-14 1,13-13-1,27-13 1,-13-1 0,0 1-1,-14 13 17,27 27-17,26 26 1</inkml:trace>
  <inkml:trace contextRef="#ctx0" brushRef="#br0" timeOffset="-198670.792">16298 5305 0,'0'0'0,"0"-66"46,-26 53-46,-1-1 16,-65 14 0,-1 27-1,27 26 1,66-14 15,27-12-15,39-1-1,79-39 1,-39-53 0,0-80-1,-40-39 1,-53 53 0,-13 52-1,0 54 1,-13 26-1,0 26 1,-40 199 0,40-92-1,13-67 1,26 13 0,14 1 15,92 25-16,-53-78 1,14-67 0,-40-52-1</inkml:trace>
  <inkml:trace contextRef="#ctx0" brushRef="#br0" timeOffset="-198334.783">16867 5173 0,'0'53'15,"0"-106"-15,-26 53 31,13 26-15,13 14-16,0 26 16,26-13-1,14-13 17,26-40-17,0-67 1,-13-12-1,-27 13 1,-12 39 0,-1 14-1,40 79 1,-14 40 0,1-13-1,-40 13 1,-26-40-1</inkml:trace>
  <inkml:trace contextRef="#ctx0" brushRef="#br0" timeOffset="-195903.885">16960 6641 0,'0'0'0</inkml:trace>
  <inkml:trace contextRef="#ctx0" brushRef="#br0" timeOffset="-194407.902">16272 6509 0,'-13'0'63,"13"-13"-63,-14 13 31,1 0 0,13-14-31,-13 14 16,13-13-1,-13 13-15,-1-26 16,14 12 0,-26-12-1,13 13 1,-27-1 15,27 1-15,-14 13-1,-12 0 1,12 0 0,1 0-1,13 0 1,-1 0-1,-12 0 1,-14 0 0,1 27-1,-1-27 1,27 26 0,-14-13-1,1 14 16,12-1-15,1 1 0,-13-1-1,13 1 1,-1 12 0,1-12-1,13-1 1,0 1-1,13 12 1,14-12 0,-14 13-1,13-1 1,-12 1 0,25 0 15,-12-14-31,13-13 31,-1 1-15,14-14-1,-26 0-15,39 13 16,-27-13 0,1 0-1,0-13 1,26-14-1,-26 1 1,-1-1 0,1 14-1,-14-14 1,-12 14-16,-1-13 16,-13-1-1,0-26 16,-13 1-15,-14-28 0,-12 54-1,-1 26-15</inkml:trace>
  <inkml:trace contextRef="#ctx0" brushRef="#br0" timeOffset="-193057.644">17171 6826 0,'-26'-53'46,"26"40"-30,-26 0 0,-1 0-1,1 13 1,12 0-16,-12-14 16,-1 1-1,1 0 1,13 0-1,-14 0 17,-12 13-17,-1 0 1,14 0 0,-1 0-1,1 13 1,12 0-1,14 0 1,0 14 0,0 12-1,0 14 1,14 0 0,-14-13-1,13-14 1,-13 14-1,13 13 17,0-27-17,14 14 1,-1 0 0,27-14-1,-13-26 1,26 0-1,0 0 1,0 0 0,-13-26-1,-26-14 1,-27 0 0,13-13-1,-13 14 1,0-41 15,-13 27-15,-1 1-1,1 12 1,-13 13 0,26 14-16,-14-13 15,14 13 1,-26 26 15,0 0-31</inkml:trace>
  <inkml:trace contextRef="#ctx0" brushRef="#br0" timeOffset="-192900.878">17132 6734 0,'0'0'0,"0"13"63,-13-13-32</inkml:trace>
  <inkml:trace contextRef="#ctx0" brushRef="#br0" timeOffset="-190158.842">14182 6601 0,'0'-66'47,"0"53"-32,0 0 1,0 0 0,-14 13-16,1-14 15,0 1 1,0 0 0,-27-14-1,14 1 1,-1 13-1,-13-14 1,14 14 0,13 0-1,-14 0 1,14-1 0,-27 14-1,14 14 1,-53 12-1,26 0 1,13 14 0,13-13-1,-12 39 1,26-27 0,13 14-1,0-13 1,0 0-1,13 13 17,0-27-32,0 1 15,14-1 17,26 0-17,-14 1 1,14-27-1,0 0 1,13 0 0,-13-13-1,40-1 1,-40 14 0,0-13-1,-27 13 1,1 0-1,-14 0 17,0-13-17,0-13 17,-13 12-32,14-12 15,-14-14 1,0 14-1,0-14 1,0 0 0,0 1-1,0 12 1,-14 1 0,1 13-1,-13-14 1,12 14-1,1 0 1,-13 26 0,-1 13-1</inkml:trace>
  <inkml:trace contextRef="#ctx0" brushRef="#br0" timeOffset="-189977.913">14182 6522 0,'0'0'0,"-14"0"78,1 0-62,0 0-16</inkml:trace>
  <inkml:trace contextRef="#ctx0" brushRef="#br0" timeOffset="-189827.916">14182 6522 0,'0'0'0,"-66"40"15,52-40 16,1 0-15</inkml:trace>
  <inkml:trace contextRef="#ctx0" brushRef="#br0" timeOffset="-189671.943">14089 6562 0</inkml:trace>
  <inkml:trace contextRef="#ctx0" brushRef="#br0" timeOffset="-188159.942">17211 6668 0,'0'0'0,"13"0"63,-13-14-16,-13 14-32,-13 0 1,12 0 0,1 0-16,-40 0 31,40 0-31,-13 0 15,-1-13 1,1 0 0,-27 13-1,13 0 1,14 0 0,-1 0-1,1 13 1,-1-13-1,1 13 1,13 1 0,-1 12-1,14 0 1,-13 41 15,0-15-15,13 1-1,0-13 1,0-13 0,0 25-1,13-12 1,0-13 0,27 12-1,39 1 1,-12-27-1,-1 0 1,-27 1 0,1-14-1,-13-14 17,-14-12-17,13 0 1,-13-1-1,14-52 1,-14 26 0,-13-13-1,-13-1 1,13 1 0,-13 13-1,-27-13 1,0 27-1,-13 25 1,-66 14 0</inkml:trace>
  <inkml:trace contextRef="#ctx0" brushRef="#br0" timeOffset="-187525.132">17171 6760 0,'14'0'62</inkml:trace>
  <inkml:trace contextRef="#ctx0" brushRef="#br0" timeOffset="-187313.821">17171 6760 0,'0'0'16,"67"-26"-1</inkml:trace>
  <inkml:trace contextRef="#ctx0" brushRef="#br0" timeOffset="-187131.963">17224 6747 0</inkml:trace>
  <inkml:trace contextRef="#ctx0" brushRef="#br0" timeOffset="-185082.975">13772 9432 0,'-40'-13'62,"27"13"-62,-14 0 16,14 0-1</inkml:trace>
  <inkml:trace contextRef="#ctx0" brushRef="#br0" timeOffset="-184848.893">13758 9432 0,'0'0'0,"-66"-26"32,53 26-17,53 0 1,26 0-16,119 13 16,13-26-1</inkml:trace>
  <inkml:trace contextRef="#ctx0" brushRef="#br0" timeOffset="-184431.9">15147 6416 0,'0'0'0,"93"13"16,-14 14 0</inkml:trace>
  <inkml:trace contextRef="#ctx0" brushRef="#br0" timeOffset="-184377.479">15438 6562 0</inkml:trace>
  <inkml:trace contextRef="#ctx0" brushRef="#br0" timeOffset="-183615.042">16312 6416 0,'-14'-40'63,"-39"40"-47,-26 14-16</inkml:trace>
  <inkml:trace contextRef="#ctx0" brushRef="#br0" timeOffset="-182531.608">16073 6416 0,'-66'-40'47,"40"40"-32,-14 0 1,27-13-1,0 13 1,-1 0 15,1 0-31,-13 0 16,-14 13 0,0 1-1,1-1 1,12 0-1,27 0 1,0 1 31,-13-1-31,13 13-1,-13 14 1,0 0-1,-14 13 1,14 0 0,13-14-1,0 1 1,0-14 0,13 1-16,14-1 15,-1 14 1,14 0-1,-14-14 1,14 1 15,-27-14-15,0 0 0,27 0-1,-14 0 1,54-13-1,-14 0 1,13-13 0,14 0-1,26 0 1,-66 0 0,-27-1-1,1 14 1,-14-13 15,-13 0-15,13 0-1,1-14 1,-14-13 0,0 1-1,-27-27 1,1 26-1,-1 0 1,-13-13 0,14 27-1,0-1 1,12 1 0,1-14-1,-13 1 16,12-1-31,-12 13 16,-40 27 15,-14 14-31</inkml:trace>
  <inkml:trace contextRef="#ctx0" brushRef="#br0" timeOffset="-182345.053">15968 6482 0,'0'-13'63</inkml:trace>
  <inkml:trace contextRef="#ctx0" brushRef="#br0" timeOffset="-182185.157">15968 6482 0,'0'0'16,"-27"0"-1,14-13 1,-27 26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</inkml:channelProperties>
      </inkml:inkSource>
      <inkml:timestamp xml:id="ts0" timeString="2024-02-10T11:04:03.0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7287 4197 267,'0'0'163,"0"0"-89,0 0-9,0 0 62,74-2 34,-23-7-39,23 0 24,35-2-6,27 2-54,20 3-28,14 6-37,1 0-10,-6 0-11,-44 0-92,-37-3-223</inkml:trace>
  <inkml:trace contextRef="#ctx0" brushRef="#br0" timeOffset="1288.035">9611 7277 682,'0'0'160,"0"0"-102,0 0-36,0 0-16,0 0 21,0 0 21,-55-26-21,51 24 2,4 2-3,-2 0-13,2 0-12,0 0 0,0 0-1,17 0 0,29 0 60,56 2 15,77-2 5,46 0 21,27 0 26,-2 0-56,-32 0-43,-16 0-21,-30 0-7,-56 0-157,-45-4-429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2-08T06:01:20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14592 10676 0,'13'-13'62,"-13"-1"-46,13 14-16,0 0 15,1 0-15,52 0 16</inkml:trace>
  <inkml:trace contextRef="#ctx0" brushRef="#br0" timeOffset="133.054">14552 10729 0,'0'0'0,"66"0"32,27-13-17</inkml:trace>
  <inkml:trace contextRef="#ctx0" brushRef="#br0" timeOffset="4997.083">6747 11337 0,'0'0'0,"0"-39"47,13 39-16,14 0-16,12 0-15,120-14 16,-27 14 0</inkml:trace>
  <inkml:trace contextRef="#ctx0" brushRef="#br0" timeOffset="5379.084">7951 11351 0,'0'0'0,"79"-27"31,-26 14-15,79-14 0,-92 27-16,-14-13 15</inkml:trace>
  <inkml:trace contextRef="#ctx0" brushRef="#br0" timeOffset="7528.065">9102 10306 0,'106'-27'47,"-54"27"-31,-12-13-16</inkml:trace>
  <inkml:trace contextRef="#ctx0" brushRef="#br0" timeOffset="8227.084">8268 11496 0,'0'0'0,"66"-13"47,-39 0-32,13-14 1</inkml:trace>
  <inkml:trace contextRef="#ctx0" brushRef="#br0" timeOffset="13721.425">6839 11470 0,'0'0'0,"40"-14"125,0 14-125,0 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2-08T06:53:36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15108 3929 0,'0'0'0,"26"-40"63,-13 27-48,1 13 1,-1 0 0,13 0-1,1 0-15,92 0 16,66 0 0,-53 13-1,-105-13 1,-40 0-1</inkml:trace>
  <inkml:trace contextRef="#ctx0" brushRef="#br0" timeOffset="163.125">15187 4048 0,'0'0'0,"106"-13"31,-27 13-31,67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</inkml:channelProperties>
      </inkml:inkSource>
      <inkml:timestamp xml:id="ts0" timeString="2023-09-03T04:15:47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14492 9792 696,'0'0'92,"0"0"-43,0 0-36,0 0-13,0 0-1,-2 0-6,2 0 7,0 0 0,0 0 1,0 0-1,-3 0-85</inkml:trace>
  <inkml:trace contextRef="#ctx0" brushRef="#br0" timeOffset="451.83">15796 9556 734,'0'0'104,"0"0"-89,0 0-14,0 0-1,0 0-7,0 0 7,0 0-2,0 0-100</inkml:trace>
  <inkml:trace contextRef="#ctx0" brushRef="#br0" timeOffset="1215.195">14420 9755 846,'0'0'73,"0"0"50,0 0-58,0 0-4,0 0-9,0 0-21,0 0-13,33 0-17,-32 0-1,-1 0-1,0 0-6,0 0-54,0 2-98</inkml:trace>
  <inkml:trace contextRef="#ctx0" brushRef="#br0" timeOffset="5747.295">9543 10518 842,'0'0'145,"0"0"-79,0 0 25,0 0 8,0 0-22,0 0 100,-9-3-102,9 1-41,0 2 20,0 0 42,2 0-51,3 0-26,2 0-19,-3 10-35,-2 1-117,-2-1-397</inkml:trace>
  <inkml:trace contextRef="#ctx0" brushRef="#br0" timeOffset="5926.681">9988 10487 1562,'0'0'331,"0"0"-169,0 0-162,0 0-23,0 0-240,0 0 67,74-10-318</inkml:trace>
  <inkml:trace contextRef="#ctx0" brushRef="#br0" timeOffset="6098.144">10681 10461 1629,'0'0'221,"0"0"-162,0 0-59,0 0-96,0 0-57,0 0-235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</inkml:channelProperties>
      </inkml:inkSource>
      <inkml:timestamp xml:id="ts0" timeString="2023-09-03T05:04:55.7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11584 10113 770,'0'0'49,"0"0"-49,0 0-36,0 0-29,0 0 14,-21-63-118,21 50-80</inkml:trace>
  <inkml:trace contextRef="#ctx0" brushRef="#br0" timeOffset="564.366">10981 10065 646,'0'0'75,"0"0"104,0 0 48,0 0-46,0 0-68,0 0-24,0 0 4,9 0-41,-9 0-27,0 0-15,0 0-10,0 0-39,3 0-21,1 0 15,5 0 23,0 0-40,2 0-6,1 2-2,3-2 9,-1 0 22,2 0 12,1 0 18,0 0 9,-3-3 1,4-1-1,-2-2 0,0 3 12,2 0-4,3-1-8,4 4 0,2-2-1,5 2 1,2 0-1,18 0-31,-6 5-117,-3 0-54</inkml:trace>
  <inkml:trace contextRef="#ctx0" brushRef="#br0" timeOffset="931.943">12060 10054 1495,'0'0'388,"0"0"-232,0 0-106,0 0-32,0 0-12,0 0-5,0 0-1,-33-52-38,33 52-211,10 0 74,7 5 98,4 3-8,4-1-38,2 0-52,-1 0 16,-1-1 102,-4-1 36,-6-2 5,-4-1 16,-6 0 12,-5-2 24,0 2 206,0-2-30,0 1-13,0-1 84,0 0-97,0 1-44,0-1-68,0 0-61,0 0-13,0 0-10,2 2-143,13 5-196,-1 1 120,1-4-149</inkml:trace>
  <inkml:trace contextRef="#ctx0" brushRef="#br0" timeOffset="1629.912">13281 9821 540,'0'0'329,"0"0"-79,0 0-50,0 0-61,0 0-59,0 0 53,0 0 98,-9-1-22,7 1-61,0 0-50,2 0-61,0 0-30,0 0-7,0 0 0,0 0-18,0 0-25,0 0-19,0 0-35,0 0 5,0 0-28,0 0 13,0 0 27,0 0 37,0 0 42,0 0 1,0 0 0,0 0 0,0 0 6,0 0-4,0 0 8,0 0-1,0 0-8,0 0 0,0 0 0,0 0-1,0 0 1,0 0-1,0 0 0,0 0 1,0 0 0,0 0 19,0 0-1,0 0-12,0 0-6,0 0 0,0 0 0,0 0-1,0 0 0,0 0 0,0 0 1,0 0-1,0 0 0,0 0 0,0 0 5,0 0 8,0 0-13,0 0 6,0 0-10,0 0 5,0 0-2,0 0-11,0 0-89,0 0-34,0 0-22,0 0 51,0 0 15,0 0 21,-13 14-41,0-1 18,0-1-14</inkml:trace>
  <inkml:trace contextRef="#ctx0" brushRef="#br0" timeOffset="3083.832">7545 10811 643,'0'0'277,"0"0"5,0 0-175,0 0-59,0 0 46,0 0-47,0 0-31,16-21-15,-12 17 0,0 2 0,-1 1-1,0 1-1,1 0-9,5 0-64,12 0-20,-2 0-106,2 0-118</inkml:trace>
  <inkml:trace contextRef="#ctx0" brushRef="#br0" timeOffset="3281.958">8771 10575 1141,'0'0'81,"0"0"-81,0 0-109,0 0 109,0 0 12,0 0 134,0 0-90,4 3-37,6 2-19,25 6-12,-4-2-28,6-2-300</inkml:trace>
  <inkml:trace contextRef="#ctx0" brushRef="#br0" timeOffset="3482.866">9639 10610 1335,'0'0'160,"0"0"-141,0 0-12,0 0-7,0 0 0,0 0-1,0 0-216,-25-16 24,45 18 70,0 1-186</inkml:trace>
  <inkml:trace contextRef="#ctx0" brushRef="#br0" timeOffset="3678.07">9733 10651 1134,'0'0'380,"0"0"-236,0 0 22,0 0-62,0 0-5,0 0-60,0 0-39,-17-7-117,17 7-113,2 0 67,5 0 54,2 0 29,3 0-117,-2 3-27,-1 0-467</inkml:trace>
  <inkml:trace contextRef="#ctx0" brushRef="#br0" timeOffset="3830.893">9733 10651 1112,'37'11'303,"-40"-11"-164,1 0 17,-2 0-39,4 0-66,0 0-51,-2 4-105,-3 2-199,1-1-317</inkml:trace>
  <inkml:trace contextRef="#ctx0" brushRef="#br0" timeOffset="4014.412">9891 10610 1149,'0'0'204,"0"0"-160,0 0-44,0 0-2,0 0-63,0 0-147,0 0-38</inkml:trace>
  <inkml:trace contextRef="#ctx0" brushRef="#br0" timeOffset="4239.584">10064 10670 1189,'0'0'294,"0"0"-192,0 0-74,0 0-28,0 0-6,76-27-89,-41 19-266</inkml:trace>
  <inkml:trace contextRef="#ctx0" brushRef="#br0" timeOffset="4534.855">13413 10341 1124,'0'0'196,"0"0"-146,0 0-49,62-27 66,-58 23 113,-3 2 4,-1 0-66,0 1-25,0-1-53,0 2-39,0 0-1,-6-2-132,-2 1-82,-3 1 121,-8 0-67,2 9-115,3-2-84</inkml:trace>
  <inkml:trace contextRef="#ctx0" brushRef="#br0" timeOffset="4744.98">13750 10334 1437,'0'0'208,"0"0"-73,0 0-26,0 0-109,0 0-44,-71-34-155,51 43-97,7 0-465</inkml:trace>
  <inkml:trace contextRef="#ctx0" brushRef="#br0" timeOffset="4905.731">13728 10387 1397,'0'0'239,"0"0"-185,0 0-54,0 0-48,0 0-166,0 0-1012</inkml:trace>
  <inkml:trace contextRef="#ctx0" brushRef="#br0" timeOffset="5067.539">13700 10470 1330,'0'0'206,"0"0"-132,0 0-42,0 0-32,0 0-56,0 0-211,0 0-68</inkml:trace>
  <inkml:trace contextRef="#ctx0" brushRef="#br0" timeOffset="5222.155">13526 10481 1147,'0'0'119,"0"0"-119,0 0-107,0 0-52,0 0-26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2210F-9A10-4066-89BC-48CBB1C75751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E6803-199B-4624-B63F-4FE38FBDD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8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" name="Google Shape;44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Lecture-1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2" name="Google Shape;442;p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prstClr val="black"/>
                </a:solidFill>
              </a:rPr>
              <a:pPr/>
              <a:t>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437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1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7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7"/>
          <p:cNvSpPr/>
          <p:nvPr/>
        </p:nvSpPr>
        <p:spPr>
          <a:xfrm>
            <a:off x="0" y="3211116"/>
            <a:ext cx="9144000" cy="193238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" name="Google Shape;35;p7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7"/>
          <p:cNvSpPr/>
          <p:nvPr/>
        </p:nvSpPr>
        <p:spPr>
          <a:xfrm>
            <a:off x="2882900" y="5081588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77"/>
          <p:cNvSpPr/>
          <p:nvPr/>
        </p:nvSpPr>
        <p:spPr>
          <a:xfrm>
            <a:off x="-12700" y="5081588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" name="Google Shape;38;p77"/>
          <p:cNvSpPr/>
          <p:nvPr/>
        </p:nvSpPr>
        <p:spPr>
          <a:xfrm>
            <a:off x="5778500" y="5081588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77"/>
          <p:cNvSpPr txBox="1"/>
          <p:nvPr/>
        </p:nvSpPr>
        <p:spPr>
          <a:xfrm>
            <a:off x="6858000" y="57150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77"/>
          <p:cNvSpPr txBox="1"/>
          <p:nvPr/>
        </p:nvSpPr>
        <p:spPr>
          <a:xfrm>
            <a:off x="7086600" y="87868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77"/>
          <p:cNvSpPr txBox="1">
            <a:spLocks noGrp="1"/>
          </p:cNvSpPr>
          <p:nvPr>
            <p:ph type="body" idx="1"/>
          </p:nvPr>
        </p:nvSpPr>
        <p:spPr>
          <a:xfrm>
            <a:off x="304800" y="3486150"/>
            <a:ext cx="8458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17145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0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47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36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902524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6" r:id="rId4"/>
    <p:sldLayoutId id="214748367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hyperlink" Target="https://christophm.github.io/interpretable-ml-book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://people.dbmi.columbia.edu/noemie/papers/15kdd.pdf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s://mit6874.github.io/assets/misc/sundararajan.pdf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ship.law.duke.edu/dltr/vol15/iss1/16/" TargetMode="External"/><Relationship Id="rId2" Type="http://schemas.openxmlformats.org/officeDocument/2006/relationships/hyperlink" Target="https://arxiv.org/pdf/1710.06169.pdf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s://arxiv.org/pdf/1611.01603.pdf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hyperlink" Target="http://openaccess.thecvf.com/content_ICCV_2017/papers/Selvaraju_Grad-CAM_Visual_Explanations_ICCV_2017_paper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customXml" Target="../ink/ink4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vacy-regulation.eu/en/r71.htm" TargetMode="External"/><Relationship Id="rId2" Type="http://schemas.openxmlformats.org/officeDocument/2006/relationships/hyperlink" Target="https://en.wikipedia.org/wiki/Code_of_Federal_Regulations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s://arxiv.org/abs/1910.10045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customXml" Target="../ink/ink5.xml"/><Relationship Id="rId7" Type="http://schemas.openxmlformats.org/officeDocument/2006/relationships/customXml" Target="../ink/ink6.xm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://www.jmlr.org/papers/v3/blei03a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hyperlink" Target="https://www.aaai.org/ocs/index.php/AAAI/AAAI18/paper/viewPaper/17433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hyperlink" Target="https://www.aaai.org/ocs/index.php/AAAI/AAAI18/paper/viewPaper/17433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hyperlink" Target="https://www.aaai.org/ocs/index.php/AAAI/AAAI18/paper/viewPaper/17433" TargetMode="Externa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hyperlink" Target="https://arxiv.org/pdf/1906.01431.pdf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hyperlink" Target="https://arxiv.org/pdf/1906.01431.pdf" TargetMode="Externa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hyperlink" Target="https://arxiv.org/pdf/1906.01431.pdf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hyperlink" Target="https://arxiv.org/pdf/1906.01431.pdf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hyperlink" Target="https://papers.nips.cc/paper/7141-what-uncertainties-do-we-need-in-bayesian-deep-learning-for-computer-vision.pdf" TargetMode="Externa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hyperlink" Target="http://openaccess.thecvf.com/content_cvpr_2016/html/Andreas_Neural_Module_Networks_CVPR_2016_paper.html" TargetMode="Externa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hyperlink" Target="http://openaccess.thecvf.com/content_cvpr_2016/html/Andreas_Neural_Module_Networks_CVPR_2016_paper.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jpg"/><Relationship Id="rId4" Type="http://schemas.openxmlformats.org/officeDocument/2006/relationships/image" Target="../media/image57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hyperlink" Target="http://openaccess.thecvf.com/content_cvpr_2016/html/Andreas_Neural_Module_Networks_CVPR_2016_paper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hyperlink" Target="http://openaccess.thecvf.com/content_cvpr_2016/html/Andreas_Neural_Module_Networks_CVPR_2016_paper.html" TargetMode="Externa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hyperlink" Target="https://openreview.net/pdf?id=SJlh8CEYDB" TargetMode="Externa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hyperlink" Target="https://openreview.net/pdf?id=r1ecqn4YwB" TargetMode="Externa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hyperlink" Target="https://openreview.net/pdf?id=r1ecqn4YwB" TargetMode="Externa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jpg"/><Relationship Id="rId4" Type="http://schemas.openxmlformats.org/officeDocument/2006/relationships/image" Target="../media/image69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hyperlink" Target="https://ieeexplore.ieee.org/stamp/stamp.jsp?tp&amp;arnumber=8466590" TargetMode="Externa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jpg"/><Relationship Id="rId3" Type="http://schemas.openxmlformats.org/officeDocument/2006/relationships/image" Target="../media/image51.jpg"/><Relationship Id="rId7" Type="http://schemas.openxmlformats.org/officeDocument/2006/relationships/image" Target="../media/image7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jpg"/><Relationship Id="rId5" Type="http://schemas.openxmlformats.org/officeDocument/2006/relationships/image" Target="../media/image73.jpg"/><Relationship Id="rId4" Type="http://schemas.openxmlformats.org/officeDocument/2006/relationships/image" Target="../media/image66.jpg"/><Relationship Id="rId9" Type="http://schemas.openxmlformats.org/officeDocument/2006/relationships/image" Target="../media/image77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oph.info/2018/11/08/mnist-history/" TargetMode="External"/><Relationship Id="rId5" Type="http://schemas.openxmlformats.org/officeDocument/2006/relationships/hyperlink" Target="http://yann.lecun.com/exdb/mnist/" TargetMode="External"/><Relationship Id="rId4" Type="http://schemas.openxmlformats.org/officeDocument/2006/relationships/image" Target="../media/image80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hyperlink" Target="https://www.researchgate.net/profile/Natalia_Diaz_Rodriguez/publication/336734529_Explainable_Artificial_Intelligence_XAI_Concepts_Taxonomies_Opportunities_and_Challenges_toward_Responsible_AI/links/5db31c5ca6fdccc99d9cf948/Explainable-Artificial-Intelligence-XAI-Concepts-Taxonomies-Opportunities-and-Challenges-toward-Responsible-AI.pdf" TargetMode="Externa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hyperlink" Target="https://arxiv.org/pdf/1702.08608.pdf" TargetMode="Externa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hyperlink" Target="https://mpsych.org/papers/suissa2016automatic.pdf" TargetMode="Externa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hyperlink" Target="https://dl.acm.org/doi/abs/10.1145/2939672.2939778" TargetMode="Externa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hyperlink" Target="https://dl.acm.org/doi/abs/10.1145/2939672.2939778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citations?view_op=view_citation&amp;hl=en&amp;user=rmsIyGMAAAAJ&amp;citation_for_view=rmsIyGMAAAAJ:u-x6o8ySG0sC" TargetMode="External"/><Relationship Id="rId2" Type="http://schemas.openxmlformats.org/officeDocument/2006/relationships/hyperlink" Target="https://christophm.github.io/interpretable-ml-book/" TargetMode="Externa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citations?view_op=view_citation&amp;hl=en&amp;user=rmsIyGMAAAAJ&amp;citation_for_view=rmsIyGMAAAAJ:u-x6o8ySG0sC" TargetMode="External"/><Relationship Id="rId2" Type="http://schemas.openxmlformats.org/officeDocument/2006/relationships/hyperlink" Target="https://christophm.github.io/interpretable-ml-book/" TargetMode="Externa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6.01431.pdf" TargetMode="External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906.01431.pdf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906.01431.pdf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jp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4.jpg"/><Relationship Id="rId7" Type="http://schemas.openxmlformats.org/officeDocument/2006/relationships/hyperlink" Target="https://medium.com/@kstseng/lime-local-interpretable-model-agnostic-" TargetMode="External"/><Relationship Id="rId12" Type="http://schemas.openxmlformats.org/officeDocument/2006/relationships/image" Target="../media/image112.png"/><Relationship Id="rId2" Type="http://schemas.openxmlformats.org/officeDocument/2006/relationships/image" Target="../media/image103.jp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7.jpg"/><Relationship Id="rId11" Type="http://schemas.openxmlformats.org/officeDocument/2006/relationships/image" Target="../media/image111.png"/><Relationship Id="rId5" Type="http://schemas.openxmlformats.org/officeDocument/2006/relationships/image" Target="../media/image106.jp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105.jp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04.jp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7.jpg"/><Relationship Id="rId11" Type="http://schemas.openxmlformats.org/officeDocument/2006/relationships/image" Target="../media/image121.png"/><Relationship Id="rId5" Type="http://schemas.openxmlformats.org/officeDocument/2006/relationships/image" Target="../media/image106.jpg"/><Relationship Id="rId10" Type="http://schemas.openxmlformats.org/officeDocument/2006/relationships/image" Target="../media/image120.png"/><Relationship Id="rId4" Type="http://schemas.openxmlformats.org/officeDocument/2006/relationships/image" Target="../media/image105.jpg"/><Relationship Id="rId9" Type="http://schemas.openxmlformats.org/officeDocument/2006/relationships/image" Target="../media/image11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7" Type="http://schemas.openxmlformats.org/officeDocument/2006/relationships/image" Target="../media/image126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05.jp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g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dd.org/kdd2016/papers/files/rfp0573-ribeiroA.pdf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jmlr.org/papers/volume11/baehrens10a/baehrens10a.pdf" TargetMode="External"/><Relationship Id="rId4" Type="http://schemas.openxmlformats.org/officeDocument/2006/relationships/hyperlink" Target="https://www.kdd.org/kdd2016/papers/files/rfp0573-ribeiroA.pdf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dd.org/kdd2016/papers/files/rfp0573-ribeiroA.pdf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9.png"/><Relationship Id="rId5" Type="http://schemas.openxmlformats.org/officeDocument/2006/relationships/hyperlink" Target="https://www.kdd.org/kdd2016/papers/files/rfp0573-ribeiroA.pdf" TargetMode="External"/><Relationship Id="rId4" Type="http://schemas.openxmlformats.org/officeDocument/2006/relationships/image" Target="../media/image136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g"/><Relationship Id="rId2" Type="http://schemas.openxmlformats.org/officeDocument/2006/relationships/hyperlink" Target="http://db.cs.duke.edu/courses/cps296.2/spring07/papers/p634-feige.pdf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dd.org/kdd2016/papers/files/rfp0573-ribeiroA.pdf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jpg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kdd.org/kdd2016/papers/files/rfp0573-ribeiroA.pdf" TargetMode="External"/><Relationship Id="rId4" Type="http://schemas.openxmlformats.org/officeDocument/2006/relationships/image" Target="../media/image142.jp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6.01431.pdf" TargetMode="External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6.01431.pdf" TargetMode="External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906.01431.pdf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906.01431.pdf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7.png"/><Relationship Id="rId4" Type="http://schemas.openxmlformats.org/officeDocument/2006/relationships/customXml" Target="../ink/ink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jp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jp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g"/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kdd.org/kdd2016/papers/files/rfp0573-ribeiroA.pdf" TargetMode="External"/><Relationship Id="rId4" Type="http://schemas.openxmlformats.org/officeDocument/2006/relationships/image" Target="../media/image128.jp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g"/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dd.org/kdd2016/papers/files/rfp0573-ribeiroA.pdf" TargetMode="Externa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jmlr.org/papers/volume11/baehrens10a/baehrens10a.pdf" TargetMode="External"/><Relationship Id="rId4" Type="http://schemas.openxmlformats.org/officeDocument/2006/relationships/hyperlink" Target="https://www.kdd.org/kdd2016/papers/files/rfp0573-ribeiroA.pdf" TargetMode="Externa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dd.org/kdd2016/papers/files/rfp0573-ribeiroA.pdf" TargetMode="Externa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9.png"/><Relationship Id="rId5" Type="http://schemas.openxmlformats.org/officeDocument/2006/relationships/hyperlink" Target="https://www.kdd.org/kdd2016/papers/files/rfp0573-ribeiroA.pdf" TargetMode="External"/><Relationship Id="rId4" Type="http://schemas.openxmlformats.org/officeDocument/2006/relationships/image" Target="../media/image136.jp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g"/><Relationship Id="rId2" Type="http://schemas.openxmlformats.org/officeDocument/2006/relationships/hyperlink" Target="http://db.cs.duke.edu/courses/cps296.2/spring07/papers/p634-feige.pdf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dd.org/kdd2016/papers/files/rfp0573-ribeiroA.pdf" TargetMode="Externa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jpg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kdd.org/kdd2016/papers/files/rfp0573-ribeiroA.pdf" TargetMode="External"/><Relationship Id="rId4" Type="http://schemas.openxmlformats.org/officeDocument/2006/relationships/image" Target="../media/image142.jp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1.emf"/><Relationship Id="rId4" Type="http://schemas.openxmlformats.org/officeDocument/2006/relationships/customXml" Target="../ink/ink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d.org/kdd2016/papers/files/rfp0573-ribeiroA.pdf" TargetMode="External"/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6.01431.pdf" TargetMode="External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ersagen.com/files/misc/ribeiro2018anchors.pdf" TargetMode="External"/><Relationship Id="rId4" Type="http://schemas.openxmlformats.org/officeDocument/2006/relationships/image" Target="../media/image153.jp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g"/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ersagen.com/files/misc/ribeiro2018anchors.pdf" TargetMode="Externa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ersagen.com/files/misc/ribeiro2018anchors.pdf" TargetMode="External"/><Relationship Id="rId4" Type="http://schemas.openxmlformats.org/officeDocument/2006/relationships/image" Target="../media/image160.jp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jpg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ersagen.com/files/misc/ribeiro2018anchors.pdf" TargetMode="External"/><Relationship Id="rId4" Type="http://schemas.openxmlformats.org/officeDocument/2006/relationships/image" Target="../media/image163.jp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jpg"/><Relationship Id="rId3" Type="http://schemas.openxmlformats.org/officeDocument/2006/relationships/image" Target="../media/image165.jpg"/><Relationship Id="rId7" Type="http://schemas.openxmlformats.org/officeDocument/2006/relationships/image" Target="../media/image169.png"/><Relationship Id="rId2" Type="http://schemas.openxmlformats.org/officeDocument/2006/relationships/image" Target="../media/image16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8.png"/><Relationship Id="rId5" Type="http://schemas.openxmlformats.org/officeDocument/2006/relationships/image" Target="../media/image167.jpg"/><Relationship Id="rId4" Type="http://schemas.openxmlformats.org/officeDocument/2006/relationships/image" Target="../media/image166.jpg"/><Relationship Id="rId9" Type="http://schemas.openxmlformats.org/officeDocument/2006/relationships/hyperlink" Target="https://persagen.com/files/misc/ribeiro2018anchors.pdf" TargetMode="Externa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jpg"/><Relationship Id="rId2" Type="http://schemas.openxmlformats.org/officeDocument/2006/relationships/image" Target="../media/image170.jpg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jpg"/><Relationship Id="rId2" Type="http://schemas.openxmlformats.org/officeDocument/2006/relationships/image" Target="../media/image172.jpg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g"/><Relationship Id="rId2" Type="http://schemas.openxmlformats.org/officeDocument/2006/relationships/hyperlink" Target="https://persagen.com/files/misc/ribeiro2018anchors.pdf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2.emf"/><Relationship Id="rId4" Type="http://schemas.openxmlformats.org/officeDocument/2006/relationships/customXml" Target="../ink/ink9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g"/><Relationship Id="rId2" Type="http://schemas.openxmlformats.org/officeDocument/2006/relationships/hyperlink" Target="https://persagen.com/files/misc/ribeiro2018anchors.pdf" TargetMode="Externa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jpg"/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ersagen.com/files/misc/ribeiro2018anchors.pdf" TargetMode="External"/><Relationship Id="rId4" Type="http://schemas.openxmlformats.org/officeDocument/2006/relationships/image" Target="../media/image176.jp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agen.com/files/misc/ribeiro2018anchors.pdf" TargetMode="External"/><Relationship Id="rId2" Type="http://schemas.openxmlformats.org/officeDocument/2006/relationships/image" Target="../media/image178.jpg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jp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g"/><Relationship Id="rId2" Type="http://schemas.openxmlformats.org/officeDocument/2006/relationships/image" Target="../media/image179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ersagen.com/files/misc/ribeiro2018anchors.pdf" TargetMode="Externa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g"/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ersagen.com/files/misc/ribeiro2018anchor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Fair, Accountable, Transparent Machine Learning (</a:t>
            </a:r>
            <a:r>
              <a:rPr lang="en-US" sz="2800" dirty="0" err="1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FAccT</a:t>
            </a: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 ML)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ZG517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Ghosal</a:t>
            </a:r>
            <a:endParaRPr dirty="0"/>
          </a:p>
          <a:p>
            <a:pPr marL="274320" indent="-192024" algn="r">
              <a:spcBef>
                <a:spcPts val="357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sugata.ghosal@pilani.bits-pilani.ac.in</a:t>
            </a:r>
            <a:endParaRPr sz="2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BC5A7F-0E98-4A53-88B1-422BEDD29CEC}"/>
                  </a:ext>
                </a:extLst>
              </p14:cNvPr>
              <p14:cNvContentPartPr/>
              <p14:nvPr/>
            </p14:nvContentPartPr>
            <p14:xfrm>
              <a:off x="1619280" y="1509840"/>
              <a:ext cx="6986880" cy="1452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BC5A7F-0E98-4A53-88B1-422BEDD29C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9920" y="1500480"/>
                <a:ext cx="7005600" cy="147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"/>
          <p:cNvSpPr txBox="1">
            <a:spLocks noGrp="1"/>
          </p:cNvSpPr>
          <p:nvPr>
            <p:ph type="body" idx="1"/>
          </p:nvPr>
        </p:nvSpPr>
        <p:spPr>
          <a:xfrm>
            <a:off x="1371600" y="3314700"/>
            <a:ext cx="634365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77500" lnSpcReduction="20000"/>
          </a:bodyPr>
          <a:lstStyle/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Session 9</a:t>
            </a:r>
            <a:endParaRPr dirty="0"/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Time –  10:40 AM to 12:40 PM</a:t>
            </a: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dirty="0"/>
          </a:p>
          <a:p>
            <a:pPr marL="0" marR="132398" indent="0">
              <a:lnSpc>
                <a:spcPct val="120000"/>
              </a:lnSpc>
              <a:spcBef>
                <a:spcPts val="878"/>
              </a:spcBef>
              <a:buSzPct val="100000"/>
            </a:pPr>
            <a:r>
              <a:rPr lang="en-US" sz="1950" b="0" dirty="0">
                <a:latin typeface="Calibri"/>
                <a:ea typeface="Calibri"/>
                <a:cs typeface="Calibri"/>
                <a:sym typeface="Calibri"/>
              </a:rPr>
              <a:t>These slides are prepared by the instructor, with grateful acknowledgement of many others who made  their course materials freely available online.</a:t>
            </a:r>
            <a:endParaRPr dirty="0"/>
          </a:p>
          <a:p>
            <a:pPr marL="0" indent="0">
              <a:lnSpc>
                <a:spcPct val="117083"/>
              </a:lnSpc>
              <a:buSzPct val="100000"/>
            </a:pPr>
            <a:endParaRPr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sz="27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75248" y="332515"/>
            <a:ext cx="3200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Outline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784952"/>
            <a:ext cx="5040630" cy="305404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414"/>
              </a:spcBef>
              <a:tabLst>
                <a:tab pos="379095" algn="l"/>
                <a:tab pos="379730" algn="l"/>
              </a:tabLst>
            </a:pP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Arial"/>
                <a:cs typeface="Arial"/>
              </a:rPr>
              <a:t>Intrinsically Interpretable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Models</a:t>
            </a: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Simple interpretable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models</a:t>
            </a: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Instricically interpretable techniques for deep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learning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Arial"/>
                <a:cs typeface="Arial"/>
              </a:rPr>
              <a:t>Interpretability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Concepts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Intrinsic and post hoc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methods</a:t>
            </a: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latin typeface="Arial"/>
                <a:cs typeface="Arial"/>
              </a:rPr>
              <a:t>model-specific </a:t>
            </a:r>
            <a:r>
              <a:rPr sz="1400" spc="-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model-agnostic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methods</a:t>
            </a: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Local and global interpretable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methods</a:t>
            </a: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latin typeface="Arial"/>
                <a:cs typeface="Arial"/>
              </a:rPr>
              <a:t>Interpretability and performance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trade-offs</a:t>
            </a:r>
            <a:endParaRPr lang="en-US" sz="1400" spc="-1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3405" y="3638550"/>
            <a:ext cx="8089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Must Read: </a:t>
            </a:r>
            <a:r>
              <a:rPr lang="en-US" sz="1400" b="1" dirty="0"/>
              <a:t>Chapters 3, and 5 </a:t>
            </a:r>
            <a:r>
              <a:rPr lang="en-US" sz="1400" dirty="0"/>
              <a:t>of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https://christophm.github.io/interpretable-ml-book/ 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7F6B50-54BA-4B31-91E9-FEAF59A1FD45}"/>
                  </a:ext>
                </a:extLst>
              </p14:cNvPr>
              <p14:cNvContentPartPr/>
              <p14:nvPr/>
            </p14:nvContentPartPr>
            <p14:xfrm>
              <a:off x="1609560" y="581040"/>
              <a:ext cx="5458320" cy="414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7F6B50-54BA-4B31-91E9-FEAF59A1FD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200" y="571680"/>
                <a:ext cx="5477040" cy="416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096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Machine </a:t>
            </a:r>
            <a:r>
              <a:rPr sz="2800" spc="-5" dirty="0"/>
              <a:t>Learning</a:t>
            </a:r>
            <a:r>
              <a:rPr sz="2800" spc="-100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90620" y="1217372"/>
            <a:ext cx="81273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ML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interpretability allows one to examine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model's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basis in its decision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making</a:t>
            </a:r>
            <a:r>
              <a:rPr sz="1600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process.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200" y="1581151"/>
            <a:ext cx="3048000" cy="2434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22720" y="1748309"/>
            <a:ext cx="3030679" cy="20107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19200" y="4171950"/>
            <a:ext cx="20637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An interpretable tree </a:t>
            </a:r>
            <a:r>
              <a:rPr sz="1000" dirty="0">
                <a:latin typeface="Arial"/>
                <a:cs typeface="Arial"/>
              </a:rPr>
              <a:t>model </a:t>
            </a:r>
            <a:r>
              <a:rPr sz="1000" spc="-5" dirty="0">
                <a:latin typeface="Arial"/>
                <a:cs typeface="Arial"/>
              </a:rPr>
              <a:t>to find  out the </a:t>
            </a:r>
            <a:r>
              <a:rPr sz="1000" dirty="0">
                <a:latin typeface="Arial"/>
                <a:cs typeface="Arial"/>
              </a:rPr>
              <a:t>kind </a:t>
            </a:r>
            <a:r>
              <a:rPr sz="1000" spc="-5" dirty="0">
                <a:latin typeface="Arial"/>
                <a:cs typeface="Arial"/>
              </a:rPr>
              <a:t>of </a:t>
            </a:r>
            <a:r>
              <a:rPr sz="1000" dirty="0">
                <a:latin typeface="Arial"/>
                <a:cs typeface="Arial"/>
              </a:rPr>
              <a:t>contact </a:t>
            </a:r>
            <a:r>
              <a:rPr sz="1000" spc="-5" dirty="0">
                <a:latin typeface="Arial"/>
                <a:cs typeface="Arial"/>
              </a:rPr>
              <a:t>lens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9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person  </a:t>
            </a:r>
            <a:r>
              <a:rPr sz="1000" dirty="0">
                <a:latin typeface="Arial"/>
                <a:cs typeface="Arial"/>
              </a:rPr>
              <a:t>may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wear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4131" y="3836459"/>
            <a:ext cx="1887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neural network which is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usually  </a:t>
            </a:r>
            <a:r>
              <a:rPr sz="1000" dirty="0">
                <a:latin typeface="Arial"/>
                <a:cs typeface="Arial"/>
              </a:rPr>
              <a:t>considered a </a:t>
            </a:r>
            <a:r>
              <a:rPr sz="1000" spc="-5" dirty="0">
                <a:latin typeface="Arial"/>
                <a:cs typeface="Arial"/>
              </a:rPr>
              <a:t>black-box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model.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5A7FDA-AF68-4DFB-814C-51972817E085}"/>
                  </a:ext>
                </a:extLst>
              </p14:cNvPr>
              <p14:cNvContentPartPr/>
              <p14:nvPr/>
            </p14:nvContentPartPr>
            <p14:xfrm>
              <a:off x="476280" y="1452600"/>
              <a:ext cx="8391960" cy="3277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5A7FDA-AF68-4DFB-814C-51972817E0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6920" y="1443240"/>
                <a:ext cx="8410680" cy="329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343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VGG19</a:t>
            </a:r>
            <a:r>
              <a:rPr sz="2800" spc="-240" dirty="0"/>
              <a:t> </a:t>
            </a:r>
            <a:r>
              <a:rPr sz="2800" spc="-5" dirty="0"/>
              <a:t>Architecture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400537" y="1709807"/>
            <a:ext cx="2515235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46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layers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143,667,240 parameters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size: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575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MB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4398" y="1259622"/>
            <a:ext cx="3359643" cy="3461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486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Visualizations </a:t>
            </a:r>
            <a:r>
              <a:rPr sz="2800" spc="-5" dirty="0"/>
              <a:t>of</a:t>
            </a:r>
            <a:r>
              <a:rPr sz="2800" spc="-65" dirty="0"/>
              <a:t> </a:t>
            </a:r>
            <a:r>
              <a:rPr sz="2800" spc="-5" dirty="0"/>
              <a:t>GoogLeNet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363937" y="1504547"/>
            <a:ext cx="8532279" cy="25867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236711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Regulating AI </a:t>
            </a:r>
            <a:r>
              <a:rPr sz="2800" dirty="0"/>
              <a:t>Models </a:t>
            </a:r>
            <a:r>
              <a:rPr sz="2800" spc="-5" dirty="0"/>
              <a:t>for</a:t>
            </a:r>
            <a:r>
              <a:rPr sz="2800" spc="-285" dirty="0"/>
              <a:t> </a:t>
            </a:r>
            <a:r>
              <a:rPr sz="2800" spc="-20" dirty="0"/>
              <a:t>Trading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2765744" y="1146772"/>
            <a:ext cx="3470967" cy="34709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620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Precision </a:t>
            </a:r>
            <a:r>
              <a:rPr sz="2800" dirty="0"/>
              <a:t>Medicine (</a:t>
            </a:r>
            <a:r>
              <a:rPr sz="2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Caruana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al.,</a:t>
            </a:r>
            <a:r>
              <a:rPr sz="2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2015</a:t>
            </a:r>
            <a:r>
              <a:rPr sz="280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3943985" cy="320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257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Predict probability of death for  patient with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pneumonia</a:t>
            </a:r>
            <a:endParaRPr sz="1800">
              <a:latin typeface="Arial"/>
              <a:cs typeface="Arial"/>
            </a:endParaRPr>
          </a:p>
          <a:p>
            <a:pPr marL="836294" lvl="1" indent="-336550" algn="just">
              <a:lnSpc>
                <a:spcPct val="100000"/>
              </a:lnSpc>
              <a:spcBef>
                <a:spcPts val="330"/>
              </a:spcBef>
              <a:buChar char="○"/>
              <a:tabLst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high probability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-&gt;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hospital/ICU</a:t>
            </a:r>
            <a:endParaRPr sz="1400">
              <a:latin typeface="Arial"/>
              <a:cs typeface="Arial"/>
            </a:endParaRPr>
          </a:p>
          <a:p>
            <a:pPr marL="836294" lvl="1" indent="-336550" algn="just">
              <a:lnSpc>
                <a:spcPct val="100000"/>
              </a:lnSpc>
              <a:spcBef>
                <a:spcPts val="270"/>
              </a:spcBef>
              <a:buChar char="○"/>
              <a:tabLst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low probability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-&gt;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treated as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outpatients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Arial"/>
              <a:buChar char="○"/>
            </a:pPr>
            <a:endParaRPr sz="19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 models make</a:t>
            </a:r>
            <a:r>
              <a:rPr sz="18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mistakes</a:t>
            </a:r>
            <a:endParaRPr sz="1800">
              <a:latin typeface="Arial"/>
              <a:cs typeface="Arial"/>
            </a:endParaRPr>
          </a:p>
          <a:p>
            <a:pPr marL="836294" lvl="1" indent="-336550" algn="just">
              <a:lnSpc>
                <a:spcPct val="100000"/>
              </a:lnSpc>
              <a:spcBef>
                <a:spcPts val="330"/>
              </a:spcBef>
              <a:buChar char="○"/>
              <a:tabLst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biases in the dataset exist for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asthma</a:t>
            </a:r>
            <a:endParaRPr sz="1400">
              <a:latin typeface="Arial"/>
              <a:cs typeface="Arial"/>
            </a:endParaRPr>
          </a:p>
          <a:p>
            <a:pPr marL="836294" marR="462915" lvl="1" indent="-336550" algn="just">
              <a:lnSpc>
                <a:spcPct val="116100"/>
              </a:lnSpc>
              <a:buChar char="○"/>
              <a:tabLst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asthma 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serious condition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 has to be admitted to hospitals or  even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ICUs</a:t>
            </a:r>
            <a:endParaRPr sz="1400">
              <a:latin typeface="Arial"/>
              <a:cs typeface="Arial"/>
            </a:endParaRPr>
          </a:p>
          <a:p>
            <a:pPr marL="836294" marR="186690" lvl="1" indent="-336550">
              <a:lnSpc>
                <a:spcPct val="1161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mistakes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neural nets on asthma  prevented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clinical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trials in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mid-90's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10150" y="1054062"/>
            <a:ext cx="4196715" cy="3594735"/>
            <a:chOff x="4610150" y="1054062"/>
            <a:chExt cx="4196715" cy="3594735"/>
          </a:xfrm>
        </p:grpSpPr>
        <p:sp>
          <p:nvSpPr>
            <p:cNvPr id="5" name="object 5"/>
            <p:cNvSpPr/>
            <p:nvPr/>
          </p:nvSpPr>
          <p:spPr>
            <a:xfrm>
              <a:off x="4610150" y="1284974"/>
              <a:ext cx="4196637" cy="33632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14063" y="1152472"/>
              <a:ext cx="1139825" cy="870585"/>
            </a:xfrm>
            <a:custGeom>
              <a:avLst/>
              <a:gdLst/>
              <a:ahLst/>
              <a:cxnLst/>
              <a:rect l="l" t="t" r="r" b="b"/>
              <a:pathLst>
                <a:path w="1139825" h="870585">
                  <a:moveTo>
                    <a:pt x="0" y="435149"/>
                  </a:moveTo>
                  <a:lnTo>
                    <a:pt x="2608" y="393241"/>
                  </a:lnTo>
                  <a:lnTo>
                    <a:pt x="10272" y="352460"/>
                  </a:lnTo>
                  <a:lnTo>
                    <a:pt x="22755" y="312989"/>
                  </a:lnTo>
                  <a:lnTo>
                    <a:pt x="39818" y="275009"/>
                  </a:lnTo>
                  <a:lnTo>
                    <a:pt x="61221" y="238704"/>
                  </a:lnTo>
                  <a:lnTo>
                    <a:pt x="86725" y="204255"/>
                  </a:lnTo>
                  <a:lnTo>
                    <a:pt x="116093" y="171845"/>
                  </a:lnTo>
                  <a:lnTo>
                    <a:pt x="149084" y="141656"/>
                  </a:lnTo>
                  <a:lnTo>
                    <a:pt x="185462" y="113871"/>
                  </a:lnTo>
                  <a:lnTo>
                    <a:pt x="224985" y="88671"/>
                  </a:lnTo>
                  <a:lnTo>
                    <a:pt x="267417" y="66240"/>
                  </a:lnTo>
                  <a:lnTo>
                    <a:pt x="312517" y="46760"/>
                  </a:lnTo>
                  <a:lnTo>
                    <a:pt x="360048" y="30412"/>
                  </a:lnTo>
                  <a:lnTo>
                    <a:pt x="409771" y="17380"/>
                  </a:lnTo>
                  <a:lnTo>
                    <a:pt x="461445" y="7846"/>
                  </a:lnTo>
                  <a:lnTo>
                    <a:pt x="514834" y="1991"/>
                  </a:lnTo>
                  <a:lnTo>
                    <a:pt x="569698" y="0"/>
                  </a:lnTo>
                  <a:lnTo>
                    <a:pt x="624566" y="1991"/>
                  </a:lnTo>
                  <a:lnTo>
                    <a:pt x="677958" y="7846"/>
                  </a:lnTo>
                  <a:lnTo>
                    <a:pt x="729635" y="17380"/>
                  </a:lnTo>
                  <a:lnTo>
                    <a:pt x="779359" y="30412"/>
                  </a:lnTo>
                  <a:lnTo>
                    <a:pt x="826890" y="46760"/>
                  </a:lnTo>
                  <a:lnTo>
                    <a:pt x="871991" y="66240"/>
                  </a:lnTo>
                  <a:lnTo>
                    <a:pt x="914422" y="88671"/>
                  </a:lnTo>
                  <a:lnTo>
                    <a:pt x="953945" y="113871"/>
                  </a:lnTo>
                  <a:lnTo>
                    <a:pt x="990321" y="141656"/>
                  </a:lnTo>
                  <a:lnTo>
                    <a:pt x="1023311" y="171845"/>
                  </a:lnTo>
                  <a:lnTo>
                    <a:pt x="1052678" y="204255"/>
                  </a:lnTo>
                  <a:lnTo>
                    <a:pt x="1078181" y="238704"/>
                  </a:lnTo>
                  <a:lnTo>
                    <a:pt x="1099582" y="275009"/>
                  </a:lnTo>
                  <a:lnTo>
                    <a:pt x="1116643" y="312989"/>
                  </a:lnTo>
                  <a:lnTo>
                    <a:pt x="1129125" y="352460"/>
                  </a:lnTo>
                  <a:lnTo>
                    <a:pt x="1136789" y="393241"/>
                  </a:lnTo>
                  <a:lnTo>
                    <a:pt x="1139397" y="435149"/>
                  </a:lnTo>
                  <a:lnTo>
                    <a:pt x="1136789" y="477057"/>
                  </a:lnTo>
                  <a:lnTo>
                    <a:pt x="1129125" y="517837"/>
                  </a:lnTo>
                  <a:lnTo>
                    <a:pt x="1116643" y="557309"/>
                  </a:lnTo>
                  <a:lnTo>
                    <a:pt x="1099582" y="595288"/>
                  </a:lnTo>
                  <a:lnTo>
                    <a:pt x="1078181" y="631594"/>
                  </a:lnTo>
                  <a:lnTo>
                    <a:pt x="1052678" y="666042"/>
                  </a:lnTo>
                  <a:lnTo>
                    <a:pt x="1023311" y="698453"/>
                  </a:lnTo>
                  <a:lnTo>
                    <a:pt x="990321" y="728641"/>
                  </a:lnTo>
                  <a:lnTo>
                    <a:pt x="953945" y="756427"/>
                  </a:lnTo>
                  <a:lnTo>
                    <a:pt x="914422" y="781626"/>
                  </a:lnTo>
                  <a:lnTo>
                    <a:pt x="871991" y="804057"/>
                  </a:lnTo>
                  <a:lnTo>
                    <a:pt x="826890" y="823537"/>
                  </a:lnTo>
                  <a:lnTo>
                    <a:pt x="779359" y="839885"/>
                  </a:lnTo>
                  <a:lnTo>
                    <a:pt x="729635" y="852917"/>
                  </a:lnTo>
                  <a:lnTo>
                    <a:pt x="677958" y="862451"/>
                  </a:lnTo>
                  <a:lnTo>
                    <a:pt x="624566" y="868306"/>
                  </a:lnTo>
                  <a:lnTo>
                    <a:pt x="569698" y="870298"/>
                  </a:lnTo>
                  <a:lnTo>
                    <a:pt x="514834" y="868306"/>
                  </a:lnTo>
                  <a:lnTo>
                    <a:pt x="461445" y="862451"/>
                  </a:lnTo>
                  <a:lnTo>
                    <a:pt x="409771" y="852917"/>
                  </a:lnTo>
                  <a:lnTo>
                    <a:pt x="360048" y="839885"/>
                  </a:lnTo>
                  <a:lnTo>
                    <a:pt x="312517" y="823537"/>
                  </a:lnTo>
                  <a:lnTo>
                    <a:pt x="267417" y="804057"/>
                  </a:lnTo>
                  <a:lnTo>
                    <a:pt x="224985" y="781626"/>
                  </a:lnTo>
                  <a:lnTo>
                    <a:pt x="185462" y="756427"/>
                  </a:lnTo>
                  <a:lnTo>
                    <a:pt x="149084" y="728641"/>
                  </a:lnTo>
                  <a:lnTo>
                    <a:pt x="116093" y="698453"/>
                  </a:lnTo>
                  <a:lnTo>
                    <a:pt x="86725" y="666042"/>
                  </a:lnTo>
                  <a:lnTo>
                    <a:pt x="61221" y="631594"/>
                  </a:lnTo>
                  <a:lnTo>
                    <a:pt x="39818" y="595288"/>
                  </a:lnTo>
                  <a:lnTo>
                    <a:pt x="22755" y="557309"/>
                  </a:lnTo>
                  <a:lnTo>
                    <a:pt x="10272" y="517837"/>
                  </a:lnTo>
                  <a:lnTo>
                    <a:pt x="2608" y="477057"/>
                  </a:lnTo>
                  <a:lnTo>
                    <a:pt x="0" y="435149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1536" y="1058825"/>
              <a:ext cx="715010" cy="205740"/>
            </a:xfrm>
            <a:custGeom>
              <a:avLst/>
              <a:gdLst/>
              <a:ahLst/>
              <a:cxnLst/>
              <a:rect l="l" t="t" r="r" b="b"/>
              <a:pathLst>
                <a:path w="715009" h="205740">
                  <a:moveTo>
                    <a:pt x="714573" y="0"/>
                  </a:moveTo>
                  <a:lnTo>
                    <a:pt x="0" y="20531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99986" y="124902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45899" y="30239"/>
                  </a:moveTo>
                  <a:lnTo>
                    <a:pt x="0" y="27057"/>
                  </a:lnTo>
                  <a:lnTo>
                    <a:pt x="37199" y="0"/>
                  </a:lnTo>
                  <a:lnTo>
                    <a:pt x="45899" y="302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9986" y="124902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37199" y="0"/>
                  </a:moveTo>
                  <a:lnTo>
                    <a:pt x="0" y="27057"/>
                  </a:lnTo>
                  <a:lnTo>
                    <a:pt x="45899" y="30239"/>
                  </a:lnTo>
                  <a:lnTo>
                    <a:pt x="371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348471" y="938668"/>
            <a:ext cx="1202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Biases in the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dataset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848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Medical </a:t>
            </a:r>
            <a:r>
              <a:rPr sz="2800" spc="-5" dirty="0"/>
              <a:t>Imaging </a:t>
            </a:r>
            <a:r>
              <a:rPr sz="2800" spc="-10" dirty="0"/>
              <a:t>(</a:t>
            </a:r>
            <a:r>
              <a:rPr sz="2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Sundararajan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al.,</a:t>
            </a:r>
            <a:r>
              <a:rPr sz="2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2017</a:t>
            </a:r>
            <a:r>
              <a:rPr sz="2800" spc="10" dirty="0"/>
              <a:t>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2893060" cy="285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19431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Diabetic</a:t>
            </a:r>
            <a:r>
              <a:rPr sz="1800" spc="-1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Retinopathy  Grade is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detected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retinal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fundus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215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Gradient based  techniques are used to  demonstrate the basis of 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model's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decisions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4734" y="1559340"/>
            <a:ext cx="5234829" cy="2616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934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Legal </a:t>
            </a:r>
            <a:r>
              <a:rPr sz="2800" spc="-85" dirty="0"/>
              <a:t>Tool </a:t>
            </a:r>
            <a:r>
              <a:rPr sz="2800" spc="-10" dirty="0"/>
              <a:t>Explanation </a:t>
            </a:r>
            <a:r>
              <a:rPr sz="2800" spc="-65" dirty="0"/>
              <a:t>(</a:t>
            </a:r>
            <a:r>
              <a:rPr sz="2800" u="heavy" spc="-6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Tan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al.,</a:t>
            </a:r>
            <a:r>
              <a:rPr sz="2800" u="heavy" spc="5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2018</a:t>
            </a:r>
            <a:r>
              <a:rPr sz="2800" spc="-5" dirty="0"/>
              <a:t>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7684134" cy="295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legal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Lightbourne, 2017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challenges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use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software</a:t>
            </a:r>
            <a:r>
              <a:rPr sz="1800" spc="-1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 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"COMPAS"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sentencing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individuals to prison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alleged use of gender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race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 in its decision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making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process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algorithm details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considered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be trade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secrets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are not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transparent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Arial"/>
              <a:buChar char="○"/>
            </a:pPr>
            <a:endParaRPr sz="19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Mimicking Model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Behaviors</a:t>
            </a:r>
            <a:endParaRPr sz="1800">
              <a:latin typeface="Arial"/>
              <a:cs typeface="Arial"/>
            </a:endParaRPr>
          </a:p>
          <a:p>
            <a:pPr marL="836294" marR="4203065" lvl="1" indent="-336550">
              <a:lnSpc>
                <a:spcPct val="116100"/>
              </a:lnSpc>
              <a:spcBef>
                <a:spcPts val="6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distillation is used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mimic  model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behaviors</a:t>
            </a:r>
            <a:endParaRPr sz="1400">
              <a:latin typeface="Arial"/>
              <a:cs typeface="Arial"/>
            </a:endParaRPr>
          </a:p>
          <a:p>
            <a:pPr marL="836294" marR="4163695" lvl="1" indent="-336550">
              <a:lnSpc>
                <a:spcPct val="1161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 used to  explain the behaviors of black box 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4134" y="2519219"/>
            <a:ext cx="3556666" cy="20355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162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Question </a:t>
            </a:r>
            <a:r>
              <a:rPr sz="2800" spc="-10" dirty="0"/>
              <a:t>Answering </a:t>
            </a:r>
            <a:r>
              <a:rPr sz="2800" spc="15" dirty="0"/>
              <a:t>(</a:t>
            </a:r>
            <a:r>
              <a:rPr sz="280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Seo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2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2017</a:t>
            </a:r>
            <a:r>
              <a:rPr sz="280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2762885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Explanation of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question  answering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  <a:p>
            <a:pPr marL="836294" marR="11430" lvl="1" indent="-336550">
              <a:lnSpc>
                <a:spcPct val="116100"/>
              </a:lnSpc>
              <a:spcBef>
                <a:spcPts val="6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highlighted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keywords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context &amp;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questions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2426" y="1565441"/>
            <a:ext cx="4737281" cy="25761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9296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Image Caption Generation (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Selvaraju et al.,</a:t>
            </a:r>
            <a:r>
              <a:rPr sz="28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2017</a:t>
            </a:r>
            <a:r>
              <a:rPr sz="2800" spc="5" dirty="0"/>
              <a:t>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45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Highlighted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regions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explaining an image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caption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algorithm.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1012" y="2061872"/>
            <a:ext cx="4303198" cy="1316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04065" y="3428625"/>
            <a:ext cx="4312614" cy="12645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9847F1B-0712-4630-B934-F316963F6BC0}"/>
                  </a:ext>
                </a:extLst>
              </p14:cNvPr>
              <p14:cNvContentPartPr/>
              <p14:nvPr/>
            </p14:nvContentPartPr>
            <p14:xfrm>
              <a:off x="347760" y="1704960"/>
              <a:ext cx="6258240" cy="2333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9847F1B-0712-4630-B934-F316963F6B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8400" y="1695600"/>
                <a:ext cx="6276960" cy="235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096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Reasons for </a:t>
            </a:r>
            <a:r>
              <a:rPr sz="2800" dirty="0"/>
              <a:t>ML</a:t>
            </a:r>
            <a:r>
              <a:rPr sz="2800" spc="-200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945120" cy="302441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Our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society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 been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shifted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AI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1800" spc="-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ever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autonomous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vehicles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security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finance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others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har char="○"/>
            </a:pPr>
            <a:endParaRPr sz="1900" dirty="0">
              <a:latin typeface="Arial"/>
              <a:cs typeface="Arial"/>
            </a:endParaRPr>
          </a:p>
          <a:p>
            <a:pPr marL="379095" indent="-35179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Who will will benefit from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16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Interpretability?</a:t>
            </a:r>
            <a:endParaRPr sz="1600" dirty="0">
              <a:latin typeface="Arial"/>
              <a:cs typeface="Arial"/>
            </a:endParaRPr>
          </a:p>
          <a:p>
            <a:pPr marL="836294" marR="5080" lvl="1" indent="-351790">
              <a:lnSpc>
                <a:spcPct val="113300"/>
              </a:lnSpc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End Users: enhance trust, understand the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consequences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of the decisions, e.g., 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privacy,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fairness.</a:t>
            </a:r>
            <a:endParaRPr sz="1600" dirty="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Regulatory Agencies: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compliance,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lang="en-US" sz="1600" spc="-5" dirty="0">
                <a:solidFill>
                  <a:srgbClr val="595959"/>
                </a:solidFill>
                <a:latin typeface="Arial"/>
                <a:cs typeface="Arial"/>
              </a:rPr>
              <a:t>u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dits, and</a:t>
            </a:r>
            <a:r>
              <a:rPr sz="16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accountability.</a:t>
            </a:r>
            <a:endParaRPr sz="1600" dirty="0">
              <a:latin typeface="Arial"/>
              <a:cs typeface="Arial"/>
            </a:endParaRPr>
          </a:p>
          <a:p>
            <a:pPr marL="836294" lvl="1" indent="-351790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  <a:tab pos="83693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Designers: diagnose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performance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400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Right to</a:t>
            </a:r>
            <a:r>
              <a:rPr sz="2800" spc="-95" dirty="0"/>
              <a:t> </a:t>
            </a:r>
            <a:r>
              <a:rPr sz="2800" spc="-5" dirty="0"/>
              <a:t>Explanation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57447"/>
            <a:ext cx="8242934" cy="351409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6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Credit Scores in United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States</a:t>
            </a:r>
            <a:endParaRPr sz="1800" dirty="0">
              <a:latin typeface="Arial"/>
              <a:cs typeface="Arial"/>
            </a:endParaRPr>
          </a:p>
          <a:p>
            <a:pPr marL="836294" lvl="1" indent="-328930">
              <a:lnSpc>
                <a:spcPct val="100000"/>
              </a:lnSpc>
              <a:spcBef>
                <a:spcPts val="335"/>
              </a:spcBef>
              <a:buChar char="○"/>
              <a:tabLst>
                <a:tab pos="836294" algn="l"/>
                <a:tab pos="8369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Equal Credit Opportunity Rights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(Regulation B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of the</a:t>
            </a:r>
            <a:r>
              <a:rPr sz="1300" spc="-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3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Code of Federal</a:t>
            </a:r>
            <a:r>
              <a:rPr sz="13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3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Regulations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300" dirty="0">
              <a:latin typeface="Arial"/>
              <a:cs typeface="Arial"/>
            </a:endParaRPr>
          </a:p>
          <a:p>
            <a:pPr marL="836294" lvl="1" indent="-328930">
              <a:lnSpc>
                <a:spcPct val="100000"/>
              </a:lnSpc>
              <a:spcBef>
                <a:spcPts val="240"/>
              </a:spcBef>
              <a:buChar char="○"/>
              <a:tabLst>
                <a:tab pos="836294" algn="l"/>
                <a:tab pos="8369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Creditors are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required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to notify applicants of action taken with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statement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3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endParaRPr sz="13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European Union General Data Protection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Regulation</a:t>
            </a:r>
            <a:endParaRPr sz="1800" dirty="0">
              <a:latin typeface="Arial"/>
              <a:cs typeface="Arial"/>
            </a:endParaRPr>
          </a:p>
          <a:p>
            <a:pPr marL="836294" lvl="1" indent="-328930">
              <a:lnSpc>
                <a:spcPct val="100000"/>
              </a:lnSpc>
              <a:spcBef>
                <a:spcPts val="335"/>
              </a:spcBef>
              <a:buChar char="○"/>
              <a:tabLst>
                <a:tab pos="836294" algn="l"/>
                <a:tab pos="8369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GDPR 1995 provided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legally disputed form of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 right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to an explanation</a:t>
            </a:r>
            <a:r>
              <a:rPr sz="1300" spc="-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3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Recital</a:t>
            </a:r>
            <a:r>
              <a:rPr sz="13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3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71</a:t>
            </a:r>
            <a:endParaRPr sz="1300" dirty="0">
              <a:latin typeface="Arial"/>
              <a:cs typeface="Arial"/>
            </a:endParaRPr>
          </a:p>
          <a:p>
            <a:pPr marL="836294" marR="5080" lvl="1" indent="-328295">
              <a:lnSpc>
                <a:spcPct val="115399"/>
              </a:lnSpc>
              <a:buChar char="○"/>
              <a:tabLst>
                <a:tab pos="836294" algn="l"/>
                <a:tab pos="8369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"The data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subject should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have the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right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not to be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subject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decision, which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include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 measure, 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evaluating personal aspects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relating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to him or her which is based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solely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on automated</a:t>
            </a:r>
            <a:r>
              <a:rPr sz="13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processing..."</a:t>
            </a:r>
            <a:endParaRPr sz="13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France</a:t>
            </a:r>
            <a:endParaRPr sz="1800" dirty="0">
              <a:latin typeface="Arial"/>
              <a:cs typeface="Arial"/>
            </a:endParaRPr>
          </a:p>
          <a:p>
            <a:pPr marL="836294" marR="172085" lvl="1" indent="-328295">
              <a:lnSpc>
                <a:spcPct val="115399"/>
              </a:lnSpc>
              <a:spcBef>
                <a:spcPts val="95"/>
              </a:spcBef>
              <a:buChar char="○"/>
              <a:tabLst>
                <a:tab pos="836294" algn="l"/>
                <a:tab pos="8369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decision taken on the basis of an algorithmic treatment, the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rules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that define that treatment and  its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“principal characteristics” must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communicated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to the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citizen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upon</a:t>
            </a:r>
            <a:r>
              <a:rPr sz="13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endParaRPr sz="1300" dirty="0">
              <a:latin typeface="Arial"/>
              <a:cs typeface="Arial"/>
            </a:endParaRPr>
          </a:p>
          <a:p>
            <a:pPr marL="1293495" lvl="2" indent="-328930">
              <a:lnSpc>
                <a:spcPct val="100000"/>
              </a:lnSpc>
              <a:spcBef>
                <a:spcPts val="24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the degree and the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mode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contribution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of the</a:t>
            </a:r>
            <a:r>
              <a:rPr sz="13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algorithmic</a:t>
            </a:r>
            <a:endParaRPr sz="1300" dirty="0">
              <a:latin typeface="Arial"/>
              <a:cs typeface="Arial"/>
            </a:endParaRPr>
          </a:p>
          <a:p>
            <a:pPr marL="1293495" lvl="2" indent="-328930">
              <a:lnSpc>
                <a:spcPct val="100000"/>
              </a:lnSpc>
              <a:spcBef>
                <a:spcPts val="24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the data processed and its</a:t>
            </a:r>
            <a:r>
              <a:rPr sz="13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source</a:t>
            </a:r>
            <a:endParaRPr sz="1300" dirty="0">
              <a:latin typeface="Arial"/>
              <a:cs typeface="Arial"/>
            </a:endParaRPr>
          </a:p>
          <a:p>
            <a:pPr marL="1293495" lvl="2" indent="-328930">
              <a:lnSpc>
                <a:spcPct val="100000"/>
              </a:lnSpc>
              <a:spcBef>
                <a:spcPts val="24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the treatment parameters, and where appropriate, their</a:t>
            </a:r>
            <a:r>
              <a:rPr sz="13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weighting</a:t>
            </a:r>
            <a:endParaRPr sz="1300" dirty="0">
              <a:latin typeface="Arial"/>
              <a:cs typeface="Arial"/>
            </a:endParaRPr>
          </a:p>
          <a:p>
            <a:pPr marL="1293495" lvl="2" indent="-328930">
              <a:lnSpc>
                <a:spcPct val="100000"/>
              </a:lnSpc>
              <a:spcBef>
                <a:spcPts val="24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the operations </a:t>
            </a:r>
            <a:r>
              <a:rPr sz="1300" dirty="0">
                <a:solidFill>
                  <a:srgbClr val="595959"/>
                </a:solidFill>
                <a:latin typeface="Arial"/>
                <a:cs typeface="Arial"/>
              </a:rPr>
              <a:t>carried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out by the</a:t>
            </a:r>
            <a:r>
              <a:rPr sz="13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spc="-5" dirty="0">
                <a:solidFill>
                  <a:srgbClr val="595959"/>
                </a:solidFill>
                <a:latin typeface="Arial"/>
                <a:cs typeface="Arial"/>
              </a:rPr>
              <a:t>treatment.</a:t>
            </a:r>
            <a:endParaRPr sz="1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763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Surge </a:t>
            </a:r>
            <a:r>
              <a:rPr sz="2800" spc="-5" dirty="0"/>
              <a:t>in </a:t>
            </a:r>
            <a:r>
              <a:rPr sz="2800" spc="-10" dirty="0"/>
              <a:t>Explainable </a:t>
            </a:r>
            <a:r>
              <a:rPr sz="2800" spc="-5" dirty="0"/>
              <a:t>Research </a:t>
            </a:r>
            <a:r>
              <a:rPr sz="2800" spc="5" dirty="0"/>
              <a:t>(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Arrieta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al.,</a:t>
            </a:r>
            <a:r>
              <a:rPr sz="2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2019</a:t>
            </a:r>
            <a:r>
              <a:rPr sz="2800" spc="5" dirty="0"/>
              <a:t>)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1075462" y="1227329"/>
            <a:ext cx="6650084" cy="3485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981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Outline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5040630" cy="2230738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B6B6B6"/>
                </a:solidFill>
                <a:latin typeface="Arial"/>
                <a:cs typeface="Arial"/>
              </a:rPr>
              <a:t>ML</a:t>
            </a:r>
            <a:r>
              <a:rPr sz="1800" spc="-7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Interpretability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Intrinsically Interpretable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Simple interpretable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Interpretability</a:t>
            </a:r>
            <a:r>
              <a:rPr sz="1800" spc="-1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Concepts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Intrinsic and post hoc</a:t>
            </a:r>
            <a:r>
              <a:rPr sz="1400" spc="-1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methods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model-specific </a:t>
            </a: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model-agnostic</a:t>
            </a:r>
            <a:r>
              <a:rPr sz="1400" spc="-3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methods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Local and global interpretable</a:t>
            </a:r>
            <a:r>
              <a:rPr sz="1400" spc="-2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methods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Interpretability and performance</a:t>
            </a:r>
            <a:r>
              <a:rPr sz="1400" spc="-1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B6B6B6"/>
                </a:solidFill>
                <a:latin typeface="Arial"/>
                <a:cs typeface="Arial"/>
              </a:rPr>
              <a:t>trade-offs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248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Intrinsically interpretable</a:t>
            </a:r>
            <a:r>
              <a:rPr sz="2800" spc="-95" dirty="0"/>
              <a:t> </a:t>
            </a:r>
            <a:r>
              <a:rPr sz="280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6690359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are interpretable by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 post-processing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steps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needed to achieve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interpretable.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733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Linear</a:t>
            </a:r>
            <a:r>
              <a:rPr sz="2800" spc="-85" dirty="0"/>
              <a:t> </a:t>
            </a:r>
            <a:r>
              <a:rPr sz="2800" spc="-5" dirty="0"/>
              <a:t>Regression</a:t>
            </a:r>
            <a:endParaRPr sz="2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2327324" y="1278122"/>
            <a:ext cx="4829175" cy="521334"/>
            <a:chOff x="2327324" y="1278122"/>
            <a:chExt cx="4829175" cy="521334"/>
          </a:xfrm>
        </p:grpSpPr>
        <p:sp>
          <p:nvSpPr>
            <p:cNvPr id="4" name="object 4"/>
            <p:cNvSpPr/>
            <p:nvPr/>
          </p:nvSpPr>
          <p:spPr>
            <a:xfrm>
              <a:off x="2327324" y="1278122"/>
              <a:ext cx="4829032" cy="22253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63394" y="1570574"/>
              <a:ext cx="1238250" cy="224154"/>
            </a:xfrm>
            <a:custGeom>
              <a:avLst/>
              <a:gdLst/>
              <a:ahLst/>
              <a:cxnLst/>
              <a:rect l="l" t="t" r="r" b="b"/>
              <a:pathLst>
                <a:path w="1238250" h="224155">
                  <a:moveTo>
                    <a:pt x="1238247" y="22354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20844" y="15550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39749" y="30964"/>
                  </a:moveTo>
                  <a:lnTo>
                    <a:pt x="0" y="7804"/>
                  </a:lnTo>
                  <a:lnTo>
                    <a:pt x="45324" y="0"/>
                  </a:lnTo>
                  <a:lnTo>
                    <a:pt x="39749" y="309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20844" y="15550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5">
                  <a:moveTo>
                    <a:pt x="45324" y="0"/>
                  </a:moveTo>
                  <a:lnTo>
                    <a:pt x="0" y="7804"/>
                  </a:lnTo>
                  <a:lnTo>
                    <a:pt x="39749" y="30964"/>
                  </a:lnTo>
                  <a:lnTo>
                    <a:pt x="453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4043" y="1512814"/>
              <a:ext cx="828040" cy="281305"/>
            </a:xfrm>
            <a:custGeom>
              <a:avLst/>
              <a:gdLst/>
              <a:ahLst/>
              <a:cxnLst/>
              <a:rect l="l" t="t" r="r" b="b"/>
              <a:pathLst>
                <a:path w="828039" h="281305">
                  <a:moveTo>
                    <a:pt x="827598" y="281306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33118" y="1497919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35874" y="29789"/>
                  </a:moveTo>
                  <a:lnTo>
                    <a:pt x="0" y="984"/>
                  </a:lnTo>
                  <a:lnTo>
                    <a:pt x="45999" y="0"/>
                  </a:lnTo>
                  <a:lnTo>
                    <a:pt x="35874" y="297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33118" y="1497919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45999" y="0"/>
                  </a:moveTo>
                  <a:lnTo>
                    <a:pt x="0" y="984"/>
                  </a:lnTo>
                  <a:lnTo>
                    <a:pt x="35874" y="29789"/>
                  </a:lnTo>
                  <a:lnTo>
                    <a:pt x="459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96879" y="1543439"/>
              <a:ext cx="121074" cy="2554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01641" y="1568341"/>
              <a:ext cx="587375" cy="226060"/>
            </a:xfrm>
            <a:custGeom>
              <a:avLst/>
              <a:gdLst/>
              <a:ahLst/>
              <a:cxnLst/>
              <a:rect l="l" t="t" r="r" b="b"/>
              <a:pathLst>
                <a:path w="587375" h="226060">
                  <a:moveTo>
                    <a:pt x="0" y="225779"/>
                  </a:moveTo>
                  <a:lnTo>
                    <a:pt x="5868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2840" y="155282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299" y="30204"/>
                  </a:moveTo>
                  <a:lnTo>
                    <a:pt x="0" y="837"/>
                  </a:lnTo>
                  <a:lnTo>
                    <a:pt x="45999" y="0"/>
                  </a:lnTo>
                  <a:lnTo>
                    <a:pt x="11299" y="3020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82840" y="155282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299" y="30204"/>
                  </a:moveTo>
                  <a:lnTo>
                    <a:pt x="45999" y="0"/>
                  </a:lnTo>
                  <a:lnTo>
                    <a:pt x="0" y="837"/>
                  </a:lnTo>
                  <a:lnTo>
                    <a:pt x="11299" y="3020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2354852" y="2201035"/>
            <a:ext cx="3857445" cy="23087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50917" y="1861054"/>
            <a:ext cx="1744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interpretable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components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505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Decision</a:t>
            </a:r>
            <a:r>
              <a:rPr sz="2800" spc="-125" dirty="0"/>
              <a:t> </a:t>
            </a:r>
            <a:r>
              <a:rPr sz="2800" spc="-25" dirty="0"/>
              <a:t>Trees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1495709" y="1326187"/>
            <a:ext cx="6260961" cy="3242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623320" y="1493280"/>
              <a:ext cx="1481040" cy="1126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18640" y="1486800"/>
                <a:ext cx="149112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4CA9A0-C57E-4776-962C-F7B5201FB614}"/>
                  </a:ext>
                </a:extLst>
              </p14:cNvPr>
              <p14:cNvContentPartPr/>
              <p14:nvPr/>
            </p14:nvContentPartPr>
            <p14:xfrm>
              <a:off x="2428920" y="3695760"/>
              <a:ext cx="2867400" cy="443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4CA9A0-C57E-4776-962C-F7B5201FB6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9560" y="3686400"/>
                <a:ext cx="2886120" cy="46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191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K-Nearest</a:t>
            </a:r>
            <a:r>
              <a:rPr sz="2800" spc="-85" dirty="0"/>
              <a:t> </a:t>
            </a:r>
            <a:r>
              <a:rPr sz="2800" spc="-5" dirty="0"/>
              <a:t>Neighbors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2739439" y="1365341"/>
            <a:ext cx="3651699" cy="3120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4" y="503825"/>
            <a:ext cx="27279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Bayesian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Models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4" y="1216356"/>
            <a:ext cx="438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Latent Dirichlet Allocation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Blei 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et al.,</a:t>
            </a:r>
            <a:r>
              <a:rPr sz="1800" u="heavy" spc="-1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2003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43110" y="1516076"/>
            <a:ext cx="4848490" cy="33416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0199" y="1861646"/>
            <a:ext cx="3777615" cy="2282825"/>
            <a:chOff x="210199" y="1861646"/>
            <a:chExt cx="3777615" cy="2282825"/>
          </a:xfrm>
        </p:grpSpPr>
        <p:sp>
          <p:nvSpPr>
            <p:cNvPr id="6" name="object 6"/>
            <p:cNvSpPr/>
            <p:nvPr/>
          </p:nvSpPr>
          <p:spPr>
            <a:xfrm>
              <a:off x="386939" y="2152270"/>
              <a:ext cx="3579429" cy="19919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0197" y="1861654"/>
              <a:ext cx="3777615" cy="1383665"/>
            </a:xfrm>
            <a:custGeom>
              <a:avLst/>
              <a:gdLst/>
              <a:ahLst/>
              <a:cxnLst/>
              <a:rect l="l" t="t" r="r" b="b"/>
              <a:pathLst>
                <a:path w="3777615" h="1383664">
                  <a:moveTo>
                    <a:pt x="788695" y="0"/>
                  </a:moveTo>
                  <a:lnTo>
                    <a:pt x="0" y="0"/>
                  </a:lnTo>
                  <a:lnTo>
                    <a:pt x="0" y="710095"/>
                  </a:lnTo>
                  <a:lnTo>
                    <a:pt x="788695" y="710095"/>
                  </a:lnTo>
                  <a:lnTo>
                    <a:pt x="788695" y="0"/>
                  </a:lnTo>
                  <a:close/>
                </a:path>
                <a:path w="3777615" h="1383664">
                  <a:moveTo>
                    <a:pt x="3777462" y="672947"/>
                  </a:moveTo>
                  <a:lnTo>
                    <a:pt x="3191268" y="672947"/>
                  </a:lnTo>
                  <a:lnTo>
                    <a:pt x="3191268" y="1383042"/>
                  </a:lnTo>
                  <a:lnTo>
                    <a:pt x="3777462" y="1383042"/>
                  </a:lnTo>
                  <a:lnTo>
                    <a:pt x="3777462" y="672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981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Outline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5040630" cy="2169183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Intrinsically Interpretable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Simple interpretable</a:t>
            </a:r>
            <a:r>
              <a:rPr sz="1400" spc="-1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models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Instricically interpretable techniques for deep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Interpretability</a:t>
            </a:r>
            <a:r>
              <a:rPr sz="1800" spc="-1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Concepts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Intrinsic and post hoc</a:t>
            </a:r>
            <a:r>
              <a:rPr sz="1400" spc="-1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methods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model-specific </a:t>
            </a: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model-agnostic</a:t>
            </a:r>
            <a:r>
              <a:rPr sz="1400" spc="-3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methods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Local and global interpretable</a:t>
            </a:r>
            <a:r>
              <a:rPr sz="1400" spc="-2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methods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Interpretability and performance</a:t>
            </a:r>
            <a:r>
              <a:rPr sz="1400" spc="-1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B6B6B6"/>
                </a:solidFill>
                <a:latin typeface="Arial"/>
                <a:cs typeface="Arial"/>
              </a:rPr>
              <a:t>trade-offs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2209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Sparsity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6994525" cy="9099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Controls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sparsity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parameters when learning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Popular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choices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L1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regularization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1" y="2809059"/>
            <a:ext cx="167576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L2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regularization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0201" y="2197492"/>
            <a:ext cx="3986834" cy="3497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59399" y="3219891"/>
            <a:ext cx="3887401" cy="4121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61276" y="2205862"/>
            <a:ext cx="2545549" cy="14467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924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Sparsity </a:t>
            </a:r>
            <a:r>
              <a:rPr sz="2800" spc="-5" dirty="0"/>
              <a:t>for Interpretable Linear</a:t>
            </a:r>
            <a:r>
              <a:rPr sz="2800" spc="-90" dirty="0"/>
              <a:t> </a:t>
            </a:r>
            <a:r>
              <a:rPr sz="2800" spc="-5" dirty="0"/>
              <a:t>Regression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368165" cy="9163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linear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regression</a:t>
            </a:r>
            <a:endParaRPr sz="1800">
              <a:latin typeface="Arial"/>
              <a:cs typeface="Arial"/>
            </a:endParaRPr>
          </a:p>
          <a:p>
            <a:pPr marL="500380">
              <a:lnSpc>
                <a:spcPct val="100000"/>
              </a:lnSpc>
              <a:spcBef>
                <a:spcPts val="33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○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Linear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regression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L1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regularization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807027"/>
            <a:ext cx="4469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Linear Regression with L2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regularization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60939" y="1590446"/>
            <a:ext cx="3388618" cy="26938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13422" y="1520146"/>
            <a:ext cx="3388618" cy="334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65464" y="2229145"/>
            <a:ext cx="1963966" cy="443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3831" y="3372598"/>
            <a:ext cx="1822437" cy="4247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4493"/>
            <a:ext cx="8305800" cy="364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/>
              <a:t>Interpretable Neural Embeddings </a:t>
            </a:r>
            <a:r>
              <a:rPr sz="2200" dirty="0"/>
              <a:t>(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Subramanian </a:t>
            </a:r>
            <a:r>
              <a:rPr sz="22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al.,</a:t>
            </a:r>
            <a:r>
              <a:rPr sz="22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2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2018</a:t>
            </a:r>
            <a:r>
              <a:rPr sz="2200" spc="5" dirty="0"/>
              <a:t>)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650557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Dense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representations make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difficult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human to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Goal: Generate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sparse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interpretable word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embeddings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4943" y="2196070"/>
            <a:ext cx="3167338" cy="21533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5885" y="1885533"/>
          <a:ext cx="4362448" cy="1096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5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the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0.418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0.24968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-0.41242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0.1217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was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0.086888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-0.19416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-0.24267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-0.33391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run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-0.39488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-0.16448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0.5962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0.65815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84835" y="3606655"/>
          <a:ext cx="4362448" cy="1096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5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the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was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run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2937206" y="2999556"/>
            <a:ext cx="41275" cy="547370"/>
            <a:chOff x="2937206" y="2999556"/>
            <a:chExt cx="41275" cy="547370"/>
          </a:xfrm>
        </p:grpSpPr>
        <p:sp>
          <p:nvSpPr>
            <p:cNvPr id="8" name="object 8"/>
            <p:cNvSpPr/>
            <p:nvPr/>
          </p:nvSpPr>
          <p:spPr>
            <a:xfrm>
              <a:off x="2957694" y="3004318"/>
              <a:ext cx="8890" cy="494665"/>
            </a:xfrm>
            <a:custGeom>
              <a:avLst/>
              <a:gdLst/>
              <a:ahLst/>
              <a:cxnLst/>
              <a:rect l="l" t="t" r="r" b="b"/>
              <a:pathLst>
                <a:path w="8889" h="494664">
                  <a:moveTo>
                    <a:pt x="8599" y="0"/>
                  </a:moveTo>
                  <a:lnTo>
                    <a:pt x="0" y="4942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41969" y="34982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4974" y="43499"/>
                  </a:moveTo>
                  <a:lnTo>
                    <a:pt x="0" y="0"/>
                  </a:lnTo>
                  <a:lnTo>
                    <a:pt x="31449" y="549"/>
                  </a:lnTo>
                  <a:lnTo>
                    <a:pt x="14974" y="434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41969" y="34982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4974" y="43499"/>
                  </a:lnTo>
                  <a:lnTo>
                    <a:pt x="31449" y="5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" y="504493"/>
            <a:ext cx="8413313" cy="364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/>
              <a:t>Interpretable Neural Embeddings </a:t>
            </a:r>
            <a:r>
              <a:rPr sz="2200" dirty="0"/>
              <a:t>(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Subramanian </a:t>
            </a:r>
            <a:r>
              <a:rPr sz="22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al.,</a:t>
            </a:r>
            <a:r>
              <a:rPr sz="22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2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2018</a:t>
            </a:r>
            <a:r>
              <a:rPr sz="2200" spc="5" dirty="0"/>
              <a:t>)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4714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Sparse Autoencoder to generated interpretable word</a:t>
            </a:r>
            <a:r>
              <a:rPr sz="1800" spc="-1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embeddings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12425" y="2339578"/>
            <a:ext cx="5200888" cy="2040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972" y="3708353"/>
            <a:ext cx="1985595" cy="516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5810" y="2362405"/>
            <a:ext cx="1748030" cy="4734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" y="504493"/>
            <a:ext cx="8123083" cy="364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/>
              <a:t>Interpretable Neural Embeddings </a:t>
            </a:r>
            <a:r>
              <a:rPr sz="2200" dirty="0"/>
              <a:t>(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Subramanian </a:t>
            </a:r>
            <a:r>
              <a:rPr sz="22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al.,</a:t>
            </a:r>
            <a:r>
              <a:rPr sz="2200" u="heavy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2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2018</a:t>
            </a:r>
            <a:r>
              <a:rPr sz="2200" spc="5" dirty="0"/>
              <a:t>)</a:t>
            </a:r>
            <a:endParaRPr sz="2200" dirty="0"/>
          </a:p>
        </p:txBody>
      </p:sp>
      <p:sp>
        <p:nvSpPr>
          <p:cNvPr id="3" name="object 3"/>
          <p:cNvSpPr/>
          <p:nvPr/>
        </p:nvSpPr>
        <p:spPr>
          <a:xfrm>
            <a:off x="705501" y="3305784"/>
            <a:ext cx="7659659" cy="5865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9398" y="3849225"/>
            <a:ext cx="150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reconstruction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15493" y="3849225"/>
            <a:ext cx="2307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layer-wise </a:t>
            </a:r>
            <a:r>
              <a:rPr sz="1400" dirty="0">
                <a:latin typeface="Arial"/>
                <a:cs typeface="Arial"/>
              </a:rPr>
              <a:t>sparsity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constraint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0795" y="3868380"/>
            <a:ext cx="2208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unit-wise </a:t>
            </a:r>
            <a:r>
              <a:rPr sz="1400" dirty="0">
                <a:latin typeface="Arial"/>
                <a:cs typeface="Arial"/>
              </a:rPr>
              <a:t>sparsity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constraint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62946" y="2645907"/>
            <a:ext cx="42545" cy="624205"/>
            <a:chOff x="7862946" y="2645907"/>
            <a:chExt cx="42545" cy="624205"/>
          </a:xfrm>
        </p:grpSpPr>
        <p:sp>
          <p:nvSpPr>
            <p:cNvPr id="8" name="object 8"/>
            <p:cNvSpPr/>
            <p:nvPr/>
          </p:nvSpPr>
          <p:spPr>
            <a:xfrm>
              <a:off x="7883433" y="2650669"/>
              <a:ext cx="17780" cy="571500"/>
            </a:xfrm>
            <a:custGeom>
              <a:avLst/>
              <a:gdLst/>
              <a:ahLst/>
              <a:cxnLst/>
              <a:rect l="l" t="t" r="r" b="b"/>
              <a:pathLst>
                <a:path w="17779" h="571500">
                  <a:moveTo>
                    <a:pt x="17174" y="0"/>
                  </a:moveTo>
                  <a:lnTo>
                    <a:pt x="0" y="57137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67708" y="32215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4424" y="43674"/>
                  </a:moveTo>
                  <a:lnTo>
                    <a:pt x="0" y="0"/>
                  </a:lnTo>
                  <a:lnTo>
                    <a:pt x="31449" y="949"/>
                  </a:lnTo>
                  <a:lnTo>
                    <a:pt x="14424" y="436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67708" y="32215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4424" y="43674"/>
                  </a:lnTo>
                  <a:lnTo>
                    <a:pt x="31449" y="9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5248" y="1162309"/>
            <a:ext cx="7991475" cy="150876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sparse constraints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the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auto-encoder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Unit-wise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sparsity constraint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enforces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sparsity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each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unit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Layer-wise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sparsity constraint controls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number of activations for each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Arial"/>
              <a:cs typeface="Arial"/>
            </a:endParaRPr>
          </a:p>
          <a:p>
            <a:pPr marL="6871970" marR="5080" indent="325755">
              <a:lnSpc>
                <a:spcPts val="1650"/>
              </a:lnSpc>
            </a:pPr>
            <a:r>
              <a:rPr sz="1400" spc="-5" dirty="0">
                <a:latin typeface="Arial"/>
                <a:cs typeface="Arial"/>
              </a:rPr>
              <a:t>target  activation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rate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4493"/>
            <a:ext cx="7435234" cy="364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/>
              <a:t>Clustering of </a:t>
            </a:r>
            <a:r>
              <a:rPr sz="2200" spc="-15" dirty="0"/>
              <a:t>Words </a:t>
            </a:r>
            <a:r>
              <a:rPr sz="2200" spc="-5" dirty="0"/>
              <a:t>for the </a:t>
            </a:r>
            <a:r>
              <a:rPr sz="2200" spc="-85" dirty="0"/>
              <a:t>Top </a:t>
            </a:r>
            <a:r>
              <a:rPr sz="2200" spc="-5" dirty="0"/>
              <a:t>Participating</a:t>
            </a:r>
            <a:r>
              <a:rPr sz="2200" spc="-25" dirty="0"/>
              <a:t> </a:t>
            </a:r>
            <a:r>
              <a:rPr sz="2200" spc="-5" dirty="0"/>
              <a:t>Dimension</a:t>
            </a:r>
            <a:endParaRPr sz="2200" dirty="0"/>
          </a:p>
        </p:txBody>
      </p:sp>
      <p:sp>
        <p:nvSpPr>
          <p:cNvPr id="3" name="object 3"/>
          <p:cNvSpPr/>
          <p:nvPr/>
        </p:nvSpPr>
        <p:spPr>
          <a:xfrm>
            <a:off x="1438497" y="1578671"/>
            <a:ext cx="5996737" cy="31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4493"/>
            <a:ext cx="6096000" cy="364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/>
              <a:t>Performance on Intrusion Detection</a:t>
            </a:r>
            <a:r>
              <a:rPr sz="2200" spc="-130" dirty="0"/>
              <a:t> </a:t>
            </a:r>
            <a:r>
              <a:rPr sz="2200" spc="-65" dirty="0"/>
              <a:t>Test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79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Human annotators are asked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odd words 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group.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2931" y="1901883"/>
            <a:ext cx="1718051" cy="1610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92611" y="1999041"/>
            <a:ext cx="1975179" cy="716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19236" y="3400747"/>
            <a:ext cx="1975179" cy="7150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18112" y="2755795"/>
            <a:ext cx="1326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Precision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scores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26614" y="4156282"/>
            <a:ext cx="208661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Inter-annotator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agreement  across </a:t>
            </a:r>
            <a:r>
              <a:rPr sz="1400" spc="-10" dirty="0">
                <a:latin typeface="Arial"/>
                <a:cs typeface="Arial"/>
              </a:rPr>
              <a:t>different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8520" y="3809706"/>
            <a:ext cx="23691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626110" marR="5080" indent="-614045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Sample Question for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Intrusion  Detection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Test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915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Regularization for </a:t>
            </a:r>
            <a:r>
              <a:rPr sz="2800" spc="-10" dirty="0"/>
              <a:t>Saliency </a:t>
            </a:r>
            <a:r>
              <a:rPr sz="2800" dirty="0"/>
              <a:t>Maps </a:t>
            </a:r>
            <a:r>
              <a:rPr sz="2800" spc="5" dirty="0"/>
              <a:t>(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Plumb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2019</a:t>
            </a:r>
            <a:r>
              <a:rPr sz="280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526020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Saliency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Maps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gradient based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generate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visualizations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interpret deep neural</a:t>
            </a:r>
            <a:r>
              <a:rPr sz="1400" spc="-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9420" y="2335762"/>
            <a:ext cx="4882059" cy="2147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01891" y="2795029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9672" y="3754067"/>
            <a:ext cx="1657644" cy="4391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991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Regularization for </a:t>
            </a:r>
            <a:r>
              <a:rPr sz="2800" spc="-10" dirty="0"/>
              <a:t>Saliency </a:t>
            </a:r>
            <a:r>
              <a:rPr sz="2800" dirty="0"/>
              <a:t>Maps </a:t>
            </a:r>
            <a:r>
              <a:rPr sz="2800" spc="5" dirty="0"/>
              <a:t>(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Plumb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2019</a:t>
            </a:r>
            <a:r>
              <a:rPr sz="280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079615" cy="11715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Saliency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Maps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e(x, f) generates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saliency map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deep learning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f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given image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Stabilization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Regularization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Stabilizes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saliency map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its nearby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03993" y="2584275"/>
            <a:ext cx="4195711" cy="344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4221" y="4094855"/>
            <a:ext cx="9550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7150" marR="5080" indent="-4508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stabilization  regularizer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96408" y="3012481"/>
            <a:ext cx="626110" cy="1021715"/>
            <a:chOff x="2096408" y="3012481"/>
            <a:chExt cx="626110" cy="1021715"/>
          </a:xfrm>
        </p:grpSpPr>
        <p:sp>
          <p:nvSpPr>
            <p:cNvPr id="7" name="object 7"/>
            <p:cNvSpPr/>
            <p:nvPr/>
          </p:nvSpPr>
          <p:spPr>
            <a:xfrm>
              <a:off x="2101170" y="3054143"/>
              <a:ext cx="593725" cy="975360"/>
            </a:xfrm>
            <a:custGeom>
              <a:avLst/>
              <a:gdLst/>
              <a:ahLst/>
              <a:cxnLst/>
              <a:rect l="l" t="t" r="r" b="b"/>
              <a:pathLst>
                <a:path w="593725" h="975360">
                  <a:moveTo>
                    <a:pt x="0" y="974798"/>
                  </a:moveTo>
                  <a:lnTo>
                    <a:pt x="593673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81394" y="3017243"/>
              <a:ext cx="36195" cy="45720"/>
            </a:xfrm>
            <a:custGeom>
              <a:avLst/>
              <a:gdLst/>
              <a:ahLst/>
              <a:cxnLst/>
              <a:rect l="l" t="t" r="r" b="b"/>
              <a:pathLst>
                <a:path w="36194" h="45719">
                  <a:moveTo>
                    <a:pt x="26874" y="45099"/>
                  </a:moveTo>
                  <a:lnTo>
                    <a:pt x="0" y="28724"/>
                  </a:lnTo>
                  <a:lnTo>
                    <a:pt x="35924" y="0"/>
                  </a:lnTo>
                  <a:lnTo>
                    <a:pt x="26874" y="450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1394" y="3017243"/>
              <a:ext cx="36195" cy="45720"/>
            </a:xfrm>
            <a:custGeom>
              <a:avLst/>
              <a:gdLst/>
              <a:ahLst/>
              <a:cxnLst/>
              <a:rect l="l" t="t" r="r" b="b"/>
              <a:pathLst>
                <a:path w="36194" h="45719">
                  <a:moveTo>
                    <a:pt x="26874" y="45099"/>
                  </a:moveTo>
                  <a:lnTo>
                    <a:pt x="35924" y="0"/>
                  </a:lnTo>
                  <a:lnTo>
                    <a:pt x="0" y="28724"/>
                  </a:lnTo>
                  <a:lnTo>
                    <a:pt x="26874" y="45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69560" y="4156424"/>
            <a:ext cx="11417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neighbors of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35629" y="3014256"/>
            <a:ext cx="76200" cy="1081405"/>
            <a:chOff x="4135629" y="3014256"/>
            <a:chExt cx="76200" cy="1081405"/>
          </a:xfrm>
        </p:grpSpPr>
        <p:sp>
          <p:nvSpPr>
            <p:cNvPr id="12" name="object 12"/>
            <p:cNvSpPr/>
            <p:nvPr/>
          </p:nvSpPr>
          <p:spPr>
            <a:xfrm>
              <a:off x="4140391" y="3062193"/>
              <a:ext cx="51435" cy="1028700"/>
            </a:xfrm>
            <a:custGeom>
              <a:avLst/>
              <a:gdLst/>
              <a:ahLst/>
              <a:cxnLst/>
              <a:rect l="l" t="t" r="r" b="b"/>
              <a:pathLst>
                <a:path w="51435" h="1028700">
                  <a:moveTo>
                    <a:pt x="0" y="1028322"/>
                  </a:moveTo>
                  <a:lnTo>
                    <a:pt x="5087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75566" y="3019019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24" y="43949"/>
                  </a:moveTo>
                  <a:lnTo>
                    <a:pt x="0" y="42399"/>
                  </a:lnTo>
                  <a:lnTo>
                    <a:pt x="17824" y="0"/>
                  </a:lnTo>
                  <a:lnTo>
                    <a:pt x="31424" y="439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75566" y="3019019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24" y="43949"/>
                  </a:moveTo>
                  <a:lnTo>
                    <a:pt x="17824" y="0"/>
                  </a:lnTo>
                  <a:lnTo>
                    <a:pt x="0" y="42399"/>
                  </a:lnTo>
                  <a:lnTo>
                    <a:pt x="31424" y="439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03966" y="4134451"/>
            <a:ext cx="1151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saliency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maps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48576" y="3012731"/>
            <a:ext cx="535940" cy="1061085"/>
            <a:chOff x="5648576" y="3012731"/>
            <a:chExt cx="535940" cy="1061085"/>
          </a:xfrm>
        </p:grpSpPr>
        <p:sp>
          <p:nvSpPr>
            <p:cNvPr id="17" name="object 17"/>
            <p:cNvSpPr/>
            <p:nvPr/>
          </p:nvSpPr>
          <p:spPr>
            <a:xfrm>
              <a:off x="5672688" y="3056143"/>
              <a:ext cx="507365" cy="1012825"/>
            </a:xfrm>
            <a:custGeom>
              <a:avLst/>
              <a:gdLst/>
              <a:ahLst/>
              <a:cxnLst/>
              <a:rect l="l" t="t" r="r" b="b"/>
              <a:pathLst>
                <a:path w="507364" h="1012825">
                  <a:moveTo>
                    <a:pt x="506923" y="10123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53338" y="3017493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5299" y="45699"/>
                  </a:moveTo>
                  <a:lnTo>
                    <a:pt x="0" y="0"/>
                  </a:lnTo>
                  <a:lnTo>
                    <a:pt x="33424" y="31599"/>
                  </a:lnTo>
                  <a:lnTo>
                    <a:pt x="5299" y="456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53338" y="3017493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4" h="45719">
                  <a:moveTo>
                    <a:pt x="33424" y="31599"/>
                  </a:moveTo>
                  <a:lnTo>
                    <a:pt x="0" y="0"/>
                  </a:lnTo>
                  <a:lnTo>
                    <a:pt x="5299" y="45699"/>
                  </a:lnTo>
                  <a:lnTo>
                    <a:pt x="33424" y="31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915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Regularization for </a:t>
            </a:r>
            <a:r>
              <a:rPr sz="2800" spc="-10" dirty="0"/>
              <a:t>Saliency </a:t>
            </a:r>
            <a:r>
              <a:rPr sz="2800" dirty="0"/>
              <a:t>Maps </a:t>
            </a:r>
            <a:r>
              <a:rPr sz="2800" spc="5" dirty="0"/>
              <a:t>(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Plumb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2019</a:t>
            </a:r>
            <a:r>
              <a:rPr sz="2800"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2403993" y="2584275"/>
            <a:ext cx="4195711" cy="344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248" y="1162309"/>
            <a:ext cx="7079615" cy="19050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Saliency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Maps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e(x, f) generates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saliency map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deep learning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f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given image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Stabilization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Regularization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Stabilizes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saliency map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its nearby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Arial"/>
              <a:cs typeface="Arial"/>
            </a:endParaRPr>
          </a:p>
          <a:p>
            <a:pPr marL="471170" marR="5715635" indent="-45085">
              <a:lnSpc>
                <a:spcPts val="165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stabilization  regularizer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81409" y="3563492"/>
            <a:ext cx="3692210" cy="6439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2114" y="3703978"/>
            <a:ext cx="71564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final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  function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9067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Regularization for </a:t>
            </a:r>
            <a:r>
              <a:rPr sz="2800" spc="-10" dirty="0"/>
              <a:t>Saliency </a:t>
            </a:r>
            <a:r>
              <a:rPr sz="2800" dirty="0"/>
              <a:t>Maps </a:t>
            </a:r>
            <a:r>
              <a:rPr sz="2800" spc="5" dirty="0"/>
              <a:t>(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Plumb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2019</a:t>
            </a:r>
            <a:r>
              <a:rPr sz="2800"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2171449" y="1358497"/>
            <a:ext cx="554945" cy="27890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83927" y="4359002"/>
            <a:ext cx="1162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mnist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7392" y="4341819"/>
            <a:ext cx="167513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03530" marR="5080" indent="-29146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saliency map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without  </a:t>
            </a:r>
            <a:r>
              <a:rPr sz="1400" dirty="0">
                <a:latin typeface="Arial"/>
                <a:cs typeface="Arial"/>
              </a:rPr>
              <a:t>regularization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0725" y="4333570"/>
            <a:ext cx="142811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80340" marR="5080" indent="-16827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saliency map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with  </a:t>
            </a:r>
            <a:r>
              <a:rPr sz="1400" dirty="0">
                <a:latin typeface="Arial"/>
                <a:cs typeface="Arial"/>
              </a:rPr>
              <a:t>regularization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36166" y="1352167"/>
            <a:ext cx="579548" cy="27918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92312" y="1330201"/>
            <a:ext cx="591602" cy="27890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52564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Bayesian </a:t>
            </a:r>
            <a:r>
              <a:rPr sz="2800" spc="-5" dirty="0"/>
              <a:t>Deep</a:t>
            </a:r>
            <a:r>
              <a:rPr sz="2800" spc="-85" dirty="0"/>
              <a:t> </a:t>
            </a:r>
            <a:r>
              <a:rPr sz="2800" spc="-5" dirty="0"/>
              <a:t>Learning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367270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Distributions of Neural Network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Parameters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distribution of neural networks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co-exist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 any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Networks are initialized using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prior and each play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role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modeling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uncertainties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25640" y="2214670"/>
            <a:ext cx="0" cy="2174875"/>
          </a:xfrm>
          <a:custGeom>
            <a:avLst/>
            <a:gdLst/>
            <a:ahLst/>
            <a:cxnLst/>
            <a:rect l="l" t="t" r="r" b="b"/>
            <a:pathLst>
              <a:path h="2174875">
                <a:moveTo>
                  <a:pt x="0" y="0"/>
                </a:moveTo>
                <a:lnTo>
                  <a:pt x="0" y="2174395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7798" y="2288585"/>
            <a:ext cx="224726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Deep Neural Network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with  Deterministic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Parameters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6903" y="2285661"/>
            <a:ext cx="2741295" cy="7924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Bayesian Deep Neural Network  with </a:t>
            </a:r>
            <a:r>
              <a:rPr sz="140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distribution over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parameters</a:t>
            </a:r>
            <a:endParaRPr sz="1400">
              <a:latin typeface="Arial"/>
              <a:cs typeface="Arial"/>
            </a:endParaRPr>
          </a:p>
          <a:p>
            <a:pPr marL="436245" algn="ctr">
              <a:lnSpc>
                <a:spcPct val="100000"/>
              </a:lnSpc>
              <a:spcBef>
                <a:spcPts val="975"/>
              </a:spcBef>
            </a:pPr>
            <a:r>
              <a:rPr sz="1400" spc="-5" dirty="0">
                <a:latin typeface="Arial"/>
                <a:cs typeface="Arial"/>
              </a:rPr>
              <a:t>p(w)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08841" y="3255093"/>
            <a:ext cx="1419469" cy="10775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36815" y="4406851"/>
            <a:ext cx="1485332" cy="176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434667" y="3161231"/>
            <a:ext cx="3370579" cy="1019810"/>
            <a:chOff x="5434667" y="3161231"/>
            <a:chExt cx="3370579" cy="1019810"/>
          </a:xfrm>
        </p:grpSpPr>
        <p:sp>
          <p:nvSpPr>
            <p:cNvPr id="10" name="object 10"/>
            <p:cNvSpPr/>
            <p:nvPr/>
          </p:nvSpPr>
          <p:spPr>
            <a:xfrm>
              <a:off x="5434667" y="3610167"/>
              <a:ext cx="751983" cy="57086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56090" y="3610167"/>
              <a:ext cx="751983" cy="57086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72838" y="3165993"/>
              <a:ext cx="1239520" cy="426084"/>
            </a:xfrm>
            <a:custGeom>
              <a:avLst/>
              <a:gdLst/>
              <a:ahLst/>
              <a:cxnLst/>
              <a:rect l="l" t="t" r="r" b="b"/>
              <a:pathLst>
                <a:path w="1239520" h="426085">
                  <a:moveTo>
                    <a:pt x="1239247" y="0"/>
                  </a:moveTo>
                  <a:lnTo>
                    <a:pt x="0" y="4257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1963" y="3576842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45974" y="29749"/>
                  </a:moveTo>
                  <a:lnTo>
                    <a:pt x="0" y="28924"/>
                  </a:lnTo>
                  <a:lnTo>
                    <a:pt x="35774" y="0"/>
                  </a:lnTo>
                  <a:lnTo>
                    <a:pt x="45974" y="297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31963" y="3576842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35774" y="0"/>
                  </a:moveTo>
                  <a:lnTo>
                    <a:pt x="0" y="28924"/>
                  </a:lnTo>
                  <a:lnTo>
                    <a:pt x="45974" y="29749"/>
                  </a:lnTo>
                  <a:lnTo>
                    <a:pt x="357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70111" y="3165993"/>
              <a:ext cx="242570" cy="395605"/>
            </a:xfrm>
            <a:custGeom>
              <a:avLst/>
              <a:gdLst/>
              <a:ahLst/>
              <a:cxnLst/>
              <a:rect l="l" t="t" r="r" b="b"/>
              <a:pathLst>
                <a:path w="242570" h="395604">
                  <a:moveTo>
                    <a:pt x="241974" y="0"/>
                  </a:moveTo>
                  <a:lnTo>
                    <a:pt x="0" y="3955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47561" y="3553342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5" h="45085">
                  <a:moveTo>
                    <a:pt x="0" y="45074"/>
                  </a:moveTo>
                  <a:lnTo>
                    <a:pt x="9124" y="0"/>
                  </a:lnTo>
                  <a:lnTo>
                    <a:pt x="35974" y="16399"/>
                  </a:lnTo>
                  <a:lnTo>
                    <a:pt x="0" y="450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47561" y="3553342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5" h="45085">
                  <a:moveTo>
                    <a:pt x="9124" y="0"/>
                  </a:moveTo>
                  <a:lnTo>
                    <a:pt x="0" y="45074"/>
                  </a:lnTo>
                  <a:lnTo>
                    <a:pt x="35974" y="16399"/>
                  </a:lnTo>
                  <a:lnTo>
                    <a:pt x="91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52836" y="3610167"/>
              <a:ext cx="751983" cy="57086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12085" y="3165993"/>
              <a:ext cx="1271270" cy="426720"/>
            </a:xfrm>
            <a:custGeom>
              <a:avLst/>
              <a:gdLst/>
              <a:ahLst/>
              <a:cxnLst/>
              <a:rect l="l" t="t" r="r" b="b"/>
              <a:pathLst>
                <a:path w="1271270" h="426720">
                  <a:moveTo>
                    <a:pt x="0" y="0"/>
                  </a:moveTo>
                  <a:lnTo>
                    <a:pt x="1270922" y="4261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78008" y="357721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0" y="29824"/>
                  </a:moveTo>
                  <a:lnTo>
                    <a:pt x="9999" y="0"/>
                  </a:lnTo>
                  <a:lnTo>
                    <a:pt x="45974" y="28649"/>
                  </a:lnTo>
                  <a:lnTo>
                    <a:pt x="0" y="298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78008" y="357721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0" y="29824"/>
                  </a:moveTo>
                  <a:lnTo>
                    <a:pt x="45974" y="28649"/>
                  </a:lnTo>
                  <a:lnTo>
                    <a:pt x="9999" y="0"/>
                  </a:lnTo>
                  <a:lnTo>
                    <a:pt x="0" y="298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7399535" y="3875667"/>
            <a:ext cx="481965" cy="0"/>
          </a:xfrm>
          <a:custGeom>
            <a:avLst/>
            <a:gdLst/>
            <a:ahLst/>
            <a:cxnLst/>
            <a:rect l="l" t="t" r="r" b="b"/>
            <a:pathLst>
              <a:path w="481965">
                <a:moveTo>
                  <a:pt x="0" y="0"/>
                </a:moveTo>
                <a:lnTo>
                  <a:pt x="481499" y="0"/>
                </a:lnTo>
              </a:path>
            </a:pathLst>
          </a:custGeom>
          <a:ln w="380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818340" y="4226513"/>
            <a:ext cx="7493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08938" y="4226513"/>
            <a:ext cx="7493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41701" y="4241839"/>
            <a:ext cx="7493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17306" y="4425935"/>
            <a:ext cx="957331" cy="2209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4493"/>
            <a:ext cx="8686800" cy="364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/>
              <a:t>Epistemic and Heteroscedastic Uncertainty </a:t>
            </a:r>
            <a:r>
              <a:rPr sz="2200" dirty="0"/>
              <a:t>(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Kendall </a:t>
            </a:r>
            <a:r>
              <a:rPr sz="22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2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2017</a:t>
            </a:r>
            <a:r>
              <a:rPr sz="220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2" y="1184098"/>
            <a:ext cx="7338059" cy="5207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Increased aleatoric uncertainty on object boundaries and for objects far from the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camera.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increased epistemic uncertainty 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semantically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visually challenging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pixels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4172" y="1914243"/>
            <a:ext cx="6180934" cy="3060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305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Neural </a:t>
            </a:r>
            <a:r>
              <a:rPr sz="2800" dirty="0"/>
              <a:t>Modular </a:t>
            </a:r>
            <a:r>
              <a:rPr sz="2800" spc="-5" dirty="0"/>
              <a:t>Networks </a:t>
            </a:r>
            <a:r>
              <a:rPr sz="2800" spc="-10" dirty="0"/>
              <a:t>(</a:t>
            </a:r>
            <a:r>
              <a:rPr sz="2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Andreas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2016</a:t>
            </a:r>
            <a:r>
              <a:rPr sz="2800" spc="5" dirty="0"/>
              <a:t>)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535879" y="2180547"/>
            <a:ext cx="7895671" cy="16286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8252" y="4017903"/>
            <a:ext cx="166306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What </a:t>
            </a:r>
            <a:r>
              <a:rPr sz="1400" dirty="0">
                <a:latin typeface="Arial"/>
                <a:cs typeface="Arial"/>
              </a:rPr>
              <a:t>color </a:t>
            </a:r>
            <a:r>
              <a:rPr sz="1400" spc="-5" dirty="0">
                <a:latin typeface="Arial"/>
                <a:cs typeface="Arial"/>
              </a:rPr>
              <a:t>is his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tie?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0518" y="4017903"/>
            <a:ext cx="2849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Is there </a:t>
            </a:r>
            <a:r>
              <a:rPr sz="1400" dirty="0">
                <a:latin typeface="Arial"/>
                <a:cs typeface="Arial"/>
              </a:rPr>
              <a:t>a red shape </a:t>
            </a:r>
            <a:r>
              <a:rPr sz="1400" spc="-5" dirty="0">
                <a:latin typeface="Arial"/>
                <a:cs typeface="Arial"/>
              </a:rPr>
              <a:t>above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circle?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153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Neural </a:t>
            </a:r>
            <a:r>
              <a:rPr sz="2800" dirty="0"/>
              <a:t>Modular </a:t>
            </a:r>
            <a:r>
              <a:rPr sz="2800" spc="-5" dirty="0"/>
              <a:t>Networks </a:t>
            </a:r>
            <a:r>
              <a:rPr sz="2800" spc="-10" dirty="0"/>
              <a:t>(</a:t>
            </a:r>
            <a:r>
              <a:rPr sz="2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Andreas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2016</a:t>
            </a:r>
            <a:r>
              <a:rPr sz="2800" spc="5" dirty="0"/>
              <a:t>)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2363627" y="1536167"/>
            <a:ext cx="3465873" cy="7701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02542" y="2529801"/>
            <a:ext cx="3647835" cy="847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34339" y="3556463"/>
            <a:ext cx="3836472" cy="950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077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Neural </a:t>
            </a:r>
            <a:r>
              <a:rPr sz="2800" dirty="0"/>
              <a:t>Modular </a:t>
            </a:r>
            <a:r>
              <a:rPr sz="2800" spc="-5" dirty="0"/>
              <a:t>Networks </a:t>
            </a:r>
            <a:r>
              <a:rPr sz="2800" spc="-10" dirty="0"/>
              <a:t>(</a:t>
            </a:r>
            <a:r>
              <a:rPr sz="2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Andreas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2016</a:t>
            </a:r>
            <a:r>
              <a:rPr sz="2800" spc="5" dirty="0"/>
              <a:t>)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2449127" y="1657471"/>
            <a:ext cx="4221325" cy="9369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7619" y="3152168"/>
            <a:ext cx="4087092" cy="9497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848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Neural </a:t>
            </a:r>
            <a:r>
              <a:rPr sz="2800" dirty="0"/>
              <a:t>Modular </a:t>
            </a:r>
            <a:r>
              <a:rPr sz="2800" spc="-5" dirty="0"/>
              <a:t>Networks </a:t>
            </a:r>
            <a:r>
              <a:rPr sz="2800" spc="-10" dirty="0"/>
              <a:t>(</a:t>
            </a:r>
            <a:r>
              <a:rPr sz="2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Andreas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8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2016</a:t>
            </a:r>
            <a:r>
              <a:rPr sz="2800" spc="5" dirty="0"/>
              <a:t>)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1033739" y="1552378"/>
            <a:ext cx="6528094" cy="2960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505028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Neural Logic Induction Learning </a:t>
            </a:r>
            <a:r>
              <a:rPr sz="2800" spc="-35" dirty="0"/>
              <a:t>(</a:t>
            </a:r>
            <a:r>
              <a:rPr sz="28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Yang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el al,</a:t>
            </a:r>
            <a:r>
              <a:rPr sz="2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2020</a:t>
            </a:r>
            <a:r>
              <a:rPr sz="2800" spc="-5" dirty="0"/>
              <a:t>)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515700" y="1346166"/>
            <a:ext cx="7989328" cy="2893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610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Neural </a:t>
            </a:r>
            <a:r>
              <a:rPr sz="2800" spc="-10" dirty="0"/>
              <a:t>Basis Expansion </a:t>
            </a:r>
            <a:r>
              <a:rPr sz="2800" spc="5" dirty="0"/>
              <a:t>(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Oreshkin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el al,</a:t>
            </a:r>
            <a:r>
              <a:rPr sz="2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2020</a:t>
            </a:r>
            <a:r>
              <a:rPr sz="2800" spc="5" dirty="0"/>
              <a:t>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20433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Time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series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forecasting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Given historical data, predict future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94539" y="1964367"/>
            <a:ext cx="3933444" cy="25671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153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Neural </a:t>
            </a:r>
            <a:r>
              <a:rPr sz="2800" spc="-10" dirty="0"/>
              <a:t>Basis Expansion </a:t>
            </a:r>
            <a:r>
              <a:rPr sz="2800" spc="5" dirty="0"/>
              <a:t>(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Oreshkin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el al,</a:t>
            </a:r>
            <a:r>
              <a:rPr sz="2800" u="heavy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2020</a:t>
            </a:r>
            <a:r>
              <a:rPr sz="2800" spc="5" dirty="0"/>
              <a:t>)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2238203" y="1415987"/>
            <a:ext cx="4637959" cy="3222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981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Outline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5040630" cy="27768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Fair Representation</a:t>
            </a:r>
            <a:r>
              <a:rPr sz="1800" spc="-1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B6B6B6"/>
                </a:solidFill>
                <a:latin typeface="Arial"/>
                <a:cs typeface="Arial"/>
              </a:rPr>
              <a:t>ML</a:t>
            </a:r>
            <a:r>
              <a:rPr sz="1800" spc="-7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Interpretability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Intrinsically Interpretable</a:t>
            </a:r>
            <a:r>
              <a:rPr sz="1800" spc="-1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B6B6B6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Simple interpretable</a:t>
            </a:r>
            <a:r>
              <a:rPr sz="1400" spc="-1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Instricically interpretable techniques for deep</a:t>
            </a:r>
            <a:r>
              <a:rPr sz="1400" spc="-7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Concepts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Intrinsic and post hoc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model-specific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model-agnostic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Local and global interpretable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Interpretability and performance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trade-offs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995018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Intrinsic and </a:t>
            </a:r>
            <a:r>
              <a:rPr sz="2800" spc="-10" dirty="0"/>
              <a:t>Post </a:t>
            </a:r>
            <a:r>
              <a:rPr sz="2800" spc="-5" dirty="0"/>
              <a:t>Hoc</a:t>
            </a:r>
            <a:r>
              <a:rPr sz="2800" spc="-85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584136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Intrinsically interpretable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Interpretable is achieved by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ML models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 explainable by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itself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Explainability is often achieved 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byproduct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3248279"/>
            <a:ext cx="5267960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Post Hoc/Model-specific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Explainability is often achieved after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trained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Interpretable is achieved using external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097" y="2589119"/>
            <a:ext cx="2214880" cy="44132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855"/>
              </a:spcBef>
            </a:pPr>
            <a:r>
              <a:rPr sz="1400" spc="-5" dirty="0">
                <a:latin typeface="Arial"/>
                <a:cs typeface="Arial"/>
              </a:rPr>
              <a:t>Interpretable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8941" y="2589119"/>
            <a:ext cx="1805939" cy="44132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855"/>
              </a:spcBef>
            </a:pPr>
            <a:r>
              <a:rPr sz="1400" spc="-5" dirty="0">
                <a:latin typeface="Arial"/>
                <a:cs typeface="Arial"/>
              </a:rPr>
              <a:t>Interpretable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42692" y="2789281"/>
            <a:ext cx="737235" cy="41275"/>
            <a:chOff x="3542692" y="2789281"/>
            <a:chExt cx="737235" cy="41275"/>
          </a:xfrm>
        </p:grpSpPr>
        <p:sp>
          <p:nvSpPr>
            <p:cNvPr id="8" name="object 8"/>
            <p:cNvSpPr/>
            <p:nvPr/>
          </p:nvSpPr>
          <p:spPr>
            <a:xfrm>
              <a:off x="3542692" y="2809769"/>
              <a:ext cx="689610" cy="0"/>
            </a:xfrm>
            <a:custGeom>
              <a:avLst/>
              <a:gdLst/>
              <a:ahLst/>
              <a:cxnLst/>
              <a:rect l="l" t="t" r="r" b="b"/>
              <a:pathLst>
                <a:path w="689610">
                  <a:moveTo>
                    <a:pt x="0" y="0"/>
                  </a:moveTo>
                  <a:lnTo>
                    <a:pt x="689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31941" y="27940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31941" y="27940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20168" y="2567334"/>
            <a:ext cx="370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train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2473" y="4264766"/>
            <a:ext cx="1974214" cy="44132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855"/>
              </a:spcBef>
            </a:pPr>
            <a:r>
              <a:rPr sz="1400" spc="-5" dirty="0">
                <a:latin typeface="Arial"/>
                <a:cs typeface="Arial"/>
              </a:rPr>
              <a:t>Black-box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16469" y="4464928"/>
            <a:ext cx="989965" cy="41275"/>
            <a:chOff x="2816469" y="4464928"/>
            <a:chExt cx="989965" cy="41275"/>
          </a:xfrm>
        </p:grpSpPr>
        <p:sp>
          <p:nvSpPr>
            <p:cNvPr id="14" name="object 14"/>
            <p:cNvSpPr/>
            <p:nvPr/>
          </p:nvSpPr>
          <p:spPr>
            <a:xfrm>
              <a:off x="2816469" y="4485416"/>
              <a:ext cx="941705" cy="0"/>
            </a:xfrm>
            <a:custGeom>
              <a:avLst/>
              <a:gdLst/>
              <a:ahLst/>
              <a:cxnLst/>
              <a:rect l="l" t="t" r="r" b="b"/>
              <a:pathLst>
                <a:path w="941704">
                  <a:moveTo>
                    <a:pt x="0" y="0"/>
                  </a:moveTo>
                  <a:lnTo>
                    <a:pt x="9415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58017" y="44696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58017" y="44696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34267" y="4257704"/>
            <a:ext cx="370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train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5242" y="4264766"/>
            <a:ext cx="1725295" cy="44132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855"/>
              </a:spcBef>
            </a:pPr>
            <a:r>
              <a:rPr sz="1400" spc="-5" dirty="0">
                <a:latin typeface="Arial"/>
                <a:cs typeface="Arial"/>
              </a:rPr>
              <a:t>Black-box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35476" y="4461728"/>
            <a:ext cx="1885950" cy="41275"/>
            <a:chOff x="5535476" y="4461728"/>
            <a:chExt cx="1885950" cy="41275"/>
          </a:xfrm>
        </p:grpSpPr>
        <p:sp>
          <p:nvSpPr>
            <p:cNvPr id="20" name="object 20"/>
            <p:cNvSpPr/>
            <p:nvPr/>
          </p:nvSpPr>
          <p:spPr>
            <a:xfrm>
              <a:off x="5540238" y="4482215"/>
              <a:ext cx="1833245" cy="3810"/>
            </a:xfrm>
            <a:custGeom>
              <a:avLst/>
              <a:gdLst/>
              <a:ahLst/>
              <a:cxnLst/>
              <a:rect l="l" t="t" r="r" b="b"/>
              <a:pathLst>
                <a:path w="1833245" h="3810">
                  <a:moveTo>
                    <a:pt x="0" y="3199"/>
                  </a:moveTo>
                  <a:lnTo>
                    <a:pt x="1832846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73060" y="446649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9" y="31449"/>
                  </a:moveTo>
                  <a:lnTo>
                    <a:pt x="0" y="0"/>
                  </a:lnTo>
                  <a:lnTo>
                    <a:pt x="43249" y="15649"/>
                  </a:lnTo>
                  <a:lnTo>
                    <a:pt x="49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73060" y="446649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9" y="31449"/>
                  </a:moveTo>
                  <a:lnTo>
                    <a:pt x="43249" y="15649"/>
                  </a:lnTo>
                  <a:lnTo>
                    <a:pt x="0" y="0"/>
                  </a:lnTo>
                  <a:lnTo>
                    <a:pt x="49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613268" y="4254475"/>
            <a:ext cx="1438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post-hoc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methods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94337" y="2267407"/>
            <a:ext cx="1750695" cy="1085215"/>
            <a:chOff x="6094337" y="2267407"/>
            <a:chExt cx="1750695" cy="1085215"/>
          </a:xfrm>
        </p:grpSpPr>
        <p:sp>
          <p:nvSpPr>
            <p:cNvPr id="25" name="object 25"/>
            <p:cNvSpPr/>
            <p:nvPr/>
          </p:nvSpPr>
          <p:spPr>
            <a:xfrm>
              <a:off x="6094337" y="2809769"/>
              <a:ext cx="613410" cy="0"/>
            </a:xfrm>
            <a:custGeom>
              <a:avLst/>
              <a:gdLst/>
              <a:ahLst/>
              <a:cxnLst/>
              <a:rect l="l" t="t" r="r" b="b"/>
              <a:pathLst>
                <a:path w="613409">
                  <a:moveTo>
                    <a:pt x="0" y="0"/>
                  </a:moveTo>
                  <a:lnTo>
                    <a:pt x="6130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07386" y="27940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7386" y="27940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64536" y="2272170"/>
              <a:ext cx="1075690" cy="1075690"/>
            </a:xfrm>
            <a:custGeom>
              <a:avLst/>
              <a:gdLst/>
              <a:ahLst/>
              <a:cxnLst/>
              <a:rect l="l" t="t" r="r" b="b"/>
              <a:pathLst>
                <a:path w="1075690" h="1075689">
                  <a:moveTo>
                    <a:pt x="537598" y="1075197"/>
                  </a:moveTo>
                  <a:lnTo>
                    <a:pt x="488667" y="1073000"/>
                  </a:lnTo>
                  <a:lnTo>
                    <a:pt x="440967" y="1066536"/>
                  </a:lnTo>
                  <a:lnTo>
                    <a:pt x="394686" y="1055993"/>
                  </a:lnTo>
                  <a:lnTo>
                    <a:pt x="350016" y="1041563"/>
                  </a:lnTo>
                  <a:lnTo>
                    <a:pt x="307146" y="1023434"/>
                  </a:lnTo>
                  <a:lnTo>
                    <a:pt x="266266" y="1001798"/>
                  </a:lnTo>
                  <a:lnTo>
                    <a:pt x="227565" y="976842"/>
                  </a:lnTo>
                  <a:lnTo>
                    <a:pt x="191234" y="948758"/>
                  </a:lnTo>
                  <a:lnTo>
                    <a:pt x="157462" y="917735"/>
                  </a:lnTo>
                  <a:lnTo>
                    <a:pt x="126439" y="883963"/>
                  </a:lnTo>
                  <a:lnTo>
                    <a:pt x="98355" y="847632"/>
                  </a:lnTo>
                  <a:lnTo>
                    <a:pt x="73399" y="808931"/>
                  </a:lnTo>
                  <a:lnTo>
                    <a:pt x="51763" y="768051"/>
                  </a:lnTo>
                  <a:lnTo>
                    <a:pt x="33634" y="725181"/>
                  </a:lnTo>
                  <a:lnTo>
                    <a:pt x="19204" y="680511"/>
                  </a:lnTo>
                  <a:lnTo>
                    <a:pt x="8661" y="634230"/>
                  </a:lnTo>
                  <a:lnTo>
                    <a:pt x="2197" y="586530"/>
                  </a:lnTo>
                  <a:lnTo>
                    <a:pt x="0" y="537598"/>
                  </a:lnTo>
                  <a:lnTo>
                    <a:pt x="2197" y="488667"/>
                  </a:lnTo>
                  <a:lnTo>
                    <a:pt x="8661" y="440967"/>
                  </a:lnTo>
                  <a:lnTo>
                    <a:pt x="19204" y="394686"/>
                  </a:lnTo>
                  <a:lnTo>
                    <a:pt x="33634" y="350016"/>
                  </a:lnTo>
                  <a:lnTo>
                    <a:pt x="51763" y="307146"/>
                  </a:lnTo>
                  <a:lnTo>
                    <a:pt x="73399" y="266266"/>
                  </a:lnTo>
                  <a:lnTo>
                    <a:pt x="98355" y="227565"/>
                  </a:lnTo>
                  <a:lnTo>
                    <a:pt x="126439" y="191234"/>
                  </a:lnTo>
                  <a:lnTo>
                    <a:pt x="157464" y="157459"/>
                  </a:lnTo>
                  <a:lnTo>
                    <a:pt x="191234" y="126439"/>
                  </a:lnTo>
                  <a:lnTo>
                    <a:pt x="227565" y="98355"/>
                  </a:lnTo>
                  <a:lnTo>
                    <a:pt x="266266" y="73399"/>
                  </a:lnTo>
                  <a:lnTo>
                    <a:pt x="307146" y="51763"/>
                  </a:lnTo>
                  <a:lnTo>
                    <a:pt x="350016" y="33634"/>
                  </a:lnTo>
                  <a:lnTo>
                    <a:pt x="394686" y="19204"/>
                  </a:lnTo>
                  <a:lnTo>
                    <a:pt x="440967" y="8661"/>
                  </a:lnTo>
                  <a:lnTo>
                    <a:pt x="488667" y="2197"/>
                  </a:lnTo>
                  <a:lnTo>
                    <a:pt x="537598" y="0"/>
                  </a:lnTo>
                  <a:lnTo>
                    <a:pt x="584866" y="2080"/>
                  </a:lnTo>
                  <a:lnTo>
                    <a:pt x="631455" y="8254"/>
                  </a:lnTo>
                  <a:lnTo>
                    <a:pt x="677117" y="18418"/>
                  </a:lnTo>
                  <a:lnTo>
                    <a:pt x="721604" y="32470"/>
                  </a:lnTo>
                  <a:lnTo>
                    <a:pt x="764668" y="50307"/>
                  </a:lnTo>
                  <a:lnTo>
                    <a:pt x="806063" y="71828"/>
                  </a:lnTo>
                  <a:lnTo>
                    <a:pt x="845539" y="96928"/>
                  </a:lnTo>
                  <a:lnTo>
                    <a:pt x="882850" y="125506"/>
                  </a:lnTo>
                  <a:lnTo>
                    <a:pt x="917750" y="157462"/>
                  </a:lnTo>
                  <a:lnTo>
                    <a:pt x="949695" y="192354"/>
                  </a:lnTo>
                  <a:lnTo>
                    <a:pt x="978270" y="229662"/>
                  </a:lnTo>
                  <a:lnTo>
                    <a:pt x="1003368" y="269137"/>
                  </a:lnTo>
                  <a:lnTo>
                    <a:pt x="1024887" y="310530"/>
                  </a:lnTo>
                  <a:lnTo>
                    <a:pt x="1042724" y="353594"/>
                  </a:lnTo>
                  <a:lnTo>
                    <a:pt x="1056777" y="398081"/>
                  </a:lnTo>
                  <a:lnTo>
                    <a:pt x="1066942" y="443742"/>
                  </a:lnTo>
                  <a:lnTo>
                    <a:pt x="1073116" y="490331"/>
                  </a:lnTo>
                  <a:lnTo>
                    <a:pt x="1075197" y="537598"/>
                  </a:lnTo>
                  <a:lnTo>
                    <a:pt x="1073000" y="586530"/>
                  </a:lnTo>
                  <a:lnTo>
                    <a:pt x="1066536" y="634230"/>
                  </a:lnTo>
                  <a:lnTo>
                    <a:pt x="1055993" y="680511"/>
                  </a:lnTo>
                  <a:lnTo>
                    <a:pt x="1041563" y="725181"/>
                  </a:lnTo>
                  <a:lnTo>
                    <a:pt x="1023434" y="768051"/>
                  </a:lnTo>
                  <a:lnTo>
                    <a:pt x="1001798" y="808931"/>
                  </a:lnTo>
                  <a:lnTo>
                    <a:pt x="976842" y="847632"/>
                  </a:lnTo>
                  <a:lnTo>
                    <a:pt x="948758" y="883963"/>
                  </a:lnTo>
                  <a:lnTo>
                    <a:pt x="917735" y="917735"/>
                  </a:lnTo>
                  <a:lnTo>
                    <a:pt x="883963" y="948758"/>
                  </a:lnTo>
                  <a:lnTo>
                    <a:pt x="847632" y="976842"/>
                  </a:lnTo>
                  <a:lnTo>
                    <a:pt x="808931" y="1001798"/>
                  </a:lnTo>
                  <a:lnTo>
                    <a:pt x="768051" y="1023434"/>
                  </a:lnTo>
                  <a:lnTo>
                    <a:pt x="725181" y="1041563"/>
                  </a:lnTo>
                  <a:lnTo>
                    <a:pt x="680511" y="1055993"/>
                  </a:lnTo>
                  <a:lnTo>
                    <a:pt x="634230" y="1066536"/>
                  </a:lnTo>
                  <a:lnTo>
                    <a:pt x="586530" y="1073000"/>
                  </a:lnTo>
                  <a:lnTo>
                    <a:pt x="537598" y="1075197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64536" y="2272170"/>
              <a:ext cx="1075690" cy="1075690"/>
            </a:xfrm>
            <a:custGeom>
              <a:avLst/>
              <a:gdLst/>
              <a:ahLst/>
              <a:cxnLst/>
              <a:rect l="l" t="t" r="r" b="b"/>
              <a:pathLst>
                <a:path w="1075690" h="1075689">
                  <a:moveTo>
                    <a:pt x="0" y="537598"/>
                  </a:moveTo>
                  <a:lnTo>
                    <a:pt x="2197" y="488667"/>
                  </a:lnTo>
                  <a:lnTo>
                    <a:pt x="8661" y="440967"/>
                  </a:lnTo>
                  <a:lnTo>
                    <a:pt x="19204" y="394686"/>
                  </a:lnTo>
                  <a:lnTo>
                    <a:pt x="33634" y="350016"/>
                  </a:lnTo>
                  <a:lnTo>
                    <a:pt x="51763" y="307146"/>
                  </a:lnTo>
                  <a:lnTo>
                    <a:pt x="73399" y="266266"/>
                  </a:lnTo>
                  <a:lnTo>
                    <a:pt x="98355" y="227565"/>
                  </a:lnTo>
                  <a:lnTo>
                    <a:pt x="126439" y="191234"/>
                  </a:lnTo>
                  <a:lnTo>
                    <a:pt x="157462" y="157462"/>
                  </a:lnTo>
                  <a:lnTo>
                    <a:pt x="191234" y="126439"/>
                  </a:lnTo>
                  <a:lnTo>
                    <a:pt x="227565" y="98355"/>
                  </a:lnTo>
                  <a:lnTo>
                    <a:pt x="266266" y="73399"/>
                  </a:lnTo>
                  <a:lnTo>
                    <a:pt x="307146" y="51763"/>
                  </a:lnTo>
                  <a:lnTo>
                    <a:pt x="350016" y="33634"/>
                  </a:lnTo>
                  <a:lnTo>
                    <a:pt x="394686" y="19204"/>
                  </a:lnTo>
                  <a:lnTo>
                    <a:pt x="440967" y="8661"/>
                  </a:lnTo>
                  <a:lnTo>
                    <a:pt x="488667" y="2197"/>
                  </a:lnTo>
                  <a:lnTo>
                    <a:pt x="537598" y="0"/>
                  </a:lnTo>
                  <a:lnTo>
                    <a:pt x="584866" y="2080"/>
                  </a:lnTo>
                  <a:lnTo>
                    <a:pt x="631455" y="8254"/>
                  </a:lnTo>
                  <a:lnTo>
                    <a:pt x="677117" y="18418"/>
                  </a:lnTo>
                  <a:lnTo>
                    <a:pt x="721604" y="32470"/>
                  </a:lnTo>
                  <a:lnTo>
                    <a:pt x="764668" y="50307"/>
                  </a:lnTo>
                  <a:lnTo>
                    <a:pt x="806063" y="71828"/>
                  </a:lnTo>
                  <a:lnTo>
                    <a:pt x="845539" y="96928"/>
                  </a:lnTo>
                  <a:lnTo>
                    <a:pt x="882850" y="125506"/>
                  </a:lnTo>
                  <a:lnTo>
                    <a:pt x="917748" y="157459"/>
                  </a:lnTo>
                  <a:lnTo>
                    <a:pt x="949695" y="192354"/>
                  </a:lnTo>
                  <a:lnTo>
                    <a:pt x="978270" y="229662"/>
                  </a:lnTo>
                  <a:lnTo>
                    <a:pt x="1003368" y="269137"/>
                  </a:lnTo>
                  <a:lnTo>
                    <a:pt x="1024887" y="310530"/>
                  </a:lnTo>
                  <a:lnTo>
                    <a:pt x="1042724" y="353594"/>
                  </a:lnTo>
                  <a:lnTo>
                    <a:pt x="1056777" y="398081"/>
                  </a:lnTo>
                  <a:lnTo>
                    <a:pt x="1066942" y="443742"/>
                  </a:lnTo>
                  <a:lnTo>
                    <a:pt x="1073116" y="490331"/>
                  </a:lnTo>
                  <a:lnTo>
                    <a:pt x="1075197" y="537598"/>
                  </a:lnTo>
                  <a:lnTo>
                    <a:pt x="1073000" y="586530"/>
                  </a:lnTo>
                  <a:lnTo>
                    <a:pt x="1066536" y="634230"/>
                  </a:lnTo>
                  <a:lnTo>
                    <a:pt x="1055993" y="680511"/>
                  </a:lnTo>
                  <a:lnTo>
                    <a:pt x="1041563" y="725181"/>
                  </a:lnTo>
                  <a:lnTo>
                    <a:pt x="1023434" y="768051"/>
                  </a:lnTo>
                  <a:lnTo>
                    <a:pt x="1001797" y="808931"/>
                  </a:lnTo>
                  <a:lnTo>
                    <a:pt x="976842" y="847632"/>
                  </a:lnTo>
                  <a:lnTo>
                    <a:pt x="948758" y="883963"/>
                  </a:lnTo>
                  <a:lnTo>
                    <a:pt x="917735" y="917735"/>
                  </a:lnTo>
                  <a:lnTo>
                    <a:pt x="883963" y="948758"/>
                  </a:lnTo>
                  <a:lnTo>
                    <a:pt x="847632" y="976842"/>
                  </a:lnTo>
                  <a:lnTo>
                    <a:pt x="808931" y="1001797"/>
                  </a:lnTo>
                  <a:lnTo>
                    <a:pt x="768051" y="1023434"/>
                  </a:lnTo>
                  <a:lnTo>
                    <a:pt x="725181" y="1041563"/>
                  </a:lnTo>
                  <a:lnTo>
                    <a:pt x="680511" y="1055993"/>
                  </a:lnTo>
                  <a:lnTo>
                    <a:pt x="634230" y="1066536"/>
                  </a:lnTo>
                  <a:lnTo>
                    <a:pt x="586530" y="1073000"/>
                  </a:lnTo>
                  <a:lnTo>
                    <a:pt x="537598" y="1075197"/>
                  </a:lnTo>
                  <a:lnTo>
                    <a:pt x="488667" y="1073000"/>
                  </a:lnTo>
                  <a:lnTo>
                    <a:pt x="440967" y="1066536"/>
                  </a:lnTo>
                  <a:lnTo>
                    <a:pt x="394686" y="1055993"/>
                  </a:lnTo>
                  <a:lnTo>
                    <a:pt x="350016" y="1041563"/>
                  </a:lnTo>
                  <a:lnTo>
                    <a:pt x="307146" y="1023434"/>
                  </a:lnTo>
                  <a:lnTo>
                    <a:pt x="266266" y="1001797"/>
                  </a:lnTo>
                  <a:lnTo>
                    <a:pt x="227565" y="976842"/>
                  </a:lnTo>
                  <a:lnTo>
                    <a:pt x="191234" y="948758"/>
                  </a:lnTo>
                  <a:lnTo>
                    <a:pt x="157462" y="917735"/>
                  </a:lnTo>
                  <a:lnTo>
                    <a:pt x="126439" y="883963"/>
                  </a:lnTo>
                  <a:lnTo>
                    <a:pt x="98355" y="847632"/>
                  </a:lnTo>
                  <a:lnTo>
                    <a:pt x="73399" y="808931"/>
                  </a:lnTo>
                  <a:lnTo>
                    <a:pt x="51763" y="768051"/>
                  </a:lnTo>
                  <a:lnTo>
                    <a:pt x="33634" y="725181"/>
                  </a:lnTo>
                  <a:lnTo>
                    <a:pt x="19204" y="680511"/>
                  </a:lnTo>
                  <a:lnTo>
                    <a:pt x="8661" y="634230"/>
                  </a:lnTo>
                  <a:lnTo>
                    <a:pt x="2197" y="586530"/>
                  </a:lnTo>
                  <a:lnTo>
                    <a:pt x="0" y="53759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95018" y="2685185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explain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425472" y="3941404"/>
            <a:ext cx="1085215" cy="1085215"/>
            <a:chOff x="7425472" y="3941404"/>
            <a:chExt cx="1085215" cy="1085215"/>
          </a:xfrm>
        </p:grpSpPr>
        <p:sp>
          <p:nvSpPr>
            <p:cNvPr id="32" name="object 32"/>
            <p:cNvSpPr/>
            <p:nvPr/>
          </p:nvSpPr>
          <p:spPr>
            <a:xfrm>
              <a:off x="7430235" y="3946166"/>
              <a:ext cx="1075690" cy="1075690"/>
            </a:xfrm>
            <a:custGeom>
              <a:avLst/>
              <a:gdLst/>
              <a:ahLst/>
              <a:cxnLst/>
              <a:rect l="l" t="t" r="r" b="b"/>
              <a:pathLst>
                <a:path w="1075690" h="1075689">
                  <a:moveTo>
                    <a:pt x="537598" y="1075197"/>
                  </a:moveTo>
                  <a:lnTo>
                    <a:pt x="488667" y="1073000"/>
                  </a:lnTo>
                  <a:lnTo>
                    <a:pt x="440967" y="1066536"/>
                  </a:lnTo>
                  <a:lnTo>
                    <a:pt x="394686" y="1055993"/>
                  </a:lnTo>
                  <a:lnTo>
                    <a:pt x="350016" y="1041563"/>
                  </a:lnTo>
                  <a:lnTo>
                    <a:pt x="307146" y="1023434"/>
                  </a:lnTo>
                  <a:lnTo>
                    <a:pt x="266266" y="1001798"/>
                  </a:lnTo>
                  <a:lnTo>
                    <a:pt x="227565" y="976842"/>
                  </a:lnTo>
                  <a:lnTo>
                    <a:pt x="191234" y="948758"/>
                  </a:lnTo>
                  <a:lnTo>
                    <a:pt x="157462" y="917735"/>
                  </a:lnTo>
                  <a:lnTo>
                    <a:pt x="126439" y="883963"/>
                  </a:lnTo>
                  <a:lnTo>
                    <a:pt x="98355" y="847632"/>
                  </a:lnTo>
                  <a:lnTo>
                    <a:pt x="73399" y="808931"/>
                  </a:lnTo>
                  <a:lnTo>
                    <a:pt x="51763" y="768051"/>
                  </a:lnTo>
                  <a:lnTo>
                    <a:pt x="33634" y="725181"/>
                  </a:lnTo>
                  <a:lnTo>
                    <a:pt x="19204" y="680511"/>
                  </a:lnTo>
                  <a:lnTo>
                    <a:pt x="8661" y="634230"/>
                  </a:lnTo>
                  <a:lnTo>
                    <a:pt x="2197" y="586530"/>
                  </a:lnTo>
                  <a:lnTo>
                    <a:pt x="0" y="537598"/>
                  </a:lnTo>
                  <a:lnTo>
                    <a:pt x="2197" y="488667"/>
                  </a:lnTo>
                  <a:lnTo>
                    <a:pt x="8661" y="440967"/>
                  </a:lnTo>
                  <a:lnTo>
                    <a:pt x="19204" y="394686"/>
                  </a:lnTo>
                  <a:lnTo>
                    <a:pt x="33634" y="350016"/>
                  </a:lnTo>
                  <a:lnTo>
                    <a:pt x="51763" y="307146"/>
                  </a:lnTo>
                  <a:lnTo>
                    <a:pt x="73399" y="266266"/>
                  </a:lnTo>
                  <a:lnTo>
                    <a:pt x="98355" y="227565"/>
                  </a:lnTo>
                  <a:lnTo>
                    <a:pt x="126439" y="191234"/>
                  </a:lnTo>
                  <a:lnTo>
                    <a:pt x="157475" y="157449"/>
                  </a:lnTo>
                  <a:lnTo>
                    <a:pt x="191234" y="126439"/>
                  </a:lnTo>
                  <a:lnTo>
                    <a:pt x="227565" y="98355"/>
                  </a:lnTo>
                  <a:lnTo>
                    <a:pt x="266266" y="73399"/>
                  </a:lnTo>
                  <a:lnTo>
                    <a:pt x="307146" y="51763"/>
                  </a:lnTo>
                  <a:lnTo>
                    <a:pt x="350016" y="33634"/>
                  </a:lnTo>
                  <a:lnTo>
                    <a:pt x="394686" y="19204"/>
                  </a:lnTo>
                  <a:lnTo>
                    <a:pt x="440967" y="8661"/>
                  </a:lnTo>
                  <a:lnTo>
                    <a:pt x="488667" y="2197"/>
                  </a:lnTo>
                  <a:lnTo>
                    <a:pt x="537598" y="0"/>
                  </a:lnTo>
                  <a:lnTo>
                    <a:pt x="584866" y="2080"/>
                  </a:lnTo>
                  <a:lnTo>
                    <a:pt x="631455" y="8255"/>
                  </a:lnTo>
                  <a:lnTo>
                    <a:pt x="677117" y="18420"/>
                  </a:lnTo>
                  <a:lnTo>
                    <a:pt x="721604" y="32472"/>
                  </a:lnTo>
                  <a:lnTo>
                    <a:pt x="764668" y="50310"/>
                  </a:lnTo>
                  <a:lnTo>
                    <a:pt x="806063" y="71829"/>
                  </a:lnTo>
                  <a:lnTo>
                    <a:pt x="845539" y="96927"/>
                  </a:lnTo>
                  <a:lnTo>
                    <a:pt x="882850" y="125502"/>
                  </a:lnTo>
                  <a:lnTo>
                    <a:pt x="917759" y="157462"/>
                  </a:lnTo>
                  <a:lnTo>
                    <a:pt x="949695" y="192347"/>
                  </a:lnTo>
                  <a:lnTo>
                    <a:pt x="978270" y="229658"/>
                  </a:lnTo>
                  <a:lnTo>
                    <a:pt x="1003368" y="269134"/>
                  </a:lnTo>
                  <a:lnTo>
                    <a:pt x="1024887" y="310529"/>
                  </a:lnTo>
                  <a:lnTo>
                    <a:pt x="1042724" y="353593"/>
                  </a:lnTo>
                  <a:lnTo>
                    <a:pt x="1056777" y="398080"/>
                  </a:lnTo>
                  <a:lnTo>
                    <a:pt x="1066942" y="443742"/>
                  </a:lnTo>
                  <a:lnTo>
                    <a:pt x="1073116" y="490331"/>
                  </a:lnTo>
                  <a:lnTo>
                    <a:pt x="1075197" y="537598"/>
                  </a:lnTo>
                  <a:lnTo>
                    <a:pt x="1073000" y="586530"/>
                  </a:lnTo>
                  <a:lnTo>
                    <a:pt x="1066536" y="634230"/>
                  </a:lnTo>
                  <a:lnTo>
                    <a:pt x="1055993" y="680511"/>
                  </a:lnTo>
                  <a:lnTo>
                    <a:pt x="1041563" y="725181"/>
                  </a:lnTo>
                  <a:lnTo>
                    <a:pt x="1023434" y="768051"/>
                  </a:lnTo>
                  <a:lnTo>
                    <a:pt x="1001798" y="808931"/>
                  </a:lnTo>
                  <a:lnTo>
                    <a:pt x="976842" y="847632"/>
                  </a:lnTo>
                  <a:lnTo>
                    <a:pt x="948758" y="883963"/>
                  </a:lnTo>
                  <a:lnTo>
                    <a:pt x="917735" y="917735"/>
                  </a:lnTo>
                  <a:lnTo>
                    <a:pt x="883963" y="948758"/>
                  </a:lnTo>
                  <a:lnTo>
                    <a:pt x="847632" y="976842"/>
                  </a:lnTo>
                  <a:lnTo>
                    <a:pt x="808931" y="1001798"/>
                  </a:lnTo>
                  <a:lnTo>
                    <a:pt x="768051" y="1023434"/>
                  </a:lnTo>
                  <a:lnTo>
                    <a:pt x="725181" y="1041563"/>
                  </a:lnTo>
                  <a:lnTo>
                    <a:pt x="680511" y="1055993"/>
                  </a:lnTo>
                  <a:lnTo>
                    <a:pt x="634230" y="1066536"/>
                  </a:lnTo>
                  <a:lnTo>
                    <a:pt x="586530" y="1073000"/>
                  </a:lnTo>
                  <a:lnTo>
                    <a:pt x="537598" y="1075197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30234" y="3946166"/>
              <a:ext cx="1075690" cy="1075690"/>
            </a:xfrm>
            <a:custGeom>
              <a:avLst/>
              <a:gdLst/>
              <a:ahLst/>
              <a:cxnLst/>
              <a:rect l="l" t="t" r="r" b="b"/>
              <a:pathLst>
                <a:path w="1075690" h="1075689">
                  <a:moveTo>
                    <a:pt x="0" y="537598"/>
                  </a:moveTo>
                  <a:lnTo>
                    <a:pt x="2197" y="488667"/>
                  </a:lnTo>
                  <a:lnTo>
                    <a:pt x="8661" y="440967"/>
                  </a:lnTo>
                  <a:lnTo>
                    <a:pt x="19204" y="394686"/>
                  </a:lnTo>
                  <a:lnTo>
                    <a:pt x="33634" y="350016"/>
                  </a:lnTo>
                  <a:lnTo>
                    <a:pt x="51763" y="307146"/>
                  </a:lnTo>
                  <a:lnTo>
                    <a:pt x="73399" y="266266"/>
                  </a:lnTo>
                  <a:lnTo>
                    <a:pt x="98355" y="227565"/>
                  </a:lnTo>
                  <a:lnTo>
                    <a:pt x="126439" y="191234"/>
                  </a:lnTo>
                  <a:lnTo>
                    <a:pt x="157462" y="157462"/>
                  </a:lnTo>
                  <a:lnTo>
                    <a:pt x="191234" y="126439"/>
                  </a:lnTo>
                  <a:lnTo>
                    <a:pt x="227565" y="98355"/>
                  </a:lnTo>
                  <a:lnTo>
                    <a:pt x="266266" y="73399"/>
                  </a:lnTo>
                  <a:lnTo>
                    <a:pt x="307146" y="51763"/>
                  </a:lnTo>
                  <a:lnTo>
                    <a:pt x="350016" y="33634"/>
                  </a:lnTo>
                  <a:lnTo>
                    <a:pt x="394686" y="19204"/>
                  </a:lnTo>
                  <a:lnTo>
                    <a:pt x="440967" y="8661"/>
                  </a:lnTo>
                  <a:lnTo>
                    <a:pt x="488667" y="2197"/>
                  </a:lnTo>
                  <a:lnTo>
                    <a:pt x="537598" y="0"/>
                  </a:lnTo>
                  <a:lnTo>
                    <a:pt x="584866" y="2080"/>
                  </a:lnTo>
                  <a:lnTo>
                    <a:pt x="631455" y="8255"/>
                  </a:lnTo>
                  <a:lnTo>
                    <a:pt x="677117" y="18420"/>
                  </a:lnTo>
                  <a:lnTo>
                    <a:pt x="721604" y="32472"/>
                  </a:lnTo>
                  <a:lnTo>
                    <a:pt x="764668" y="50310"/>
                  </a:lnTo>
                  <a:lnTo>
                    <a:pt x="806063" y="71829"/>
                  </a:lnTo>
                  <a:lnTo>
                    <a:pt x="845539" y="96927"/>
                  </a:lnTo>
                  <a:lnTo>
                    <a:pt x="882850" y="125502"/>
                  </a:lnTo>
                  <a:lnTo>
                    <a:pt x="917748" y="157449"/>
                  </a:lnTo>
                  <a:lnTo>
                    <a:pt x="949695" y="192347"/>
                  </a:lnTo>
                  <a:lnTo>
                    <a:pt x="978270" y="229658"/>
                  </a:lnTo>
                  <a:lnTo>
                    <a:pt x="1003368" y="269134"/>
                  </a:lnTo>
                  <a:lnTo>
                    <a:pt x="1024887" y="310529"/>
                  </a:lnTo>
                  <a:lnTo>
                    <a:pt x="1042724" y="353593"/>
                  </a:lnTo>
                  <a:lnTo>
                    <a:pt x="1056777" y="398080"/>
                  </a:lnTo>
                  <a:lnTo>
                    <a:pt x="1066942" y="443742"/>
                  </a:lnTo>
                  <a:lnTo>
                    <a:pt x="1073116" y="490331"/>
                  </a:lnTo>
                  <a:lnTo>
                    <a:pt x="1075197" y="537598"/>
                  </a:lnTo>
                  <a:lnTo>
                    <a:pt x="1073000" y="586530"/>
                  </a:lnTo>
                  <a:lnTo>
                    <a:pt x="1066536" y="634230"/>
                  </a:lnTo>
                  <a:lnTo>
                    <a:pt x="1055993" y="680511"/>
                  </a:lnTo>
                  <a:lnTo>
                    <a:pt x="1041563" y="725181"/>
                  </a:lnTo>
                  <a:lnTo>
                    <a:pt x="1023434" y="768051"/>
                  </a:lnTo>
                  <a:lnTo>
                    <a:pt x="1001797" y="808931"/>
                  </a:lnTo>
                  <a:lnTo>
                    <a:pt x="976842" y="847632"/>
                  </a:lnTo>
                  <a:lnTo>
                    <a:pt x="948758" y="883963"/>
                  </a:lnTo>
                  <a:lnTo>
                    <a:pt x="917735" y="917735"/>
                  </a:lnTo>
                  <a:lnTo>
                    <a:pt x="883963" y="948758"/>
                  </a:lnTo>
                  <a:lnTo>
                    <a:pt x="847632" y="976842"/>
                  </a:lnTo>
                  <a:lnTo>
                    <a:pt x="808931" y="1001797"/>
                  </a:lnTo>
                  <a:lnTo>
                    <a:pt x="768051" y="1023434"/>
                  </a:lnTo>
                  <a:lnTo>
                    <a:pt x="725181" y="1041563"/>
                  </a:lnTo>
                  <a:lnTo>
                    <a:pt x="680511" y="1055993"/>
                  </a:lnTo>
                  <a:lnTo>
                    <a:pt x="634230" y="1066536"/>
                  </a:lnTo>
                  <a:lnTo>
                    <a:pt x="586530" y="1073000"/>
                  </a:lnTo>
                  <a:lnTo>
                    <a:pt x="537598" y="1075197"/>
                  </a:lnTo>
                  <a:lnTo>
                    <a:pt x="488667" y="1073000"/>
                  </a:lnTo>
                  <a:lnTo>
                    <a:pt x="440967" y="1066536"/>
                  </a:lnTo>
                  <a:lnTo>
                    <a:pt x="394686" y="1055993"/>
                  </a:lnTo>
                  <a:lnTo>
                    <a:pt x="350016" y="1041563"/>
                  </a:lnTo>
                  <a:lnTo>
                    <a:pt x="307146" y="1023434"/>
                  </a:lnTo>
                  <a:lnTo>
                    <a:pt x="266266" y="1001797"/>
                  </a:lnTo>
                  <a:lnTo>
                    <a:pt x="227565" y="976842"/>
                  </a:lnTo>
                  <a:lnTo>
                    <a:pt x="191234" y="948758"/>
                  </a:lnTo>
                  <a:lnTo>
                    <a:pt x="157462" y="917735"/>
                  </a:lnTo>
                  <a:lnTo>
                    <a:pt x="126439" y="883963"/>
                  </a:lnTo>
                  <a:lnTo>
                    <a:pt x="98355" y="847632"/>
                  </a:lnTo>
                  <a:lnTo>
                    <a:pt x="73399" y="808931"/>
                  </a:lnTo>
                  <a:lnTo>
                    <a:pt x="51763" y="768051"/>
                  </a:lnTo>
                  <a:lnTo>
                    <a:pt x="33634" y="725181"/>
                  </a:lnTo>
                  <a:lnTo>
                    <a:pt x="19204" y="680511"/>
                  </a:lnTo>
                  <a:lnTo>
                    <a:pt x="8661" y="634230"/>
                  </a:lnTo>
                  <a:lnTo>
                    <a:pt x="2197" y="586530"/>
                  </a:lnTo>
                  <a:lnTo>
                    <a:pt x="0" y="53759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60719" y="435918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explain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724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Post </a:t>
            </a:r>
            <a:r>
              <a:rPr sz="2800" spc="-5" dirty="0"/>
              <a:t>Hoc</a:t>
            </a:r>
            <a:r>
              <a:rPr sz="2800" spc="-85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075930" cy="96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One of the way to achieve Post Hoc Interpretability is to deploy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proxy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 dirty="0">
              <a:latin typeface="Arial"/>
              <a:cs typeface="Arial"/>
            </a:endParaRPr>
          </a:p>
          <a:p>
            <a:pPr marL="379095" marR="360045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will introduce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about Post Hoc Interpretable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 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later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74979" y="3531530"/>
            <a:ext cx="39370" cy="31115"/>
            <a:chOff x="4074979" y="3531530"/>
            <a:chExt cx="39370" cy="31115"/>
          </a:xfrm>
        </p:grpSpPr>
        <p:sp>
          <p:nvSpPr>
            <p:cNvPr id="5" name="object 5"/>
            <p:cNvSpPr/>
            <p:nvPr/>
          </p:nvSpPr>
          <p:spPr>
            <a:xfrm>
              <a:off x="4079741" y="3536293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4"/>
                  </a:moveTo>
                  <a:lnTo>
                    <a:pt x="10724" y="10724"/>
                  </a:lnTo>
                  <a:lnTo>
                    <a:pt x="24" y="0"/>
                  </a:lnTo>
                  <a:lnTo>
                    <a:pt x="29449" y="10749"/>
                  </a:lnTo>
                  <a:lnTo>
                    <a:pt x="0" y="21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79741" y="3536293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24" y="10724"/>
                  </a:moveTo>
                  <a:lnTo>
                    <a:pt x="0" y="21424"/>
                  </a:lnTo>
                  <a:lnTo>
                    <a:pt x="29449" y="10749"/>
                  </a:lnTo>
                  <a:lnTo>
                    <a:pt x="24" y="0"/>
                  </a:lnTo>
                  <a:lnTo>
                    <a:pt x="10724" y="10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012848" y="2960356"/>
            <a:ext cx="1165860" cy="1165860"/>
            <a:chOff x="7012848" y="2960356"/>
            <a:chExt cx="1165860" cy="1165860"/>
          </a:xfrm>
        </p:grpSpPr>
        <p:sp>
          <p:nvSpPr>
            <p:cNvPr id="8" name="object 8"/>
            <p:cNvSpPr/>
            <p:nvPr/>
          </p:nvSpPr>
          <p:spPr>
            <a:xfrm>
              <a:off x="7017611" y="2965119"/>
              <a:ext cx="1156335" cy="1156335"/>
            </a:xfrm>
            <a:custGeom>
              <a:avLst/>
              <a:gdLst/>
              <a:ahLst/>
              <a:cxnLst/>
              <a:rect l="l" t="t" r="r" b="b"/>
              <a:pathLst>
                <a:path w="1156334" h="1156335">
                  <a:moveTo>
                    <a:pt x="577948" y="1155897"/>
                  </a:moveTo>
                  <a:lnTo>
                    <a:pt x="530547" y="1153981"/>
                  </a:lnTo>
                  <a:lnTo>
                    <a:pt x="484200" y="1148333"/>
                  </a:lnTo>
                  <a:lnTo>
                    <a:pt x="439058" y="1139101"/>
                  </a:lnTo>
                  <a:lnTo>
                    <a:pt x="395269" y="1126434"/>
                  </a:lnTo>
                  <a:lnTo>
                    <a:pt x="352982" y="1110480"/>
                  </a:lnTo>
                  <a:lnTo>
                    <a:pt x="312344" y="1091389"/>
                  </a:lnTo>
                  <a:lnTo>
                    <a:pt x="273506" y="1069309"/>
                  </a:lnTo>
                  <a:lnTo>
                    <a:pt x="236616" y="1044389"/>
                  </a:lnTo>
                  <a:lnTo>
                    <a:pt x="201823" y="1016777"/>
                  </a:lnTo>
                  <a:lnTo>
                    <a:pt x="169274" y="986623"/>
                  </a:lnTo>
                  <a:lnTo>
                    <a:pt x="139120" y="954074"/>
                  </a:lnTo>
                  <a:lnTo>
                    <a:pt x="111508" y="919280"/>
                  </a:lnTo>
                  <a:lnTo>
                    <a:pt x="86588" y="882390"/>
                  </a:lnTo>
                  <a:lnTo>
                    <a:pt x="64508" y="843552"/>
                  </a:lnTo>
                  <a:lnTo>
                    <a:pt x="45417" y="802915"/>
                  </a:lnTo>
                  <a:lnTo>
                    <a:pt x="29463" y="760628"/>
                  </a:lnTo>
                  <a:lnTo>
                    <a:pt x="16796" y="716838"/>
                  </a:lnTo>
                  <a:lnTo>
                    <a:pt x="7564" y="671696"/>
                  </a:lnTo>
                  <a:lnTo>
                    <a:pt x="1915" y="625350"/>
                  </a:lnTo>
                  <a:lnTo>
                    <a:pt x="0" y="577948"/>
                  </a:lnTo>
                  <a:lnTo>
                    <a:pt x="1915" y="530550"/>
                  </a:lnTo>
                  <a:lnTo>
                    <a:pt x="7564" y="484206"/>
                  </a:lnTo>
                  <a:lnTo>
                    <a:pt x="16796" y="439066"/>
                  </a:lnTo>
                  <a:lnTo>
                    <a:pt x="29463" y="395279"/>
                  </a:lnTo>
                  <a:lnTo>
                    <a:pt x="45417" y="352992"/>
                  </a:lnTo>
                  <a:lnTo>
                    <a:pt x="64508" y="312356"/>
                  </a:lnTo>
                  <a:lnTo>
                    <a:pt x="86588" y="273518"/>
                  </a:lnTo>
                  <a:lnTo>
                    <a:pt x="111508" y="236627"/>
                  </a:lnTo>
                  <a:lnTo>
                    <a:pt x="139120" y="201833"/>
                  </a:lnTo>
                  <a:lnTo>
                    <a:pt x="169274" y="169284"/>
                  </a:lnTo>
                  <a:lnTo>
                    <a:pt x="201823" y="139128"/>
                  </a:lnTo>
                  <a:lnTo>
                    <a:pt x="236616" y="111515"/>
                  </a:lnTo>
                  <a:lnTo>
                    <a:pt x="273506" y="86594"/>
                  </a:lnTo>
                  <a:lnTo>
                    <a:pt x="312344" y="64512"/>
                  </a:lnTo>
                  <a:lnTo>
                    <a:pt x="352982" y="45420"/>
                  </a:lnTo>
                  <a:lnTo>
                    <a:pt x="395269" y="29465"/>
                  </a:lnTo>
                  <a:lnTo>
                    <a:pt x="439058" y="16797"/>
                  </a:lnTo>
                  <a:lnTo>
                    <a:pt x="484200" y="7564"/>
                  </a:lnTo>
                  <a:lnTo>
                    <a:pt x="530547" y="1916"/>
                  </a:lnTo>
                  <a:lnTo>
                    <a:pt x="577948" y="0"/>
                  </a:lnTo>
                  <a:lnTo>
                    <a:pt x="628763" y="2237"/>
                  </a:lnTo>
                  <a:lnTo>
                    <a:pt x="678847" y="8875"/>
                  </a:lnTo>
                  <a:lnTo>
                    <a:pt x="727934" y="19803"/>
                  </a:lnTo>
                  <a:lnTo>
                    <a:pt x="775758" y="34912"/>
                  </a:lnTo>
                  <a:lnTo>
                    <a:pt x="822053" y="54091"/>
                  </a:lnTo>
                  <a:lnTo>
                    <a:pt x="866553" y="77229"/>
                  </a:lnTo>
                  <a:lnTo>
                    <a:pt x="908992" y="104217"/>
                  </a:lnTo>
                  <a:lnTo>
                    <a:pt x="949104" y="134944"/>
                  </a:lnTo>
                  <a:lnTo>
                    <a:pt x="986623" y="169299"/>
                  </a:lnTo>
                  <a:lnTo>
                    <a:pt x="1020971" y="206810"/>
                  </a:lnTo>
                  <a:lnTo>
                    <a:pt x="1051692" y="246916"/>
                  </a:lnTo>
                  <a:lnTo>
                    <a:pt x="1078675" y="289351"/>
                  </a:lnTo>
                  <a:lnTo>
                    <a:pt x="1101810" y="333848"/>
                  </a:lnTo>
                  <a:lnTo>
                    <a:pt x="1120987" y="380141"/>
                  </a:lnTo>
                  <a:lnTo>
                    <a:pt x="1136094" y="427963"/>
                  </a:lnTo>
                  <a:lnTo>
                    <a:pt x="1147022" y="477050"/>
                  </a:lnTo>
                  <a:lnTo>
                    <a:pt x="1153660" y="527134"/>
                  </a:lnTo>
                  <a:lnTo>
                    <a:pt x="1155897" y="577948"/>
                  </a:lnTo>
                  <a:lnTo>
                    <a:pt x="1153981" y="625350"/>
                  </a:lnTo>
                  <a:lnTo>
                    <a:pt x="1148333" y="671696"/>
                  </a:lnTo>
                  <a:lnTo>
                    <a:pt x="1139101" y="716838"/>
                  </a:lnTo>
                  <a:lnTo>
                    <a:pt x="1126434" y="760628"/>
                  </a:lnTo>
                  <a:lnTo>
                    <a:pt x="1110480" y="802915"/>
                  </a:lnTo>
                  <a:lnTo>
                    <a:pt x="1091389" y="843552"/>
                  </a:lnTo>
                  <a:lnTo>
                    <a:pt x="1069309" y="882390"/>
                  </a:lnTo>
                  <a:lnTo>
                    <a:pt x="1044389" y="919280"/>
                  </a:lnTo>
                  <a:lnTo>
                    <a:pt x="1016777" y="954074"/>
                  </a:lnTo>
                  <a:lnTo>
                    <a:pt x="986623" y="986623"/>
                  </a:lnTo>
                  <a:lnTo>
                    <a:pt x="954074" y="1016777"/>
                  </a:lnTo>
                  <a:lnTo>
                    <a:pt x="919280" y="1044389"/>
                  </a:lnTo>
                  <a:lnTo>
                    <a:pt x="882390" y="1069309"/>
                  </a:lnTo>
                  <a:lnTo>
                    <a:pt x="843552" y="1091389"/>
                  </a:lnTo>
                  <a:lnTo>
                    <a:pt x="802915" y="1110480"/>
                  </a:lnTo>
                  <a:lnTo>
                    <a:pt x="760628" y="1126434"/>
                  </a:lnTo>
                  <a:lnTo>
                    <a:pt x="716838" y="1139101"/>
                  </a:lnTo>
                  <a:lnTo>
                    <a:pt x="671696" y="1148333"/>
                  </a:lnTo>
                  <a:lnTo>
                    <a:pt x="625350" y="1153981"/>
                  </a:lnTo>
                  <a:lnTo>
                    <a:pt x="577948" y="1155897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17611" y="2965119"/>
              <a:ext cx="1156335" cy="1156335"/>
            </a:xfrm>
            <a:custGeom>
              <a:avLst/>
              <a:gdLst/>
              <a:ahLst/>
              <a:cxnLst/>
              <a:rect l="l" t="t" r="r" b="b"/>
              <a:pathLst>
                <a:path w="1156334" h="1156335">
                  <a:moveTo>
                    <a:pt x="0" y="577948"/>
                  </a:moveTo>
                  <a:lnTo>
                    <a:pt x="1915" y="530550"/>
                  </a:lnTo>
                  <a:lnTo>
                    <a:pt x="7564" y="484206"/>
                  </a:lnTo>
                  <a:lnTo>
                    <a:pt x="16796" y="439066"/>
                  </a:lnTo>
                  <a:lnTo>
                    <a:pt x="29463" y="395279"/>
                  </a:lnTo>
                  <a:lnTo>
                    <a:pt x="45417" y="352992"/>
                  </a:lnTo>
                  <a:lnTo>
                    <a:pt x="64508" y="312355"/>
                  </a:lnTo>
                  <a:lnTo>
                    <a:pt x="86588" y="273518"/>
                  </a:lnTo>
                  <a:lnTo>
                    <a:pt x="111508" y="236627"/>
                  </a:lnTo>
                  <a:lnTo>
                    <a:pt x="139120" y="201833"/>
                  </a:lnTo>
                  <a:lnTo>
                    <a:pt x="169274" y="169284"/>
                  </a:lnTo>
                  <a:lnTo>
                    <a:pt x="201823" y="139128"/>
                  </a:lnTo>
                  <a:lnTo>
                    <a:pt x="236616" y="111515"/>
                  </a:lnTo>
                  <a:lnTo>
                    <a:pt x="273506" y="86594"/>
                  </a:lnTo>
                  <a:lnTo>
                    <a:pt x="312344" y="64512"/>
                  </a:lnTo>
                  <a:lnTo>
                    <a:pt x="352982" y="45420"/>
                  </a:lnTo>
                  <a:lnTo>
                    <a:pt x="395269" y="29465"/>
                  </a:lnTo>
                  <a:lnTo>
                    <a:pt x="439058" y="16797"/>
                  </a:lnTo>
                  <a:lnTo>
                    <a:pt x="484200" y="7564"/>
                  </a:lnTo>
                  <a:lnTo>
                    <a:pt x="530547" y="1916"/>
                  </a:lnTo>
                  <a:lnTo>
                    <a:pt x="577948" y="0"/>
                  </a:lnTo>
                  <a:lnTo>
                    <a:pt x="628763" y="2237"/>
                  </a:lnTo>
                  <a:lnTo>
                    <a:pt x="678847" y="8875"/>
                  </a:lnTo>
                  <a:lnTo>
                    <a:pt x="727934" y="19803"/>
                  </a:lnTo>
                  <a:lnTo>
                    <a:pt x="775758" y="34912"/>
                  </a:lnTo>
                  <a:lnTo>
                    <a:pt x="822053" y="54091"/>
                  </a:lnTo>
                  <a:lnTo>
                    <a:pt x="866553" y="77229"/>
                  </a:lnTo>
                  <a:lnTo>
                    <a:pt x="908992" y="104217"/>
                  </a:lnTo>
                  <a:lnTo>
                    <a:pt x="949104" y="134944"/>
                  </a:lnTo>
                  <a:lnTo>
                    <a:pt x="986623" y="169299"/>
                  </a:lnTo>
                  <a:lnTo>
                    <a:pt x="1020971" y="206810"/>
                  </a:lnTo>
                  <a:lnTo>
                    <a:pt x="1051692" y="246916"/>
                  </a:lnTo>
                  <a:lnTo>
                    <a:pt x="1078675" y="289351"/>
                  </a:lnTo>
                  <a:lnTo>
                    <a:pt x="1101810" y="333848"/>
                  </a:lnTo>
                  <a:lnTo>
                    <a:pt x="1120987" y="380141"/>
                  </a:lnTo>
                  <a:lnTo>
                    <a:pt x="1136094" y="427963"/>
                  </a:lnTo>
                  <a:lnTo>
                    <a:pt x="1147022" y="477050"/>
                  </a:lnTo>
                  <a:lnTo>
                    <a:pt x="1153660" y="527134"/>
                  </a:lnTo>
                  <a:lnTo>
                    <a:pt x="1155897" y="577948"/>
                  </a:lnTo>
                  <a:lnTo>
                    <a:pt x="1153981" y="625350"/>
                  </a:lnTo>
                  <a:lnTo>
                    <a:pt x="1148333" y="671696"/>
                  </a:lnTo>
                  <a:lnTo>
                    <a:pt x="1139101" y="716838"/>
                  </a:lnTo>
                  <a:lnTo>
                    <a:pt x="1126434" y="760628"/>
                  </a:lnTo>
                  <a:lnTo>
                    <a:pt x="1110480" y="802915"/>
                  </a:lnTo>
                  <a:lnTo>
                    <a:pt x="1091389" y="843552"/>
                  </a:lnTo>
                  <a:lnTo>
                    <a:pt x="1069309" y="882390"/>
                  </a:lnTo>
                  <a:lnTo>
                    <a:pt x="1044389" y="919280"/>
                  </a:lnTo>
                  <a:lnTo>
                    <a:pt x="1016777" y="954074"/>
                  </a:lnTo>
                  <a:lnTo>
                    <a:pt x="986623" y="986623"/>
                  </a:lnTo>
                  <a:lnTo>
                    <a:pt x="954074" y="1016777"/>
                  </a:lnTo>
                  <a:lnTo>
                    <a:pt x="919280" y="1044389"/>
                  </a:lnTo>
                  <a:lnTo>
                    <a:pt x="882390" y="1069309"/>
                  </a:lnTo>
                  <a:lnTo>
                    <a:pt x="843552" y="1091389"/>
                  </a:lnTo>
                  <a:lnTo>
                    <a:pt x="802915" y="1110480"/>
                  </a:lnTo>
                  <a:lnTo>
                    <a:pt x="760628" y="1126434"/>
                  </a:lnTo>
                  <a:lnTo>
                    <a:pt x="716838" y="1139101"/>
                  </a:lnTo>
                  <a:lnTo>
                    <a:pt x="671696" y="1148333"/>
                  </a:lnTo>
                  <a:lnTo>
                    <a:pt x="625350" y="1153981"/>
                  </a:lnTo>
                  <a:lnTo>
                    <a:pt x="577948" y="1155897"/>
                  </a:lnTo>
                  <a:lnTo>
                    <a:pt x="530547" y="1153981"/>
                  </a:lnTo>
                  <a:lnTo>
                    <a:pt x="484200" y="1148333"/>
                  </a:lnTo>
                  <a:lnTo>
                    <a:pt x="439058" y="1139101"/>
                  </a:lnTo>
                  <a:lnTo>
                    <a:pt x="395269" y="1126434"/>
                  </a:lnTo>
                  <a:lnTo>
                    <a:pt x="352982" y="1110480"/>
                  </a:lnTo>
                  <a:lnTo>
                    <a:pt x="312344" y="1091389"/>
                  </a:lnTo>
                  <a:lnTo>
                    <a:pt x="273506" y="1069309"/>
                  </a:lnTo>
                  <a:lnTo>
                    <a:pt x="236616" y="1044389"/>
                  </a:lnTo>
                  <a:lnTo>
                    <a:pt x="201823" y="1016777"/>
                  </a:lnTo>
                  <a:lnTo>
                    <a:pt x="169274" y="986623"/>
                  </a:lnTo>
                  <a:lnTo>
                    <a:pt x="139120" y="954074"/>
                  </a:lnTo>
                  <a:lnTo>
                    <a:pt x="111508" y="919280"/>
                  </a:lnTo>
                  <a:lnTo>
                    <a:pt x="86588" y="882390"/>
                  </a:lnTo>
                  <a:lnTo>
                    <a:pt x="64508" y="843552"/>
                  </a:lnTo>
                  <a:lnTo>
                    <a:pt x="45417" y="802915"/>
                  </a:lnTo>
                  <a:lnTo>
                    <a:pt x="29463" y="760628"/>
                  </a:lnTo>
                  <a:lnTo>
                    <a:pt x="16796" y="716838"/>
                  </a:lnTo>
                  <a:lnTo>
                    <a:pt x="7564" y="671696"/>
                  </a:lnTo>
                  <a:lnTo>
                    <a:pt x="1915" y="625350"/>
                  </a:lnTo>
                  <a:lnTo>
                    <a:pt x="0" y="57794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01560" y="2962256"/>
          <a:ext cx="5859144" cy="11558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3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4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5725" marR="238125">
                        <a:lnSpc>
                          <a:spcPts val="1650"/>
                        </a:lnSpc>
                        <a:spcBef>
                          <a:spcPts val="119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Black Box</a:t>
                      </a:r>
                      <a:r>
                        <a:rPr sz="14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Deep  Learning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Model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63525">
                        <a:lnSpc>
                          <a:spcPct val="10000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match</a:t>
                      </a:r>
                      <a:r>
                        <a:rPr sz="1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behavior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505459">
                        <a:lnSpc>
                          <a:spcPts val="165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Local  Interpretable 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Model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B w="19050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4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9050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259908" y="3418488"/>
            <a:ext cx="607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Explain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55798" y="3522630"/>
            <a:ext cx="53340" cy="41275"/>
            <a:chOff x="6955798" y="3522630"/>
            <a:chExt cx="53340" cy="41275"/>
          </a:xfrm>
        </p:grpSpPr>
        <p:sp>
          <p:nvSpPr>
            <p:cNvPr id="13" name="object 13"/>
            <p:cNvSpPr/>
            <p:nvPr/>
          </p:nvSpPr>
          <p:spPr>
            <a:xfrm>
              <a:off x="6960561" y="3527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99" y="31474"/>
                  </a:moveTo>
                  <a:lnTo>
                    <a:pt x="0" y="0"/>
                  </a:lnTo>
                  <a:lnTo>
                    <a:pt x="43274" y="15599"/>
                  </a:lnTo>
                  <a:lnTo>
                    <a:pt x="99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60561" y="3527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99" y="31474"/>
                  </a:moveTo>
                  <a:lnTo>
                    <a:pt x="43274" y="15599"/>
                  </a:lnTo>
                  <a:lnTo>
                    <a:pt x="0" y="0"/>
                  </a:lnTo>
                  <a:lnTo>
                    <a:pt x="99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848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Model </a:t>
            </a:r>
            <a:r>
              <a:rPr sz="2800" spc="-10" dirty="0"/>
              <a:t>Specific </a:t>
            </a:r>
            <a:r>
              <a:rPr sz="2800" spc="-5" dirty="0"/>
              <a:t>and </a:t>
            </a:r>
            <a:r>
              <a:rPr sz="2800" dirty="0"/>
              <a:t>Model </a:t>
            </a:r>
            <a:r>
              <a:rPr sz="2800" spc="-10" dirty="0"/>
              <a:t>Agnostic</a:t>
            </a:r>
            <a:r>
              <a:rPr sz="2800" spc="-250" dirty="0"/>
              <a:t> </a:t>
            </a:r>
            <a:r>
              <a:rPr sz="280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6852284" cy="34004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Techniques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used 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specific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Usually preferable when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have the ability to design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own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specific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techniques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might compromise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performance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Requires training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Intrinsic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 by definition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595959"/>
              </a:buClr>
              <a:buFont typeface="Arial"/>
              <a:buChar char="○"/>
            </a:pPr>
            <a:endParaRPr sz="19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Model-agnostic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Techniques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used across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black box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Model-agnostic methods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not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affect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performance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 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require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training 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the next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lecture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Post hoc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 usually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model-agnostic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791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Global and Local</a:t>
            </a:r>
            <a:r>
              <a:rPr sz="2800" spc="-90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5618480" cy="26574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Global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Explains the entire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ML 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 once from input to</a:t>
            </a:r>
            <a:r>
              <a:rPr sz="1400"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</a:t>
            </a:r>
            <a:endParaRPr sz="1400" dirty="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1) Holistic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400" dirty="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2)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Modular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Level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e.g., Decision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Trees,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regression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595959"/>
              </a:buClr>
              <a:buFont typeface="Arial"/>
              <a:buChar char="○"/>
            </a:pPr>
            <a:endParaRPr sz="19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Explain how predictions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when input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changes</a:t>
            </a:r>
            <a:endParaRPr sz="1400" dirty="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1) 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single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</a:t>
            </a:r>
            <a:endParaRPr sz="1400" dirty="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2) 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group of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predictions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495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Global</a:t>
            </a:r>
            <a:r>
              <a:rPr sz="2800" spc="-90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1291147" y="2026195"/>
            <a:ext cx="2945744" cy="18574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887738" y="1466222"/>
            <a:ext cx="1809114" cy="2828290"/>
            <a:chOff x="5887738" y="1466222"/>
            <a:chExt cx="1809114" cy="2828290"/>
          </a:xfrm>
        </p:grpSpPr>
        <p:sp>
          <p:nvSpPr>
            <p:cNvPr id="5" name="object 5"/>
            <p:cNvSpPr/>
            <p:nvPr/>
          </p:nvSpPr>
          <p:spPr>
            <a:xfrm>
              <a:off x="6783261" y="2387520"/>
              <a:ext cx="8890" cy="701040"/>
            </a:xfrm>
            <a:custGeom>
              <a:avLst/>
              <a:gdLst/>
              <a:ahLst/>
              <a:cxnLst/>
              <a:rect l="l" t="t" r="r" b="b"/>
              <a:pathLst>
                <a:path w="8890" h="701039">
                  <a:moveTo>
                    <a:pt x="0" y="0"/>
                  </a:moveTo>
                  <a:lnTo>
                    <a:pt x="8324" y="7006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75861" y="30879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224" y="43399"/>
                  </a:moveTo>
                  <a:lnTo>
                    <a:pt x="0" y="374"/>
                  </a:lnTo>
                  <a:lnTo>
                    <a:pt x="31449" y="0"/>
                  </a:lnTo>
                  <a:lnTo>
                    <a:pt x="16224" y="43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75861" y="30879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374"/>
                  </a:moveTo>
                  <a:lnTo>
                    <a:pt x="16224" y="43399"/>
                  </a:lnTo>
                  <a:lnTo>
                    <a:pt x="31449" y="0"/>
                  </a:lnTo>
                  <a:lnTo>
                    <a:pt x="0" y="3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7512" y="1466222"/>
              <a:ext cx="1271522" cy="9212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87738" y="3145318"/>
              <a:ext cx="1809021" cy="11488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91987" y="2446470"/>
              <a:ext cx="804545" cy="487680"/>
            </a:xfrm>
            <a:custGeom>
              <a:avLst/>
              <a:gdLst/>
              <a:ahLst/>
              <a:cxnLst/>
              <a:rect l="l" t="t" r="r" b="b"/>
              <a:pathLst>
                <a:path w="804545" h="487680">
                  <a:moveTo>
                    <a:pt x="804298" y="487499"/>
                  </a:moveTo>
                  <a:lnTo>
                    <a:pt x="0" y="486899"/>
                  </a:lnTo>
                  <a:lnTo>
                    <a:pt x="0" y="0"/>
                  </a:lnTo>
                  <a:lnTo>
                    <a:pt x="804298" y="599"/>
                  </a:lnTo>
                  <a:lnTo>
                    <a:pt x="804298" y="487499"/>
                  </a:lnTo>
                  <a:close/>
                </a:path>
              </a:pathLst>
            </a:custGeom>
            <a:solidFill>
              <a:srgbClr val="939393">
                <a:alpha val="776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99319" y="2515604"/>
            <a:ext cx="589915" cy="37952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635" algn="ctr">
              <a:lnSpc>
                <a:spcPct val="101600"/>
              </a:lnSpc>
              <a:spcBef>
                <a:spcPts val="85"/>
              </a:spcBef>
            </a:pPr>
            <a:r>
              <a:rPr sz="800" spc="-5" dirty="0">
                <a:latin typeface="Arial"/>
                <a:cs typeface="Arial"/>
              </a:rPr>
              <a:t>globally  interpretable  p</a:t>
            </a:r>
            <a:r>
              <a:rPr lang="en-US" sz="800" spc="-5" dirty="0">
                <a:latin typeface="Arial"/>
                <a:cs typeface="Arial"/>
              </a:rPr>
              <a:t>r</a:t>
            </a:r>
            <a:r>
              <a:rPr sz="800" spc="-5" dirty="0">
                <a:latin typeface="Arial"/>
                <a:cs typeface="Arial"/>
              </a:rPr>
              <a:t>oxy</a:t>
            </a:r>
            <a:endParaRPr sz="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105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Local</a:t>
            </a:r>
            <a:r>
              <a:rPr sz="2800" spc="-85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468396" y="1400397"/>
            <a:ext cx="6078220" cy="1091565"/>
            <a:chOff x="1468396" y="1400397"/>
            <a:chExt cx="6078220" cy="1091565"/>
          </a:xfrm>
        </p:grpSpPr>
        <p:sp>
          <p:nvSpPr>
            <p:cNvPr id="4" name="object 4"/>
            <p:cNvSpPr/>
            <p:nvPr/>
          </p:nvSpPr>
          <p:spPr>
            <a:xfrm>
              <a:off x="1468396" y="1400397"/>
              <a:ext cx="1091297" cy="10912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9694" y="1946021"/>
              <a:ext cx="3879215" cy="0"/>
            </a:xfrm>
            <a:custGeom>
              <a:avLst/>
              <a:gdLst/>
              <a:ahLst/>
              <a:cxnLst/>
              <a:rect l="l" t="t" r="r" b="b"/>
              <a:pathLst>
                <a:path w="3879215">
                  <a:moveTo>
                    <a:pt x="0" y="0"/>
                  </a:moveTo>
                  <a:lnTo>
                    <a:pt x="387884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95537" y="1400397"/>
              <a:ext cx="1051072" cy="10912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38537" y="193028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38537" y="193028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488509" y="3133393"/>
            <a:ext cx="6078220" cy="1091565"/>
            <a:chOff x="1488509" y="3133393"/>
            <a:chExt cx="6078220" cy="1091565"/>
          </a:xfrm>
        </p:grpSpPr>
        <p:sp>
          <p:nvSpPr>
            <p:cNvPr id="10" name="object 10"/>
            <p:cNvSpPr/>
            <p:nvPr/>
          </p:nvSpPr>
          <p:spPr>
            <a:xfrm>
              <a:off x="1488509" y="3133393"/>
              <a:ext cx="1051060" cy="109124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39569" y="3679017"/>
              <a:ext cx="3878579" cy="0"/>
            </a:xfrm>
            <a:custGeom>
              <a:avLst/>
              <a:gdLst/>
              <a:ahLst/>
              <a:cxnLst/>
              <a:rect l="l" t="t" r="r" b="b"/>
              <a:pathLst>
                <a:path w="3878579">
                  <a:moveTo>
                    <a:pt x="0" y="0"/>
                  </a:moveTo>
                  <a:lnTo>
                    <a:pt x="387854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75412" y="3133393"/>
              <a:ext cx="1091297" cy="109124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18112" y="3663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18112" y="3663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83887" y="1656784"/>
            <a:ext cx="15963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model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interpretation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1917" y="3398208"/>
            <a:ext cx="15963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model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interpretation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1142" y="2459570"/>
            <a:ext cx="1956435" cy="40132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695"/>
              </a:spcBef>
            </a:pPr>
            <a:r>
              <a:rPr sz="1400" spc="-5" dirty="0">
                <a:latin typeface="Arial"/>
                <a:cs typeface="Arial"/>
              </a:rPr>
              <a:t>black-box </a:t>
            </a:r>
            <a:r>
              <a:rPr sz="1400" dirty="0">
                <a:latin typeface="Arial"/>
                <a:cs typeface="Arial"/>
              </a:rPr>
              <a:t>model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11228" y="1976431"/>
            <a:ext cx="41275" cy="488315"/>
            <a:chOff x="4611228" y="1976431"/>
            <a:chExt cx="41275" cy="488315"/>
          </a:xfrm>
        </p:grpSpPr>
        <p:sp>
          <p:nvSpPr>
            <p:cNvPr id="19" name="object 19"/>
            <p:cNvSpPr/>
            <p:nvPr/>
          </p:nvSpPr>
          <p:spPr>
            <a:xfrm>
              <a:off x="4631715" y="2024413"/>
              <a:ext cx="7620" cy="435609"/>
            </a:xfrm>
            <a:custGeom>
              <a:avLst/>
              <a:gdLst/>
              <a:ahLst/>
              <a:cxnLst/>
              <a:rect l="l" t="t" r="r" b="b"/>
              <a:pathLst>
                <a:path w="7620" h="435610">
                  <a:moveTo>
                    <a:pt x="7424" y="435156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15990" y="19811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487"/>
                  </a:moveTo>
                  <a:lnTo>
                    <a:pt x="14974" y="0"/>
                  </a:lnTo>
                  <a:lnTo>
                    <a:pt x="31449" y="42949"/>
                  </a:lnTo>
                  <a:lnTo>
                    <a:pt x="0" y="4348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15990" y="19811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2949"/>
                  </a:moveTo>
                  <a:lnTo>
                    <a:pt x="14974" y="0"/>
                  </a:lnTo>
                  <a:lnTo>
                    <a:pt x="0" y="43487"/>
                  </a:lnTo>
                  <a:lnTo>
                    <a:pt x="31449" y="429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618378" y="2855906"/>
            <a:ext cx="41275" cy="467359"/>
            <a:chOff x="4618378" y="2855906"/>
            <a:chExt cx="41275" cy="467359"/>
          </a:xfrm>
        </p:grpSpPr>
        <p:sp>
          <p:nvSpPr>
            <p:cNvPr id="23" name="object 23"/>
            <p:cNvSpPr/>
            <p:nvPr/>
          </p:nvSpPr>
          <p:spPr>
            <a:xfrm>
              <a:off x="4638865" y="2860669"/>
              <a:ext cx="635" cy="414655"/>
            </a:xfrm>
            <a:custGeom>
              <a:avLst/>
              <a:gdLst/>
              <a:ahLst/>
              <a:cxnLst/>
              <a:rect l="l" t="t" r="r" b="b"/>
              <a:pathLst>
                <a:path w="635" h="414654">
                  <a:moveTo>
                    <a:pt x="274" y="0"/>
                  </a:moveTo>
                  <a:lnTo>
                    <a:pt x="0" y="4144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23140" y="32751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699" y="43224"/>
                  </a:moveTo>
                  <a:lnTo>
                    <a:pt x="0" y="0"/>
                  </a:lnTo>
                  <a:lnTo>
                    <a:pt x="31474" y="0"/>
                  </a:lnTo>
                  <a:lnTo>
                    <a:pt x="15699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23140" y="32751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699" y="43224"/>
                  </a:lnTo>
                  <a:lnTo>
                    <a:pt x="3147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968638" y="2434143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56570" y="4183092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21235" y="2462347"/>
            <a:ext cx="575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exp(x,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f)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69038" y="4183092"/>
            <a:ext cx="575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exp(x,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f)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962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Local</a:t>
            </a:r>
            <a:r>
              <a:rPr sz="2800" spc="-85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1433036" y="2235021"/>
            <a:ext cx="6124507" cy="18830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9067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An Ontology of AI </a:t>
            </a:r>
            <a:r>
              <a:rPr sz="2800" spc="-10" dirty="0"/>
              <a:t>Explainability </a:t>
            </a:r>
            <a:r>
              <a:rPr sz="2800" spc="15" dirty="0"/>
              <a:t>(</a:t>
            </a:r>
            <a:r>
              <a:rPr sz="280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ADADI </a:t>
            </a:r>
            <a:r>
              <a:rPr sz="2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el al,</a:t>
            </a:r>
            <a:r>
              <a:rPr sz="2800" u="heavy" spc="-2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2018</a:t>
            </a:r>
            <a:r>
              <a:rPr sz="2800"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823323" y="1260491"/>
            <a:ext cx="6848309" cy="3424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334000" y="1974562"/>
            <a:ext cx="685800" cy="2923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b="1" dirty="0"/>
              <a:t>Scope</a:t>
            </a:r>
            <a:endParaRPr lang="en-IN" sz="1300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581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The </a:t>
            </a:r>
            <a:r>
              <a:rPr sz="2800" spc="-10" dirty="0"/>
              <a:t>Big</a:t>
            </a:r>
            <a:r>
              <a:rPr sz="2800" spc="-95" dirty="0"/>
              <a:t> </a:t>
            </a:r>
            <a:r>
              <a:rPr sz="2800" spc="-5" dirty="0"/>
              <a:t>Picture</a:t>
            </a:r>
            <a:endParaRPr sz="2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306936" y="1147710"/>
            <a:ext cx="8530590" cy="3426460"/>
            <a:chOff x="306936" y="1147710"/>
            <a:chExt cx="8530590" cy="3426460"/>
          </a:xfrm>
        </p:grpSpPr>
        <p:sp>
          <p:nvSpPr>
            <p:cNvPr id="4" name="object 4"/>
            <p:cNvSpPr/>
            <p:nvPr/>
          </p:nvSpPr>
          <p:spPr>
            <a:xfrm>
              <a:off x="311699" y="1152472"/>
              <a:ext cx="8521065" cy="3416935"/>
            </a:xfrm>
            <a:custGeom>
              <a:avLst/>
              <a:gdLst/>
              <a:ahLst/>
              <a:cxnLst/>
              <a:rect l="l" t="t" r="r" b="b"/>
              <a:pathLst>
                <a:path w="8521065" h="3416935">
                  <a:moveTo>
                    <a:pt x="0" y="1708196"/>
                  </a:moveTo>
                  <a:lnTo>
                    <a:pt x="8520582" y="1708196"/>
                  </a:lnTo>
                </a:path>
                <a:path w="8521065" h="3416935">
                  <a:moveTo>
                    <a:pt x="4260291" y="0"/>
                  </a:moveTo>
                  <a:lnTo>
                    <a:pt x="4260291" y="341639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15221" y="1592871"/>
              <a:ext cx="1604421" cy="10116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27870" y="3607417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0"/>
                  </a:moveTo>
                  <a:lnTo>
                    <a:pt x="0" y="2233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2138" y="38307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4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2138" y="38307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4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3636" y="3034718"/>
              <a:ext cx="752000" cy="570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72383" y="3887917"/>
              <a:ext cx="710986" cy="498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95365" y="1710404"/>
              <a:ext cx="593073" cy="5726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32237" y="1701591"/>
              <a:ext cx="630360" cy="5903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84133" y="1909731"/>
              <a:ext cx="360624" cy="1471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88438" y="1996745"/>
              <a:ext cx="687070" cy="0"/>
            </a:xfrm>
            <a:custGeom>
              <a:avLst/>
              <a:gdLst/>
              <a:ahLst/>
              <a:cxnLst/>
              <a:rect l="l" t="t" r="r" b="b"/>
              <a:pathLst>
                <a:path w="687070">
                  <a:moveTo>
                    <a:pt x="0" y="0"/>
                  </a:moveTo>
                  <a:lnTo>
                    <a:pt x="6865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4987" y="198101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74987" y="198101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07638" y="1534109"/>
              <a:ext cx="1781810" cy="1012190"/>
            </a:xfrm>
            <a:custGeom>
              <a:avLst/>
              <a:gdLst/>
              <a:ahLst/>
              <a:cxnLst/>
              <a:rect l="l" t="t" r="r" b="b"/>
              <a:pathLst>
                <a:path w="1781809" h="1012189">
                  <a:moveTo>
                    <a:pt x="0" y="0"/>
                  </a:moveTo>
                  <a:lnTo>
                    <a:pt x="1781396" y="0"/>
                  </a:lnTo>
                  <a:lnTo>
                    <a:pt x="1781396" y="1011610"/>
                  </a:lnTo>
                  <a:lnTo>
                    <a:pt x="0" y="101161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4454" y="1896210"/>
            <a:ext cx="224154" cy="6356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Intrinsic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4279" y="3479433"/>
            <a:ext cx="224154" cy="745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Post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Hoc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9344" y="1083637"/>
            <a:ext cx="1711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Globally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Interpretable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78731" y="1051509"/>
            <a:ext cx="16243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Locally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Interpretable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6179" y="2477079"/>
            <a:ext cx="300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input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07000" y="2376891"/>
            <a:ext cx="302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model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05173" y="1962823"/>
            <a:ext cx="1170305" cy="41275"/>
            <a:chOff x="7005173" y="1962823"/>
            <a:chExt cx="1170305" cy="41275"/>
          </a:xfrm>
        </p:grpSpPr>
        <p:sp>
          <p:nvSpPr>
            <p:cNvPr id="25" name="object 25"/>
            <p:cNvSpPr/>
            <p:nvPr/>
          </p:nvSpPr>
          <p:spPr>
            <a:xfrm>
              <a:off x="7009935" y="1983318"/>
              <a:ext cx="1117600" cy="0"/>
            </a:xfrm>
            <a:custGeom>
              <a:avLst/>
              <a:gdLst/>
              <a:ahLst/>
              <a:cxnLst/>
              <a:rect l="l" t="t" r="r" b="b"/>
              <a:pathLst>
                <a:path w="1117600">
                  <a:moveTo>
                    <a:pt x="0" y="0"/>
                  </a:moveTo>
                  <a:lnTo>
                    <a:pt x="11170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26983" y="196758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26983" y="196758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59025" y="2400727"/>
            <a:ext cx="406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Output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63403" y="4365502"/>
            <a:ext cx="4629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Feature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10112" y="3062093"/>
            <a:ext cx="1709420" cy="40132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695"/>
              </a:spcBef>
            </a:pPr>
            <a:r>
              <a:rPr sz="1400" spc="-5" dirty="0">
                <a:latin typeface="Arial"/>
                <a:cs typeface="Arial"/>
              </a:rPr>
              <a:t>black-box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25785" y="3458430"/>
            <a:ext cx="3966210" cy="928369"/>
            <a:chOff x="4925785" y="3458430"/>
            <a:chExt cx="3966210" cy="928369"/>
          </a:xfrm>
        </p:grpSpPr>
        <p:sp>
          <p:nvSpPr>
            <p:cNvPr id="32" name="object 32"/>
            <p:cNvSpPr/>
            <p:nvPr/>
          </p:nvSpPr>
          <p:spPr>
            <a:xfrm>
              <a:off x="8039222" y="3566667"/>
              <a:ext cx="852534" cy="81979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25785" y="3566667"/>
              <a:ext cx="820927" cy="81979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64661" y="3463192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4">
                  <a:moveTo>
                    <a:pt x="0" y="0"/>
                  </a:moveTo>
                  <a:lnTo>
                    <a:pt x="0" y="2557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48936" y="371894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48936" y="371894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46713" y="3976566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>
                  <a:moveTo>
                    <a:pt x="0" y="0"/>
                  </a:moveTo>
                  <a:lnTo>
                    <a:pt x="2062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52962" y="39608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52962" y="39608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010112" y="3776017"/>
            <a:ext cx="1709420" cy="40132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695"/>
              </a:spcBef>
            </a:pPr>
            <a:r>
              <a:rPr sz="1400" spc="-5" dirty="0">
                <a:latin typeface="Arial"/>
                <a:cs typeface="Arial"/>
              </a:rPr>
              <a:t>interpretation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719209" y="3956079"/>
            <a:ext cx="254635" cy="41275"/>
            <a:chOff x="7719209" y="3956079"/>
            <a:chExt cx="254635" cy="41275"/>
          </a:xfrm>
        </p:grpSpPr>
        <p:sp>
          <p:nvSpPr>
            <p:cNvPr id="42" name="object 42"/>
            <p:cNvSpPr/>
            <p:nvPr/>
          </p:nvSpPr>
          <p:spPr>
            <a:xfrm>
              <a:off x="7719209" y="3976566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>
                  <a:moveTo>
                    <a:pt x="0" y="0"/>
                  </a:moveTo>
                  <a:lnTo>
                    <a:pt x="2062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925459" y="39608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925459" y="39608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001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Interpretability and </a:t>
            </a:r>
            <a:r>
              <a:rPr sz="2800" spc="-10" dirty="0"/>
              <a:t>Performance</a:t>
            </a:r>
            <a:r>
              <a:rPr sz="2800" spc="-120" dirty="0"/>
              <a:t> </a:t>
            </a:r>
            <a:r>
              <a:rPr sz="2800" spc="-20" dirty="0"/>
              <a:t>Trade-offs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7896225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highly performed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tend to be less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interpretable.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powerful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complex structures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interpretable at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time?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16196" y="2267270"/>
            <a:ext cx="3211830" cy="2247900"/>
            <a:chOff x="4516196" y="2267270"/>
            <a:chExt cx="3211830" cy="2247900"/>
          </a:xfrm>
        </p:grpSpPr>
        <p:sp>
          <p:nvSpPr>
            <p:cNvPr id="5" name="object 5"/>
            <p:cNvSpPr/>
            <p:nvPr/>
          </p:nvSpPr>
          <p:spPr>
            <a:xfrm>
              <a:off x="4516196" y="2267270"/>
              <a:ext cx="2961563" cy="224728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21884" y="2504420"/>
              <a:ext cx="301625" cy="67945"/>
            </a:xfrm>
            <a:custGeom>
              <a:avLst/>
              <a:gdLst/>
              <a:ahLst/>
              <a:cxnLst/>
              <a:rect l="l" t="t" r="r" b="b"/>
              <a:pathLst>
                <a:path w="301625" h="67944">
                  <a:moveTo>
                    <a:pt x="301224" y="6732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79710" y="2489057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8749" y="30712"/>
                  </a:moveTo>
                  <a:lnTo>
                    <a:pt x="0" y="5924"/>
                  </a:lnTo>
                  <a:lnTo>
                    <a:pt x="45599" y="0"/>
                  </a:lnTo>
                  <a:lnTo>
                    <a:pt x="38749" y="3071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9710" y="2489057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599" y="0"/>
                  </a:moveTo>
                  <a:lnTo>
                    <a:pt x="0" y="5924"/>
                  </a:lnTo>
                  <a:lnTo>
                    <a:pt x="38749" y="30712"/>
                  </a:lnTo>
                  <a:lnTo>
                    <a:pt x="455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34284" y="2571744"/>
              <a:ext cx="288925" cy="237490"/>
            </a:xfrm>
            <a:custGeom>
              <a:avLst/>
              <a:gdLst/>
              <a:ahLst/>
              <a:cxnLst/>
              <a:rect l="l" t="t" r="r" b="b"/>
              <a:pathLst>
                <a:path w="288925" h="237489">
                  <a:moveTo>
                    <a:pt x="288824" y="0"/>
                  </a:moveTo>
                  <a:lnTo>
                    <a:pt x="0" y="2370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0884" y="2796619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5" h="40005">
                  <a:moveTo>
                    <a:pt x="0" y="39599"/>
                  </a:moveTo>
                  <a:lnTo>
                    <a:pt x="23424" y="0"/>
                  </a:lnTo>
                  <a:lnTo>
                    <a:pt x="43374" y="24324"/>
                  </a:lnTo>
                  <a:lnTo>
                    <a:pt x="0" y="395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00884" y="2796619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5" h="40005">
                  <a:moveTo>
                    <a:pt x="23424" y="0"/>
                  </a:moveTo>
                  <a:lnTo>
                    <a:pt x="0" y="39599"/>
                  </a:lnTo>
                  <a:lnTo>
                    <a:pt x="43374" y="24324"/>
                  </a:lnTo>
                  <a:lnTo>
                    <a:pt x="234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69597" y="3778279"/>
              <a:ext cx="258274" cy="1895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98784" y="3659492"/>
              <a:ext cx="224790" cy="272415"/>
            </a:xfrm>
            <a:custGeom>
              <a:avLst/>
              <a:gdLst/>
              <a:ahLst/>
              <a:cxnLst/>
              <a:rect l="l" t="t" r="r" b="b"/>
              <a:pathLst>
                <a:path w="224790" h="272414">
                  <a:moveTo>
                    <a:pt x="224324" y="27182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71284" y="3626167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15374" y="43349"/>
                  </a:moveTo>
                  <a:lnTo>
                    <a:pt x="0" y="0"/>
                  </a:lnTo>
                  <a:lnTo>
                    <a:pt x="39624" y="23324"/>
                  </a:lnTo>
                  <a:lnTo>
                    <a:pt x="15374" y="433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71284" y="3626167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39624" y="23324"/>
                  </a:moveTo>
                  <a:lnTo>
                    <a:pt x="0" y="0"/>
                  </a:lnTo>
                  <a:lnTo>
                    <a:pt x="15374" y="43349"/>
                  </a:lnTo>
                  <a:lnTo>
                    <a:pt x="39624" y="233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698123" y="2397927"/>
            <a:ext cx="3565292" cy="19979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07861" y="4552073"/>
            <a:ext cx="2607945" cy="364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http://yann.lecun.com/exdb/mnist/ </a:t>
            </a:r>
            <a:r>
              <a:rPr sz="1100" spc="-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https://soph.info/2018/11/08/mnist-history/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96136" y="2353340"/>
            <a:ext cx="731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more  </a:t>
            </a:r>
            <a:r>
              <a:rPr sz="1000" spc="-5" dirty="0">
                <a:latin typeface="Arial"/>
                <a:cs typeface="Arial"/>
              </a:rPr>
              <a:t>interpretable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96136" y="3749816"/>
            <a:ext cx="731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less  interpretable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9071" y="4507662"/>
            <a:ext cx="8909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MNIST</a:t>
            </a:r>
            <a:r>
              <a:rPr sz="1000" spc="-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Dataset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4493"/>
            <a:ext cx="8763000" cy="364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/>
              <a:t>Interpretability and Performance </a:t>
            </a:r>
            <a:r>
              <a:rPr sz="2200" spc="-15" dirty="0"/>
              <a:t>Trade-offs </a:t>
            </a:r>
            <a:r>
              <a:rPr sz="2200" spc="10" dirty="0"/>
              <a:t>(</a:t>
            </a:r>
            <a:r>
              <a:rPr sz="22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Arrieta </a:t>
            </a:r>
            <a:r>
              <a:rPr sz="22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al.,</a:t>
            </a:r>
            <a:r>
              <a:rPr sz="2200" u="heavy" spc="-10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2019</a:t>
            </a:r>
            <a:r>
              <a:rPr sz="2200"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1955046" y="1409497"/>
            <a:ext cx="5221574" cy="3004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8058" y="2751275"/>
            <a:ext cx="795147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solidFill>
                  <a:srgbClr val="595959"/>
                </a:solidFill>
                <a:latin typeface="Arial"/>
                <a:cs typeface="Arial"/>
              </a:rPr>
              <a:t>Proxy </a:t>
            </a:r>
            <a:r>
              <a:rPr sz="3400" spc="-5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3400" spc="-10" dirty="0">
                <a:solidFill>
                  <a:srgbClr val="595959"/>
                </a:solidFill>
                <a:latin typeface="Arial"/>
                <a:cs typeface="Arial"/>
              </a:rPr>
              <a:t>for Post </a:t>
            </a:r>
            <a:r>
              <a:rPr sz="3400" spc="-5" dirty="0">
                <a:solidFill>
                  <a:srgbClr val="595959"/>
                </a:solidFill>
                <a:latin typeface="Arial"/>
                <a:cs typeface="Arial"/>
              </a:rPr>
              <a:t>Hoc</a:t>
            </a:r>
            <a:r>
              <a:rPr sz="3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4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6413"/>
            <a:ext cx="8686800" cy="3762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" dirty="0"/>
              <a:t>Evaluations for Interpretability </a:t>
            </a:r>
            <a:r>
              <a:rPr sz="2300" spc="10" dirty="0"/>
              <a:t>(</a:t>
            </a:r>
            <a:r>
              <a:rPr sz="23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Finale </a:t>
            </a:r>
            <a:r>
              <a:rPr sz="23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Doshi-Velez </a:t>
            </a:r>
            <a:r>
              <a:rPr sz="23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et al,</a:t>
            </a:r>
            <a:r>
              <a:rPr sz="23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sz="23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2017</a:t>
            </a:r>
            <a:r>
              <a:rPr sz="2300"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1466191" y="1824484"/>
            <a:ext cx="5979303" cy="24264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12750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413384" algn="l"/>
                <a:tab pos="414020" algn="l"/>
              </a:tabLst>
            </a:pPr>
            <a:r>
              <a:rPr u="none" spc="-5" dirty="0"/>
              <a:t>Examined by </a:t>
            </a:r>
            <a:r>
              <a:rPr spc="-5" dirty="0"/>
              <a:t>Human Experts</a:t>
            </a:r>
            <a:r>
              <a:rPr u="none" spc="-5" dirty="0"/>
              <a:t> in </a:t>
            </a:r>
            <a:r>
              <a:rPr u="none" dirty="0"/>
              <a:t>a </a:t>
            </a:r>
            <a:r>
              <a:rPr spc="-5" dirty="0"/>
              <a:t>Specialized</a:t>
            </a:r>
            <a:r>
              <a:rPr spc="25" dirty="0"/>
              <a:t> </a:t>
            </a:r>
            <a:r>
              <a:rPr spc="-5" dirty="0"/>
              <a:t>Domain</a:t>
            </a:r>
          </a:p>
          <a:p>
            <a:pPr marL="86995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70585" algn="l"/>
                <a:tab pos="871219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need to facilitate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conducting a real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sophisticated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endParaRPr sz="1400">
              <a:latin typeface="Arial"/>
              <a:cs typeface="Arial"/>
            </a:endParaRPr>
          </a:p>
          <a:p>
            <a:pPr marL="33655" lvl="1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○"/>
            </a:pPr>
            <a:endParaRPr sz="1600"/>
          </a:p>
          <a:p>
            <a:pPr marL="412750" marR="5080" indent="-367030">
              <a:lnSpc>
                <a:spcPct val="114599"/>
              </a:lnSpc>
              <a:buChar char="●"/>
              <a:tabLst>
                <a:tab pos="413384" algn="l"/>
                <a:tab pos="414020" algn="l"/>
              </a:tabLst>
            </a:pPr>
            <a:r>
              <a:rPr u="none" spc="-5" dirty="0"/>
              <a:t>Automatic Neural Reconstruction from Petavoxel of Electron </a:t>
            </a:r>
            <a:r>
              <a:rPr u="none" dirty="0"/>
              <a:t>Microscopy </a:t>
            </a:r>
            <a:r>
              <a:rPr u="none" spc="-5" dirty="0"/>
              <a:t>Data  (</a:t>
            </a:r>
            <a:r>
              <a:rPr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Suissa-Peleg et al,</a:t>
            </a:r>
            <a:r>
              <a:rPr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2016</a:t>
            </a:r>
            <a:r>
              <a:rPr u="none" spc="5" dirty="0"/>
              <a:t>)</a:t>
            </a:r>
          </a:p>
          <a:p>
            <a:pPr marL="86995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70585" algn="l"/>
                <a:tab pos="871219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Study the dense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structure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the neurons in the brain and their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synapses</a:t>
            </a:r>
            <a:endParaRPr sz="1400">
              <a:latin typeface="Arial"/>
              <a:cs typeface="Arial"/>
            </a:endParaRPr>
          </a:p>
          <a:p>
            <a:pPr marL="86995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70585" algn="l"/>
                <a:tab pos="871219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multi-step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process that involves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many ML</a:t>
            </a:r>
            <a:r>
              <a:rPr sz="1400" spc="-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248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Application-Grounded</a:t>
            </a:r>
            <a:r>
              <a:rPr sz="2800" spc="-85" dirty="0"/>
              <a:t> </a:t>
            </a:r>
            <a:r>
              <a:rPr sz="2800" spc="-5" dirty="0"/>
              <a:t>Evaluation</a:t>
            </a:r>
            <a:endParaRPr sz="2800" dirty="0"/>
          </a:p>
        </p:txBody>
      </p:sp>
      <p:sp>
        <p:nvSpPr>
          <p:cNvPr id="4" name="object 4"/>
          <p:cNvSpPr/>
          <p:nvPr/>
        </p:nvSpPr>
        <p:spPr>
          <a:xfrm>
            <a:off x="375320" y="3234118"/>
            <a:ext cx="8294931" cy="15204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9299" y="4758375"/>
            <a:ext cx="962025" cy="2711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sz="800" dirty="0">
                <a:latin typeface="Arial"/>
                <a:cs typeface="Arial"/>
              </a:rPr>
              <a:t>slicing </a:t>
            </a:r>
            <a:r>
              <a:rPr sz="800" spc="-5" dirty="0">
                <a:latin typeface="Arial"/>
                <a:cs typeface="Arial"/>
              </a:rPr>
              <a:t>neural</a:t>
            </a:r>
            <a:r>
              <a:rPr sz="800" spc="-95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tissues  into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sections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3423" y="4800275"/>
            <a:ext cx="889000" cy="2711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sz="800" dirty="0">
                <a:latin typeface="Arial"/>
                <a:cs typeface="Arial"/>
              </a:rPr>
              <a:t>stack </a:t>
            </a:r>
            <a:r>
              <a:rPr sz="800" spc="-5" dirty="0">
                <a:latin typeface="Arial"/>
                <a:cs typeface="Arial"/>
              </a:rPr>
              <a:t>images</a:t>
            </a:r>
            <a:r>
              <a:rPr sz="800" spc="-95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using  </a:t>
            </a:r>
            <a:r>
              <a:rPr sz="800" dirty="0">
                <a:latin typeface="Arial"/>
                <a:cs typeface="Arial"/>
              </a:rPr>
              <a:t>registration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tools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1748" y="4813725"/>
            <a:ext cx="1188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scan sections </a:t>
            </a:r>
            <a:r>
              <a:rPr sz="800" spc="-5" dirty="0">
                <a:latin typeface="Arial"/>
                <a:cs typeface="Arial"/>
              </a:rPr>
              <a:t>into</a:t>
            </a:r>
            <a:r>
              <a:rPr sz="800" spc="-95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images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0716" y="4804247"/>
            <a:ext cx="1051560" cy="3949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sz="800" b="1" spc="-5" dirty="0">
                <a:latin typeface="Arial"/>
                <a:cs typeface="Arial"/>
              </a:rPr>
              <a:t>detect membrane  using </a:t>
            </a:r>
            <a:r>
              <a:rPr sz="800" b="1" dirty="0">
                <a:latin typeface="Arial"/>
                <a:cs typeface="Arial"/>
              </a:rPr>
              <a:t>a</a:t>
            </a:r>
            <a:r>
              <a:rPr sz="800" b="1" spc="-85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classification  model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6090" y="4804247"/>
            <a:ext cx="949960" cy="2711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sz="800" b="1" spc="-5" dirty="0">
                <a:latin typeface="Arial"/>
                <a:cs typeface="Arial"/>
              </a:rPr>
              <a:t>reconstructing</a:t>
            </a:r>
            <a:r>
              <a:rPr sz="800" b="1" spc="-75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into  3D model of</a:t>
            </a:r>
            <a:r>
              <a:rPr sz="800" b="1" spc="-45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cells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638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Human-Grounded</a:t>
            </a:r>
            <a:r>
              <a:rPr sz="2800" spc="-85" dirty="0"/>
              <a:t> </a:t>
            </a:r>
            <a:r>
              <a:rPr sz="2800" spc="-5" dirty="0"/>
              <a:t>Evaluation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8169275" cy="22288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Examined by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Lay Human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General</a:t>
            </a:r>
            <a:r>
              <a:rPr sz="1800" u="heavy" spc="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Domain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 evaluated by average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human.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○"/>
            </a:pPr>
            <a:endParaRPr sz="160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classifies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 article into either "Christianity" or "Atheism"  (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Ribeiro et al,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2016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836294" marR="4659630" lvl="1" indent="-336550">
              <a:lnSpc>
                <a:spcPct val="116100"/>
              </a:lnSpc>
              <a:spcBef>
                <a:spcPts val="6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Amazon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Mechanical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Turk</a:t>
            </a:r>
            <a:r>
              <a:rPr sz="14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workers  are asked to the algorithm that  has better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performance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05588" y="2639375"/>
            <a:ext cx="4038151" cy="2102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019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Functionally-Grounded</a:t>
            </a:r>
            <a:r>
              <a:rPr sz="2800" spc="-95" dirty="0"/>
              <a:t> </a:t>
            </a:r>
            <a:r>
              <a:rPr sz="2800" spc="-5" dirty="0"/>
              <a:t>Evaluation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753350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Examined using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proxy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215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Compare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 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interpretability against explanatory  features (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Ribeiro et al,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2016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Explanatory feature are labeled by human as ground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truth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5469" y="3611118"/>
            <a:ext cx="3396986" cy="9279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2666" y="3178802"/>
            <a:ext cx="4122012" cy="15836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1189"/>
            <a:ext cx="83058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15" dirty="0"/>
              <a:t>Proxy </a:t>
            </a:r>
            <a:r>
              <a:rPr lang="en-US" sz="2800" spc="-5" dirty="0"/>
              <a:t>Methods </a:t>
            </a:r>
            <a:r>
              <a:rPr lang="en-US" sz="2800" spc="-10" dirty="0"/>
              <a:t>for </a:t>
            </a:r>
            <a:r>
              <a:rPr lang="en-US" sz="2800" spc="-15" dirty="0"/>
              <a:t>Post </a:t>
            </a:r>
            <a:r>
              <a:rPr lang="en-US" sz="2800" spc="-5" dirty="0"/>
              <a:t>Hoc  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2941955" cy="1421543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Post Hoc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Proxy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Surrogate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LIME</a:t>
            </a:r>
            <a:endParaRPr lang="en-US" sz="1400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lang="en-US" sz="1400" spc="-5" dirty="0">
                <a:solidFill>
                  <a:srgbClr val="595959"/>
                </a:solidFill>
                <a:latin typeface="Arial"/>
                <a:cs typeface="Arial"/>
              </a:rPr>
              <a:t>SHAP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CB218A-D868-476D-BE99-4A6C67C36066}"/>
              </a:ext>
            </a:extLst>
          </p:cNvPr>
          <p:cNvSpPr/>
          <p:nvPr/>
        </p:nvSpPr>
        <p:spPr>
          <a:xfrm>
            <a:off x="440612" y="2800350"/>
            <a:ext cx="7924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Must Read: </a:t>
            </a:r>
            <a:r>
              <a:rPr lang="en-US" sz="1400" b="1" dirty="0"/>
              <a:t>Chapters 9.2, 9.5 and 9.6 </a:t>
            </a:r>
            <a:r>
              <a:rPr lang="en-US" sz="1400" dirty="0"/>
              <a:t>of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https://christophm.github.io/interpretable-ml-book/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" Why Should I Trust You?": Explaining the Predictions of Any Classifier</a:t>
            </a:r>
            <a:r>
              <a:rPr lang="en-US" sz="1400" dirty="0"/>
              <a:t> , </a:t>
            </a:r>
            <a:r>
              <a:rPr lang="en-US" sz="1400" dirty="0" err="1"/>
              <a:t>Ribeiro</a:t>
            </a:r>
            <a:r>
              <a:rPr lang="en-US" sz="1400" dirty="0"/>
              <a:t> et al., Knowledge Discovery and Data Mining (ACM KDD)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https://www.aidancooper.co.uk/how-shapley-values-work/#the-mechanics-of-shapley-values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https://medium.com/analytics-vidhya/shap-part-3-tree-shap-3af9bcd7cd9b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https://medium.com/@rakesh.melezhath/shap-part-2-kernel-shap-3c11e7a971b1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https://ema.drwhy.ai/LIME.html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724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Post </a:t>
            </a:r>
            <a:r>
              <a:rPr sz="2800" spc="-5" dirty="0"/>
              <a:t>Hoc</a:t>
            </a:r>
            <a:r>
              <a:rPr sz="2800" spc="-85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5210175" cy="27241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Agnostic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be applied across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black box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techniques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applied at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595959"/>
              </a:buClr>
              <a:buFont typeface="Arial"/>
              <a:buChar char="○"/>
            </a:pPr>
            <a:endParaRPr sz="19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Availability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 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require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training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 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require model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training/fine-tuning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595959"/>
              </a:buClr>
              <a:buFont typeface="Arial"/>
              <a:buChar char="○"/>
            </a:pPr>
            <a:endParaRPr sz="19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 Performance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Degeneration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not alter the black box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" y="503238"/>
            <a:ext cx="7234235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Proxy </a:t>
            </a:r>
            <a:r>
              <a:rPr sz="2800" dirty="0"/>
              <a:t>Models </a:t>
            </a:r>
            <a:r>
              <a:rPr sz="2800" spc="-5" dirty="0"/>
              <a:t>for </a:t>
            </a:r>
            <a:r>
              <a:rPr sz="2800" spc="-10" dirty="0"/>
              <a:t>Post </a:t>
            </a:r>
            <a:r>
              <a:rPr sz="2800" spc="-5" dirty="0"/>
              <a:t>Hoc</a:t>
            </a:r>
            <a:r>
              <a:rPr sz="2800" spc="-85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6680113" y="2831837"/>
            <a:ext cx="11322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Match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Performance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29472" y="2240857"/>
            <a:ext cx="41275" cy="528320"/>
            <a:chOff x="7229472" y="2240857"/>
            <a:chExt cx="41275" cy="528320"/>
          </a:xfrm>
        </p:grpSpPr>
        <p:sp>
          <p:nvSpPr>
            <p:cNvPr id="5" name="object 5"/>
            <p:cNvSpPr/>
            <p:nvPr/>
          </p:nvSpPr>
          <p:spPr>
            <a:xfrm>
              <a:off x="7249960" y="2288842"/>
              <a:ext cx="3810" cy="475615"/>
            </a:xfrm>
            <a:custGeom>
              <a:avLst/>
              <a:gdLst/>
              <a:ahLst/>
              <a:cxnLst/>
              <a:rect l="l" t="t" r="r" b="b"/>
              <a:pathLst>
                <a:path w="3809" h="475614">
                  <a:moveTo>
                    <a:pt x="3474" y="475051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34235" y="224562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339"/>
                  </a:moveTo>
                  <a:lnTo>
                    <a:pt x="15399" y="0"/>
                  </a:lnTo>
                  <a:lnTo>
                    <a:pt x="31449" y="43107"/>
                  </a:lnTo>
                  <a:lnTo>
                    <a:pt x="0" y="433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4235" y="224562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107"/>
                  </a:moveTo>
                  <a:lnTo>
                    <a:pt x="15399" y="0"/>
                  </a:lnTo>
                  <a:lnTo>
                    <a:pt x="0" y="43339"/>
                  </a:lnTo>
                  <a:lnTo>
                    <a:pt x="31449" y="4310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236722" y="3089731"/>
            <a:ext cx="41275" cy="569595"/>
            <a:chOff x="7236722" y="3089731"/>
            <a:chExt cx="41275" cy="569595"/>
          </a:xfrm>
        </p:grpSpPr>
        <p:sp>
          <p:nvSpPr>
            <p:cNvPr id="9" name="object 9"/>
            <p:cNvSpPr/>
            <p:nvPr/>
          </p:nvSpPr>
          <p:spPr>
            <a:xfrm>
              <a:off x="7253435" y="3094493"/>
              <a:ext cx="3810" cy="516890"/>
            </a:xfrm>
            <a:custGeom>
              <a:avLst/>
              <a:gdLst/>
              <a:ahLst/>
              <a:cxnLst/>
              <a:rect l="l" t="t" r="r" b="b"/>
              <a:pathLst>
                <a:path w="3809" h="516889">
                  <a:moveTo>
                    <a:pt x="0" y="0"/>
                  </a:moveTo>
                  <a:lnTo>
                    <a:pt x="3774" y="5167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41485" y="361111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049" y="43349"/>
                  </a:moveTo>
                  <a:lnTo>
                    <a:pt x="0" y="249"/>
                  </a:lnTo>
                  <a:lnTo>
                    <a:pt x="31474" y="0"/>
                  </a:lnTo>
                  <a:lnTo>
                    <a:pt x="16049" y="433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1485" y="361111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249"/>
                  </a:moveTo>
                  <a:lnTo>
                    <a:pt x="16049" y="43349"/>
                  </a:lnTo>
                  <a:lnTo>
                    <a:pt x="31474" y="0"/>
                  </a:lnTo>
                  <a:lnTo>
                    <a:pt x="0" y="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68369" y="1596321"/>
            <a:ext cx="1380490" cy="88265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Interpretation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5544" y="1907481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05534" y="1909586"/>
            <a:ext cx="332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g(x)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64858" y="2016991"/>
            <a:ext cx="894715" cy="41275"/>
            <a:chOff x="1964858" y="2016991"/>
            <a:chExt cx="894715" cy="41275"/>
          </a:xfrm>
        </p:grpSpPr>
        <p:sp>
          <p:nvSpPr>
            <p:cNvPr id="16" name="object 16"/>
            <p:cNvSpPr/>
            <p:nvPr/>
          </p:nvSpPr>
          <p:spPr>
            <a:xfrm>
              <a:off x="1969621" y="2035518"/>
              <a:ext cx="842010" cy="2540"/>
            </a:xfrm>
            <a:custGeom>
              <a:avLst/>
              <a:gdLst/>
              <a:ahLst/>
              <a:cxnLst/>
              <a:rect l="l" t="t" r="r" b="b"/>
              <a:pathLst>
                <a:path w="842010" h="2539">
                  <a:moveTo>
                    <a:pt x="0" y="0"/>
                  </a:moveTo>
                  <a:lnTo>
                    <a:pt x="841648" y="196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11244" y="20217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9" y="0"/>
                  </a:lnTo>
                  <a:lnTo>
                    <a:pt x="43249" y="158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11244" y="20217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49" y="15832"/>
                  </a:lnTo>
                  <a:lnTo>
                    <a:pt x="49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248666" y="2017125"/>
            <a:ext cx="2675255" cy="41275"/>
            <a:chOff x="4248666" y="2017125"/>
            <a:chExt cx="2675255" cy="41275"/>
          </a:xfrm>
        </p:grpSpPr>
        <p:sp>
          <p:nvSpPr>
            <p:cNvPr id="20" name="object 20"/>
            <p:cNvSpPr/>
            <p:nvPr/>
          </p:nvSpPr>
          <p:spPr>
            <a:xfrm>
              <a:off x="4248666" y="2037620"/>
              <a:ext cx="2626995" cy="0"/>
            </a:xfrm>
            <a:custGeom>
              <a:avLst/>
              <a:gdLst/>
              <a:ahLst/>
              <a:cxnLst/>
              <a:rect l="l" t="t" r="r" b="b"/>
              <a:pathLst>
                <a:path w="2626995">
                  <a:moveTo>
                    <a:pt x="0" y="0"/>
                  </a:moveTo>
                  <a:lnTo>
                    <a:pt x="262664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75310" y="202188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75310" y="202188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83292" y="2445157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64858" y="3362318"/>
            <a:ext cx="2171700" cy="996950"/>
            <a:chOff x="1964858" y="3362318"/>
            <a:chExt cx="2171700" cy="996950"/>
          </a:xfrm>
        </p:grpSpPr>
        <p:sp>
          <p:nvSpPr>
            <p:cNvPr id="25" name="object 25"/>
            <p:cNvSpPr/>
            <p:nvPr/>
          </p:nvSpPr>
          <p:spPr>
            <a:xfrm>
              <a:off x="2823338" y="3362318"/>
              <a:ext cx="1313056" cy="9968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69621" y="3856942"/>
              <a:ext cx="777875" cy="5080"/>
            </a:xfrm>
            <a:custGeom>
              <a:avLst/>
              <a:gdLst/>
              <a:ahLst/>
              <a:cxnLst/>
              <a:rect l="l" t="t" r="r" b="b"/>
              <a:pathLst>
                <a:path w="777875" h="5079">
                  <a:moveTo>
                    <a:pt x="0" y="0"/>
                  </a:moveTo>
                  <a:lnTo>
                    <a:pt x="777448" y="50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6969" y="384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199" y="0"/>
                  </a:lnTo>
                  <a:lnTo>
                    <a:pt x="43324" y="15999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6969" y="384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324" y="15999"/>
                  </a:lnTo>
                  <a:lnTo>
                    <a:pt x="199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73698" y="4309962"/>
            <a:ext cx="94297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black box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6985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65544" y="3728905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09785" y="3734277"/>
            <a:ext cx="281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f(x)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184316" y="3841829"/>
            <a:ext cx="2843530" cy="41275"/>
            <a:chOff x="4184316" y="3841829"/>
            <a:chExt cx="2843530" cy="41275"/>
          </a:xfrm>
        </p:grpSpPr>
        <p:sp>
          <p:nvSpPr>
            <p:cNvPr id="33" name="object 33"/>
            <p:cNvSpPr/>
            <p:nvPr/>
          </p:nvSpPr>
          <p:spPr>
            <a:xfrm>
              <a:off x="4184316" y="3862317"/>
              <a:ext cx="2795270" cy="0"/>
            </a:xfrm>
            <a:custGeom>
              <a:avLst/>
              <a:gdLst/>
              <a:ahLst/>
              <a:cxnLst/>
              <a:rect l="l" t="t" r="r" b="b"/>
              <a:pathLst>
                <a:path w="2795270">
                  <a:moveTo>
                    <a:pt x="0" y="0"/>
                  </a:moveTo>
                  <a:lnTo>
                    <a:pt x="279524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79560" y="3846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79560" y="3846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1189"/>
            <a:ext cx="83058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15" dirty="0"/>
              <a:t>Proxy </a:t>
            </a:r>
            <a:r>
              <a:rPr lang="en-US" sz="2800" spc="-5" dirty="0"/>
              <a:t>Methods </a:t>
            </a:r>
            <a:r>
              <a:rPr lang="en-US" sz="2800" spc="-10" dirty="0"/>
              <a:t>for </a:t>
            </a:r>
            <a:r>
              <a:rPr lang="en-US" sz="2800" spc="-15" dirty="0"/>
              <a:t>Post </a:t>
            </a:r>
            <a:r>
              <a:rPr lang="en-US" sz="2800" spc="-5" dirty="0"/>
              <a:t>Hoc 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2941955" cy="188320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Post Hoc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Proxy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Surrogate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LIME</a:t>
            </a:r>
            <a:endParaRPr lang="en-US"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lang="en-US" sz="1400" spc="-5" dirty="0">
                <a:solidFill>
                  <a:srgbClr val="595959"/>
                </a:solidFill>
                <a:latin typeface="Arial"/>
                <a:cs typeface="Arial"/>
              </a:rPr>
              <a:t>SHAP</a:t>
            </a: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endParaRPr lang="en-US" sz="1400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379094" indent="-336550"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endParaRPr sz="1100" dirty="0"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0612" y="2800350"/>
            <a:ext cx="7924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Must Read: </a:t>
            </a:r>
            <a:r>
              <a:rPr lang="en-US" sz="1400" b="1" dirty="0"/>
              <a:t>Chapters 9.2, 9.5 and 9.6 </a:t>
            </a:r>
            <a:r>
              <a:rPr lang="en-US" sz="1400" dirty="0"/>
              <a:t>of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https://christophm.github.io/interpretable-ml-book/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" Why Should I Trust You?": Explaining the Predictions of Any Classifier</a:t>
            </a:r>
            <a:r>
              <a:rPr lang="en-US" sz="1400" dirty="0"/>
              <a:t> , </a:t>
            </a:r>
            <a:r>
              <a:rPr lang="en-US" sz="1400" dirty="0" err="1"/>
              <a:t>Ribeiro</a:t>
            </a:r>
            <a:r>
              <a:rPr lang="en-US" sz="1400" dirty="0"/>
              <a:t> et al., Knowledge Discovery and Data Mining (ACM KDD)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https://www.aidancooper.co.uk/how-shapley-values-work/#the-mechanics-of-shapley-values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https://medium.com/analytics-vidhya/shap-part-3-tree-shap-3af9bcd7cd9b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https://medium.com/@rakesh.melezhath/shap-part-2-kernel-shap-3c11e7a971b1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https://ema.drwhy.ai/LIME.html</a:t>
            </a:r>
          </a:p>
        </p:txBody>
      </p:sp>
    </p:spTree>
    <p:extLst>
      <p:ext uri="{BB962C8B-B14F-4D97-AF65-F5344CB8AC3E}">
        <p14:creationId xmlns:p14="http://schemas.microsoft.com/office/powerpoint/2010/main" val="27305918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/>
          <p:cNvSpPr>
            <a:spLocks noGrp="1"/>
          </p:cNvSpPr>
          <p:nvPr>
            <p:ph type="body" idx="2"/>
          </p:nvPr>
        </p:nvSpPr>
        <p:spPr>
          <a:xfrm>
            <a:off x="304800" y="114300"/>
            <a:ext cx="7772400" cy="857250"/>
          </a:xfrm>
        </p:spPr>
        <p:txBody>
          <a:bodyPr>
            <a:normAutofit/>
          </a:bodyPr>
          <a:lstStyle/>
          <a:p>
            <a:r>
              <a:rPr lang="en-IN" dirty="0"/>
              <a:t>LIME</a:t>
            </a:r>
            <a:r>
              <a:rPr lang="en-IN" spc="-135" dirty="0"/>
              <a:t> </a:t>
            </a:r>
            <a:r>
              <a:rPr lang="en-IN" spc="-395" dirty="0"/>
              <a:t>–</a:t>
            </a:r>
            <a:r>
              <a:rPr lang="en-IN" spc="-155" dirty="0"/>
              <a:t> </a:t>
            </a:r>
            <a:r>
              <a:rPr lang="en-IN" spc="-20" dirty="0"/>
              <a:t>locally</a:t>
            </a:r>
            <a:r>
              <a:rPr lang="en-IN" spc="-160" dirty="0"/>
              <a:t> </a:t>
            </a:r>
            <a:r>
              <a:rPr lang="en-IN" dirty="0"/>
              <a:t>interpretable</a:t>
            </a:r>
            <a:r>
              <a:rPr lang="en-IN" spc="-145" dirty="0"/>
              <a:t> </a:t>
            </a:r>
            <a:r>
              <a:rPr lang="en-IN" spc="75" dirty="0"/>
              <a:t>model</a:t>
            </a:r>
            <a:r>
              <a:rPr lang="en-IN" spc="-160" dirty="0"/>
              <a:t> </a:t>
            </a:r>
            <a:r>
              <a:rPr lang="en-IN" spc="-10" dirty="0"/>
              <a:t>agnostic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3317733" y="1248102"/>
            <a:ext cx="1926589" cy="1282065"/>
            <a:chOff x="3317733" y="1248102"/>
            <a:chExt cx="1926589" cy="1282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7733" y="1248102"/>
              <a:ext cx="1926364" cy="12817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2275" y="1391424"/>
              <a:ext cx="1097292" cy="1086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5847" y="1266443"/>
              <a:ext cx="1854707" cy="12100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55847" y="1266443"/>
              <a:ext cx="1854835" cy="1210310"/>
            </a:xfrm>
            <a:custGeom>
              <a:avLst/>
              <a:gdLst/>
              <a:ahLst/>
              <a:cxnLst/>
              <a:rect l="l" t="t" r="r" b="b"/>
              <a:pathLst>
                <a:path w="1854835" h="1210310">
                  <a:moveTo>
                    <a:pt x="0" y="201675"/>
                  </a:moveTo>
                  <a:lnTo>
                    <a:pt x="5326" y="155434"/>
                  </a:lnTo>
                  <a:lnTo>
                    <a:pt x="20499" y="112985"/>
                  </a:lnTo>
                  <a:lnTo>
                    <a:pt x="44307" y="75539"/>
                  </a:lnTo>
                  <a:lnTo>
                    <a:pt x="75539" y="44307"/>
                  </a:lnTo>
                  <a:lnTo>
                    <a:pt x="112985" y="20499"/>
                  </a:lnTo>
                  <a:lnTo>
                    <a:pt x="155434" y="5326"/>
                  </a:lnTo>
                  <a:lnTo>
                    <a:pt x="201675" y="0"/>
                  </a:lnTo>
                  <a:lnTo>
                    <a:pt x="1653031" y="0"/>
                  </a:lnTo>
                  <a:lnTo>
                    <a:pt x="1699273" y="5326"/>
                  </a:lnTo>
                  <a:lnTo>
                    <a:pt x="1741722" y="20499"/>
                  </a:lnTo>
                  <a:lnTo>
                    <a:pt x="1779168" y="44307"/>
                  </a:lnTo>
                  <a:lnTo>
                    <a:pt x="1810400" y="75539"/>
                  </a:lnTo>
                  <a:lnTo>
                    <a:pt x="1834208" y="112985"/>
                  </a:lnTo>
                  <a:lnTo>
                    <a:pt x="1849381" y="155434"/>
                  </a:lnTo>
                  <a:lnTo>
                    <a:pt x="1854707" y="201675"/>
                  </a:lnTo>
                  <a:lnTo>
                    <a:pt x="1854707" y="1008379"/>
                  </a:lnTo>
                  <a:lnTo>
                    <a:pt x="1849381" y="1054621"/>
                  </a:lnTo>
                  <a:lnTo>
                    <a:pt x="1834208" y="1097070"/>
                  </a:lnTo>
                  <a:lnTo>
                    <a:pt x="1810400" y="1134516"/>
                  </a:lnTo>
                  <a:lnTo>
                    <a:pt x="1779168" y="1165748"/>
                  </a:lnTo>
                  <a:lnTo>
                    <a:pt x="1741722" y="1189556"/>
                  </a:lnTo>
                  <a:lnTo>
                    <a:pt x="1699273" y="1204729"/>
                  </a:lnTo>
                  <a:lnTo>
                    <a:pt x="1653031" y="1210055"/>
                  </a:lnTo>
                  <a:lnTo>
                    <a:pt x="201675" y="1210055"/>
                  </a:lnTo>
                  <a:lnTo>
                    <a:pt x="155434" y="1204729"/>
                  </a:lnTo>
                  <a:lnTo>
                    <a:pt x="112985" y="1189556"/>
                  </a:lnTo>
                  <a:lnTo>
                    <a:pt x="75539" y="1165748"/>
                  </a:lnTo>
                  <a:lnTo>
                    <a:pt x="44307" y="1134516"/>
                  </a:lnTo>
                  <a:lnTo>
                    <a:pt x="20499" y="1097070"/>
                  </a:lnTo>
                  <a:lnTo>
                    <a:pt x="5326" y="1054621"/>
                  </a:lnTo>
                  <a:lnTo>
                    <a:pt x="0" y="1008379"/>
                  </a:lnTo>
                  <a:lnTo>
                    <a:pt x="0" y="2016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46016" y="1473149"/>
            <a:ext cx="1024278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kern="0" spc="-10" dirty="0">
                <a:solidFill>
                  <a:sysClr val="windowText" lastClr="000000"/>
                </a:solidFill>
                <a:latin typeface="Carlito"/>
                <a:cs typeface="Carlito"/>
              </a:rPr>
              <a:t>Black</a:t>
            </a:r>
            <a:endParaRPr sz="2400" kern="0" dirty="0">
              <a:solidFill>
                <a:sysClr val="windowText" lastClr="000000"/>
              </a:solidFill>
              <a:latin typeface="Carlito"/>
              <a:cs typeface="Carlito"/>
            </a:endParaRPr>
          </a:p>
          <a:p>
            <a:pPr marL="111760">
              <a:spcBef>
                <a:spcPts val="5"/>
              </a:spcBef>
            </a:pPr>
            <a:r>
              <a:rPr sz="2400" kern="0" spc="-25" dirty="0">
                <a:solidFill>
                  <a:sysClr val="windowText" lastClr="000000"/>
                </a:solidFill>
                <a:latin typeface="Carlito"/>
                <a:cs typeface="Carlito"/>
              </a:rPr>
              <a:t>Box</a:t>
            </a:r>
            <a:endParaRPr sz="2400" kern="0" dirty="0">
              <a:solidFill>
                <a:sysClr val="windowText" lastClr="000000"/>
              </a:solidFill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3709" y="2448001"/>
            <a:ext cx="324408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Carlito"/>
                <a:cs typeface="Carlito"/>
              </a:rPr>
              <a:t>(e.g.</a:t>
            </a:r>
            <a:r>
              <a:rPr sz="2400" kern="0" spc="-75" dirty="0">
                <a:solidFill>
                  <a:sysClr val="windowText" lastClr="000000"/>
                </a:solidFill>
                <a:latin typeface="Carlito"/>
                <a:cs typeface="Carlito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Carlito"/>
                <a:cs typeface="Carlito"/>
              </a:rPr>
              <a:t>Neural</a:t>
            </a:r>
            <a:r>
              <a:rPr sz="2400" kern="0" spc="-50" dirty="0">
                <a:solidFill>
                  <a:sysClr val="windowText" lastClr="000000"/>
                </a:solidFill>
                <a:latin typeface="Carlito"/>
                <a:cs typeface="Carlito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Carlito"/>
                <a:cs typeface="Carlito"/>
              </a:rPr>
              <a:t>Network)</a:t>
            </a:r>
            <a:endParaRPr sz="2400" kern="0" dirty="0">
              <a:solidFill>
                <a:sysClr val="windowText" lastClr="000000"/>
              </a:solidFill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515" y="1657857"/>
            <a:ext cx="1704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kern="0" spc="5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625" kern="0" spc="75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r>
              <a:rPr sz="2400" kern="0" spc="50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20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625" kern="0" spc="104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2</a:t>
            </a:r>
            <a:r>
              <a:rPr sz="2400" kern="0" spc="70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19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360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400" kern="0" spc="-204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114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19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75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625" kern="0" spc="112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𝑁</a:t>
            </a:r>
            <a:endParaRPr sz="2625" kern="0" baseline="28571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0429" y="1678939"/>
            <a:ext cx="2215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kern="0" spc="70" dirty="0">
                <a:solidFill>
                  <a:sysClr val="windowText" lastClr="000000"/>
                </a:solidFill>
                <a:latin typeface="Symbola"/>
                <a:cs typeface="Symbola"/>
              </a:rPr>
              <a:t>𝑦</a:t>
            </a:r>
            <a:r>
              <a:rPr sz="2625" kern="0" spc="104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r>
              <a:rPr sz="2400" kern="0" spc="70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20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85" dirty="0">
                <a:solidFill>
                  <a:sysClr val="windowText" lastClr="000000"/>
                </a:solidFill>
                <a:latin typeface="Symbola"/>
                <a:cs typeface="Symbola"/>
              </a:rPr>
              <a:t>𝑦</a:t>
            </a:r>
            <a:r>
              <a:rPr sz="2625" kern="0" spc="127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2</a:t>
            </a:r>
            <a:r>
              <a:rPr sz="2400" kern="0" spc="85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20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360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400" kern="0" spc="-204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114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20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Symbola"/>
                <a:cs typeface="Symbola"/>
              </a:rPr>
              <a:t>𝑦</a:t>
            </a:r>
            <a:r>
              <a:rPr sz="2625" kern="0" spc="150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𝑁</a:t>
            </a:r>
            <a:endParaRPr sz="2625" kern="0" baseline="28571" dirty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39475" y="1683831"/>
            <a:ext cx="3264535" cy="507365"/>
            <a:chOff x="2639475" y="1683831"/>
            <a:chExt cx="3264535" cy="50736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9475" y="1683831"/>
              <a:ext cx="638130" cy="5071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5327" y="1683831"/>
              <a:ext cx="638130" cy="507138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2639475" y="3032719"/>
            <a:ext cx="3264535" cy="1282065"/>
            <a:chOff x="2639475" y="3032719"/>
            <a:chExt cx="3264535" cy="128206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7733" y="3032719"/>
              <a:ext cx="1926364" cy="128179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55848" y="3051047"/>
              <a:ext cx="1854707" cy="121005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55848" y="3051047"/>
              <a:ext cx="1854835" cy="1210310"/>
            </a:xfrm>
            <a:custGeom>
              <a:avLst/>
              <a:gdLst/>
              <a:ahLst/>
              <a:cxnLst/>
              <a:rect l="l" t="t" r="r" b="b"/>
              <a:pathLst>
                <a:path w="1854835" h="1210310">
                  <a:moveTo>
                    <a:pt x="0" y="201675"/>
                  </a:moveTo>
                  <a:lnTo>
                    <a:pt x="5326" y="155434"/>
                  </a:lnTo>
                  <a:lnTo>
                    <a:pt x="20499" y="112985"/>
                  </a:lnTo>
                  <a:lnTo>
                    <a:pt x="44307" y="75539"/>
                  </a:lnTo>
                  <a:lnTo>
                    <a:pt x="75539" y="44307"/>
                  </a:lnTo>
                  <a:lnTo>
                    <a:pt x="112985" y="20499"/>
                  </a:lnTo>
                  <a:lnTo>
                    <a:pt x="155434" y="5326"/>
                  </a:lnTo>
                  <a:lnTo>
                    <a:pt x="201675" y="0"/>
                  </a:lnTo>
                  <a:lnTo>
                    <a:pt x="1653031" y="0"/>
                  </a:lnTo>
                  <a:lnTo>
                    <a:pt x="1699273" y="5326"/>
                  </a:lnTo>
                  <a:lnTo>
                    <a:pt x="1741722" y="20499"/>
                  </a:lnTo>
                  <a:lnTo>
                    <a:pt x="1779168" y="44307"/>
                  </a:lnTo>
                  <a:lnTo>
                    <a:pt x="1810400" y="75539"/>
                  </a:lnTo>
                  <a:lnTo>
                    <a:pt x="1834208" y="112985"/>
                  </a:lnTo>
                  <a:lnTo>
                    <a:pt x="1849381" y="155434"/>
                  </a:lnTo>
                  <a:lnTo>
                    <a:pt x="1854707" y="201675"/>
                  </a:lnTo>
                  <a:lnTo>
                    <a:pt x="1854707" y="1008379"/>
                  </a:lnTo>
                  <a:lnTo>
                    <a:pt x="1849381" y="1054621"/>
                  </a:lnTo>
                  <a:lnTo>
                    <a:pt x="1834208" y="1097070"/>
                  </a:lnTo>
                  <a:lnTo>
                    <a:pt x="1810400" y="1134516"/>
                  </a:lnTo>
                  <a:lnTo>
                    <a:pt x="1779168" y="1165748"/>
                  </a:lnTo>
                  <a:lnTo>
                    <a:pt x="1741722" y="1189556"/>
                  </a:lnTo>
                  <a:lnTo>
                    <a:pt x="1699273" y="1204729"/>
                  </a:lnTo>
                  <a:lnTo>
                    <a:pt x="1653031" y="1210055"/>
                  </a:lnTo>
                  <a:lnTo>
                    <a:pt x="201675" y="1210055"/>
                  </a:lnTo>
                  <a:lnTo>
                    <a:pt x="155434" y="1204729"/>
                  </a:lnTo>
                  <a:lnTo>
                    <a:pt x="112985" y="1189556"/>
                  </a:lnTo>
                  <a:lnTo>
                    <a:pt x="75539" y="1165748"/>
                  </a:lnTo>
                  <a:lnTo>
                    <a:pt x="44307" y="1134516"/>
                  </a:lnTo>
                  <a:lnTo>
                    <a:pt x="20499" y="1097070"/>
                  </a:lnTo>
                  <a:lnTo>
                    <a:pt x="5326" y="1054621"/>
                  </a:lnTo>
                  <a:lnTo>
                    <a:pt x="0" y="1008379"/>
                  </a:lnTo>
                  <a:lnTo>
                    <a:pt x="0" y="201675"/>
                  </a:lnTo>
                  <a:close/>
                </a:path>
              </a:pathLst>
            </a:custGeom>
            <a:ln w="9144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39475" y="3480640"/>
              <a:ext cx="638130" cy="50713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65327" y="3480640"/>
              <a:ext cx="638130" cy="50713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56488" y="3419347"/>
            <a:ext cx="1704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kern="0" spc="5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625" kern="0" spc="75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r>
              <a:rPr sz="2400" kern="0" spc="50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20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625" kern="0" spc="104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2</a:t>
            </a:r>
            <a:r>
              <a:rPr sz="2400" kern="0" spc="70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19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360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400" kern="0" spc="-204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114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19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75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625" kern="0" spc="112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𝑁</a:t>
            </a:r>
            <a:endParaRPr sz="2625" kern="0" baseline="28571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60364" y="3547998"/>
            <a:ext cx="17233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kern="0" spc="-415" dirty="0">
                <a:solidFill>
                  <a:sysClr val="windowText" lastClr="000000"/>
                </a:solidFill>
                <a:latin typeface="Symbola"/>
                <a:cs typeface="Symbola"/>
              </a:rPr>
              <a:t>𝑦</a:t>
            </a:r>
            <a:r>
              <a:rPr lang="en-US" sz="2400" kern="0" spc="-41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625" kern="0" spc="-622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r>
              <a:rPr sz="2400" kern="0" spc="-415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19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400" dirty="0">
                <a:solidFill>
                  <a:sysClr val="windowText" lastClr="000000"/>
                </a:solidFill>
                <a:latin typeface="Symbola"/>
                <a:cs typeface="Symbola"/>
              </a:rPr>
              <a:t>𝑦</a:t>
            </a:r>
            <a:r>
              <a:rPr lang="en-US" sz="2400" kern="0" spc="-400" dirty="0">
                <a:solidFill>
                  <a:sysClr val="windowText" lastClr="000000"/>
                </a:solidFill>
                <a:latin typeface="Symbola"/>
                <a:cs typeface="Symbola"/>
              </a:rPr>
              <a:t>  </a:t>
            </a:r>
            <a:r>
              <a:rPr sz="2625" kern="0" spc="-600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2</a:t>
            </a:r>
            <a:r>
              <a:rPr sz="2400" kern="0" spc="-400" dirty="0">
                <a:solidFill>
                  <a:sysClr val="windowText" lastClr="000000"/>
                </a:solidFill>
                <a:latin typeface="Symbola"/>
                <a:cs typeface="Symbola"/>
              </a:rPr>
              <a:t>,</a:t>
            </a:r>
            <a:r>
              <a:rPr sz="2400" kern="0" spc="-19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360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400" kern="0" spc="-20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50" dirty="0">
                <a:solidFill>
                  <a:sysClr val="windowText" lastClr="000000"/>
                </a:solidFill>
                <a:latin typeface="Symbola"/>
                <a:cs typeface="Symbola"/>
              </a:rPr>
              <a:t>, </a:t>
            </a:r>
            <a:r>
              <a:rPr sz="2400" kern="0" spc="-630" dirty="0">
                <a:solidFill>
                  <a:sysClr val="windowText" lastClr="000000"/>
                </a:solidFill>
                <a:latin typeface="Symbola"/>
                <a:cs typeface="Symbola"/>
              </a:rPr>
              <a:t>𝑦</a:t>
            </a:r>
            <a:r>
              <a:rPr lang="en-US" sz="2400" kern="0" spc="-630" dirty="0">
                <a:solidFill>
                  <a:sysClr val="windowText" lastClr="000000"/>
                </a:solidFill>
                <a:latin typeface="Symbola"/>
                <a:cs typeface="Symbola"/>
              </a:rPr>
              <a:t>                                  </a:t>
            </a:r>
            <a:r>
              <a:rPr sz="2625" kern="0" spc="-944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𝑁</a:t>
            </a:r>
            <a:r>
              <a:rPr lang="en-US" sz="2625" kern="0" spc="-944" baseline="28571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endParaRPr sz="2625" kern="0" baseline="28571" dirty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17714" y="2530551"/>
            <a:ext cx="1526286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kern="0" dirty="0">
                <a:solidFill>
                  <a:srgbClr val="FF0000"/>
                </a:solidFill>
                <a:latin typeface="Carlito"/>
                <a:cs typeface="Carlito"/>
              </a:rPr>
              <a:t>as</a:t>
            </a:r>
            <a:r>
              <a:rPr sz="2400" kern="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kern="0" dirty="0">
                <a:solidFill>
                  <a:srgbClr val="FF0000"/>
                </a:solidFill>
                <a:latin typeface="Carlito"/>
                <a:cs typeface="Carlito"/>
              </a:rPr>
              <a:t>close</a:t>
            </a:r>
            <a:r>
              <a:rPr sz="2400" kern="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kern="0" spc="-25" dirty="0">
                <a:solidFill>
                  <a:srgbClr val="FF0000"/>
                </a:solidFill>
                <a:latin typeface="Carlito"/>
                <a:cs typeface="Carlito"/>
              </a:rPr>
              <a:t>as</a:t>
            </a:r>
            <a:endParaRPr sz="2400" kern="0" dirty="0">
              <a:solidFill>
                <a:sysClr val="windowText" lastClr="000000"/>
              </a:solidFill>
              <a:latin typeface="Carlito"/>
              <a:cs typeface="Carlito"/>
            </a:endParaRPr>
          </a:p>
          <a:p>
            <a:pPr marL="155575">
              <a:spcBef>
                <a:spcPts val="5"/>
              </a:spcBef>
            </a:pPr>
            <a:r>
              <a:rPr sz="2400" kern="0" spc="-10" dirty="0">
                <a:solidFill>
                  <a:srgbClr val="FF0000"/>
                </a:solidFill>
                <a:latin typeface="Carlito"/>
                <a:cs typeface="Carlito"/>
              </a:rPr>
              <a:t>possible</a:t>
            </a:r>
            <a:endParaRPr sz="2400" kern="0" dirty="0">
              <a:solidFill>
                <a:sysClr val="windowText" lastClr="000000"/>
              </a:solidFill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44184" y="2164842"/>
            <a:ext cx="114300" cy="1411605"/>
          </a:xfrm>
          <a:custGeom>
            <a:avLst/>
            <a:gdLst/>
            <a:ahLst/>
            <a:cxnLst/>
            <a:rect l="l" t="t" r="r" b="b"/>
            <a:pathLst>
              <a:path w="114300" h="1411604">
                <a:moveTo>
                  <a:pt x="38100" y="1297305"/>
                </a:moveTo>
                <a:lnTo>
                  <a:pt x="0" y="1297305"/>
                </a:lnTo>
                <a:lnTo>
                  <a:pt x="57150" y="1411605"/>
                </a:lnTo>
                <a:lnTo>
                  <a:pt x="104775" y="1316355"/>
                </a:lnTo>
                <a:lnTo>
                  <a:pt x="38100" y="1316355"/>
                </a:lnTo>
                <a:lnTo>
                  <a:pt x="38100" y="1297305"/>
                </a:lnTo>
                <a:close/>
              </a:path>
              <a:path w="114300" h="1411604">
                <a:moveTo>
                  <a:pt x="76200" y="95250"/>
                </a:moveTo>
                <a:lnTo>
                  <a:pt x="38100" y="95250"/>
                </a:lnTo>
                <a:lnTo>
                  <a:pt x="38100" y="1316355"/>
                </a:lnTo>
                <a:lnTo>
                  <a:pt x="76200" y="1316355"/>
                </a:lnTo>
                <a:lnTo>
                  <a:pt x="76200" y="95250"/>
                </a:lnTo>
                <a:close/>
              </a:path>
              <a:path w="114300" h="1411604">
                <a:moveTo>
                  <a:pt x="114300" y="1297305"/>
                </a:moveTo>
                <a:lnTo>
                  <a:pt x="76200" y="1297305"/>
                </a:lnTo>
                <a:lnTo>
                  <a:pt x="76200" y="1316355"/>
                </a:lnTo>
                <a:lnTo>
                  <a:pt x="104775" y="1316355"/>
                </a:lnTo>
                <a:lnTo>
                  <a:pt x="114300" y="1297305"/>
                </a:lnTo>
                <a:close/>
              </a:path>
              <a:path w="114300" h="141160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141160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75476" y="2164842"/>
            <a:ext cx="114300" cy="1411605"/>
          </a:xfrm>
          <a:custGeom>
            <a:avLst/>
            <a:gdLst/>
            <a:ahLst/>
            <a:cxnLst/>
            <a:rect l="l" t="t" r="r" b="b"/>
            <a:pathLst>
              <a:path w="114300" h="1411604">
                <a:moveTo>
                  <a:pt x="38100" y="1297305"/>
                </a:moveTo>
                <a:lnTo>
                  <a:pt x="0" y="1297305"/>
                </a:lnTo>
                <a:lnTo>
                  <a:pt x="57150" y="1411605"/>
                </a:lnTo>
                <a:lnTo>
                  <a:pt x="104775" y="1316355"/>
                </a:lnTo>
                <a:lnTo>
                  <a:pt x="38100" y="1316355"/>
                </a:lnTo>
                <a:lnTo>
                  <a:pt x="38100" y="1297305"/>
                </a:lnTo>
                <a:close/>
              </a:path>
              <a:path w="114300" h="1411604">
                <a:moveTo>
                  <a:pt x="76200" y="95250"/>
                </a:moveTo>
                <a:lnTo>
                  <a:pt x="38100" y="95250"/>
                </a:lnTo>
                <a:lnTo>
                  <a:pt x="38100" y="1316355"/>
                </a:lnTo>
                <a:lnTo>
                  <a:pt x="76200" y="1316355"/>
                </a:lnTo>
                <a:lnTo>
                  <a:pt x="76200" y="95250"/>
                </a:lnTo>
                <a:close/>
              </a:path>
              <a:path w="114300" h="1411604">
                <a:moveTo>
                  <a:pt x="114300" y="1297305"/>
                </a:moveTo>
                <a:lnTo>
                  <a:pt x="76200" y="1297305"/>
                </a:lnTo>
                <a:lnTo>
                  <a:pt x="76200" y="1316355"/>
                </a:lnTo>
                <a:lnTo>
                  <a:pt x="104775" y="1316355"/>
                </a:lnTo>
                <a:lnTo>
                  <a:pt x="114300" y="1297305"/>
                </a:lnTo>
                <a:close/>
              </a:path>
              <a:path w="114300" h="141160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141160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51776" y="2164842"/>
            <a:ext cx="114300" cy="1411605"/>
          </a:xfrm>
          <a:custGeom>
            <a:avLst/>
            <a:gdLst/>
            <a:ahLst/>
            <a:cxnLst/>
            <a:rect l="l" t="t" r="r" b="b"/>
            <a:pathLst>
              <a:path w="114300" h="1411604">
                <a:moveTo>
                  <a:pt x="38100" y="1297305"/>
                </a:moveTo>
                <a:lnTo>
                  <a:pt x="0" y="1297305"/>
                </a:lnTo>
                <a:lnTo>
                  <a:pt x="57150" y="1411605"/>
                </a:lnTo>
                <a:lnTo>
                  <a:pt x="104775" y="1316355"/>
                </a:lnTo>
                <a:lnTo>
                  <a:pt x="38100" y="1316355"/>
                </a:lnTo>
                <a:lnTo>
                  <a:pt x="38100" y="1297305"/>
                </a:lnTo>
                <a:close/>
              </a:path>
              <a:path w="114300" h="1411604">
                <a:moveTo>
                  <a:pt x="76200" y="95250"/>
                </a:moveTo>
                <a:lnTo>
                  <a:pt x="38100" y="95250"/>
                </a:lnTo>
                <a:lnTo>
                  <a:pt x="38100" y="1316355"/>
                </a:lnTo>
                <a:lnTo>
                  <a:pt x="76200" y="1316355"/>
                </a:lnTo>
                <a:lnTo>
                  <a:pt x="76200" y="95250"/>
                </a:lnTo>
                <a:close/>
              </a:path>
              <a:path w="114300" h="1411604">
                <a:moveTo>
                  <a:pt x="114300" y="1297305"/>
                </a:moveTo>
                <a:lnTo>
                  <a:pt x="76200" y="1297305"/>
                </a:lnTo>
                <a:lnTo>
                  <a:pt x="76200" y="1316355"/>
                </a:lnTo>
                <a:lnTo>
                  <a:pt x="104775" y="1316355"/>
                </a:lnTo>
                <a:lnTo>
                  <a:pt x="114300" y="1297305"/>
                </a:lnTo>
                <a:close/>
              </a:path>
              <a:path w="114300" h="141160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141160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92010" y="2706116"/>
            <a:ext cx="597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kern="0" spc="-360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400" kern="0" spc="-21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400" kern="0" spc="-420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endParaRPr sz="2400" kern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46957" y="3271850"/>
            <a:ext cx="87121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Linear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685">
              <a:spcBef>
                <a:spcPts val="5"/>
              </a:spcBef>
            </a:pPr>
            <a:r>
              <a:rPr sz="24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Model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7529" y="4571491"/>
            <a:ext cx="7438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Can’t</a:t>
            </a:r>
            <a:r>
              <a:rPr kern="0" spc="-15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spc="65" dirty="0">
                <a:solidFill>
                  <a:sysClr val="windowText" lastClr="000000"/>
                </a:solidFill>
                <a:latin typeface="Verdana"/>
                <a:cs typeface="Verdana"/>
              </a:rPr>
              <a:t>do</a:t>
            </a:r>
            <a:r>
              <a:rPr kern="0" spc="-1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Verdana"/>
                <a:cs typeface="Verdana"/>
              </a:rPr>
              <a:t>it</a:t>
            </a:r>
            <a:r>
              <a:rPr kern="0" spc="-15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Verdana"/>
                <a:cs typeface="Verdana"/>
              </a:rPr>
              <a:t>globally</a:t>
            </a:r>
            <a:r>
              <a:rPr kern="0" spc="-1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Verdana"/>
                <a:cs typeface="Verdana"/>
              </a:rPr>
              <a:t>of</a:t>
            </a:r>
            <a:r>
              <a:rPr kern="0" spc="-1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course,</a:t>
            </a:r>
            <a:r>
              <a:rPr kern="0" spc="-1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spc="55" dirty="0">
                <a:solidFill>
                  <a:sysClr val="windowText" lastClr="000000"/>
                </a:solidFill>
                <a:latin typeface="Verdana"/>
                <a:cs typeface="Verdana"/>
              </a:rPr>
              <a:t>but</a:t>
            </a:r>
            <a:r>
              <a:rPr kern="0" spc="-14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locally</a:t>
            </a:r>
            <a:r>
              <a:rPr kern="0" spc="-1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Verdana"/>
                <a:cs typeface="Verdana"/>
              </a:rPr>
              <a:t>?</a:t>
            </a:r>
            <a:r>
              <a:rPr kern="0" spc="-14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spc="60" dirty="0">
                <a:solidFill>
                  <a:sysClr val="windowText" lastClr="000000"/>
                </a:solidFill>
                <a:latin typeface="Verdana"/>
                <a:cs typeface="Verdana"/>
              </a:rPr>
              <a:t>Main</a:t>
            </a:r>
            <a:r>
              <a:rPr kern="0" spc="-1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Idea</a:t>
            </a:r>
            <a:r>
              <a:rPr kern="0" spc="-1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spc="50" dirty="0">
                <a:solidFill>
                  <a:sysClr val="windowText" lastClr="000000"/>
                </a:solidFill>
                <a:latin typeface="Verdana"/>
                <a:cs typeface="Verdana"/>
              </a:rPr>
              <a:t>behind</a:t>
            </a:r>
            <a:r>
              <a:rPr kern="0" spc="-15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LIME</a:t>
            </a:r>
            <a:endParaRPr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59118" y="53720"/>
            <a:ext cx="23133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(Image</a:t>
            </a:r>
            <a:r>
              <a:rPr sz="1400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Credit</a:t>
            </a:r>
            <a:r>
              <a:rPr sz="1400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1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Hung-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yi</a:t>
            </a:r>
            <a:r>
              <a:rPr sz="1400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Lee)</a:t>
            </a:r>
            <a:endParaRPr sz="1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24748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Intuition</a:t>
            </a:r>
            <a:r>
              <a:rPr lang="en-IN" spc="-225" dirty="0"/>
              <a:t> </a:t>
            </a:r>
            <a:r>
              <a:rPr lang="en-IN" spc="80" dirty="0"/>
              <a:t>behind</a:t>
            </a:r>
            <a:r>
              <a:rPr lang="en-IN" spc="-220" dirty="0"/>
              <a:t> </a:t>
            </a:r>
            <a:r>
              <a:rPr lang="en-IN" spc="-20" dirty="0"/>
              <a:t>LIME</a:t>
            </a:r>
            <a:endParaRPr lang="en-IN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757071"/>
            <a:ext cx="4315967" cy="41864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01993" y="4703470"/>
            <a:ext cx="15157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[Ribeiro</a:t>
            </a:r>
            <a:r>
              <a:rPr sz="1400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et</a:t>
            </a:r>
            <a:r>
              <a:rPr sz="1400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al</a:t>
            </a:r>
            <a:r>
              <a:rPr sz="1400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2016]</a:t>
            </a:r>
            <a:endParaRPr sz="1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72288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263539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Local </a:t>
            </a:r>
            <a:r>
              <a:rPr sz="2800" spc="-10" dirty="0"/>
              <a:t>Surrogate</a:t>
            </a:r>
            <a:r>
              <a:rPr sz="2800" spc="-90" dirty="0"/>
              <a:t> </a:t>
            </a:r>
            <a:r>
              <a:rPr sz="280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224520" cy="116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surrogate methods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aim at finding explanation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approximate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around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Fidelity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Arial"/>
              <a:cs typeface="Arial"/>
            </a:endParaRPr>
          </a:p>
          <a:p>
            <a:pPr marL="297180" algn="ctr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neighbors 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53898" y="2464019"/>
            <a:ext cx="5661025" cy="1106170"/>
            <a:chOff x="1753898" y="2464019"/>
            <a:chExt cx="5661025" cy="1106170"/>
          </a:xfrm>
        </p:grpSpPr>
        <p:sp>
          <p:nvSpPr>
            <p:cNvPr id="5" name="object 5"/>
            <p:cNvSpPr/>
            <p:nvPr/>
          </p:nvSpPr>
          <p:spPr>
            <a:xfrm>
              <a:off x="1753898" y="3062062"/>
              <a:ext cx="5660783" cy="5078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6315" y="2464019"/>
              <a:ext cx="0" cy="592455"/>
            </a:xfrm>
            <a:custGeom>
              <a:avLst/>
              <a:gdLst/>
              <a:ahLst/>
              <a:cxnLst/>
              <a:rect l="l" t="t" r="r" b="b"/>
              <a:pathLst>
                <a:path h="592455">
                  <a:moveTo>
                    <a:pt x="0" y="0"/>
                  </a:moveTo>
                  <a:lnTo>
                    <a:pt x="0" y="5923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70590" y="30563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70590" y="30563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258777" y="3664604"/>
            <a:ext cx="41275" cy="669925"/>
            <a:chOff x="5258777" y="3664604"/>
            <a:chExt cx="41275" cy="669925"/>
          </a:xfrm>
        </p:grpSpPr>
        <p:sp>
          <p:nvSpPr>
            <p:cNvPr id="10" name="object 10"/>
            <p:cNvSpPr/>
            <p:nvPr/>
          </p:nvSpPr>
          <p:spPr>
            <a:xfrm>
              <a:off x="5271864" y="3712592"/>
              <a:ext cx="7620" cy="617220"/>
            </a:xfrm>
            <a:custGeom>
              <a:avLst/>
              <a:gdLst/>
              <a:ahLst/>
              <a:cxnLst/>
              <a:rect l="l" t="t" r="r" b="b"/>
              <a:pathLst>
                <a:path w="7620" h="617220">
                  <a:moveTo>
                    <a:pt x="0" y="616948"/>
                  </a:moveTo>
                  <a:lnTo>
                    <a:pt x="742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63539" y="36693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74" y="43399"/>
                  </a:moveTo>
                  <a:lnTo>
                    <a:pt x="0" y="43024"/>
                  </a:lnTo>
                  <a:lnTo>
                    <a:pt x="16249" y="0"/>
                  </a:lnTo>
                  <a:lnTo>
                    <a:pt x="31474" y="43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63539" y="36693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74" y="43399"/>
                  </a:moveTo>
                  <a:lnTo>
                    <a:pt x="16249" y="0"/>
                  </a:lnTo>
                  <a:lnTo>
                    <a:pt x="0" y="43024"/>
                  </a:lnTo>
                  <a:lnTo>
                    <a:pt x="31474" y="43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03244" y="4388177"/>
            <a:ext cx="93471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explanation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66049" y="3664604"/>
            <a:ext cx="41275" cy="669925"/>
            <a:chOff x="6366049" y="3664604"/>
            <a:chExt cx="41275" cy="669925"/>
          </a:xfrm>
        </p:grpSpPr>
        <p:sp>
          <p:nvSpPr>
            <p:cNvPr id="15" name="object 15"/>
            <p:cNvSpPr/>
            <p:nvPr/>
          </p:nvSpPr>
          <p:spPr>
            <a:xfrm>
              <a:off x="6379137" y="3712592"/>
              <a:ext cx="7620" cy="617220"/>
            </a:xfrm>
            <a:custGeom>
              <a:avLst/>
              <a:gdLst/>
              <a:ahLst/>
              <a:cxnLst/>
              <a:rect l="l" t="t" r="r" b="b"/>
              <a:pathLst>
                <a:path w="7620" h="617220">
                  <a:moveTo>
                    <a:pt x="0" y="616948"/>
                  </a:moveTo>
                  <a:lnTo>
                    <a:pt x="742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70812" y="36693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74" y="43399"/>
                  </a:moveTo>
                  <a:lnTo>
                    <a:pt x="0" y="43024"/>
                  </a:lnTo>
                  <a:lnTo>
                    <a:pt x="16249" y="0"/>
                  </a:lnTo>
                  <a:lnTo>
                    <a:pt x="31474" y="43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70812" y="36693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74" y="43399"/>
                  </a:moveTo>
                  <a:lnTo>
                    <a:pt x="16249" y="0"/>
                  </a:lnTo>
                  <a:lnTo>
                    <a:pt x="0" y="43024"/>
                  </a:lnTo>
                  <a:lnTo>
                    <a:pt x="31474" y="43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30890" y="4388177"/>
            <a:ext cx="727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blackbox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3488" y="4441031"/>
            <a:ext cx="13970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Plumb el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9320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648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Local </a:t>
            </a:r>
            <a:r>
              <a:rPr sz="2800" spc="-10" dirty="0"/>
              <a:t>Surrogate</a:t>
            </a:r>
            <a:r>
              <a:rPr sz="2800" spc="-90" dirty="0"/>
              <a:t> </a:t>
            </a:r>
            <a:r>
              <a:rPr sz="280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22452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surrogate methods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aim at finding explanation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approximate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around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Fidelity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2176" y="1914654"/>
            <a:ext cx="5660783" cy="501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48594" y="2623894"/>
            <a:ext cx="3246755" cy="2519680"/>
            <a:chOff x="2848594" y="2623894"/>
            <a:chExt cx="3246755" cy="2519680"/>
          </a:xfrm>
        </p:grpSpPr>
        <p:sp>
          <p:nvSpPr>
            <p:cNvPr id="6" name="object 6"/>
            <p:cNvSpPr/>
            <p:nvPr/>
          </p:nvSpPr>
          <p:spPr>
            <a:xfrm>
              <a:off x="2848594" y="2623894"/>
              <a:ext cx="2848569" cy="25195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21016" y="3160593"/>
              <a:ext cx="1669414" cy="342900"/>
            </a:xfrm>
            <a:custGeom>
              <a:avLst/>
              <a:gdLst/>
              <a:ahLst/>
              <a:cxnLst/>
              <a:rect l="l" t="t" r="r" b="b"/>
              <a:pathLst>
                <a:path w="1669414" h="342900">
                  <a:moveTo>
                    <a:pt x="1669321" y="0"/>
                  </a:moveTo>
                  <a:lnTo>
                    <a:pt x="0" y="3424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8691" y="348769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99" y="30824"/>
                  </a:moveTo>
                  <a:lnTo>
                    <a:pt x="0" y="24099"/>
                  </a:lnTo>
                  <a:lnTo>
                    <a:pt x="39174" y="0"/>
                  </a:lnTo>
                  <a:lnTo>
                    <a:pt x="45499" y="308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8691" y="348769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174" y="0"/>
                  </a:moveTo>
                  <a:lnTo>
                    <a:pt x="0" y="24099"/>
                  </a:lnTo>
                  <a:lnTo>
                    <a:pt x="45499" y="30824"/>
                  </a:lnTo>
                  <a:lnTo>
                    <a:pt x="391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18366" y="3423518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4">
                  <a:moveTo>
                    <a:pt x="0" y="118349"/>
                  </a:moveTo>
                  <a:lnTo>
                    <a:pt x="9298" y="72288"/>
                  </a:lnTo>
                  <a:lnTo>
                    <a:pt x="34659" y="34668"/>
                  </a:lnTo>
                  <a:lnTo>
                    <a:pt x="72277" y="9302"/>
                  </a:lnTo>
                  <a:lnTo>
                    <a:pt x="118349" y="0"/>
                  </a:lnTo>
                  <a:lnTo>
                    <a:pt x="163637" y="9012"/>
                  </a:lnTo>
                  <a:lnTo>
                    <a:pt x="202024" y="34674"/>
                  </a:lnTo>
                  <a:lnTo>
                    <a:pt x="227687" y="73062"/>
                  </a:lnTo>
                  <a:lnTo>
                    <a:pt x="236699" y="118349"/>
                  </a:lnTo>
                  <a:lnTo>
                    <a:pt x="227397" y="164421"/>
                  </a:lnTo>
                  <a:lnTo>
                    <a:pt x="202030" y="202040"/>
                  </a:lnTo>
                  <a:lnTo>
                    <a:pt x="164411" y="227400"/>
                  </a:lnTo>
                  <a:lnTo>
                    <a:pt x="118349" y="236699"/>
                  </a:lnTo>
                  <a:lnTo>
                    <a:pt x="72277" y="227400"/>
                  </a:lnTo>
                  <a:lnTo>
                    <a:pt x="34659" y="202040"/>
                  </a:lnTo>
                  <a:lnTo>
                    <a:pt x="9298" y="164421"/>
                  </a:lnTo>
                  <a:lnTo>
                    <a:pt x="0" y="118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63364" y="2971203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33488" y="4457874"/>
            <a:ext cx="139700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Plumb el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67341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800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Local </a:t>
            </a:r>
            <a:r>
              <a:rPr sz="2800" spc="-10" dirty="0"/>
              <a:t>Surrogate</a:t>
            </a:r>
            <a:r>
              <a:rPr sz="2800" spc="-90" dirty="0"/>
              <a:t> </a:t>
            </a:r>
            <a:r>
              <a:rPr sz="280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22452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surrogate methods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aim at finding explanation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approximate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around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Fidelity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2176" y="1914654"/>
            <a:ext cx="5660783" cy="501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546882" y="2623894"/>
            <a:ext cx="3548379" cy="2519680"/>
            <a:chOff x="2546882" y="2623894"/>
            <a:chExt cx="3548379" cy="2519680"/>
          </a:xfrm>
        </p:grpSpPr>
        <p:sp>
          <p:nvSpPr>
            <p:cNvPr id="6" name="object 6"/>
            <p:cNvSpPr/>
            <p:nvPr/>
          </p:nvSpPr>
          <p:spPr>
            <a:xfrm>
              <a:off x="2848594" y="2623894"/>
              <a:ext cx="2848569" cy="25195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21015" y="3160593"/>
              <a:ext cx="1669414" cy="342900"/>
            </a:xfrm>
            <a:custGeom>
              <a:avLst/>
              <a:gdLst/>
              <a:ahLst/>
              <a:cxnLst/>
              <a:rect l="l" t="t" r="r" b="b"/>
              <a:pathLst>
                <a:path w="1669414" h="342900">
                  <a:moveTo>
                    <a:pt x="1669321" y="0"/>
                  </a:moveTo>
                  <a:lnTo>
                    <a:pt x="0" y="3424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8691" y="348769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99" y="30824"/>
                  </a:moveTo>
                  <a:lnTo>
                    <a:pt x="0" y="24099"/>
                  </a:lnTo>
                  <a:lnTo>
                    <a:pt x="39174" y="0"/>
                  </a:lnTo>
                  <a:lnTo>
                    <a:pt x="45499" y="308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8691" y="348769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174" y="0"/>
                  </a:moveTo>
                  <a:lnTo>
                    <a:pt x="0" y="24099"/>
                  </a:lnTo>
                  <a:lnTo>
                    <a:pt x="45499" y="30824"/>
                  </a:lnTo>
                  <a:lnTo>
                    <a:pt x="391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21715" y="3718742"/>
              <a:ext cx="1468755" cy="301625"/>
            </a:xfrm>
            <a:custGeom>
              <a:avLst/>
              <a:gdLst/>
              <a:ahLst/>
              <a:cxnLst/>
              <a:rect l="l" t="t" r="r" b="b"/>
              <a:pathLst>
                <a:path w="1468754" h="301625">
                  <a:moveTo>
                    <a:pt x="1468622" y="30112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9390" y="37033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174" y="30824"/>
                  </a:moveTo>
                  <a:lnTo>
                    <a:pt x="0" y="6724"/>
                  </a:lnTo>
                  <a:lnTo>
                    <a:pt x="45499" y="0"/>
                  </a:lnTo>
                  <a:lnTo>
                    <a:pt x="39174" y="308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9390" y="37033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99" y="0"/>
                  </a:moveTo>
                  <a:lnTo>
                    <a:pt x="0" y="6724"/>
                  </a:lnTo>
                  <a:lnTo>
                    <a:pt x="39174" y="30824"/>
                  </a:lnTo>
                  <a:lnTo>
                    <a:pt x="454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51644" y="2860669"/>
              <a:ext cx="1543050" cy="539115"/>
            </a:xfrm>
            <a:custGeom>
              <a:avLst/>
              <a:gdLst/>
              <a:ahLst/>
              <a:cxnLst/>
              <a:rect l="l" t="t" r="r" b="b"/>
              <a:pathLst>
                <a:path w="1543050" h="539114">
                  <a:moveTo>
                    <a:pt x="0" y="0"/>
                  </a:moveTo>
                  <a:lnTo>
                    <a:pt x="1542946" y="5388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89391" y="3384668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0" y="29699"/>
                  </a:moveTo>
                  <a:lnTo>
                    <a:pt x="10374" y="0"/>
                  </a:lnTo>
                  <a:lnTo>
                    <a:pt x="45999" y="29099"/>
                  </a:lnTo>
                  <a:lnTo>
                    <a:pt x="0" y="296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89391" y="3384668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0" y="29699"/>
                  </a:moveTo>
                  <a:lnTo>
                    <a:pt x="45999" y="29099"/>
                  </a:lnTo>
                  <a:lnTo>
                    <a:pt x="10374" y="0"/>
                  </a:lnTo>
                  <a:lnTo>
                    <a:pt x="0" y="29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07719" y="3784617"/>
              <a:ext cx="1556385" cy="142240"/>
            </a:xfrm>
            <a:custGeom>
              <a:avLst/>
              <a:gdLst/>
              <a:ahLst/>
              <a:cxnLst/>
              <a:rect l="l" t="t" r="r" b="b"/>
              <a:pathLst>
                <a:path w="1556385" h="142239">
                  <a:moveTo>
                    <a:pt x="0" y="142099"/>
                  </a:moveTo>
                  <a:lnTo>
                    <a:pt x="155617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62466" y="3768942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2874" y="31349"/>
                  </a:moveTo>
                  <a:lnTo>
                    <a:pt x="0" y="0"/>
                  </a:lnTo>
                  <a:lnTo>
                    <a:pt x="44474" y="11749"/>
                  </a:lnTo>
                  <a:lnTo>
                    <a:pt x="2874" y="313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62466" y="3768942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2874" y="31349"/>
                  </a:moveTo>
                  <a:lnTo>
                    <a:pt x="44474" y="11749"/>
                  </a:lnTo>
                  <a:lnTo>
                    <a:pt x="0" y="0"/>
                  </a:lnTo>
                  <a:lnTo>
                    <a:pt x="2874" y="31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10641" y="3236293"/>
              <a:ext cx="654050" cy="654050"/>
            </a:xfrm>
            <a:custGeom>
              <a:avLst/>
              <a:gdLst/>
              <a:ahLst/>
              <a:cxnLst/>
              <a:rect l="l" t="t" r="r" b="b"/>
              <a:pathLst>
                <a:path w="654050" h="654050">
                  <a:moveTo>
                    <a:pt x="0" y="326849"/>
                  </a:moveTo>
                  <a:lnTo>
                    <a:pt x="3543" y="278547"/>
                  </a:lnTo>
                  <a:lnTo>
                    <a:pt x="13837" y="232447"/>
                  </a:lnTo>
                  <a:lnTo>
                    <a:pt x="30376" y="189053"/>
                  </a:lnTo>
                  <a:lnTo>
                    <a:pt x="52654" y="148871"/>
                  </a:lnTo>
                  <a:lnTo>
                    <a:pt x="80167" y="112407"/>
                  </a:lnTo>
                  <a:lnTo>
                    <a:pt x="112407" y="80167"/>
                  </a:lnTo>
                  <a:lnTo>
                    <a:pt x="148871" y="52654"/>
                  </a:lnTo>
                  <a:lnTo>
                    <a:pt x="189053" y="30376"/>
                  </a:lnTo>
                  <a:lnTo>
                    <a:pt x="232447" y="13837"/>
                  </a:lnTo>
                  <a:lnTo>
                    <a:pt x="278547" y="3543"/>
                  </a:lnTo>
                  <a:lnTo>
                    <a:pt x="326849" y="0"/>
                  </a:lnTo>
                  <a:lnTo>
                    <a:pt x="378284" y="4070"/>
                  </a:lnTo>
                  <a:lnTo>
                    <a:pt x="427994" y="16040"/>
                  </a:lnTo>
                  <a:lnTo>
                    <a:pt x="475098" y="35548"/>
                  </a:lnTo>
                  <a:lnTo>
                    <a:pt x="518718" y="62230"/>
                  </a:lnTo>
                  <a:lnTo>
                    <a:pt x="557973" y="95724"/>
                  </a:lnTo>
                  <a:lnTo>
                    <a:pt x="591468" y="134980"/>
                  </a:lnTo>
                  <a:lnTo>
                    <a:pt x="618150" y="178599"/>
                  </a:lnTo>
                  <a:lnTo>
                    <a:pt x="637657" y="225704"/>
                  </a:lnTo>
                  <a:lnTo>
                    <a:pt x="649628" y="275414"/>
                  </a:lnTo>
                  <a:lnTo>
                    <a:pt x="653698" y="326849"/>
                  </a:lnTo>
                  <a:lnTo>
                    <a:pt x="650155" y="375151"/>
                  </a:lnTo>
                  <a:lnTo>
                    <a:pt x="639861" y="421251"/>
                  </a:lnTo>
                  <a:lnTo>
                    <a:pt x="623322" y="464645"/>
                  </a:lnTo>
                  <a:lnTo>
                    <a:pt x="601043" y="504826"/>
                  </a:lnTo>
                  <a:lnTo>
                    <a:pt x="573531" y="541290"/>
                  </a:lnTo>
                  <a:lnTo>
                    <a:pt x="541290" y="573531"/>
                  </a:lnTo>
                  <a:lnTo>
                    <a:pt x="504826" y="601043"/>
                  </a:lnTo>
                  <a:lnTo>
                    <a:pt x="464645" y="623322"/>
                  </a:lnTo>
                  <a:lnTo>
                    <a:pt x="421251" y="639861"/>
                  </a:lnTo>
                  <a:lnTo>
                    <a:pt x="375151" y="650155"/>
                  </a:lnTo>
                  <a:lnTo>
                    <a:pt x="326849" y="653698"/>
                  </a:lnTo>
                  <a:lnTo>
                    <a:pt x="278547" y="650155"/>
                  </a:lnTo>
                  <a:lnTo>
                    <a:pt x="232447" y="639861"/>
                  </a:lnTo>
                  <a:lnTo>
                    <a:pt x="189053" y="623322"/>
                  </a:lnTo>
                  <a:lnTo>
                    <a:pt x="148871" y="601043"/>
                  </a:lnTo>
                  <a:lnTo>
                    <a:pt x="112407" y="573531"/>
                  </a:lnTo>
                  <a:lnTo>
                    <a:pt x="80167" y="541290"/>
                  </a:lnTo>
                  <a:lnTo>
                    <a:pt x="52654" y="504826"/>
                  </a:lnTo>
                  <a:lnTo>
                    <a:pt x="30376" y="464645"/>
                  </a:lnTo>
                  <a:lnTo>
                    <a:pt x="13837" y="421251"/>
                  </a:lnTo>
                  <a:lnTo>
                    <a:pt x="3543" y="375151"/>
                  </a:lnTo>
                  <a:lnTo>
                    <a:pt x="0" y="326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63364" y="2971203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33488" y="4457874"/>
            <a:ext cx="139700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Plumb el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3407" y="3841205"/>
            <a:ext cx="607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x' </a:t>
            </a:r>
            <a:r>
              <a:rPr sz="1400" dirty="0">
                <a:latin typeface="AoyagiKouzanFontT"/>
                <a:cs typeface="AoyagiKouzanFontT"/>
              </a:rPr>
              <a:t>∈</a:t>
            </a:r>
            <a:r>
              <a:rPr sz="1400" spc="-385" dirty="0">
                <a:latin typeface="AoyagiKouzanFontT"/>
                <a:cs typeface="AoyagiKouzanFontT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800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86371" y="2671280"/>
            <a:ext cx="37592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x'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oyagiKouzanFontT"/>
                <a:cs typeface="AoyagiKouzanFontT"/>
              </a:rPr>
              <a:t>∈</a:t>
            </a:r>
            <a:endParaRPr sz="1400">
              <a:latin typeface="AoyagiKouzanFontT"/>
              <a:cs typeface="AoyagiKouzanFontT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latin typeface="Arial"/>
                <a:cs typeface="Arial"/>
              </a:rPr>
              <a:t>N</a:t>
            </a:r>
            <a:r>
              <a:rPr sz="800" spc="-5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2640" y="3737326"/>
            <a:ext cx="37592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x'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oyagiKouzanFontT"/>
                <a:cs typeface="AoyagiKouzanFontT"/>
              </a:rPr>
              <a:t>∈</a:t>
            </a:r>
            <a:endParaRPr sz="1400">
              <a:latin typeface="AoyagiKouzanFontT"/>
              <a:cs typeface="AoyagiKouzanFontT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latin typeface="Arial"/>
                <a:cs typeface="Arial"/>
              </a:rPr>
              <a:t>N</a:t>
            </a:r>
            <a:r>
              <a:rPr sz="800" spc="-5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68305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4825"/>
            <a:ext cx="8534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/>
              <a:t>Local Interpretable </a:t>
            </a:r>
            <a:r>
              <a:rPr sz="2500" dirty="0"/>
              <a:t>Model-agnostic </a:t>
            </a:r>
            <a:r>
              <a:rPr sz="2500" spc="-5" dirty="0"/>
              <a:t>Explanations</a:t>
            </a:r>
            <a:r>
              <a:rPr sz="2500" spc="-105" dirty="0"/>
              <a:t> </a:t>
            </a:r>
            <a:r>
              <a:rPr sz="2500" dirty="0"/>
              <a:t>(LIME)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827341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Deep learning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usually too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complex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global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Instead, we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seek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local interpretability using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simple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 (e.g.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78218" y="2332096"/>
            <a:ext cx="4626657" cy="2250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761" y="4535100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30673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2693423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LIME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05434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LIME generates an explainable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optimizes both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model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fidelity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and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explanation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8158" y="2435307"/>
            <a:ext cx="5996305" cy="2008505"/>
            <a:chOff x="1918158" y="2435307"/>
            <a:chExt cx="5996305" cy="2008505"/>
          </a:xfrm>
        </p:grpSpPr>
        <p:sp>
          <p:nvSpPr>
            <p:cNvPr id="5" name="object 5"/>
            <p:cNvSpPr/>
            <p:nvPr/>
          </p:nvSpPr>
          <p:spPr>
            <a:xfrm>
              <a:off x="1918158" y="2931829"/>
              <a:ext cx="4737363" cy="61355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9962" y="3371118"/>
              <a:ext cx="1659255" cy="1067435"/>
            </a:xfrm>
            <a:custGeom>
              <a:avLst/>
              <a:gdLst/>
              <a:ahLst/>
              <a:cxnLst/>
              <a:rect l="l" t="t" r="r" b="b"/>
              <a:pathLst>
                <a:path w="1659254" h="1067435">
                  <a:moveTo>
                    <a:pt x="1659221" y="106737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3587" y="3347718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29">
                  <a:moveTo>
                    <a:pt x="27849" y="36624"/>
                  </a:moveTo>
                  <a:lnTo>
                    <a:pt x="0" y="0"/>
                  </a:lnTo>
                  <a:lnTo>
                    <a:pt x="44874" y="10174"/>
                  </a:lnTo>
                  <a:lnTo>
                    <a:pt x="27849" y="366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13587" y="3347718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29">
                  <a:moveTo>
                    <a:pt x="44874" y="10174"/>
                  </a:moveTo>
                  <a:lnTo>
                    <a:pt x="0" y="0"/>
                  </a:lnTo>
                  <a:lnTo>
                    <a:pt x="27849" y="36624"/>
                  </a:lnTo>
                  <a:lnTo>
                    <a:pt x="44874" y="101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27214" y="3379218"/>
              <a:ext cx="741680" cy="1059815"/>
            </a:xfrm>
            <a:custGeom>
              <a:avLst/>
              <a:gdLst/>
              <a:ahLst/>
              <a:cxnLst/>
              <a:rect l="l" t="t" r="r" b="b"/>
              <a:pathLst>
                <a:path w="741679" h="1059814">
                  <a:moveTo>
                    <a:pt x="741223" y="105927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2414" y="3343793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11899" y="44449"/>
                  </a:moveTo>
                  <a:lnTo>
                    <a:pt x="0" y="0"/>
                  </a:lnTo>
                  <a:lnTo>
                    <a:pt x="37674" y="26399"/>
                  </a:lnTo>
                  <a:lnTo>
                    <a:pt x="11899" y="44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02414" y="3343793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37674" y="26399"/>
                  </a:moveTo>
                  <a:lnTo>
                    <a:pt x="0" y="0"/>
                  </a:lnTo>
                  <a:lnTo>
                    <a:pt x="11899" y="44449"/>
                  </a:lnTo>
                  <a:lnTo>
                    <a:pt x="37674" y="26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52143" y="2440070"/>
              <a:ext cx="1257935" cy="451484"/>
            </a:xfrm>
            <a:custGeom>
              <a:avLst/>
              <a:gdLst/>
              <a:ahLst/>
              <a:cxnLst/>
              <a:rect l="l" t="t" r="r" b="b"/>
              <a:pathLst>
                <a:path w="1257935" h="451485">
                  <a:moveTo>
                    <a:pt x="0" y="0"/>
                  </a:moveTo>
                  <a:lnTo>
                    <a:pt x="1257797" y="4513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04640" y="2876669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0" y="29599"/>
                  </a:moveTo>
                  <a:lnTo>
                    <a:pt x="10624" y="0"/>
                  </a:lnTo>
                  <a:lnTo>
                    <a:pt x="45999" y="29399"/>
                  </a:lnTo>
                  <a:lnTo>
                    <a:pt x="0" y="295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4640" y="2876669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0" y="29599"/>
                  </a:moveTo>
                  <a:lnTo>
                    <a:pt x="45999" y="29399"/>
                  </a:lnTo>
                  <a:lnTo>
                    <a:pt x="10624" y="0"/>
                  </a:lnTo>
                  <a:lnTo>
                    <a:pt x="0" y="29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74114" y="4504401"/>
            <a:ext cx="1545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Complexity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Penalty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08814" y="4504401"/>
            <a:ext cx="14947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Proximity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Measure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0665" y="2124588"/>
            <a:ext cx="13442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latin typeface="Arial"/>
                <a:cs typeface="Arial"/>
              </a:rPr>
              <a:t>Black Box </a:t>
            </a:r>
            <a:r>
              <a:rPr sz="1300" dirty="0">
                <a:latin typeface="Arial"/>
                <a:cs typeface="Arial"/>
              </a:rPr>
              <a:t>Model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f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5041" y="2104906"/>
            <a:ext cx="10991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Explanation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48145" y="2314132"/>
            <a:ext cx="3607435" cy="2407920"/>
            <a:chOff x="2148145" y="2314132"/>
            <a:chExt cx="3607435" cy="2407920"/>
          </a:xfrm>
        </p:grpSpPr>
        <p:sp>
          <p:nvSpPr>
            <p:cNvPr id="20" name="object 20"/>
            <p:cNvSpPr/>
            <p:nvPr/>
          </p:nvSpPr>
          <p:spPr>
            <a:xfrm>
              <a:off x="5046864" y="2318895"/>
              <a:ext cx="703580" cy="570230"/>
            </a:xfrm>
            <a:custGeom>
              <a:avLst/>
              <a:gdLst/>
              <a:ahLst/>
              <a:cxnLst/>
              <a:rect l="l" t="t" r="r" b="b"/>
              <a:pathLst>
                <a:path w="703579" h="570230">
                  <a:moveTo>
                    <a:pt x="703498" y="0"/>
                  </a:moveTo>
                  <a:lnTo>
                    <a:pt x="0" y="56972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13289" y="2876394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5">
                  <a:moveTo>
                    <a:pt x="0" y="39424"/>
                  </a:moveTo>
                  <a:lnTo>
                    <a:pt x="23674" y="0"/>
                  </a:lnTo>
                  <a:lnTo>
                    <a:pt x="43499" y="24449"/>
                  </a:lnTo>
                  <a:lnTo>
                    <a:pt x="0" y="39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13289" y="2876394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5">
                  <a:moveTo>
                    <a:pt x="23674" y="0"/>
                  </a:moveTo>
                  <a:lnTo>
                    <a:pt x="0" y="39424"/>
                  </a:lnTo>
                  <a:lnTo>
                    <a:pt x="43499" y="24449"/>
                  </a:lnTo>
                  <a:lnTo>
                    <a:pt x="236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32642" y="3356118"/>
              <a:ext cx="666115" cy="763905"/>
            </a:xfrm>
            <a:custGeom>
              <a:avLst/>
              <a:gdLst/>
              <a:ahLst/>
              <a:cxnLst/>
              <a:rect l="l" t="t" r="r" b="b"/>
              <a:pathLst>
                <a:path w="666114" h="763904">
                  <a:moveTo>
                    <a:pt x="0" y="763623"/>
                  </a:moveTo>
                  <a:lnTo>
                    <a:pt x="6659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86716" y="3323543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79">
                  <a:moveTo>
                    <a:pt x="23724" y="42899"/>
                  </a:moveTo>
                  <a:lnTo>
                    <a:pt x="0" y="22224"/>
                  </a:lnTo>
                  <a:lnTo>
                    <a:pt x="40274" y="0"/>
                  </a:lnTo>
                  <a:lnTo>
                    <a:pt x="23724" y="428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86716" y="3323543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79">
                  <a:moveTo>
                    <a:pt x="23724" y="42899"/>
                  </a:moveTo>
                  <a:lnTo>
                    <a:pt x="40274" y="0"/>
                  </a:lnTo>
                  <a:lnTo>
                    <a:pt x="0" y="22224"/>
                  </a:lnTo>
                  <a:lnTo>
                    <a:pt x="23724" y="42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8145" y="4319997"/>
              <a:ext cx="2884074" cy="4016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693423" y="4095541"/>
            <a:ext cx="17513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 Surrogate</a:t>
            </a:r>
            <a:r>
              <a:rPr sz="1400" spc="3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92734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953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Linear </a:t>
            </a:r>
            <a:r>
              <a:rPr sz="2800" spc="-10" dirty="0"/>
              <a:t>Explainable</a:t>
            </a:r>
            <a:r>
              <a:rPr sz="2800" spc="-90" dirty="0"/>
              <a:t> </a:t>
            </a:r>
            <a:r>
              <a:rPr sz="280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1870" y="2047060"/>
            <a:ext cx="11353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z'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{0,</a:t>
            </a:r>
            <a:r>
              <a:rPr sz="1400" spc="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1}</a:t>
            </a:r>
            <a:r>
              <a:rPr sz="1350" baseline="30864" dirty="0">
                <a:solidFill>
                  <a:srgbClr val="595959"/>
                </a:solidFill>
                <a:latin typeface="Arial"/>
                <a:cs typeface="Arial"/>
              </a:rPr>
              <a:t>d'</a:t>
            </a:r>
            <a:endParaRPr sz="1350" baseline="30864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64366" y="2060110"/>
            <a:ext cx="1198916" cy="21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11017" y="1126427"/>
            <a:ext cx="3519531" cy="488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5248" y="1146835"/>
            <a:ext cx="3827779" cy="113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304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 Surrogate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1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Linear Explainable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38370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876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Linear </a:t>
            </a:r>
            <a:r>
              <a:rPr sz="2800" spc="-10" dirty="0"/>
              <a:t>Explainable</a:t>
            </a:r>
            <a:r>
              <a:rPr sz="2800" spc="-90" dirty="0"/>
              <a:t> </a:t>
            </a:r>
            <a:r>
              <a:rPr sz="280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4364366" y="2060110"/>
            <a:ext cx="1198916" cy="21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11017" y="1126427"/>
            <a:ext cx="3519531" cy="488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2548" y="1146835"/>
            <a:ext cx="7837805" cy="163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574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 Surrogate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391795" indent="-367030">
              <a:lnSpc>
                <a:spcPct val="100000"/>
              </a:lnSpc>
              <a:spcBef>
                <a:spcPts val="1190"/>
              </a:spcBef>
              <a:buChar char="●"/>
              <a:tabLst>
                <a:tab pos="391795" algn="l"/>
                <a:tab pos="3924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Linear Explainable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8994" algn="l"/>
                <a:tab pos="849630" algn="l"/>
                <a:tab pos="5156835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explanation	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z'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{0,</a:t>
            </a:r>
            <a:r>
              <a:rPr sz="1400" spc="-2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1}</a:t>
            </a:r>
            <a:r>
              <a:rPr sz="1350" baseline="30864" dirty="0">
                <a:solidFill>
                  <a:srgbClr val="595959"/>
                </a:solidFill>
                <a:latin typeface="Arial"/>
                <a:cs typeface="Arial"/>
              </a:rPr>
              <a:t>d'</a:t>
            </a:r>
            <a:endParaRPr sz="1350" baseline="30864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z'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indicating whether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specific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input will be included in the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</a:t>
            </a:r>
            <a:endParaRPr sz="140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perturbed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 z 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recovered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</a:t>
            </a:r>
            <a:r>
              <a:rPr sz="14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z',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23022" y="2546070"/>
            <a:ext cx="875247" cy="237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07866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303315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Linear </a:t>
            </a:r>
            <a:r>
              <a:rPr sz="2800" spc="-10" dirty="0"/>
              <a:t>Explainable</a:t>
            </a:r>
            <a:r>
              <a:rPr sz="2800" spc="-90" dirty="0"/>
              <a:t> </a:t>
            </a:r>
            <a:r>
              <a:rPr sz="280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4364366" y="2060110"/>
            <a:ext cx="1198916" cy="21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147" y="4277734"/>
            <a:ext cx="2037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Sample </a:t>
            </a:r>
            <a:r>
              <a:rPr sz="1400" dirty="0">
                <a:latin typeface="Arial"/>
                <a:cs typeface="Arial"/>
              </a:rPr>
              <a:t>x </a:t>
            </a:r>
            <a:r>
              <a:rPr sz="1400" spc="-5" dirty="0">
                <a:latin typeface="Arial"/>
                <a:cs typeface="Arial"/>
              </a:rPr>
              <a:t>to be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Explained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604" y="3274906"/>
            <a:ext cx="224154" cy="6273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0615" y="4277734"/>
            <a:ext cx="1282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Feature </a:t>
            </a:r>
            <a:r>
              <a:rPr sz="1400" dirty="0">
                <a:latin typeface="Arial"/>
                <a:cs typeface="Arial"/>
              </a:rPr>
              <a:t>Mask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z'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06280" y="3100362"/>
            <a:ext cx="2131695" cy="260350"/>
            <a:chOff x="3506280" y="3481705"/>
            <a:chExt cx="2131695" cy="260350"/>
          </a:xfrm>
        </p:grpSpPr>
        <p:sp>
          <p:nvSpPr>
            <p:cNvPr id="14" name="object 14"/>
            <p:cNvSpPr/>
            <p:nvPr/>
          </p:nvSpPr>
          <p:spPr>
            <a:xfrm>
              <a:off x="3511043" y="34864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2121895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2121895" y="0"/>
                  </a:lnTo>
                  <a:lnTo>
                    <a:pt x="2121895" y="2507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11043" y="34864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46016" y="3105937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3605" y="3105937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19695" y="3105937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06280" y="3405161"/>
            <a:ext cx="2131695" cy="260350"/>
            <a:chOff x="3506280" y="3786504"/>
            <a:chExt cx="2131695" cy="260350"/>
          </a:xfrm>
        </p:grpSpPr>
        <p:sp>
          <p:nvSpPr>
            <p:cNvPr id="20" name="object 20"/>
            <p:cNvSpPr/>
            <p:nvPr/>
          </p:nvSpPr>
          <p:spPr>
            <a:xfrm>
              <a:off x="3511043" y="37912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2121895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2121895" y="0"/>
                  </a:lnTo>
                  <a:lnTo>
                    <a:pt x="2121895" y="2507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11043" y="37912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46016" y="3410736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83605" y="3410736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19695" y="3410736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06280" y="3709961"/>
            <a:ext cx="2131695" cy="260350"/>
            <a:chOff x="3506280" y="4091304"/>
            <a:chExt cx="2131695" cy="260350"/>
          </a:xfrm>
        </p:grpSpPr>
        <p:sp>
          <p:nvSpPr>
            <p:cNvPr id="26" name="object 26"/>
            <p:cNvSpPr/>
            <p:nvPr/>
          </p:nvSpPr>
          <p:spPr>
            <a:xfrm>
              <a:off x="3511043" y="4096066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2121895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2121895" y="0"/>
                  </a:lnTo>
                  <a:lnTo>
                    <a:pt x="2121895" y="2507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11043" y="4096066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646016" y="37155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83605" y="37155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19695" y="37155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506280" y="4014760"/>
            <a:ext cx="2131695" cy="260350"/>
            <a:chOff x="3506280" y="4396103"/>
            <a:chExt cx="2131695" cy="260350"/>
          </a:xfrm>
        </p:grpSpPr>
        <p:sp>
          <p:nvSpPr>
            <p:cNvPr id="32" name="object 32"/>
            <p:cNvSpPr/>
            <p:nvPr/>
          </p:nvSpPr>
          <p:spPr>
            <a:xfrm>
              <a:off x="3511043" y="4400866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2121895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2121895" y="0"/>
                  </a:lnTo>
                  <a:lnTo>
                    <a:pt x="2121895" y="2507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11043" y="4400866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46016" y="40203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83605" y="40203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19695" y="40203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63716" y="3135479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137243" y="3214799"/>
            <a:ext cx="5032114" cy="917628"/>
            <a:chOff x="3137243" y="3596142"/>
            <a:chExt cx="5032114" cy="917628"/>
          </a:xfrm>
        </p:grpSpPr>
        <p:sp>
          <p:nvSpPr>
            <p:cNvPr id="42" name="object 42"/>
            <p:cNvSpPr/>
            <p:nvPr/>
          </p:nvSpPr>
          <p:spPr>
            <a:xfrm>
              <a:off x="3137243" y="3611867"/>
              <a:ext cx="316865" cy="0"/>
            </a:xfrm>
            <a:custGeom>
              <a:avLst/>
              <a:gdLst/>
              <a:ahLst/>
              <a:cxnLst/>
              <a:rect l="l" t="t" r="r" b="b"/>
              <a:pathLst>
                <a:path w="316864">
                  <a:moveTo>
                    <a:pt x="0" y="0"/>
                  </a:moveTo>
                  <a:lnTo>
                    <a:pt x="3166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53892" y="35961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53892" y="35961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37243" y="3611867"/>
              <a:ext cx="329565" cy="269240"/>
            </a:xfrm>
            <a:custGeom>
              <a:avLst/>
              <a:gdLst/>
              <a:ahLst/>
              <a:cxnLst/>
              <a:rect l="l" t="t" r="r" b="b"/>
              <a:pathLst>
                <a:path w="329564" h="269239">
                  <a:moveTo>
                    <a:pt x="0" y="0"/>
                  </a:moveTo>
                  <a:lnTo>
                    <a:pt x="329499" y="2686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56817" y="3868367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4">
                  <a:moveTo>
                    <a:pt x="43424" y="39499"/>
                  </a:moveTo>
                  <a:lnTo>
                    <a:pt x="0" y="24374"/>
                  </a:lnTo>
                  <a:lnTo>
                    <a:pt x="19874" y="0"/>
                  </a:lnTo>
                  <a:lnTo>
                    <a:pt x="43424" y="394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56817" y="3868367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4">
                  <a:moveTo>
                    <a:pt x="0" y="24374"/>
                  </a:moveTo>
                  <a:lnTo>
                    <a:pt x="43424" y="39499"/>
                  </a:lnTo>
                  <a:lnTo>
                    <a:pt x="19874" y="0"/>
                  </a:lnTo>
                  <a:lnTo>
                    <a:pt x="0" y="243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37243" y="3611867"/>
              <a:ext cx="344170" cy="561340"/>
            </a:xfrm>
            <a:custGeom>
              <a:avLst/>
              <a:gdLst/>
              <a:ahLst/>
              <a:cxnLst/>
              <a:rect l="l" t="t" r="r" b="b"/>
              <a:pathLst>
                <a:path w="344170" h="561339">
                  <a:moveTo>
                    <a:pt x="0" y="0"/>
                  </a:moveTo>
                  <a:lnTo>
                    <a:pt x="343924" y="56087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67767" y="4164516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5" h="45085">
                  <a:moveTo>
                    <a:pt x="35999" y="45074"/>
                  </a:moveTo>
                  <a:lnTo>
                    <a:pt x="0" y="16449"/>
                  </a:lnTo>
                  <a:lnTo>
                    <a:pt x="26799" y="0"/>
                  </a:lnTo>
                  <a:lnTo>
                    <a:pt x="35999" y="450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67767" y="4164516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5" h="45085">
                  <a:moveTo>
                    <a:pt x="0" y="16449"/>
                  </a:moveTo>
                  <a:lnTo>
                    <a:pt x="35999" y="45074"/>
                  </a:lnTo>
                  <a:lnTo>
                    <a:pt x="26799" y="0"/>
                  </a:lnTo>
                  <a:lnTo>
                    <a:pt x="0" y="16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37243" y="3611867"/>
              <a:ext cx="352425" cy="861694"/>
            </a:xfrm>
            <a:custGeom>
              <a:avLst/>
              <a:gdLst/>
              <a:ahLst/>
              <a:cxnLst/>
              <a:rect l="l" t="t" r="r" b="b"/>
              <a:pathLst>
                <a:path w="352425" h="861695">
                  <a:moveTo>
                    <a:pt x="0" y="0"/>
                  </a:moveTo>
                  <a:lnTo>
                    <a:pt x="352174" y="8614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74842" y="4467415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4">
                  <a:moveTo>
                    <a:pt x="30924" y="45949"/>
                  </a:moveTo>
                  <a:lnTo>
                    <a:pt x="0" y="11899"/>
                  </a:lnTo>
                  <a:lnTo>
                    <a:pt x="29149" y="0"/>
                  </a:lnTo>
                  <a:lnTo>
                    <a:pt x="30924" y="459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74842" y="4467415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4">
                  <a:moveTo>
                    <a:pt x="0" y="11899"/>
                  </a:moveTo>
                  <a:lnTo>
                    <a:pt x="30924" y="45949"/>
                  </a:lnTo>
                  <a:lnTo>
                    <a:pt x="29149" y="0"/>
                  </a:lnTo>
                  <a:lnTo>
                    <a:pt x="0" y="11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47187" y="37912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063716" y="3440278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>
            <p:extLst/>
          </p:nvPr>
        </p:nvGraphicFramePr>
        <p:xfrm>
          <a:off x="6038800" y="3100349"/>
          <a:ext cx="212407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7" name="object 57"/>
          <p:cNvGrpSpPr/>
          <p:nvPr/>
        </p:nvGrpSpPr>
        <p:grpSpPr>
          <a:xfrm>
            <a:off x="6042425" y="2800350"/>
            <a:ext cx="2131695" cy="865505"/>
            <a:chOff x="6042425" y="3181693"/>
            <a:chExt cx="2131695" cy="865505"/>
          </a:xfrm>
        </p:grpSpPr>
        <p:sp>
          <p:nvSpPr>
            <p:cNvPr id="58" name="object 58"/>
            <p:cNvSpPr/>
            <p:nvPr/>
          </p:nvSpPr>
          <p:spPr>
            <a:xfrm>
              <a:off x="6043562" y="3181705"/>
              <a:ext cx="2125980" cy="860425"/>
            </a:xfrm>
            <a:custGeom>
              <a:avLst/>
              <a:gdLst/>
              <a:ahLst/>
              <a:cxnLst/>
              <a:rect l="l" t="t" r="r" b="b"/>
              <a:pathLst>
                <a:path w="2125979" h="860425">
                  <a:moveTo>
                    <a:pt x="693597" y="0"/>
                  </a:moveTo>
                  <a:lnTo>
                    <a:pt x="0" y="0"/>
                  </a:lnTo>
                  <a:lnTo>
                    <a:pt x="0" y="250799"/>
                  </a:lnTo>
                  <a:lnTo>
                    <a:pt x="693597" y="250799"/>
                  </a:lnTo>
                  <a:lnTo>
                    <a:pt x="693597" y="0"/>
                  </a:lnTo>
                  <a:close/>
                </a:path>
                <a:path w="2125979" h="860425">
                  <a:moveTo>
                    <a:pt x="2125510" y="609561"/>
                  </a:moveTo>
                  <a:lnTo>
                    <a:pt x="693597" y="609561"/>
                  </a:lnTo>
                  <a:lnTo>
                    <a:pt x="693597" y="860361"/>
                  </a:lnTo>
                  <a:lnTo>
                    <a:pt x="2125510" y="860361"/>
                  </a:lnTo>
                  <a:lnTo>
                    <a:pt x="2125510" y="6095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47187" y="37912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063716" y="3440278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63716" y="3745077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700" dirty="0">
                <a:latin typeface="Arial"/>
                <a:cs typeface="Arial"/>
              </a:rPr>
              <a:t>z</a:t>
            </a: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63716" y="4049877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700" dirty="0">
                <a:latin typeface="Arial"/>
                <a:cs typeface="Arial"/>
              </a:rPr>
              <a:t>z</a:t>
            </a: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038800" y="3405161"/>
            <a:ext cx="1396365" cy="260350"/>
            <a:chOff x="6038800" y="3786504"/>
            <a:chExt cx="1396365" cy="260350"/>
          </a:xfrm>
        </p:grpSpPr>
        <p:sp>
          <p:nvSpPr>
            <p:cNvPr id="64" name="object 64"/>
            <p:cNvSpPr/>
            <p:nvPr/>
          </p:nvSpPr>
          <p:spPr>
            <a:xfrm>
              <a:off x="6736561" y="3791267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693598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693598" y="0"/>
                  </a:lnTo>
                  <a:lnTo>
                    <a:pt x="693598" y="250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36561" y="3791267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0" y="0"/>
                  </a:moveTo>
                  <a:lnTo>
                    <a:pt x="693598" y="0"/>
                  </a:lnTo>
                  <a:lnTo>
                    <a:pt x="693598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43562" y="3791292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693598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693598" y="0"/>
                  </a:lnTo>
                  <a:lnTo>
                    <a:pt x="693598" y="250799"/>
                  </a:lnTo>
                  <a:close/>
                </a:path>
              </a:pathLst>
            </a:custGeom>
            <a:solidFill>
              <a:srgbClr val="B6D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43562" y="3791292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0" y="0"/>
                  </a:moveTo>
                  <a:lnTo>
                    <a:pt x="693598" y="0"/>
                  </a:lnTo>
                  <a:lnTo>
                    <a:pt x="693598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8" name="object 68"/>
          <p:cNvGraphicFramePr>
            <a:graphicFrameLocks noGrp="1"/>
          </p:cNvGraphicFramePr>
          <p:nvPr>
            <p:extLst/>
          </p:nvPr>
        </p:nvGraphicFramePr>
        <p:xfrm>
          <a:off x="6038800" y="3709948"/>
          <a:ext cx="212407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object 69"/>
          <p:cNvSpPr/>
          <p:nvPr/>
        </p:nvSpPr>
        <p:spPr>
          <a:xfrm>
            <a:off x="7430159" y="4019523"/>
            <a:ext cx="739140" cy="250825"/>
          </a:xfrm>
          <a:custGeom>
            <a:avLst/>
            <a:gdLst/>
            <a:ahLst/>
            <a:cxnLst/>
            <a:rect l="l" t="t" r="r" b="b"/>
            <a:pathLst>
              <a:path w="739140" h="250825">
                <a:moveTo>
                  <a:pt x="0" y="250799"/>
                </a:moveTo>
                <a:lnTo>
                  <a:pt x="738923" y="250799"/>
                </a:lnTo>
                <a:lnTo>
                  <a:pt x="738923" y="0"/>
                </a:lnTo>
                <a:lnTo>
                  <a:pt x="0" y="0"/>
                </a:lnTo>
                <a:lnTo>
                  <a:pt x="0" y="250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0" name="object 70"/>
          <p:cNvGraphicFramePr>
            <a:graphicFrameLocks noGrp="1"/>
          </p:cNvGraphicFramePr>
          <p:nvPr>
            <p:extLst/>
          </p:nvPr>
        </p:nvGraphicFramePr>
        <p:xfrm>
          <a:off x="6038800" y="4014747"/>
          <a:ext cx="212407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" name="object 71"/>
          <p:cNvGrpSpPr/>
          <p:nvPr/>
        </p:nvGrpSpPr>
        <p:grpSpPr>
          <a:xfrm>
            <a:off x="5632863" y="3214799"/>
            <a:ext cx="1797538" cy="1055574"/>
            <a:chOff x="5632863" y="3596142"/>
            <a:chExt cx="1797538" cy="1055574"/>
          </a:xfrm>
        </p:grpSpPr>
        <p:sp>
          <p:nvSpPr>
            <p:cNvPr id="75" name="object 75"/>
            <p:cNvSpPr/>
            <p:nvPr/>
          </p:nvSpPr>
          <p:spPr>
            <a:xfrm>
              <a:off x="5632938" y="3611867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986487" y="35961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986487" y="35961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632938" y="3916667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86487" y="39009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986487" y="39009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632938" y="4221466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43561" y="4096067"/>
              <a:ext cx="1386840" cy="250825"/>
            </a:xfrm>
            <a:custGeom>
              <a:avLst/>
              <a:gdLst/>
              <a:ahLst/>
              <a:cxnLst/>
              <a:rect l="l" t="t" r="r" b="b"/>
              <a:pathLst>
                <a:path w="1386840" h="250825">
                  <a:moveTo>
                    <a:pt x="1386586" y="0"/>
                  </a:moveTo>
                  <a:lnTo>
                    <a:pt x="692988" y="0"/>
                  </a:lnTo>
                  <a:lnTo>
                    <a:pt x="0" y="25"/>
                  </a:lnTo>
                  <a:lnTo>
                    <a:pt x="0" y="250825"/>
                  </a:lnTo>
                  <a:lnTo>
                    <a:pt x="693597" y="250825"/>
                  </a:lnTo>
                  <a:lnTo>
                    <a:pt x="1386586" y="250799"/>
                  </a:lnTo>
                  <a:lnTo>
                    <a:pt x="13865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986487" y="42057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986487" y="42057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632863" y="4526290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43562" y="4400891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693598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693598" y="0"/>
                  </a:lnTo>
                  <a:lnTo>
                    <a:pt x="693598" y="250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986412" y="451054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49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986412" y="451054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43224" y="15749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6312211" y="4269638"/>
            <a:ext cx="1591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Perturbed Sample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711017" y="1126427"/>
            <a:ext cx="3519531" cy="488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462548" y="1146835"/>
            <a:ext cx="7837805" cy="163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574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 Surrogate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391795" indent="-367030">
              <a:lnSpc>
                <a:spcPct val="100000"/>
              </a:lnSpc>
              <a:spcBef>
                <a:spcPts val="1190"/>
              </a:spcBef>
              <a:buChar char="●"/>
              <a:tabLst>
                <a:tab pos="391795" algn="l"/>
                <a:tab pos="3924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Linear Explainable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8994" algn="l"/>
                <a:tab pos="849630" algn="l"/>
                <a:tab pos="5156835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explanation	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z'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{0,</a:t>
            </a:r>
            <a:r>
              <a:rPr sz="1400" spc="-2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1}</a:t>
            </a:r>
            <a:r>
              <a:rPr sz="1350" baseline="30864" dirty="0">
                <a:solidFill>
                  <a:srgbClr val="595959"/>
                </a:solidFill>
                <a:latin typeface="Arial"/>
                <a:cs typeface="Arial"/>
              </a:rPr>
              <a:t>d'</a:t>
            </a:r>
            <a:endParaRPr sz="1350" baseline="30864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z'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indicating whether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specific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input will be included in the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</a:t>
            </a:r>
            <a:endParaRPr sz="140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perturbed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 z 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recovered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</a:t>
            </a:r>
            <a:r>
              <a:rPr sz="14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z',</a:t>
            </a:r>
            <a:endParaRPr sz="14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623022" y="2546070"/>
            <a:ext cx="875247" cy="237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958322" y="3135479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96" name="object 96"/>
          <p:cNvGraphicFramePr>
            <a:graphicFrameLocks noGrp="1"/>
          </p:cNvGraphicFramePr>
          <p:nvPr>
            <p:extLst/>
          </p:nvPr>
        </p:nvGraphicFramePr>
        <p:xfrm>
          <a:off x="933418" y="3100349"/>
          <a:ext cx="212280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" name="object 97"/>
          <p:cNvSpPr txBox="1"/>
          <p:nvPr/>
        </p:nvSpPr>
        <p:spPr>
          <a:xfrm>
            <a:off x="1958322" y="3440278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98" name="object 98"/>
          <p:cNvGraphicFramePr>
            <a:graphicFrameLocks noGrp="1"/>
          </p:cNvGraphicFramePr>
          <p:nvPr>
            <p:extLst/>
          </p:nvPr>
        </p:nvGraphicFramePr>
        <p:xfrm>
          <a:off x="933418" y="3405149"/>
          <a:ext cx="212280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" name="object 99"/>
          <p:cNvSpPr txBox="1"/>
          <p:nvPr/>
        </p:nvSpPr>
        <p:spPr>
          <a:xfrm>
            <a:off x="1958322" y="3745077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00" name="object 100"/>
          <p:cNvGraphicFramePr>
            <a:graphicFrameLocks noGrp="1"/>
          </p:cNvGraphicFramePr>
          <p:nvPr>
            <p:extLst/>
          </p:nvPr>
        </p:nvGraphicFramePr>
        <p:xfrm>
          <a:off x="933418" y="3709948"/>
          <a:ext cx="212280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" name="object 101"/>
          <p:cNvGraphicFramePr>
            <a:graphicFrameLocks noGrp="1"/>
          </p:cNvGraphicFramePr>
          <p:nvPr>
            <p:extLst/>
          </p:nvPr>
        </p:nvGraphicFramePr>
        <p:xfrm>
          <a:off x="933418" y="4014747"/>
          <a:ext cx="212280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 marL="64769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9557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304799" y="1120378"/>
            <a:ext cx="8629141" cy="2139047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Times New Roman"/>
              <a:buChar char="●"/>
              <a:tabLst>
                <a:tab pos="354965" algn="l"/>
              </a:tabLst>
            </a:pPr>
            <a:r>
              <a:rPr spc="-390" dirty="0"/>
              <a:t>1.</a:t>
            </a:r>
            <a:r>
              <a:rPr spc="-95" dirty="0"/>
              <a:t> </a:t>
            </a:r>
            <a:r>
              <a:rPr spc="-10" dirty="0"/>
              <a:t>Given</a:t>
            </a:r>
            <a:r>
              <a:rPr spc="-90" dirty="0"/>
              <a:t> </a:t>
            </a:r>
            <a:r>
              <a:rPr spc="-30" dirty="0"/>
              <a:t>a</a:t>
            </a:r>
            <a:r>
              <a:rPr spc="-100" dirty="0"/>
              <a:t> </a:t>
            </a:r>
            <a:r>
              <a:rPr dirty="0"/>
              <a:t>data</a:t>
            </a:r>
            <a:r>
              <a:rPr spc="-114" dirty="0"/>
              <a:t> </a:t>
            </a:r>
            <a:r>
              <a:rPr dirty="0"/>
              <a:t>point</a:t>
            </a:r>
            <a:r>
              <a:rPr spc="-95" dirty="0"/>
              <a:t> </a:t>
            </a:r>
            <a:r>
              <a:rPr dirty="0"/>
              <a:t>you</a:t>
            </a:r>
            <a:r>
              <a:rPr spc="-100" dirty="0"/>
              <a:t> </a:t>
            </a:r>
            <a:r>
              <a:rPr dirty="0"/>
              <a:t>want</a:t>
            </a:r>
            <a:r>
              <a:rPr spc="-120" dirty="0"/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spc="-10" dirty="0"/>
              <a:t>explain</a:t>
            </a: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354965" algn="l"/>
              </a:tabLst>
            </a:pPr>
            <a:r>
              <a:rPr spc="-204" dirty="0"/>
              <a:t>2.</a:t>
            </a:r>
            <a:r>
              <a:rPr spc="-95" dirty="0"/>
              <a:t> </a:t>
            </a:r>
            <a:r>
              <a:rPr dirty="0"/>
              <a:t>Sample</a:t>
            </a:r>
            <a:r>
              <a:rPr spc="-75" dirty="0"/>
              <a:t> </a:t>
            </a:r>
            <a:r>
              <a:rPr spc="-10" dirty="0"/>
              <a:t>at</a:t>
            </a:r>
            <a:r>
              <a:rPr spc="-120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dirty="0"/>
              <a:t>nearby</a:t>
            </a:r>
            <a:r>
              <a:rPr spc="-95" dirty="0"/>
              <a:t> </a:t>
            </a:r>
            <a:r>
              <a:rPr spc="-130" dirty="0"/>
              <a:t>-</a:t>
            </a:r>
            <a:r>
              <a:rPr spc="-105" dirty="0"/>
              <a:t> </a:t>
            </a:r>
            <a:r>
              <a:rPr dirty="0"/>
              <a:t>Each</a:t>
            </a:r>
            <a:r>
              <a:rPr spc="-105" dirty="0"/>
              <a:t> </a:t>
            </a:r>
            <a:r>
              <a:rPr dirty="0"/>
              <a:t>image</a:t>
            </a:r>
            <a:r>
              <a:rPr spc="-80" dirty="0"/>
              <a:t> </a:t>
            </a:r>
            <a:r>
              <a:rPr spc="-50" dirty="0"/>
              <a:t>is</a:t>
            </a:r>
            <a:r>
              <a:rPr spc="-95" dirty="0"/>
              <a:t> </a:t>
            </a:r>
            <a:r>
              <a:rPr dirty="0"/>
              <a:t>represented</a:t>
            </a:r>
            <a:r>
              <a:rPr spc="-125" dirty="0"/>
              <a:t> </a:t>
            </a:r>
            <a:r>
              <a:rPr spc="-50" dirty="0"/>
              <a:t>as</a:t>
            </a:r>
            <a:r>
              <a:rPr spc="-100" dirty="0"/>
              <a:t> </a:t>
            </a:r>
            <a:r>
              <a:rPr spc="-25" dirty="0"/>
              <a:t>a</a:t>
            </a:r>
            <a:r>
              <a:rPr spc="-90" dirty="0"/>
              <a:t> </a:t>
            </a:r>
            <a:r>
              <a:rPr spc="-10" dirty="0"/>
              <a:t>set</a:t>
            </a:r>
            <a:r>
              <a:rPr spc="-114" dirty="0"/>
              <a:t> </a:t>
            </a:r>
            <a:r>
              <a:rPr spc="-25" dirty="0"/>
              <a:t>of</a:t>
            </a:r>
          </a:p>
          <a:p>
            <a:pPr marL="354965">
              <a:lnSpc>
                <a:spcPct val="100000"/>
              </a:lnSpc>
              <a:spcBef>
                <a:spcPts val="325"/>
              </a:spcBef>
            </a:pPr>
            <a:r>
              <a:rPr spc="-10" dirty="0"/>
              <a:t>superpixels</a:t>
            </a:r>
            <a:r>
              <a:rPr spc="-135" dirty="0"/>
              <a:t> </a:t>
            </a:r>
            <a:r>
              <a:rPr spc="-10" dirty="0"/>
              <a:t>(segments).</a:t>
            </a: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pc="-10" dirty="0"/>
          </a:p>
          <a:p>
            <a:pPr marL="4776470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  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Randomly</a:t>
            </a:r>
            <a:r>
              <a:rPr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delete</a:t>
            </a:r>
            <a:r>
              <a:rPr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0000"/>
                </a:solidFill>
                <a:latin typeface="Arial"/>
                <a:cs typeface="Arial"/>
              </a:rPr>
              <a:t>some</a:t>
            </a:r>
          </a:p>
          <a:p>
            <a:pPr marL="4776470">
              <a:lnSpc>
                <a:spcPct val="100000"/>
              </a:lnSpc>
            </a:pPr>
            <a:r>
              <a:rPr lang="en-US" spc="-10" dirty="0">
                <a:solidFill>
                  <a:srgbClr val="000000"/>
                </a:solidFill>
                <a:latin typeface="Arial"/>
                <a:cs typeface="Arial"/>
              </a:rPr>
              <a:t>    </a:t>
            </a:r>
            <a:r>
              <a:rPr spc="-10" dirty="0">
                <a:solidFill>
                  <a:srgbClr val="000000"/>
                </a:solidFill>
                <a:latin typeface="Arial"/>
                <a:cs typeface="Arial"/>
              </a:rPr>
              <a:t>segments.</a:t>
            </a:r>
          </a:p>
        </p:txBody>
      </p:sp>
      <p:sp>
        <p:nvSpPr>
          <p:cNvPr id="42" name="Text Placeholder 4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LIME</a:t>
            </a:r>
            <a:r>
              <a:rPr lang="en-IN" spc="-160" dirty="0"/>
              <a:t> </a:t>
            </a:r>
            <a:r>
              <a:rPr lang="en-IN" spc="-35" dirty="0">
                <a:latin typeface="kiloji"/>
                <a:cs typeface="kiloji"/>
              </a:rPr>
              <a:t>－</a:t>
            </a:r>
            <a:r>
              <a:rPr lang="en-IN" spc="-585" dirty="0">
                <a:latin typeface="kiloji"/>
                <a:cs typeface="kiloji"/>
              </a:rPr>
              <a:t> </a:t>
            </a:r>
            <a:r>
              <a:rPr lang="en-IN" spc="-10" dirty="0"/>
              <a:t>Image</a:t>
            </a:r>
            <a:endParaRPr lang="en-IN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5820" y="193547"/>
            <a:ext cx="1037844" cy="10256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2784" y="147828"/>
            <a:ext cx="1103369" cy="11140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797296" y="510540"/>
            <a:ext cx="387350" cy="405765"/>
            <a:chOff x="5797296" y="510540"/>
            <a:chExt cx="387350" cy="405765"/>
          </a:xfrm>
        </p:grpSpPr>
        <p:sp>
          <p:nvSpPr>
            <p:cNvPr id="6" name="object 6"/>
            <p:cNvSpPr/>
            <p:nvPr/>
          </p:nvSpPr>
          <p:spPr>
            <a:xfrm>
              <a:off x="5810250" y="523494"/>
              <a:ext cx="361315" cy="379730"/>
            </a:xfrm>
            <a:custGeom>
              <a:avLst/>
              <a:gdLst/>
              <a:ahLst/>
              <a:cxnLst/>
              <a:rect l="l" t="t" r="r" b="b"/>
              <a:pathLst>
                <a:path w="361314" h="379730">
                  <a:moveTo>
                    <a:pt x="180594" y="0"/>
                  </a:moveTo>
                  <a:lnTo>
                    <a:pt x="180594" y="94868"/>
                  </a:lnTo>
                  <a:lnTo>
                    <a:pt x="0" y="94868"/>
                  </a:lnTo>
                  <a:lnTo>
                    <a:pt x="0" y="284606"/>
                  </a:lnTo>
                  <a:lnTo>
                    <a:pt x="180594" y="284606"/>
                  </a:lnTo>
                  <a:lnTo>
                    <a:pt x="180594" y="379475"/>
                  </a:lnTo>
                  <a:lnTo>
                    <a:pt x="361188" y="189737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810250" y="523494"/>
              <a:ext cx="361315" cy="379730"/>
            </a:xfrm>
            <a:custGeom>
              <a:avLst/>
              <a:gdLst/>
              <a:ahLst/>
              <a:cxnLst/>
              <a:rect l="l" t="t" r="r" b="b"/>
              <a:pathLst>
                <a:path w="361314" h="379730">
                  <a:moveTo>
                    <a:pt x="0" y="94868"/>
                  </a:moveTo>
                  <a:lnTo>
                    <a:pt x="180594" y="94868"/>
                  </a:lnTo>
                  <a:lnTo>
                    <a:pt x="180594" y="0"/>
                  </a:lnTo>
                  <a:lnTo>
                    <a:pt x="361188" y="189737"/>
                  </a:lnTo>
                  <a:lnTo>
                    <a:pt x="180594" y="379475"/>
                  </a:lnTo>
                  <a:lnTo>
                    <a:pt x="180594" y="284606"/>
                  </a:lnTo>
                  <a:lnTo>
                    <a:pt x="0" y="284606"/>
                  </a:lnTo>
                  <a:lnTo>
                    <a:pt x="0" y="9486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9527" y="2723388"/>
            <a:ext cx="784860" cy="7940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67200" y="2723388"/>
            <a:ext cx="778763" cy="79400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96411" y="2723388"/>
            <a:ext cx="778763" cy="78638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5336" y="4243222"/>
            <a:ext cx="497903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5515">
              <a:spcBef>
                <a:spcPts val="100"/>
              </a:spcBef>
              <a:tabLst>
                <a:tab pos="3221355" algn="l"/>
                <a:tab pos="4169410" algn="l"/>
              </a:tabLst>
            </a:pP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0.85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	</a:t>
            </a:r>
            <a:r>
              <a:rPr sz="2700" kern="0" spc="-30" baseline="3086" dirty="0">
                <a:solidFill>
                  <a:sysClr val="windowText" lastClr="000000"/>
                </a:solidFill>
                <a:latin typeface="Arial"/>
                <a:cs typeface="Arial"/>
              </a:rPr>
              <a:t>0.52</a:t>
            </a:r>
            <a:r>
              <a:rPr sz="2700" kern="0" baseline="3086" dirty="0">
                <a:solidFill>
                  <a:sysClr val="windowText" lastClr="000000"/>
                </a:solidFill>
                <a:latin typeface="Arial"/>
                <a:cs typeface="Arial"/>
              </a:rPr>
              <a:t>	</a:t>
            </a:r>
            <a:r>
              <a:rPr sz="2700" kern="0" spc="-30" baseline="1543" dirty="0">
                <a:solidFill>
                  <a:sysClr val="windowText" lastClr="000000"/>
                </a:solidFill>
                <a:latin typeface="Arial"/>
                <a:cs typeface="Arial"/>
              </a:rPr>
              <a:t>0.01</a:t>
            </a:r>
            <a:endParaRPr sz="2700" kern="0" baseline="1543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 marR="5080">
              <a:spcBef>
                <a:spcPts val="1125"/>
              </a:spcBef>
            </a:pPr>
            <a:r>
              <a:rPr sz="1050" kern="0" dirty="0">
                <a:solidFill>
                  <a:sysClr val="windowText" lastClr="000000"/>
                </a:solidFill>
                <a:latin typeface="Arial"/>
                <a:cs typeface="Arial"/>
              </a:rPr>
              <a:t>Ref:</a:t>
            </a:r>
            <a:r>
              <a:rPr sz="1050" kern="0" spc="30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050" kern="0" spc="-10" dirty="0">
                <a:solidFill>
                  <a:sysClr val="windowText" lastClr="000000"/>
                </a:solidFill>
                <a:latin typeface="Arial"/>
                <a:cs typeface="Arial"/>
                <a:hlinkClick r:id="rId7"/>
              </a:rPr>
              <a:t>https://medium.com/@kstseng/lime-local-interpretable-model-agnostic-</a:t>
            </a:r>
            <a:r>
              <a:rPr sz="105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explanation%E6%8A%80%E8%A1%93%E4%BB%8B%E7%B4%B9-a67b6c34c3f8</a:t>
            </a:r>
            <a:endParaRPr sz="105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7141" y="3926230"/>
            <a:ext cx="3606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Compute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probability of</a:t>
            </a:r>
            <a:r>
              <a:rPr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“frog”</a:t>
            </a:r>
            <a:r>
              <a:rPr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by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black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box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81333" y="3653028"/>
            <a:ext cx="850900" cy="561340"/>
            <a:chOff x="2281333" y="3653028"/>
            <a:chExt cx="850900" cy="56134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81333" y="3675742"/>
              <a:ext cx="850607" cy="44989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86000" y="3653028"/>
              <a:ext cx="841273" cy="5608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19528" y="3694176"/>
              <a:ext cx="778764" cy="37795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19528" y="3694176"/>
              <a:ext cx="779145" cy="378460"/>
            </a:xfrm>
            <a:custGeom>
              <a:avLst/>
              <a:gdLst/>
              <a:ahLst/>
              <a:cxnLst/>
              <a:rect l="l" t="t" r="r" b="b"/>
              <a:pathLst>
                <a:path w="779144" h="378460">
                  <a:moveTo>
                    <a:pt x="0" y="62992"/>
                  </a:moveTo>
                  <a:lnTo>
                    <a:pt x="4949" y="38469"/>
                  </a:lnTo>
                  <a:lnTo>
                    <a:pt x="18446" y="18446"/>
                  </a:lnTo>
                  <a:lnTo>
                    <a:pt x="38469" y="4949"/>
                  </a:lnTo>
                  <a:lnTo>
                    <a:pt x="62992" y="0"/>
                  </a:lnTo>
                  <a:lnTo>
                    <a:pt x="715772" y="0"/>
                  </a:lnTo>
                  <a:lnTo>
                    <a:pt x="740294" y="4949"/>
                  </a:lnTo>
                  <a:lnTo>
                    <a:pt x="760317" y="18446"/>
                  </a:lnTo>
                  <a:lnTo>
                    <a:pt x="773814" y="38469"/>
                  </a:lnTo>
                  <a:lnTo>
                    <a:pt x="778764" y="62992"/>
                  </a:lnTo>
                  <a:lnTo>
                    <a:pt x="778764" y="314960"/>
                  </a:lnTo>
                  <a:lnTo>
                    <a:pt x="773814" y="339477"/>
                  </a:lnTo>
                  <a:lnTo>
                    <a:pt x="760317" y="359500"/>
                  </a:lnTo>
                  <a:lnTo>
                    <a:pt x="740294" y="373001"/>
                  </a:lnTo>
                  <a:lnTo>
                    <a:pt x="715772" y="377952"/>
                  </a:lnTo>
                  <a:lnTo>
                    <a:pt x="62992" y="377952"/>
                  </a:lnTo>
                  <a:lnTo>
                    <a:pt x="38469" y="373001"/>
                  </a:lnTo>
                  <a:lnTo>
                    <a:pt x="18446" y="359500"/>
                  </a:lnTo>
                  <a:lnTo>
                    <a:pt x="4949" y="339477"/>
                  </a:lnTo>
                  <a:lnTo>
                    <a:pt x="0" y="314960"/>
                  </a:lnTo>
                  <a:lnTo>
                    <a:pt x="0" y="629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53131" y="3719576"/>
            <a:ext cx="65925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spc="-10" dirty="0">
                <a:solidFill>
                  <a:sysClr val="windowText" lastClr="000000"/>
                </a:solidFill>
                <a:latin typeface="Carlito"/>
                <a:cs typeface="Carlito"/>
              </a:rPr>
              <a:t>Black</a:t>
            </a:r>
            <a:endParaRPr kern="0" dirty="0">
              <a:solidFill>
                <a:sysClr val="windowText" lastClr="000000"/>
              </a:solidFill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58217" y="3653028"/>
            <a:ext cx="850900" cy="561340"/>
            <a:chOff x="3258217" y="3653028"/>
            <a:chExt cx="850900" cy="56134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8217" y="3675742"/>
              <a:ext cx="850607" cy="44989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62883" y="3653028"/>
              <a:ext cx="841273" cy="5608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96411" y="3694176"/>
              <a:ext cx="778763" cy="37795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296411" y="3694176"/>
              <a:ext cx="779145" cy="378460"/>
            </a:xfrm>
            <a:custGeom>
              <a:avLst/>
              <a:gdLst/>
              <a:ahLst/>
              <a:cxnLst/>
              <a:rect l="l" t="t" r="r" b="b"/>
              <a:pathLst>
                <a:path w="779145" h="378460">
                  <a:moveTo>
                    <a:pt x="0" y="62992"/>
                  </a:moveTo>
                  <a:lnTo>
                    <a:pt x="4949" y="38469"/>
                  </a:lnTo>
                  <a:lnTo>
                    <a:pt x="18446" y="18446"/>
                  </a:lnTo>
                  <a:lnTo>
                    <a:pt x="38469" y="4949"/>
                  </a:lnTo>
                  <a:lnTo>
                    <a:pt x="62991" y="0"/>
                  </a:lnTo>
                  <a:lnTo>
                    <a:pt x="715772" y="0"/>
                  </a:lnTo>
                  <a:lnTo>
                    <a:pt x="740294" y="4949"/>
                  </a:lnTo>
                  <a:lnTo>
                    <a:pt x="760317" y="18446"/>
                  </a:lnTo>
                  <a:lnTo>
                    <a:pt x="773814" y="38469"/>
                  </a:lnTo>
                  <a:lnTo>
                    <a:pt x="778763" y="62992"/>
                  </a:lnTo>
                  <a:lnTo>
                    <a:pt x="778763" y="314960"/>
                  </a:lnTo>
                  <a:lnTo>
                    <a:pt x="773814" y="339477"/>
                  </a:lnTo>
                  <a:lnTo>
                    <a:pt x="760317" y="359500"/>
                  </a:lnTo>
                  <a:lnTo>
                    <a:pt x="740294" y="373001"/>
                  </a:lnTo>
                  <a:lnTo>
                    <a:pt x="715772" y="377952"/>
                  </a:lnTo>
                  <a:lnTo>
                    <a:pt x="62991" y="377952"/>
                  </a:lnTo>
                  <a:lnTo>
                    <a:pt x="38469" y="373001"/>
                  </a:lnTo>
                  <a:lnTo>
                    <a:pt x="18446" y="359500"/>
                  </a:lnTo>
                  <a:lnTo>
                    <a:pt x="4949" y="339477"/>
                  </a:lnTo>
                  <a:lnTo>
                    <a:pt x="0" y="314960"/>
                  </a:lnTo>
                  <a:lnTo>
                    <a:pt x="0" y="629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30904" y="3719576"/>
            <a:ext cx="67627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spc="-10" dirty="0">
                <a:solidFill>
                  <a:sysClr val="windowText" lastClr="000000"/>
                </a:solidFill>
                <a:latin typeface="Carlito"/>
                <a:cs typeface="Carlito"/>
              </a:rPr>
              <a:t>Black</a:t>
            </a:r>
            <a:endParaRPr kern="0" dirty="0">
              <a:solidFill>
                <a:sysClr val="windowText" lastClr="000000"/>
              </a:solidFill>
              <a:latin typeface="Carlito"/>
              <a:cs typeface="Carli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230528" y="3657600"/>
            <a:ext cx="850900" cy="561340"/>
            <a:chOff x="4230528" y="3657600"/>
            <a:chExt cx="850900" cy="561340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0528" y="3678819"/>
              <a:ext cx="850607" cy="4513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36719" y="3657600"/>
              <a:ext cx="841273" cy="56084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68723" y="3697223"/>
              <a:ext cx="778763" cy="3794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68723" y="3697223"/>
              <a:ext cx="779145" cy="379730"/>
            </a:xfrm>
            <a:custGeom>
              <a:avLst/>
              <a:gdLst/>
              <a:ahLst/>
              <a:cxnLst/>
              <a:rect l="l" t="t" r="r" b="b"/>
              <a:pathLst>
                <a:path w="779145" h="379729">
                  <a:moveTo>
                    <a:pt x="0" y="63245"/>
                  </a:moveTo>
                  <a:lnTo>
                    <a:pt x="4970" y="38629"/>
                  </a:lnTo>
                  <a:lnTo>
                    <a:pt x="18526" y="18526"/>
                  </a:lnTo>
                  <a:lnTo>
                    <a:pt x="38629" y="4970"/>
                  </a:lnTo>
                  <a:lnTo>
                    <a:pt x="63246" y="0"/>
                  </a:lnTo>
                  <a:lnTo>
                    <a:pt x="715517" y="0"/>
                  </a:lnTo>
                  <a:lnTo>
                    <a:pt x="740134" y="4970"/>
                  </a:lnTo>
                  <a:lnTo>
                    <a:pt x="760237" y="18526"/>
                  </a:lnTo>
                  <a:lnTo>
                    <a:pt x="773793" y="38629"/>
                  </a:lnTo>
                  <a:lnTo>
                    <a:pt x="778763" y="63245"/>
                  </a:lnTo>
                  <a:lnTo>
                    <a:pt x="778763" y="316229"/>
                  </a:lnTo>
                  <a:lnTo>
                    <a:pt x="773793" y="340846"/>
                  </a:lnTo>
                  <a:lnTo>
                    <a:pt x="760237" y="360949"/>
                  </a:lnTo>
                  <a:lnTo>
                    <a:pt x="740134" y="374505"/>
                  </a:lnTo>
                  <a:lnTo>
                    <a:pt x="715517" y="379475"/>
                  </a:lnTo>
                  <a:lnTo>
                    <a:pt x="63246" y="379475"/>
                  </a:lnTo>
                  <a:lnTo>
                    <a:pt x="38629" y="374505"/>
                  </a:lnTo>
                  <a:lnTo>
                    <a:pt x="18526" y="360949"/>
                  </a:lnTo>
                  <a:lnTo>
                    <a:pt x="4970" y="340846"/>
                  </a:lnTo>
                  <a:lnTo>
                    <a:pt x="0" y="316229"/>
                  </a:lnTo>
                  <a:lnTo>
                    <a:pt x="0" y="6324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03851" y="3723233"/>
            <a:ext cx="680331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spc="-10" dirty="0">
                <a:solidFill>
                  <a:sysClr val="windowText" lastClr="000000"/>
                </a:solidFill>
                <a:latin typeface="Carlito"/>
                <a:cs typeface="Carlito"/>
              </a:rPr>
              <a:t>Black</a:t>
            </a:r>
            <a:endParaRPr kern="0" dirty="0">
              <a:solidFill>
                <a:sysClr val="windowText" lastClr="000000"/>
              </a:solidFill>
              <a:latin typeface="Carlito"/>
              <a:cs typeface="Carli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662427" y="3510534"/>
            <a:ext cx="117475" cy="767715"/>
            <a:chOff x="2662427" y="3510534"/>
            <a:chExt cx="117475" cy="767715"/>
          </a:xfrm>
        </p:grpSpPr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62427" y="3510534"/>
              <a:ext cx="114300" cy="20510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65475" y="4072890"/>
              <a:ext cx="114300" cy="205143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3643884" y="3518153"/>
            <a:ext cx="117475" cy="767715"/>
            <a:chOff x="3643884" y="3518153"/>
            <a:chExt cx="117475" cy="767715"/>
          </a:xfrm>
        </p:grpSpPr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43884" y="3518153"/>
              <a:ext cx="114300" cy="20510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46932" y="4080509"/>
              <a:ext cx="114300" cy="205143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4604003" y="3518153"/>
            <a:ext cx="119380" cy="767715"/>
            <a:chOff x="4604003" y="3518153"/>
            <a:chExt cx="119380" cy="767715"/>
          </a:xfrm>
        </p:grpSpPr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04003" y="3518153"/>
              <a:ext cx="114300" cy="20510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08575" y="4080509"/>
              <a:ext cx="114300" cy="205143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462776" y="4814722"/>
            <a:ext cx="22167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(Slide</a:t>
            </a:r>
            <a:r>
              <a:rPr sz="1400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Credit</a:t>
            </a:r>
            <a:r>
              <a:rPr sz="1400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1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Hung-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yi</a:t>
            </a:r>
            <a:r>
              <a:rPr sz="1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Lee)</a:t>
            </a:r>
            <a:endParaRPr sz="1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36805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5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LIME</a:t>
            </a:r>
            <a:r>
              <a:rPr lang="en-IN" spc="-160" dirty="0"/>
              <a:t> </a:t>
            </a:r>
            <a:r>
              <a:rPr lang="en-IN" spc="-35" dirty="0">
                <a:latin typeface="kiloji"/>
                <a:cs typeface="kiloji"/>
              </a:rPr>
              <a:t>－</a:t>
            </a:r>
            <a:r>
              <a:rPr lang="en-IN" spc="-585" dirty="0">
                <a:latin typeface="kiloji"/>
                <a:cs typeface="kiloji"/>
              </a:rPr>
              <a:t> </a:t>
            </a:r>
            <a:r>
              <a:rPr lang="en-IN" spc="-10" dirty="0"/>
              <a:t>Image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504850" y="1238834"/>
            <a:ext cx="4989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Times New Roman"/>
              <a:buChar char="●"/>
              <a:tabLst>
                <a:tab pos="354965" algn="l"/>
              </a:tabLst>
            </a:pPr>
            <a:r>
              <a:rPr kern="0" spc="-215" dirty="0">
                <a:solidFill>
                  <a:srgbClr val="585858"/>
                </a:solidFill>
                <a:latin typeface="Verdana"/>
                <a:cs typeface="Verdana"/>
              </a:rPr>
              <a:t>3.</a:t>
            </a:r>
            <a:r>
              <a:rPr kern="0" spc="-9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dirty="0">
                <a:solidFill>
                  <a:srgbClr val="585858"/>
                </a:solidFill>
                <a:latin typeface="Verdana"/>
                <a:cs typeface="Verdana"/>
              </a:rPr>
              <a:t>Fit</a:t>
            </a:r>
            <a:r>
              <a:rPr kern="0" spc="-8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dirty="0">
                <a:solidFill>
                  <a:srgbClr val="585858"/>
                </a:solidFill>
                <a:latin typeface="Verdana"/>
                <a:cs typeface="Verdana"/>
              </a:rPr>
              <a:t>with</a:t>
            </a:r>
            <a:r>
              <a:rPr kern="0" spc="-9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spc="-10" dirty="0">
                <a:solidFill>
                  <a:srgbClr val="585858"/>
                </a:solidFill>
                <a:latin typeface="Verdana"/>
                <a:cs typeface="Verdana"/>
              </a:rPr>
              <a:t>linear</a:t>
            </a:r>
            <a:r>
              <a:rPr kern="0" spc="-9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spc="-90" dirty="0">
                <a:solidFill>
                  <a:srgbClr val="585858"/>
                </a:solidFill>
                <a:latin typeface="Verdana"/>
                <a:cs typeface="Verdana"/>
              </a:rPr>
              <a:t>(or</a:t>
            </a:r>
            <a:r>
              <a:rPr kern="0" spc="-8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spc="-10" dirty="0">
                <a:solidFill>
                  <a:srgbClr val="585858"/>
                </a:solidFill>
                <a:latin typeface="Verdana"/>
                <a:cs typeface="Verdana"/>
              </a:rPr>
              <a:t>interpretable)</a:t>
            </a:r>
            <a:r>
              <a:rPr kern="0" spc="-11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spc="40" dirty="0">
                <a:solidFill>
                  <a:srgbClr val="585858"/>
                </a:solidFill>
                <a:latin typeface="Verdana"/>
                <a:cs typeface="Verdana"/>
              </a:rPr>
              <a:t>model</a:t>
            </a:r>
            <a:endParaRPr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5820" y="193547"/>
            <a:ext cx="1037844" cy="10256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2784" y="147828"/>
            <a:ext cx="1103369" cy="111404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797296" y="510540"/>
            <a:ext cx="387350" cy="405765"/>
            <a:chOff x="5797296" y="510540"/>
            <a:chExt cx="387350" cy="405765"/>
          </a:xfrm>
        </p:grpSpPr>
        <p:sp>
          <p:nvSpPr>
            <p:cNvPr id="7" name="object 7"/>
            <p:cNvSpPr/>
            <p:nvPr/>
          </p:nvSpPr>
          <p:spPr>
            <a:xfrm>
              <a:off x="5810250" y="523494"/>
              <a:ext cx="361315" cy="379730"/>
            </a:xfrm>
            <a:custGeom>
              <a:avLst/>
              <a:gdLst/>
              <a:ahLst/>
              <a:cxnLst/>
              <a:rect l="l" t="t" r="r" b="b"/>
              <a:pathLst>
                <a:path w="361314" h="379730">
                  <a:moveTo>
                    <a:pt x="180594" y="0"/>
                  </a:moveTo>
                  <a:lnTo>
                    <a:pt x="180594" y="94868"/>
                  </a:lnTo>
                  <a:lnTo>
                    <a:pt x="0" y="94868"/>
                  </a:lnTo>
                  <a:lnTo>
                    <a:pt x="0" y="284606"/>
                  </a:lnTo>
                  <a:lnTo>
                    <a:pt x="180594" y="284606"/>
                  </a:lnTo>
                  <a:lnTo>
                    <a:pt x="180594" y="379475"/>
                  </a:lnTo>
                  <a:lnTo>
                    <a:pt x="361188" y="189737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810250" y="523494"/>
              <a:ext cx="361315" cy="379730"/>
            </a:xfrm>
            <a:custGeom>
              <a:avLst/>
              <a:gdLst/>
              <a:ahLst/>
              <a:cxnLst/>
              <a:rect l="l" t="t" r="r" b="b"/>
              <a:pathLst>
                <a:path w="361314" h="379730">
                  <a:moveTo>
                    <a:pt x="0" y="94868"/>
                  </a:moveTo>
                  <a:lnTo>
                    <a:pt x="180594" y="94868"/>
                  </a:lnTo>
                  <a:lnTo>
                    <a:pt x="180594" y="0"/>
                  </a:lnTo>
                  <a:lnTo>
                    <a:pt x="361188" y="189737"/>
                  </a:lnTo>
                  <a:lnTo>
                    <a:pt x="180594" y="379475"/>
                  </a:lnTo>
                  <a:lnTo>
                    <a:pt x="180594" y="284606"/>
                  </a:lnTo>
                  <a:lnTo>
                    <a:pt x="0" y="284606"/>
                  </a:lnTo>
                  <a:lnTo>
                    <a:pt x="0" y="9486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379219" y="1908048"/>
            <a:ext cx="2790825" cy="794385"/>
            <a:chOff x="1379219" y="1908048"/>
            <a:chExt cx="2790825" cy="7943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9219" y="1908048"/>
              <a:ext cx="848868" cy="7940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6891" y="1908048"/>
              <a:ext cx="842772" cy="7940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7627" y="1908048"/>
              <a:ext cx="841248" cy="78638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01469" y="4608677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0.85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2415" y="4605934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0.01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65019" y="4598923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0.52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9982" y="3780282"/>
            <a:ext cx="848994" cy="527685"/>
          </a:xfrm>
          <a:prstGeom prst="rect">
            <a:avLst/>
          </a:prstGeom>
          <a:solidFill>
            <a:srgbClr val="FFAB40"/>
          </a:solidFill>
          <a:ln w="25908">
            <a:solidFill>
              <a:srgbClr val="BB7C2C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106680">
              <a:spcBef>
                <a:spcPts val="950"/>
              </a:spcBef>
            </a:pPr>
            <a:r>
              <a:rPr kern="0" spc="-1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0770" y="3769614"/>
            <a:ext cx="848994" cy="528955"/>
          </a:xfrm>
          <a:prstGeom prst="rect">
            <a:avLst/>
          </a:prstGeom>
          <a:solidFill>
            <a:srgbClr val="FFAB40"/>
          </a:solidFill>
          <a:ln w="25908">
            <a:solidFill>
              <a:srgbClr val="BB7C2C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106680">
              <a:spcBef>
                <a:spcPts val="955"/>
              </a:spcBef>
            </a:pPr>
            <a:r>
              <a:rPr kern="0" spc="-1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33750" y="3781805"/>
            <a:ext cx="848994" cy="528955"/>
          </a:xfrm>
          <a:prstGeom prst="rect">
            <a:avLst/>
          </a:prstGeom>
          <a:solidFill>
            <a:srgbClr val="FFAB40"/>
          </a:solidFill>
          <a:ln w="25907">
            <a:solidFill>
              <a:srgbClr val="BB7C2C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07314">
              <a:spcBef>
                <a:spcPts val="960"/>
              </a:spcBef>
            </a:pPr>
            <a:r>
              <a:rPr kern="0" spc="-1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78507" y="4318253"/>
            <a:ext cx="114300" cy="323215"/>
          </a:xfrm>
          <a:custGeom>
            <a:avLst/>
            <a:gdLst/>
            <a:ahLst/>
            <a:cxnLst/>
            <a:rect l="l" t="t" r="r" b="b"/>
            <a:pathLst>
              <a:path w="114300" h="323214">
                <a:moveTo>
                  <a:pt x="38100" y="208470"/>
                </a:moveTo>
                <a:lnTo>
                  <a:pt x="0" y="208470"/>
                </a:lnTo>
                <a:lnTo>
                  <a:pt x="57150" y="322770"/>
                </a:lnTo>
                <a:lnTo>
                  <a:pt x="104775" y="227520"/>
                </a:lnTo>
                <a:lnTo>
                  <a:pt x="38100" y="227520"/>
                </a:lnTo>
                <a:lnTo>
                  <a:pt x="38100" y="208470"/>
                </a:lnTo>
                <a:close/>
              </a:path>
              <a:path w="114300" h="323214">
                <a:moveTo>
                  <a:pt x="76200" y="0"/>
                </a:moveTo>
                <a:lnTo>
                  <a:pt x="38100" y="0"/>
                </a:lnTo>
                <a:lnTo>
                  <a:pt x="38100" y="227520"/>
                </a:lnTo>
                <a:lnTo>
                  <a:pt x="76200" y="227520"/>
                </a:lnTo>
                <a:lnTo>
                  <a:pt x="76200" y="0"/>
                </a:lnTo>
                <a:close/>
              </a:path>
              <a:path w="114300" h="323214">
                <a:moveTo>
                  <a:pt x="114300" y="208470"/>
                </a:moveTo>
                <a:lnTo>
                  <a:pt x="76200" y="208470"/>
                </a:lnTo>
                <a:lnTo>
                  <a:pt x="76200" y="227520"/>
                </a:lnTo>
                <a:lnTo>
                  <a:pt x="104775" y="227520"/>
                </a:lnTo>
                <a:lnTo>
                  <a:pt x="114300" y="208470"/>
                </a:lnTo>
                <a:close/>
              </a:path>
            </a:pathLst>
          </a:custGeom>
          <a:solidFill>
            <a:srgbClr val="FDA839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85872" y="4322826"/>
            <a:ext cx="114300" cy="323215"/>
          </a:xfrm>
          <a:custGeom>
            <a:avLst/>
            <a:gdLst/>
            <a:ahLst/>
            <a:cxnLst/>
            <a:rect l="l" t="t" r="r" b="b"/>
            <a:pathLst>
              <a:path w="114300" h="323214">
                <a:moveTo>
                  <a:pt x="38100" y="208470"/>
                </a:moveTo>
                <a:lnTo>
                  <a:pt x="0" y="208470"/>
                </a:lnTo>
                <a:lnTo>
                  <a:pt x="57150" y="322770"/>
                </a:lnTo>
                <a:lnTo>
                  <a:pt x="104775" y="227520"/>
                </a:lnTo>
                <a:lnTo>
                  <a:pt x="38100" y="227520"/>
                </a:lnTo>
                <a:lnTo>
                  <a:pt x="38100" y="208470"/>
                </a:lnTo>
                <a:close/>
              </a:path>
              <a:path w="114300" h="323214">
                <a:moveTo>
                  <a:pt x="76200" y="0"/>
                </a:moveTo>
                <a:lnTo>
                  <a:pt x="38100" y="0"/>
                </a:lnTo>
                <a:lnTo>
                  <a:pt x="38100" y="227520"/>
                </a:lnTo>
                <a:lnTo>
                  <a:pt x="76200" y="227520"/>
                </a:lnTo>
                <a:lnTo>
                  <a:pt x="76200" y="0"/>
                </a:lnTo>
                <a:close/>
              </a:path>
              <a:path w="114300" h="323214">
                <a:moveTo>
                  <a:pt x="114300" y="208470"/>
                </a:moveTo>
                <a:lnTo>
                  <a:pt x="76200" y="208470"/>
                </a:lnTo>
                <a:lnTo>
                  <a:pt x="76200" y="227520"/>
                </a:lnTo>
                <a:lnTo>
                  <a:pt x="104775" y="227520"/>
                </a:lnTo>
                <a:lnTo>
                  <a:pt x="114300" y="208470"/>
                </a:lnTo>
                <a:close/>
              </a:path>
            </a:pathLst>
          </a:custGeom>
          <a:solidFill>
            <a:srgbClr val="FDA839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41420" y="4318253"/>
            <a:ext cx="114300" cy="323215"/>
          </a:xfrm>
          <a:custGeom>
            <a:avLst/>
            <a:gdLst/>
            <a:ahLst/>
            <a:cxnLst/>
            <a:rect l="l" t="t" r="r" b="b"/>
            <a:pathLst>
              <a:path w="114300" h="323214">
                <a:moveTo>
                  <a:pt x="38100" y="208470"/>
                </a:moveTo>
                <a:lnTo>
                  <a:pt x="0" y="208470"/>
                </a:lnTo>
                <a:lnTo>
                  <a:pt x="57150" y="322770"/>
                </a:lnTo>
                <a:lnTo>
                  <a:pt x="104775" y="227520"/>
                </a:lnTo>
                <a:lnTo>
                  <a:pt x="38100" y="227520"/>
                </a:lnTo>
                <a:lnTo>
                  <a:pt x="38100" y="208470"/>
                </a:lnTo>
                <a:close/>
              </a:path>
              <a:path w="114300" h="323214">
                <a:moveTo>
                  <a:pt x="76200" y="0"/>
                </a:moveTo>
                <a:lnTo>
                  <a:pt x="38100" y="0"/>
                </a:lnTo>
                <a:lnTo>
                  <a:pt x="38100" y="227520"/>
                </a:lnTo>
                <a:lnTo>
                  <a:pt x="76200" y="227520"/>
                </a:lnTo>
                <a:lnTo>
                  <a:pt x="76200" y="0"/>
                </a:lnTo>
                <a:close/>
              </a:path>
              <a:path w="114300" h="323214">
                <a:moveTo>
                  <a:pt x="114300" y="208470"/>
                </a:moveTo>
                <a:lnTo>
                  <a:pt x="76200" y="208470"/>
                </a:lnTo>
                <a:lnTo>
                  <a:pt x="76200" y="227520"/>
                </a:lnTo>
                <a:lnTo>
                  <a:pt x="104775" y="227520"/>
                </a:lnTo>
                <a:lnTo>
                  <a:pt x="114300" y="208470"/>
                </a:lnTo>
                <a:close/>
              </a:path>
            </a:pathLst>
          </a:custGeom>
          <a:solidFill>
            <a:srgbClr val="FDA839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24355" y="3015795"/>
            <a:ext cx="955675" cy="526415"/>
            <a:chOff x="1324355" y="3015795"/>
            <a:chExt cx="955675" cy="52641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1090" y="3015795"/>
              <a:ext cx="920542" cy="48499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4355" y="3034284"/>
              <a:ext cx="955547" cy="5074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9219" y="3034284"/>
              <a:ext cx="848868" cy="41300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379219" y="3034283"/>
            <a:ext cx="848994" cy="413384"/>
          </a:xfrm>
          <a:prstGeom prst="rect">
            <a:avLst/>
          </a:prstGeom>
          <a:ln w="9144">
            <a:solidFill>
              <a:srgbClr val="EBFD3A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09220">
              <a:spcBef>
                <a:spcPts val="630"/>
              </a:spcBef>
            </a:pPr>
            <a:r>
              <a:rPr sz="16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Extract</a:t>
            </a:r>
            <a:endParaRPr sz="1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92095" y="2997705"/>
            <a:ext cx="955675" cy="525780"/>
            <a:chOff x="2292095" y="2997705"/>
            <a:chExt cx="955675" cy="525780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8830" y="2997705"/>
              <a:ext cx="920542" cy="48313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92095" y="3015995"/>
              <a:ext cx="955547" cy="50749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46959" y="3015995"/>
              <a:ext cx="848868" cy="41148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346960" y="3015995"/>
            <a:ext cx="848994" cy="411480"/>
          </a:xfrm>
          <a:prstGeom prst="rect">
            <a:avLst/>
          </a:prstGeom>
          <a:ln w="9144">
            <a:solidFill>
              <a:srgbClr val="EBFD3A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09220">
              <a:spcBef>
                <a:spcPts val="630"/>
              </a:spcBef>
            </a:pPr>
            <a:r>
              <a:rPr sz="16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Extract</a:t>
            </a:r>
            <a:endParaRPr sz="1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259835" y="2997705"/>
            <a:ext cx="955675" cy="525780"/>
            <a:chOff x="3259835" y="2997705"/>
            <a:chExt cx="955675" cy="525780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76570" y="2997705"/>
              <a:ext cx="920542" cy="48313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9835" y="3015995"/>
              <a:ext cx="955548" cy="50749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14699" y="3015995"/>
              <a:ext cx="848868" cy="41148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314700" y="3015995"/>
            <a:ext cx="848994" cy="411480"/>
          </a:xfrm>
          <a:prstGeom prst="rect">
            <a:avLst/>
          </a:prstGeom>
          <a:ln w="9144">
            <a:solidFill>
              <a:srgbClr val="EBFD3A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09220">
              <a:spcBef>
                <a:spcPts val="630"/>
              </a:spcBef>
            </a:pPr>
            <a:r>
              <a:rPr sz="16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Extract</a:t>
            </a:r>
            <a:endParaRPr sz="1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793748" y="2198887"/>
            <a:ext cx="5837555" cy="1581150"/>
            <a:chOff x="1793748" y="2198887"/>
            <a:chExt cx="5837555" cy="1581150"/>
          </a:xfrm>
        </p:grpSpPr>
        <p:sp>
          <p:nvSpPr>
            <p:cNvPr id="38" name="object 38"/>
            <p:cNvSpPr/>
            <p:nvPr/>
          </p:nvSpPr>
          <p:spPr>
            <a:xfrm>
              <a:off x="1793748" y="2701289"/>
              <a:ext cx="2054860" cy="1078865"/>
            </a:xfrm>
            <a:custGeom>
              <a:avLst/>
              <a:gdLst/>
              <a:ahLst/>
              <a:cxnLst/>
              <a:rect l="l" t="t" r="r" b="b"/>
              <a:pathLst>
                <a:path w="2054860" h="1078864">
                  <a:moveTo>
                    <a:pt x="114300" y="964311"/>
                  </a:moveTo>
                  <a:lnTo>
                    <a:pt x="76200" y="964361"/>
                  </a:lnTo>
                  <a:lnTo>
                    <a:pt x="76200" y="755904"/>
                  </a:lnTo>
                  <a:lnTo>
                    <a:pt x="38100" y="755904"/>
                  </a:lnTo>
                  <a:lnTo>
                    <a:pt x="38100" y="964399"/>
                  </a:lnTo>
                  <a:lnTo>
                    <a:pt x="0" y="964438"/>
                  </a:lnTo>
                  <a:lnTo>
                    <a:pt x="57150" y="1078738"/>
                  </a:lnTo>
                  <a:lnTo>
                    <a:pt x="104711" y="983488"/>
                  </a:lnTo>
                  <a:lnTo>
                    <a:pt x="114300" y="964311"/>
                  </a:lnTo>
                  <a:close/>
                </a:path>
                <a:path w="2054860" h="1078864">
                  <a:moveTo>
                    <a:pt x="114300" y="219202"/>
                  </a:moveTo>
                  <a:lnTo>
                    <a:pt x="76200" y="219202"/>
                  </a:lnTo>
                  <a:lnTo>
                    <a:pt x="76200" y="10668"/>
                  </a:lnTo>
                  <a:lnTo>
                    <a:pt x="38100" y="10668"/>
                  </a:lnTo>
                  <a:lnTo>
                    <a:pt x="38100" y="219202"/>
                  </a:lnTo>
                  <a:lnTo>
                    <a:pt x="0" y="219202"/>
                  </a:lnTo>
                  <a:lnTo>
                    <a:pt x="57150" y="333502"/>
                  </a:lnTo>
                  <a:lnTo>
                    <a:pt x="104775" y="238252"/>
                  </a:lnTo>
                  <a:lnTo>
                    <a:pt x="114300" y="219202"/>
                  </a:lnTo>
                  <a:close/>
                </a:path>
                <a:path w="2054860" h="1078864">
                  <a:moveTo>
                    <a:pt x="1077468" y="964311"/>
                  </a:moveTo>
                  <a:lnTo>
                    <a:pt x="1039368" y="964361"/>
                  </a:lnTo>
                  <a:lnTo>
                    <a:pt x="1039368" y="755904"/>
                  </a:lnTo>
                  <a:lnTo>
                    <a:pt x="1001268" y="755904"/>
                  </a:lnTo>
                  <a:lnTo>
                    <a:pt x="1001268" y="964399"/>
                  </a:lnTo>
                  <a:lnTo>
                    <a:pt x="963168" y="964438"/>
                  </a:lnTo>
                  <a:lnTo>
                    <a:pt x="1020318" y="1078738"/>
                  </a:lnTo>
                  <a:lnTo>
                    <a:pt x="1067879" y="983488"/>
                  </a:lnTo>
                  <a:lnTo>
                    <a:pt x="1077468" y="964311"/>
                  </a:lnTo>
                  <a:close/>
                </a:path>
                <a:path w="2054860" h="1078864">
                  <a:moveTo>
                    <a:pt x="1077468" y="219202"/>
                  </a:moveTo>
                  <a:lnTo>
                    <a:pt x="1039368" y="219202"/>
                  </a:lnTo>
                  <a:lnTo>
                    <a:pt x="1039368" y="10668"/>
                  </a:lnTo>
                  <a:lnTo>
                    <a:pt x="1001268" y="10668"/>
                  </a:lnTo>
                  <a:lnTo>
                    <a:pt x="1001268" y="219202"/>
                  </a:lnTo>
                  <a:lnTo>
                    <a:pt x="963168" y="219202"/>
                  </a:lnTo>
                  <a:lnTo>
                    <a:pt x="1020318" y="333502"/>
                  </a:lnTo>
                  <a:lnTo>
                    <a:pt x="1067943" y="238252"/>
                  </a:lnTo>
                  <a:lnTo>
                    <a:pt x="1077468" y="219202"/>
                  </a:lnTo>
                  <a:close/>
                </a:path>
                <a:path w="2054860" h="1078864">
                  <a:moveTo>
                    <a:pt x="2054352" y="953643"/>
                  </a:moveTo>
                  <a:lnTo>
                    <a:pt x="2016252" y="953693"/>
                  </a:lnTo>
                  <a:lnTo>
                    <a:pt x="2016252" y="745236"/>
                  </a:lnTo>
                  <a:lnTo>
                    <a:pt x="1978152" y="745236"/>
                  </a:lnTo>
                  <a:lnTo>
                    <a:pt x="1978152" y="953731"/>
                  </a:lnTo>
                  <a:lnTo>
                    <a:pt x="1940052" y="953770"/>
                  </a:lnTo>
                  <a:lnTo>
                    <a:pt x="1997202" y="1068070"/>
                  </a:lnTo>
                  <a:lnTo>
                    <a:pt x="2044763" y="972820"/>
                  </a:lnTo>
                  <a:lnTo>
                    <a:pt x="2054352" y="953643"/>
                  </a:lnTo>
                  <a:close/>
                </a:path>
                <a:path w="2054860" h="1078864">
                  <a:moveTo>
                    <a:pt x="2054352" y="208534"/>
                  </a:moveTo>
                  <a:lnTo>
                    <a:pt x="2016252" y="208534"/>
                  </a:lnTo>
                  <a:lnTo>
                    <a:pt x="2016252" y="0"/>
                  </a:lnTo>
                  <a:lnTo>
                    <a:pt x="1978152" y="0"/>
                  </a:lnTo>
                  <a:lnTo>
                    <a:pt x="1978152" y="208534"/>
                  </a:lnTo>
                  <a:lnTo>
                    <a:pt x="1940052" y="208534"/>
                  </a:lnTo>
                  <a:lnTo>
                    <a:pt x="1997202" y="322834"/>
                  </a:lnTo>
                  <a:lnTo>
                    <a:pt x="2044827" y="227584"/>
                  </a:lnTo>
                  <a:lnTo>
                    <a:pt x="2054352" y="208534"/>
                  </a:lnTo>
                  <a:close/>
                </a:path>
              </a:pathLst>
            </a:custGeom>
            <a:solidFill>
              <a:srgbClr val="FDA839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55449" y="2198887"/>
              <a:ext cx="2775233" cy="40277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93564" y="2217419"/>
              <a:ext cx="2703576" cy="33070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893564" y="2217419"/>
              <a:ext cx="2703830" cy="330835"/>
            </a:xfrm>
            <a:custGeom>
              <a:avLst/>
              <a:gdLst/>
              <a:ahLst/>
              <a:cxnLst/>
              <a:rect l="l" t="t" r="r" b="b"/>
              <a:pathLst>
                <a:path w="2703829" h="330835">
                  <a:moveTo>
                    <a:pt x="0" y="330707"/>
                  </a:moveTo>
                  <a:lnTo>
                    <a:pt x="2703576" y="330707"/>
                  </a:lnTo>
                  <a:lnTo>
                    <a:pt x="2703576" y="0"/>
                  </a:lnTo>
                  <a:lnTo>
                    <a:pt x="0" y="0"/>
                  </a:lnTo>
                  <a:lnTo>
                    <a:pt x="0" y="330707"/>
                  </a:lnTo>
                  <a:close/>
                </a:path>
              </a:pathLst>
            </a:custGeom>
            <a:ln w="9144">
              <a:solidFill>
                <a:srgbClr val="EBFD3A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746752" y="4315459"/>
            <a:ext cx="3932554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150" kern="0" baseline="-2645" dirty="0">
                <a:solidFill>
                  <a:sysClr val="windowText" lastClr="000000"/>
                </a:solidFill>
                <a:latin typeface="Symbola"/>
                <a:cs typeface="Symbola"/>
              </a:rPr>
              <a:t>𝑀</a:t>
            </a:r>
            <a:r>
              <a:rPr sz="3150" kern="0" spc="135" baseline="-264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number of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segments.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728470">
              <a:spcBef>
                <a:spcPts val="1415"/>
              </a:spcBef>
            </a:pP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(Slide</a:t>
            </a:r>
            <a:r>
              <a:rPr sz="1400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Credit</a:t>
            </a:r>
            <a:r>
              <a:rPr sz="1400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1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Hung-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yi</a:t>
            </a:r>
            <a:r>
              <a:rPr sz="1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Lee)</a:t>
            </a:r>
            <a:endParaRPr sz="1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89120" y="3525139"/>
            <a:ext cx="1164461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230">
              <a:lnSpc>
                <a:spcPts val="1825"/>
              </a:lnSpc>
              <a:spcBef>
                <a:spcPts val="100"/>
              </a:spcBef>
            </a:pPr>
            <a:r>
              <a:rPr sz="2100" kern="0" spc="55" dirty="0">
                <a:solidFill>
                  <a:sysClr val="windowText" lastClr="000000"/>
                </a:solidFill>
                <a:latin typeface="Symbola"/>
                <a:cs typeface="Symbola"/>
              </a:rPr>
              <a:t>0</a:t>
            </a:r>
            <a:endParaRPr sz="2100" kern="0" dirty="0">
              <a:solidFill>
                <a:sysClr val="windowText" lastClr="000000"/>
              </a:solidFill>
              <a:latin typeface="Symbola"/>
              <a:cs typeface="Symbola"/>
            </a:endParaRPr>
          </a:p>
          <a:p>
            <a:pPr marL="38100">
              <a:lnSpc>
                <a:spcPts val="1825"/>
              </a:lnSpc>
            </a:pP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250" kern="0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𝑚</a:t>
            </a:r>
            <a:r>
              <a:rPr sz="2250" kern="0" spc="434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=</a:t>
            </a:r>
            <a:r>
              <a:rPr sz="2100" kern="0" spc="4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880" dirty="0">
                <a:solidFill>
                  <a:sysClr val="windowText" lastClr="000000"/>
                </a:solidFill>
                <a:latin typeface="Symbola"/>
                <a:cs typeface="Symbola"/>
              </a:rPr>
              <a:t>൜</a:t>
            </a:r>
            <a:endParaRPr sz="2100" kern="0" dirty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01158" y="3839057"/>
            <a:ext cx="1733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kern="0" spc="55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endParaRPr sz="2100" kern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20157" y="3518976"/>
            <a:ext cx="2525395" cy="620042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935" algn="just">
              <a:spcBef>
                <a:spcPts val="315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Segment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deleted.</a:t>
            </a:r>
            <a:endParaRPr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 algn="just">
              <a:spcBef>
                <a:spcPts val="215"/>
              </a:spcBef>
            </a:pPr>
            <a:r>
              <a:rPr lang="en-US" kern="0" dirty="0">
                <a:solidFill>
                  <a:sysClr val="windowText" lastClr="000000"/>
                </a:solidFill>
                <a:latin typeface="Arial"/>
                <a:cs typeface="Arial"/>
              </a:rPr>
              <a:t>   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Segment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exists.</a:t>
            </a:r>
            <a:endParaRPr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92827" y="2208022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kern="0" spc="-25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1950" kern="0" spc="-37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endParaRPr sz="1950" kern="0" baseline="-14957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277861" y="2214117"/>
            <a:ext cx="331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kern="0" spc="-25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1950" kern="0" spc="-37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𝑀</a:t>
            </a:r>
            <a:endParaRPr sz="1950" kern="0" baseline="-14957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62928" y="2207767"/>
            <a:ext cx="340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kern="0" spc="-25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1950" kern="0" spc="-37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𝑚</a:t>
            </a:r>
            <a:endParaRPr sz="1950" kern="0" baseline="-14957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11038" y="2212594"/>
            <a:ext cx="5143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100" kern="0" spc="-315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100" kern="0" spc="-18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365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endParaRPr sz="2100" kern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49211" y="2206244"/>
            <a:ext cx="5143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100" kern="0" spc="-315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100" kern="0" spc="-18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365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endParaRPr sz="2100" kern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791200" y="2671572"/>
            <a:ext cx="451484" cy="871855"/>
            <a:chOff x="5791200" y="2671572"/>
            <a:chExt cx="451484" cy="871855"/>
          </a:xfrm>
        </p:grpSpPr>
        <p:sp>
          <p:nvSpPr>
            <p:cNvPr id="52" name="object 52"/>
            <p:cNvSpPr/>
            <p:nvPr/>
          </p:nvSpPr>
          <p:spPr>
            <a:xfrm>
              <a:off x="5804153" y="2684526"/>
              <a:ext cx="425450" cy="845819"/>
            </a:xfrm>
            <a:custGeom>
              <a:avLst/>
              <a:gdLst/>
              <a:ahLst/>
              <a:cxnLst/>
              <a:rect l="l" t="t" r="r" b="b"/>
              <a:pathLst>
                <a:path w="425450" h="845820">
                  <a:moveTo>
                    <a:pt x="318897" y="0"/>
                  </a:moveTo>
                  <a:lnTo>
                    <a:pt x="106299" y="0"/>
                  </a:lnTo>
                  <a:lnTo>
                    <a:pt x="106299" y="633222"/>
                  </a:lnTo>
                  <a:lnTo>
                    <a:pt x="0" y="633222"/>
                  </a:lnTo>
                  <a:lnTo>
                    <a:pt x="212598" y="845820"/>
                  </a:lnTo>
                  <a:lnTo>
                    <a:pt x="425196" y="633222"/>
                  </a:lnTo>
                  <a:lnTo>
                    <a:pt x="318897" y="633222"/>
                  </a:lnTo>
                  <a:lnTo>
                    <a:pt x="3188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5804153" y="2684526"/>
              <a:ext cx="425450" cy="845819"/>
            </a:xfrm>
            <a:custGeom>
              <a:avLst/>
              <a:gdLst/>
              <a:ahLst/>
              <a:cxnLst/>
              <a:rect l="l" t="t" r="r" b="b"/>
              <a:pathLst>
                <a:path w="425450" h="845820">
                  <a:moveTo>
                    <a:pt x="0" y="633222"/>
                  </a:moveTo>
                  <a:lnTo>
                    <a:pt x="106299" y="633222"/>
                  </a:lnTo>
                  <a:lnTo>
                    <a:pt x="106299" y="0"/>
                  </a:lnTo>
                  <a:lnTo>
                    <a:pt x="318897" y="0"/>
                  </a:lnTo>
                  <a:lnTo>
                    <a:pt x="318897" y="633222"/>
                  </a:lnTo>
                  <a:lnTo>
                    <a:pt x="425196" y="633222"/>
                  </a:lnTo>
                  <a:lnTo>
                    <a:pt x="212598" y="845820"/>
                  </a:lnTo>
                  <a:lnTo>
                    <a:pt x="0" y="63322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4" name="object 54"/>
          <p:cNvSpPr/>
          <p:nvPr/>
        </p:nvSpPr>
        <p:spPr>
          <a:xfrm>
            <a:off x="4158741" y="2382011"/>
            <a:ext cx="735330" cy="843915"/>
          </a:xfrm>
          <a:custGeom>
            <a:avLst/>
            <a:gdLst/>
            <a:ahLst/>
            <a:cxnLst/>
            <a:rect l="l" t="t" r="r" b="b"/>
            <a:pathLst>
              <a:path w="735329" h="843914">
                <a:moveTo>
                  <a:pt x="680084" y="53323"/>
                </a:moveTo>
                <a:lnTo>
                  <a:pt x="0" y="835025"/>
                </a:lnTo>
                <a:lnTo>
                  <a:pt x="9652" y="843407"/>
                </a:lnTo>
                <a:lnTo>
                  <a:pt x="689649" y="61661"/>
                </a:lnTo>
                <a:lnTo>
                  <a:pt x="680084" y="53323"/>
                </a:lnTo>
                <a:close/>
              </a:path>
              <a:path w="735329" h="843914">
                <a:moveTo>
                  <a:pt x="723657" y="43687"/>
                </a:moveTo>
                <a:lnTo>
                  <a:pt x="688467" y="43687"/>
                </a:lnTo>
                <a:lnTo>
                  <a:pt x="697992" y="52069"/>
                </a:lnTo>
                <a:lnTo>
                  <a:pt x="689649" y="61661"/>
                </a:lnTo>
                <a:lnTo>
                  <a:pt x="713613" y="82550"/>
                </a:lnTo>
                <a:lnTo>
                  <a:pt x="723657" y="43687"/>
                </a:lnTo>
                <a:close/>
              </a:path>
              <a:path w="735329" h="843914">
                <a:moveTo>
                  <a:pt x="688467" y="43687"/>
                </a:moveTo>
                <a:lnTo>
                  <a:pt x="680084" y="53323"/>
                </a:lnTo>
                <a:lnTo>
                  <a:pt x="689649" y="61661"/>
                </a:lnTo>
                <a:lnTo>
                  <a:pt x="697992" y="52069"/>
                </a:lnTo>
                <a:lnTo>
                  <a:pt x="688467" y="43687"/>
                </a:lnTo>
                <a:close/>
              </a:path>
              <a:path w="735329" h="843914">
                <a:moveTo>
                  <a:pt x="734949" y="0"/>
                </a:moveTo>
                <a:lnTo>
                  <a:pt x="656209" y="32512"/>
                </a:lnTo>
                <a:lnTo>
                  <a:pt x="680084" y="53323"/>
                </a:lnTo>
                <a:lnTo>
                  <a:pt x="688467" y="43687"/>
                </a:lnTo>
                <a:lnTo>
                  <a:pt x="723657" y="43687"/>
                </a:lnTo>
                <a:lnTo>
                  <a:pt x="734949" y="0"/>
                </a:lnTo>
                <a:close/>
              </a:path>
            </a:pathLst>
          </a:custGeom>
          <a:solidFill>
            <a:srgbClr val="FDA839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5968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LIME</a:t>
            </a:r>
            <a:r>
              <a:rPr lang="en-IN" spc="-160" dirty="0"/>
              <a:t> </a:t>
            </a:r>
            <a:r>
              <a:rPr lang="en-IN" spc="-35" dirty="0">
                <a:latin typeface="kiloji"/>
                <a:cs typeface="kiloji"/>
              </a:rPr>
              <a:t>－</a:t>
            </a:r>
            <a:r>
              <a:rPr lang="en-IN" spc="-585" dirty="0">
                <a:latin typeface="kiloji"/>
                <a:cs typeface="kiloji"/>
              </a:rPr>
              <a:t> </a:t>
            </a:r>
            <a:r>
              <a:rPr lang="en-IN" spc="-10" dirty="0"/>
              <a:t>Image</a:t>
            </a:r>
            <a:endParaRPr lang="en-IN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5820" y="193547"/>
            <a:ext cx="1037844" cy="10256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2784" y="147828"/>
            <a:ext cx="1103369" cy="11140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797296" y="510540"/>
            <a:ext cx="387350" cy="405765"/>
            <a:chOff x="5797296" y="510540"/>
            <a:chExt cx="387350" cy="405765"/>
          </a:xfrm>
        </p:grpSpPr>
        <p:sp>
          <p:nvSpPr>
            <p:cNvPr id="6" name="object 6"/>
            <p:cNvSpPr/>
            <p:nvPr/>
          </p:nvSpPr>
          <p:spPr>
            <a:xfrm>
              <a:off x="5810250" y="523494"/>
              <a:ext cx="361315" cy="379730"/>
            </a:xfrm>
            <a:custGeom>
              <a:avLst/>
              <a:gdLst/>
              <a:ahLst/>
              <a:cxnLst/>
              <a:rect l="l" t="t" r="r" b="b"/>
              <a:pathLst>
                <a:path w="361314" h="379730">
                  <a:moveTo>
                    <a:pt x="180594" y="0"/>
                  </a:moveTo>
                  <a:lnTo>
                    <a:pt x="180594" y="94868"/>
                  </a:lnTo>
                  <a:lnTo>
                    <a:pt x="0" y="94868"/>
                  </a:lnTo>
                  <a:lnTo>
                    <a:pt x="0" y="284606"/>
                  </a:lnTo>
                  <a:lnTo>
                    <a:pt x="180594" y="284606"/>
                  </a:lnTo>
                  <a:lnTo>
                    <a:pt x="180594" y="379475"/>
                  </a:lnTo>
                  <a:lnTo>
                    <a:pt x="361188" y="189737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810250" y="523494"/>
              <a:ext cx="361315" cy="379730"/>
            </a:xfrm>
            <a:custGeom>
              <a:avLst/>
              <a:gdLst/>
              <a:ahLst/>
              <a:cxnLst/>
              <a:rect l="l" t="t" r="r" b="b"/>
              <a:pathLst>
                <a:path w="361314" h="379730">
                  <a:moveTo>
                    <a:pt x="0" y="94868"/>
                  </a:moveTo>
                  <a:lnTo>
                    <a:pt x="180594" y="94868"/>
                  </a:lnTo>
                  <a:lnTo>
                    <a:pt x="180594" y="0"/>
                  </a:lnTo>
                  <a:lnTo>
                    <a:pt x="361188" y="189737"/>
                  </a:lnTo>
                  <a:lnTo>
                    <a:pt x="180594" y="379475"/>
                  </a:lnTo>
                  <a:lnTo>
                    <a:pt x="180594" y="284606"/>
                  </a:lnTo>
                  <a:lnTo>
                    <a:pt x="0" y="284606"/>
                  </a:lnTo>
                  <a:lnTo>
                    <a:pt x="0" y="9486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33569" y="1807464"/>
            <a:ext cx="1172210" cy="1664335"/>
            <a:chOff x="833569" y="1807464"/>
            <a:chExt cx="1172210" cy="16643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728" y="1807464"/>
              <a:ext cx="1100328" cy="7940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3569" y="2915409"/>
              <a:ext cx="1172084" cy="4831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5444" y="2910827"/>
              <a:ext cx="1065276" cy="5608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1728" y="2933700"/>
              <a:ext cx="1100328" cy="41148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98575" y="4567834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0.85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2489" y="3679697"/>
            <a:ext cx="1100455" cy="527685"/>
          </a:xfrm>
          <a:prstGeom prst="rect">
            <a:avLst/>
          </a:prstGeom>
          <a:solidFill>
            <a:srgbClr val="FFAB40"/>
          </a:solidFill>
          <a:ln w="25908">
            <a:solidFill>
              <a:srgbClr val="BB7C2C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232410">
              <a:spcBef>
                <a:spcPts val="950"/>
              </a:spcBef>
            </a:pPr>
            <a:r>
              <a:rPr kern="0" spc="-1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30452" y="4217670"/>
            <a:ext cx="114300" cy="323215"/>
          </a:xfrm>
          <a:custGeom>
            <a:avLst/>
            <a:gdLst/>
            <a:ahLst/>
            <a:cxnLst/>
            <a:rect l="l" t="t" r="r" b="b"/>
            <a:pathLst>
              <a:path w="114300" h="323214">
                <a:moveTo>
                  <a:pt x="38100" y="208470"/>
                </a:moveTo>
                <a:lnTo>
                  <a:pt x="0" y="208470"/>
                </a:lnTo>
                <a:lnTo>
                  <a:pt x="57150" y="322770"/>
                </a:lnTo>
                <a:lnTo>
                  <a:pt x="104775" y="227520"/>
                </a:lnTo>
                <a:lnTo>
                  <a:pt x="38100" y="227520"/>
                </a:lnTo>
                <a:lnTo>
                  <a:pt x="38100" y="208470"/>
                </a:lnTo>
                <a:close/>
              </a:path>
              <a:path w="114300" h="323214">
                <a:moveTo>
                  <a:pt x="76200" y="0"/>
                </a:moveTo>
                <a:lnTo>
                  <a:pt x="38100" y="0"/>
                </a:lnTo>
                <a:lnTo>
                  <a:pt x="38100" y="227520"/>
                </a:lnTo>
                <a:lnTo>
                  <a:pt x="76200" y="227520"/>
                </a:lnTo>
                <a:lnTo>
                  <a:pt x="76200" y="0"/>
                </a:lnTo>
                <a:close/>
              </a:path>
              <a:path w="114300" h="323214">
                <a:moveTo>
                  <a:pt x="114300" y="208470"/>
                </a:moveTo>
                <a:lnTo>
                  <a:pt x="76200" y="208470"/>
                </a:lnTo>
                <a:lnTo>
                  <a:pt x="76200" y="227520"/>
                </a:lnTo>
                <a:lnTo>
                  <a:pt x="104775" y="227520"/>
                </a:lnTo>
                <a:lnTo>
                  <a:pt x="114300" y="208470"/>
                </a:lnTo>
                <a:close/>
              </a:path>
            </a:pathLst>
          </a:custGeom>
          <a:solidFill>
            <a:srgbClr val="FDA839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1727" y="2933700"/>
            <a:ext cx="1100455" cy="411480"/>
          </a:xfrm>
          <a:prstGeom prst="rect">
            <a:avLst/>
          </a:prstGeom>
          <a:ln w="9144">
            <a:solidFill>
              <a:srgbClr val="EBFD3A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93675">
              <a:spcBef>
                <a:spcPts val="500"/>
              </a:spcBef>
            </a:pP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Extract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44168" y="2611373"/>
            <a:ext cx="114300" cy="1068070"/>
          </a:xfrm>
          <a:custGeom>
            <a:avLst/>
            <a:gdLst/>
            <a:ahLst/>
            <a:cxnLst/>
            <a:rect l="l" t="t" r="r" b="b"/>
            <a:pathLst>
              <a:path w="114300" h="1068070">
                <a:moveTo>
                  <a:pt x="114300" y="953770"/>
                </a:moveTo>
                <a:lnTo>
                  <a:pt x="76200" y="953770"/>
                </a:lnTo>
                <a:lnTo>
                  <a:pt x="76200" y="745236"/>
                </a:lnTo>
                <a:lnTo>
                  <a:pt x="38100" y="745236"/>
                </a:lnTo>
                <a:lnTo>
                  <a:pt x="38100" y="953770"/>
                </a:lnTo>
                <a:lnTo>
                  <a:pt x="0" y="953770"/>
                </a:lnTo>
                <a:lnTo>
                  <a:pt x="57150" y="1068070"/>
                </a:lnTo>
                <a:lnTo>
                  <a:pt x="104775" y="972820"/>
                </a:lnTo>
                <a:lnTo>
                  <a:pt x="114300" y="953770"/>
                </a:lnTo>
                <a:close/>
              </a:path>
              <a:path w="114300" h="1068070">
                <a:moveTo>
                  <a:pt x="114300" y="208534"/>
                </a:moveTo>
                <a:lnTo>
                  <a:pt x="76200" y="208534"/>
                </a:lnTo>
                <a:lnTo>
                  <a:pt x="76200" y="0"/>
                </a:lnTo>
                <a:lnTo>
                  <a:pt x="38100" y="0"/>
                </a:lnTo>
                <a:lnTo>
                  <a:pt x="38100" y="208534"/>
                </a:lnTo>
                <a:lnTo>
                  <a:pt x="0" y="208534"/>
                </a:lnTo>
                <a:lnTo>
                  <a:pt x="57150" y="322834"/>
                </a:lnTo>
                <a:lnTo>
                  <a:pt x="104775" y="227584"/>
                </a:lnTo>
                <a:lnTo>
                  <a:pt x="114300" y="208534"/>
                </a:lnTo>
                <a:close/>
              </a:path>
            </a:pathLst>
          </a:custGeom>
          <a:solidFill>
            <a:srgbClr val="FDA839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150" y="1238834"/>
            <a:ext cx="6710680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spcBef>
                <a:spcPts val="100"/>
              </a:spcBef>
              <a:buFont typeface="Times New Roman"/>
              <a:buChar char="●"/>
              <a:tabLst>
                <a:tab pos="367665" algn="l"/>
              </a:tabLst>
            </a:pPr>
            <a:r>
              <a:rPr kern="0" spc="-125" dirty="0">
                <a:solidFill>
                  <a:srgbClr val="585858"/>
                </a:solidFill>
                <a:latin typeface="Verdana"/>
                <a:cs typeface="Verdana"/>
              </a:rPr>
              <a:t>4.</a:t>
            </a:r>
            <a:r>
              <a:rPr kern="0" spc="-13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spc="-10" dirty="0">
                <a:solidFill>
                  <a:srgbClr val="585858"/>
                </a:solidFill>
                <a:latin typeface="Verdana"/>
                <a:cs typeface="Verdana"/>
              </a:rPr>
              <a:t>Interpret</a:t>
            </a:r>
            <a:r>
              <a:rPr kern="0" spc="-16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dirty="0">
                <a:solidFill>
                  <a:srgbClr val="585858"/>
                </a:solidFill>
                <a:latin typeface="Verdana"/>
                <a:cs typeface="Verdana"/>
              </a:rPr>
              <a:t>the</a:t>
            </a:r>
            <a:r>
              <a:rPr kern="0" spc="-14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spc="50" dirty="0">
                <a:solidFill>
                  <a:srgbClr val="585858"/>
                </a:solidFill>
                <a:latin typeface="Verdana"/>
                <a:cs typeface="Verdana"/>
              </a:rPr>
              <a:t>model</a:t>
            </a:r>
            <a:r>
              <a:rPr kern="0" spc="-12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dirty="0">
                <a:solidFill>
                  <a:srgbClr val="585858"/>
                </a:solidFill>
                <a:latin typeface="Verdana"/>
                <a:cs typeface="Verdana"/>
              </a:rPr>
              <a:t>you</a:t>
            </a:r>
            <a:r>
              <a:rPr kern="0" spc="-13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kern="0" spc="-10" dirty="0">
                <a:solidFill>
                  <a:srgbClr val="585858"/>
                </a:solidFill>
                <a:latin typeface="Verdana"/>
                <a:cs typeface="Verdana"/>
              </a:rPr>
              <a:t>learned</a:t>
            </a:r>
            <a:endParaRPr kern="0" dirty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2494280">
              <a:spcBef>
                <a:spcPts val="2125"/>
              </a:spcBef>
            </a:pP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𝑦</a:t>
            </a:r>
            <a:r>
              <a:rPr sz="2100" kern="0" spc="7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=</a:t>
            </a:r>
            <a:r>
              <a:rPr sz="2100" kern="0" spc="6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𝑤</a:t>
            </a:r>
            <a:r>
              <a:rPr sz="2250" kern="0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250" kern="0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r>
              <a:rPr sz="2250" kern="0" spc="247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+</a:t>
            </a:r>
            <a:r>
              <a:rPr sz="2100" kern="0" spc="-5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315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100" kern="0" spc="-18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90" dirty="0">
                <a:solidFill>
                  <a:sysClr val="windowText" lastClr="000000"/>
                </a:solidFill>
                <a:latin typeface="Symbola"/>
                <a:cs typeface="Symbola"/>
              </a:rPr>
              <a:t>+</a:t>
            </a:r>
            <a:r>
              <a:rPr sz="2100" kern="0" spc="-5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𝑤</a:t>
            </a:r>
            <a:r>
              <a:rPr sz="2250" kern="0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𝑚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250" kern="0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𝑚</a:t>
            </a:r>
            <a:r>
              <a:rPr sz="2250" kern="0" spc="292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90" dirty="0">
                <a:solidFill>
                  <a:sysClr val="windowText" lastClr="000000"/>
                </a:solidFill>
                <a:latin typeface="Symbola"/>
                <a:cs typeface="Symbola"/>
              </a:rPr>
              <a:t>+</a:t>
            </a:r>
            <a:r>
              <a:rPr sz="2100" kern="0" spc="-5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315" dirty="0">
                <a:solidFill>
                  <a:sysClr val="windowText" lastClr="000000"/>
                </a:solidFill>
                <a:latin typeface="Symbola"/>
                <a:cs typeface="Symbola"/>
              </a:rPr>
              <a:t>⋯</a:t>
            </a:r>
            <a:r>
              <a:rPr sz="2100" kern="0" spc="-175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+</a:t>
            </a:r>
            <a:r>
              <a:rPr sz="2100" kern="0" spc="-5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20" dirty="0">
                <a:solidFill>
                  <a:sysClr val="windowText" lastClr="000000"/>
                </a:solidFill>
                <a:latin typeface="Symbola"/>
                <a:cs typeface="Symbola"/>
              </a:rPr>
              <a:t>𝑤</a:t>
            </a:r>
            <a:r>
              <a:rPr sz="2250" kern="0" spc="-30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𝑀</a:t>
            </a:r>
            <a:r>
              <a:rPr sz="2100" kern="0" spc="-2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250" kern="0" spc="-30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𝑀</a:t>
            </a:r>
            <a:endParaRPr sz="2250" kern="0" baseline="-16666" dirty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8807" y="2950540"/>
            <a:ext cx="31375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69570" algn="l"/>
              </a:tabLst>
            </a:pPr>
            <a:r>
              <a:rPr sz="3150" kern="0" spc="-75" baseline="1322" dirty="0">
                <a:solidFill>
                  <a:sysClr val="windowText" lastClr="000000"/>
                </a:solidFill>
                <a:latin typeface="Symbola"/>
                <a:cs typeface="Symbola"/>
              </a:rPr>
              <a:t>𝑀</a:t>
            </a:r>
            <a:r>
              <a:rPr sz="3150" kern="0" baseline="1322" dirty="0">
                <a:solidFill>
                  <a:sysClr val="windowText" lastClr="000000"/>
                </a:solidFill>
                <a:latin typeface="Symbola"/>
                <a:cs typeface="Symbola"/>
              </a:rPr>
              <a:t>	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number of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segments.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99524" y="2317262"/>
            <a:ext cx="1220736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𝑥</a:t>
            </a:r>
            <a:r>
              <a:rPr sz="2250" kern="0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𝑚</a:t>
            </a:r>
            <a:r>
              <a:rPr sz="2250" kern="0" spc="434" baseline="-16666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dirty="0">
                <a:solidFill>
                  <a:sysClr val="windowText" lastClr="000000"/>
                </a:solidFill>
                <a:latin typeface="Symbola"/>
                <a:cs typeface="Symbola"/>
              </a:rPr>
              <a:t>=</a:t>
            </a:r>
            <a:r>
              <a:rPr sz="2100" kern="0" spc="4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sz="2100" kern="0" spc="-500" dirty="0">
                <a:solidFill>
                  <a:sysClr val="windowText" lastClr="000000"/>
                </a:solidFill>
                <a:latin typeface="Symbola"/>
                <a:cs typeface="Symbola"/>
              </a:rPr>
              <a:t>൜</a:t>
            </a:r>
            <a:r>
              <a:rPr lang="en-US" sz="2100" kern="0" spc="-500" dirty="0">
                <a:solidFill>
                  <a:sysClr val="windowText" lastClr="000000"/>
                </a:solidFill>
                <a:latin typeface="Symbola"/>
                <a:cs typeface="Symbola"/>
              </a:rPr>
              <a:t>    </a:t>
            </a:r>
            <a:endParaRPr sz="3150" kern="0" baseline="30423" dirty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37589" y="2118321"/>
            <a:ext cx="173355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lang="en-US" sz="2100" kern="0" spc="55" dirty="0">
                <a:solidFill>
                  <a:sysClr val="windowText" lastClr="000000"/>
                </a:solidFill>
                <a:latin typeface="Symbola"/>
                <a:cs typeface="Symbola"/>
              </a:rPr>
              <a:t>0</a:t>
            </a:r>
            <a:br>
              <a:rPr lang="en-US" sz="2100" kern="0" spc="55" dirty="0">
                <a:solidFill>
                  <a:sysClr val="windowText" lastClr="000000"/>
                </a:solidFill>
                <a:latin typeface="Symbola"/>
                <a:cs typeface="Symbola"/>
              </a:rPr>
            </a:br>
            <a:r>
              <a:rPr sz="2100" kern="0" spc="55" dirty="0">
                <a:solidFill>
                  <a:sysClr val="windowText" lastClr="000000"/>
                </a:solidFill>
                <a:latin typeface="Symbola"/>
                <a:cs typeface="Symbola"/>
              </a:rPr>
              <a:t>1</a:t>
            </a:r>
            <a:endParaRPr sz="2100" kern="0" dirty="0">
              <a:solidFill>
                <a:sysClr val="windowText" lastClr="000000"/>
              </a:solidFill>
              <a:latin typeface="Symbola"/>
              <a:cs typeface="Symbol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28160" y="2126983"/>
            <a:ext cx="2301240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 marR="5080" indent="-22860">
              <a:lnSpc>
                <a:spcPct val="110000"/>
              </a:lnSpc>
              <a:spcBef>
                <a:spcPts val="100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Segment</a:t>
            </a:r>
            <a:r>
              <a:rPr kern="0" spc="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deleted.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Segment</a:t>
            </a:r>
            <a:r>
              <a:rPr kern="0" spc="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exists.</a:t>
            </a:r>
            <a:endParaRPr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77185" y="3330340"/>
            <a:ext cx="1743075" cy="12973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690880">
              <a:spcBef>
                <a:spcPts val="1095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If</a:t>
            </a:r>
            <a:r>
              <a:rPr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𝑤</a:t>
            </a:r>
            <a:r>
              <a:rPr sz="1950" kern="0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𝑚</a:t>
            </a:r>
            <a:r>
              <a:rPr sz="1950" kern="0" spc="292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Symbola"/>
                <a:cs typeface="Symbola"/>
              </a:rPr>
              <a:t>≈</a:t>
            </a:r>
            <a:r>
              <a:rPr kern="0" spc="-10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kern="0" spc="40" dirty="0">
                <a:solidFill>
                  <a:sysClr val="windowText" lastClr="000000"/>
                </a:solidFill>
                <a:latin typeface="Symbola"/>
                <a:cs typeface="Symbola"/>
              </a:rPr>
              <a:t>0</a:t>
            </a:r>
            <a:endParaRPr kern="0">
              <a:solidFill>
                <a:sysClr val="windowText" lastClr="000000"/>
              </a:solidFill>
              <a:latin typeface="Symbola"/>
              <a:cs typeface="Symbola"/>
            </a:endParaRPr>
          </a:p>
          <a:p>
            <a:pPr marL="38100">
              <a:spcBef>
                <a:spcPts val="1000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If</a:t>
            </a:r>
            <a:r>
              <a:rPr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𝑤</a:t>
            </a:r>
            <a:r>
              <a:rPr sz="1950" kern="0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𝑚</a:t>
            </a:r>
            <a:r>
              <a:rPr sz="1950" kern="0" spc="337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positive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8100">
              <a:spcBef>
                <a:spcPts val="1535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If</a:t>
            </a:r>
            <a:r>
              <a:rPr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Symbola"/>
                <a:cs typeface="Symbola"/>
              </a:rPr>
              <a:t>𝑤</a:t>
            </a:r>
            <a:r>
              <a:rPr sz="1950" kern="0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𝑚</a:t>
            </a:r>
            <a:r>
              <a:rPr sz="1950" kern="0" spc="337" baseline="-14957" dirty="0">
                <a:solidFill>
                  <a:sysClr val="windowText" lastClr="000000"/>
                </a:solidFill>
                <a:latin typeface="Symbola"/>
                <a:cs typeface="Symbola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negative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1375" y="3424808"/>
            <a:ext cx="4446905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segment</a:t>
            </a:r>
            <a:r>
              <a:rPr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not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related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“frog”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1435">
              <a:spcBef>
                <a:spcPts val="1325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segment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indicates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image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“frog”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1435">
              <a:spcBef>
                <a:spcPts val="1415"/>
              </a:spcBef>
            </a:pP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segment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indicates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image</a:t>
            </a:r>
            <a:r>
              <a:rPr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dirty="0">
                <a:solidFill>
                  <a:sysClr val="windowText" lastClr="000000"/>
                </a:solidFill>
                <a:latin typeface="Arial"/>
                <a:cs typeface="Arial"/>
              </a:rPr>
              <a:t>not</a:t>
            </a:r>
            <a:r>
              <a:rPr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“frog”</a:t>
            </a:r>
            <a:endParaRPr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084320" y="3474720"/>
            <a:ext cx="337185" cy="283845"/>
            <a:chOff x="4084320" y="3474720"/>
            <a:chExt cx="337185" cy="283845"/>
          </a:xfrm>
        </p:grpSpPr>
        <p:sp>
          <p:nvSpPr>
            <p:cNvPr id="26" name="object 26"/>
            <p:cNvSpPr/>
            <p:nvPr/>
          </p:nvSpPr>
          <p:spPr>
            <a:xfrm>
              <a:off x="4097274" y="3487674"/>
              <a:ext cx="311150" cy="257810"/>
            </a:xfrm>
            <a:custGeom>
              <a:avLst/>
              <a:gdLst/>
              <a:ahLst/>
              <a:cxnLst/>
              <a:rect l="l" t="t" r="r" b="b"/>
              <a:pathLst>
                <a:path w="311150" h="257810">
                  <a:moveTo>
                    <a:pt x="182117" y="0"/>
                  </a:moveTo>
                  <a:lnTo>
                    <a:pt x="182117" y="64388"/>
                  </a:lnTo>
                  <a:lnTo>
                    <a:pt x="0" y="64388"/>
                  </a:lnTo>
                  <a:lnTo>
                    <a:pt x="0" y="193166"/>
                  </a:lnTo>
                  <a:lnTo>
                    <a:pt x="182117" y="193166"/>
                  </a:lnTo>
                  <a:lnTo>
                    <a:pt x="182117" y="257556"/>
                  </a:lnTo>
                  <a:lnTo>
                    <a:pt x="310896" y="128778"/>
                  </a:lnTo>
                  <a:lnTo>
                    <a:pt x="182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097274" y="3487674"/>
              <a:ext cx="311150" cy="257810"/>
            </a:xfrm>
            <a:custGeom>
              <a:avLst/>
              <a:gdLst/>
              <a:ahLst/>
              <a:cxnLst/>
              <a:rect l="l" t="t" r="r" b="b"/>
              <a:pathLst>
                <a:path w="311150" h="257810">
                  <a:moveTo>
                    <a:pt x="0" y="64388"/>
                  </a:moveTo>
                  <a:lnTo>
                    <a:pt x="182117" y="64388"/>
                  </a:lnTo>
                  <a:lnTo>
                    <a:pt x="182117" y="0"/>
                  </a:lnTo>
                  <a:lnTo>
                    <a:pt x="310896" y="128778"/>
                  </a:lnTo>
                  <a:lnTo>
                    <a:pt x="182117" y="257556"/>
                  </a:lnTo>
                  <a:lnTo>
                    <a:pt x="182117" y="193166"/>
                  </a:lnTo>
                  <a:lnTo>
                    <a:pt x="0" y="193166"/>
                  </a:lnTo>
                  <a:lnTo>
                    <a:pt x="0" y="6438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084320" y="3921252"/>
            <a:ext cx="337185" cy="283845"/>
            <a:chOff x="4084320" y="3921252"/>
            <a:chExt cx="337185" cy="283845"/>
          </a:xfrm>
        </p:grpSpPr>
        <p:sp>
          <p:nvSpPr>
            <p:cNvPr id="29" name="object 29"/>
            <p:cNvSpPr/>
            <p:nvPr/>
          </p:nvSpPr>
          <p:spPr>
            <a:xfrm>
              <a:off x="4097274" y="3934206"/>
              <a:ext cx="311150" cy="257810"/>
            </a:xfrm>
            <a:custGeom>
              <a:avLst/>
              <a:gdLst/>
              <a:ahLst/>
              <a:cxnLst/>
              <a:rect l="l" t="t" r="r" b="b"/>
              <a:pathLst>
                <a:path w="311150" h="257810">
                  <a:moveTo>
                    <a:pt x="182117" y="0"/>
                  </a:moveTo>
                  <a:lnTo>
                    <a:pt x="182117" y="64389"/>
                  </a:lnTo>
                  <a:lnTo>
                    <a:pt x="0" y="64389"/>
                  </a:lnTo>
                  <a:lnTo>
                    <a:pt x="0" y="193167"/>
                  </a:lnTo>
                  <a:lnTo>
                    <a:pt x="182117" y="193167"/>
                  </a:lnTo>
                  <a:lnTo>
                    <a:pt x="182117" y="257556"/>
                  </a:lnTo>
                  <a:lnTo>
                    <a:pt x="310896" y="128778"/>
                  </a:lnTo>
                  <a:lnTo>
                    <a:pt x="182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097274" y="3934206"/>
              <a:ext cx="311150" cy="257810"/>
            </a:xfrm>
            <a:custGeom>
              <a:avLst/>
              <a:gdLst/>
              <a:ahLst/>
              <a:cxnLst/>
              <a:rect l="l" t="t" r="r" b="b"/>
              <a:pathLst>
                <a:path w="311150" h="257810">
                  <a:moveTo>
                    <a:pt x="0" y="64389"/>
                  </a:moveTo>
                  <a:lnTo>
                    <a:pt x="182117" y="64389"/>
                  </a:lnTo>
                  <a:lnTo>
                    <a:pt x="182117" y="0"/>
                  </a:lnTo>
                  <a:lnTo>
                    <a:pt x="310896" y="128778"/>
                  </a:lnTo>
                  <a:lnTo>
                    <a:pt x="182117" y="257556"/>
                  </a:lnTo>
                  <a:lnTo>
                    <a:pt x="182117" y="193167"/>
                  </a:lnTo>
                  <a:lnTo>
                    <a:pt x="0" y="193167"/>
                  </a:lnTo>
                  <a:lnTo>
                    <a:pt x="0" y="6438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090415" y="4366259"/>
            <a:ext cx="337185" cy="283845"/>
            <a:chOff x="4090415" y="4366259"/>
            <a:chExt cx="337185" cy="283845"/>
          </a:xfrm>
        </p:grpSpPr>
        <p:sp>
          <p:nvSpPr>
            <p:cNvPr id="32" name="object 32"/>
            <p:cNvSpPr/>
            <p:nvPr/>
          </p:nvSpPr>
          <p:spPr>
            <a:xfrm>
              <a:off x="4103369" y="4379213"/>
              <a:ext cx="311150" cy="257810"/>
            </a:xfrm>
            <a:custGeom>
              <a:avLst/>
              <a:gdLst/>
              <a:ahLst/>
              <a:cxnLst/>
              <a:rect l="l" t="t" r="r" b="b"/>
              <a:pathLst>
                <a:path w="311150" h="257810">
                  <a:moveTo>
                    <a:pt x="182117" y="0"/>
                  </a:moveTo>
                  <a:lnTo>
                    <a:pt x="182117" y="64389"/>
                  </a:lnTo>
                  <a:lnTo>
                    <a:pt x="0" y="64389"/>
                  </a:lnTo>
                  <a:lnTo>
                    <a:pt x="0" y="193167"/>
                  </a:lnTo>
                  <a:lnTo>
                    <a:pt x="182117" y="193167"/>
                  </a:lnTo>
                  <a:lnTo>
                    <a:pt x="182117" y="257556"/>
                  </a:lnTo>
                  <a:lnTo>
                    <a:pt x="310895" y="128778"/>
                  </a:lnTo>
                  <a:lnTo>
                    <a:pt x="182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103369" y="4379213"/>
              <a:ext cx="311150" cy="257810"/>
            </a:xfrm>
            <a:custGeom>
              <a:avLst/>
              <a:gdLst/>
              <a:ahLst/>
              <a:cxnLst/>
              <a:rect l="l" t="t" r="r" b="b"/>
              <a:pathLst>
                <a:path w="311150" h="257810">
                  <a:moveTo>
                    <a:pt x="0" y="64389"/>
                  </a:moveTo>
                  <a:lnTo>
                    <a:pt x="182117" y="64389"/>
                  </a:lnTo>
                  <a:lnTo>
                    <a:pt x="182117" y="0"/>
                  </a:lnTo>
                  <a:lnTo>
                    <a:pt x="310895" y="128778"/>
                  </a:lnTo>
                  <a:lnTo>
                    <a:pt x="182117" y="257556"/>
                  </a:lnTo>
                  <a:lnTo>
                    <a:pt x="182117" y="193167"/>
                  </a:lnTo>
                  <a:lnTo>
                    <a:pt x="0" y="193167"/>
                  </a:lnTo>
                  <a:lnTo>
                    <a:pt x="0" y="6438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62776" y="4814722"/>
            <a:ext cx="22167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(Slide</a:t>
            </a:r>
            <a:r>
              <a:rPr sz="1400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Credit</a:t>
            </a:r>
            <a:r>
              <a:rPr sz="1400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1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Hung-</a:t>
            </a:r>
            <a:r>
              <a:rPr sz="1400" kern="0" dirty="0">
                <a:solidFill>
                  <a:sysClr val="windowText" lastClr="000000"/>
                </a:solidFill>
                <a:latin typeface="Arial"/>
                <a:cs typeface="Arial"/>
              </a:rPr>
              <a:t>yi</a:t>
            </a:r>
            <a:r>
              <a:rPr sz="1400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Lee)</a:t>
            </a:r>
            <a:endParaRPr sz="1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36548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56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spc="-5" dirty="0"/>
              <a:t>Google</a:t>
            </a:r>
            <a:r>
              <a:rPr sz="2800" spc="-90" dirty="0"/>
              <a:t> </a:t>
            </a:r>
            <a:r>
              <a:rPr sz="2800" spc="-5" dirty="0"/>
              <a:t>InceptionNet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880248" y="1666966"/>
            <a:ext cx="7316314" cy="19909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26367" y="3618789"/>
            <a:ext cx="672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 =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0.32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8479" y="3618789"/>
            <a:ext cx="672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 =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0.21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1209" y="3627047"/>
            <a:ext cx="723265" cy="45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 =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0.24</a:t>
            </a:r>
            <a:endParaRPr sz="1400">
              <a:latin typeface="Arial"/>
              <a:cs typeface="Arial"/>
            </a:endParaRPr>
          </a:p>
          <a:p>
            <a:pPr marL="97155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x </a:t>
            </a:r>
            <a:r>
              <a:rPr sz="1400" dirty="0">
                <a:latin typeface="AoyagiKouzanFontT"/>
                <a:cs typeface="AoyagiKouzanFontT"/>
              </a:rPr>
              <a:t>⊗</a:t>
            </a:r>
            <a:r>
              <a:rPr sz="1400" spc="-345" dirty="0">
                <a:latin typeface="AoyagiKouzanFontT"/>
                <a:cs typeface="AoyagiKouzanFontT"/>
              </a:rPr>
              <a:t> </a:t>
            </a: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-30864" dirty="0">
                <a:latin typeface="Arial"/>
                <a:cs typeface="Arial"/>
              </a:rPr>
              <a:t>g</a:t>
            </a:r>
            <a:endParaRPr sz="1350" baseline="-30864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55687" y="4200613"/>
            <a:ext cx="4226083" cy="424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21998" y="3856990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31923" y="3898726"/>
            <a:ext cx="1738630" cy="0"/>
          </a:xfrm>
          <a:custGeom>
            <a:avLst/>
            <a:gdLst/>
            <a:ahLst/>
            <a:cxnLst/>
            <a:rect l="l" t="t" r="r" b="b"/>
            <a:pathLst>
              <a:path w="1738630">
                <a:moveTo>
                  <a:pt x="0" y="0"/>
                </a:moveTo>
                <a:lnTo>
                  <a:pt x="1738496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22644" y="3898726"/>
            <a:ext cx="5448300" cy="0"/>
          </a:xfrm>
          <a:custGeom>
            <a:avLst/>
            <a:gdLst/>
            <a:ahLst/>
            <a:cxnLst/>
            <a:rect l="l" t="t" r="r" b="b"/>
            <a:pathLst>
              <a:path w="5448300">
                <a:moveTo>
                  <a:pt x="0" y="0"/>
                </a:moveTo>
                <a:lnTo>
                  <a:pt x="544798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04519" y="1161913"/>
            <a:ext cx="13284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Complexity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Penalty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21854" y="1380444"/>
            <a:ext cx="2926080" cy="528320"/>
            <a:chOff x="3821854" y="1666534"/>
            <a:chExt cx="2926080" cy="528320"/>
          </a:xfrm>
        </p:grpSpPr>
        <p:sp>
          <p:nvSpPr>
            <p:cNvPr id="13" name="object 13"/>
            <p:cNvSpPr/>
            <p:nvPr/>
          </p:nvSpPr>
          <p:spPr>
            <a:xfrm>
              <a:off x="3855517" y="1671296"/>
              <a:ext cx="436880" cy="486409"/>
            </a:xfrm>
            <a:custGeom>
              <a:avLst/>
              <a:gdLst/>
              <a:ahLst/>
              <a:cxnLst/>
              <a:rect l="l" t="t" r="r" b="b"/>
              <a:pathLst>
                <a:path w="436879" h="486410">
                  <a:moveTo>
                    <a:pt x="436699" y="0"/>
                  </a:moveTo>
                  <a:lnTo>
                    <a:pt x="0" y="48608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6617" y="2146868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0" y="42669"/>
                  </a:moveTo>
                  <a:lnTo>
                    <a:pt x="17199" y="0"/>
                  </a:lnTo>
                  <a:lnTo>
                    <a:pt x="40599" y="21029"/>
                  </a:lnTo>
                  <a:lnTo>
                    <a:pt x="0" y="4266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26617" y="2146868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17199" y="0"/>
                  </a:moveTo>
                  <a:lnTo>
                    <a:pt x="0" y="42669"/>
                  </a:lnTo>
                  <a:lnTo>
                    <a:pt x="40599" y="21029"/>
                  </a:lnTo>
                  <a:lnTo>
                    <a:pt x="171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28066" y="1671296"/>
              <a:ext cx="1058545" cy="418465"/>
            </a:xfrm>
            <a:custGeom>
              <a:avLst/>
              <a:gdLst/>
              <a:ahLst/>
              <a:cxnLst/>
              <a:rect l="l" t="t" r="r" b="b"/>
              <a:pathLst>
                <a:path w="1058545" h="418464">
                  <a:moveTo>
                    <a:pt x="0" y="0"/>
                  </a:moveTo>
                  <a:lnTo>
                    <a:pt x="1058047" y="41819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0339" y="207485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45974" y="30519"/>
                  </a:moveTo>
                  <a:lnTo>
                    <a:pt x="0" y="29262"/>
                  </a:lnTo>
                  <a:lnTo>
                    <a:pt x="11549" y="0"/>
                  </a:lnTo>
                  <a:lnTo>
                    <a:pt x="45974" y="3051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80339" y="207485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29262"/>
                  </a:moveTo>
                  <a:lnTo>
                    <a:pt x="45974" y="30519"/>
                  </a:lnTo>
                  <a:lnTo>
                    <a:pt x="11549" y="0"/>
                  </a:lnTo>
                  <a:lnTo>
                    <a:pt x="0" y="292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54941" y="1671296"/>
              <a:ext cx="2345690" cy="499109"/>
            </a:xfrm>
            <a:custGeom>
              <a:avLst/>
              <a:gdLst/>
              <a:ahLst/>
              <a:cxnLst/>
              <a:rect l="l" t="t" r="r" b="b"/>
              <a:pathLst>
                <a:path w="2345690" h="499110">
                  <a:moveTo>
                    <a:pt x="0" y="0"/>
                  </a:moveTo>
                  <a:lnTo>
                    <a:pt x="2345595" y="49900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97261" y="215491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777"/>
                  </a:moveTo>
                  <a:lnTo>
                    <a:pt x="6549" y="0"/>
                  </a:lnTo>
                  <a:lnTo>
                    <a:pt x="45549" y="24382"/>
                  </a:lnTo>
                  <a:lnTo>
                    <a:pt x="0" y="3077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97261" y="215491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777"/>
                  </a:moveTo>
                  <a:lnTo>
                    <a:pt x="45549" y="24382"/>
                  </a:lnTo>
                  <a:lnTo>
                    <a:pt x="6549" y="0"/>
                  </a:lnTo>
                  <a:lnTo>
                    <a:pt x="0" y="3077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31475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324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Example </a:t>
            </a:r>
            <a:r>
              <a:rPr sz="2800" spc="-5" dirty="0"/>
              <a:t>for </a:t>
            </a:r>
            <a:r>
              <a:rPr sz="2800" spc="-10" dirty="0"/>
              <a:t>Bad </a:t>
            </a:r>
            <a:r>
              <a:rPr sz="2800" dirty="0"/>
              <a:t>ML</a:t>
            </a:r>
            <a:r>
              <a:rPr sz="2800" spc="-190" dirty="0"/>
              <a:t> </a:t>
            </a:r>
            <a:r>
              <a:rPr sz="2800" spc="-5" dirty="0"/>
              <a:t>Predictions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210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Explanations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misclassified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Husky as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Wolf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93974" y="1848736"/>
            <a:ext cx="5038207" cy="2592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79259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257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spc="-85" dirty="0"/>
              <a:t>Text</a:t>
            </a:r>
            <a:r>
              <a:rPr sz="2800" spc="-125" dirty="0"/>
              <a:t> </a:t>
            </a:r>
            <a:r>
              <a:rPr sz="2800" spc="-5" dirty="0"/>
              <a:t>Classifiers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604075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Explanations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SVM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classifier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94%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accuracy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arbitrary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reasons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word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“Posting”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appears in 22% of examples in the training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99% of which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attribute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“Atheism”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8744" y="2676335"/>
            <a:ext cx="6944416" cy="1991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65107" y="4618348"/>
            <a:ext cx="2705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-30864" dirty="0">
                <a:latin typeface="Arial"/>
                <a:cs typeface="Arial"/>
              </a:rPr>
              <a:t>g</a:t>
            </a:r>
            <a:endParaRPr sz="1350" baseline="-30864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81422" y="4681156"/>
            <a:ext cx="5486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 </a:t>
            </a:r>
            <a:r>
              <a:rPr sz="1400" dirty="0">
                <a:latin typeface="AoyagiKouzanFontT"/>
                <a:cs typeface="AoyagiKouzanFontT"/>
              </a:rPr>
              <a:t>⊗</a:t>
            </a:r>
            <a:r>
              <a:rPr sz="1400" spc="-375" dirty="0">
                <a:latin typeface="AoyagiKouzanFontT"/>
                <a:cs typeface="AoyagiKouzanFontT"/>
              </a:rPr>
              <a:t> </a:t>
            </a: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-30864" dirty="0">
                <a:latin typeface="Arial"/>
                <a:cs typeface="Arial"/>
              </a:rPr>
              <a:t>g</a:t>
            </a:r>
            <a:endParaRPr sz="1350" baseline="-30864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0639" y="4681146"/>
            <a:ext cx="281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f(x)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63160" y="4687499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45842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56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Faithfulness of</a:t>
            </a:r>
            <a:r>
              <a:rPr sz="2800" spc="-95" dirty="0"/>
              <a:t> </a:t>
            </a:r>
            <a:r>
              <a:rPr sz="2800" spc="-5" dirty="0"/>
              <a:t>Explanations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649046" y="4026667"/>
            <a:ext cx="1784350" cy="67500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85725" marR="327660">
              <a:lnSpc>
                <a:spcPts val="1650"/>
              </a:lnSpc>
              <a:spcBef>
                <a:spcPts val="204"/>
              </a:spcBef>
            </a:pPr>
            <a:r>
              <a:rPr sz="1400" spc="-5" dirty="0">
                <a:latin typeface="Arial"/>
                <a:cs typeface="Arial"/>
              </a:rPr>
              <a:t>Restrict Input to  Utilize at </a:t>
            </a:r>
            <a:r>
              <a:rPr sz="1400" dirty="0">
                <a:latin typeface="Arial"/>
                <a:cs typeface="Arial"/>
              </a:rPr>
              <a:t>Most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10  Features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20457" y="3643730"/>
            <a:ext cx="41275" cy="383540"/>
            <a:chOff x="2520457" y="3643730"/>
            <a:chExt cx="41275" cy="383540"/>
          </a:xfrm>
        </p:grpSpPr>
        <p:sp>
          <p:nvSpPr>
            <p:cNvPr id="5" name="object 5"/>
            <p:cNvSpPr/>
            <p:nvPr/>
          </p:nvSpPr>
          <p:spPr>
            <a:xfrm>
              <a:off x="2540944" y="3691717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334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25219" y="36484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0" y="43224"/>
                  </a:lnTo>
                  <a:lnTo>
                    <a:pt x="15724" y="0"/>
                  </a:lnTo>
                  <a:lnTo>
                    <a:pt x="31449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25219" y="36484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15724" y="0"/>
                  </a:lnTo>
                  <a:lnTo>
                    <a:pt x="0" y="43224"/>
                  </a:lnTo>
                  <a:lnTo>
                    <a:pt x="31449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48896" y="3109293"/>
            <a:ext cx="1784350" cy="52578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185"/>
              </a:spcBef>
            </a:pPr>
            <a:r>
              <a:rPr sz="1400" spc="-5" dirty="0">
                <a:latin typeface="Arial"/>
                <a:cs typeface="Arial"/>
              </a:rPr>
              <a:t>Black-box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5297" y="1886171"/>
            <a:ext cx="2211070" cy="61976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20307" y="2505669"/>
            <a:ext cx="41275" cy="594995"/>
            <a:chOff x="2520307" y="2505669"/>
            <a:chExt cx="41275" cy="594995"/>
          </a:xfrm>
        </p:grpSpPr>
        <p:sp>
          <p:nvSpPr>
            <p:cNvPr id="11" name="object 11"/>
            <p:cNvSpPr/>
            <p:nvPr/>
          </p:nvSpPr>
          <p:spPr>
            <a:xfrm>
              <a:off x="2540794" y="2505669"/>
              <a:ext cx="0" cy="546735"/>
            </a:xfrm>
            <a:custGeom>
              <a:avLst/>
              <a:gdLst/>
              <a:ahLst/>
              <a:cxnLst/>
              <a:rect l="l" t="t" r="r" b="b"/>
              <a:pathLst>
                <a:path h="546735">
                  <a:moveTo>
                    <a:pt x="0" y="0"/>
                  </a:moveTo>
                  <a:lnTo>
                    <a:pt x="0" y="5464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25069" y="30521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25069" y="30521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57239" y="3109293"/>
            <a:ext cx="1784350" cy="52578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185"/>
              </a:spcBef>
            </a:pPr>
            <a:r>
              <a:rPr sz="1400" spc="-5" dirty="0">
                <a:latin typeface="Arial"/>
                <a:cs typeface="Arial"/>
              </a:rPr>
              <a:t>Explanations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32693" y="3351455"/>
            <a:ext cx="1615440" cy="41275"/>
            <a:chOff x="3432693" y="3351455"/>
            <a:chExt cx="1615440" cy="41275"/>
          </a:xfrm>
        </p:grpSpPr>
        <p:sp>
          <p:nvSpPr>
            <p:cNvPr id="16" name="object 16"/>
            <p:cNvSpPr/>
            <p:nvPr/>
          </p:nvSpPr>
          <p:spPr>
            <a:xfrm>
              <a:off x="3432693" y="3371943"/>
              <a:ext cx="1567815" cy="0"/>
            </a:xfrm>
            <a:custGeom>
              <a:avLst/>
              <a:gdLst/>
              <a:ahLst/>
              <a:cxnLst/>
              <a:rect l="l" t="t" r="r" b="b"/>
              <a:pathLst>
                <a:path w="1567814">
                  <a:moveTo>
                    <a:pt x="0" y="0"/>
                  </a:moveTo>
                  <a:lnTo>
                    <a:pt x="1567346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00040" y="335621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00040" y="335621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71792" y="3128184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41905" y="3643680"/>
            <a:ext cx="2518410" cy="735965"/>
            <a:chOff x="3441905" y="3643680"/>
            <a:chExt cx="2518410" cy="735965"/>
          </a:xfrm>
        </p:grpSpPr>
        <p:sp>
          <p:nvSpPr>
            <p:cNvPr id="21" name="object 21"/>
            <p:cNvSpPr/>
            <p:nvPr/>
          </p:nvSpPr>
          <p:spPr>
            <a:xfrm>
              <a:off x="3465392" y="3667067"/>
              <a:ext cx="2480945" cy="697230"/>
            </a:xfrm>
            <a:custGeom>
              <a:avLst/>
              <a:gdLst/>
              <a:ahLst/>
              <a:cxnLst/>
              <a:rect l="l" t="t" r="r" b="b"/>
              <a:pathLst>
                <a:path w="2480945" h="697229">
                  <a:moveTo>
                    <a:pt x="2480445" y="0"/>
                  </a:moveTo>
                  <a:lnTo>
                    <a:pt x="2461304" y="52808"/>
                  </a:lnTo>
                  <a:lnTo>
                    <a:pt x="2440231" y="86695"/>
                  </a:lnTo>
                  <a:lnTo>
                    <a:pt x="2396392" y="137059"/>
                  </a:lnTo>
                  <a:lnTo>
                    <a:pt x="2359338" y="170234"/>
                  </a:lnTo>
                  <a:lnTo>
                    <a:pt x="2316295" y="203010"/>
                  </a:lnTo>
                  <a:lnTo>
                    <a:pt x="2267495" y="235324"/>
                  </a:lnTo>
                  <a:lnTo>
                    <a:pt x="2231871" y="256565"/>
                  </a:lnTo>
                  <a:lnTo>
                    <a:pt x="2193859" y="277550"/>
                  </a:lnTo>
                  <a:lnTo>
                    <a:pt x="2153526" y="298258"/>
                  </a:lnTo>
                  <a:lnTo>
                    <a:pt x="2110941" y="318670"/>
                  </a:lnTo>
                  <a:lnTo>
                    <a:pt x="2066171" y="338766"/>
                  </a:lnTo>
                  <a:lnTo>
                    <a:pt x="2019286" y="358527"/>
                  </a:lnTo>
                  <a:lnTo>
                    <a:pt x="1970354" y="377932"/>
                  </a:lnTo>
                  <a:lnTo>
                    <a:pt x="1919442" y="396961"/>
                  </a:lnTo>
                  <a:lnTo>
                    <a:pt x="1866620" y="415594"/>
                  </a:lnTo>
                  <a:lnTo>
                    <a:pt x="1811955" y="433813"/>
                  </a:lnTo>
                  <a:lnTo>
                    <a:pt x="1755516" y="451596"/>
                  </a:lnTo>
                  <a:lnTo>
                    <a:pt x="1697371" y="468924"/>
                  </a:lnTo>
                  <a:lnTo>
                    <a:pt x="1652679" y="481609"/>
                  </a:lnTo>
                  <a:lnTo>
                    <a:pt x="1607096" y="494019"/>
                  </a:lnTo>
                  <a:lnTo>
                    <a:pt x="1560648" y="506145"/>
                  </a:lnTo>
                  <a:lnTo>
                    <a:pt x="1513366" y="517978"/>
                  </a:lnTo>
                  <a:lnTo>
                    <a:pt x="1465278" y="529511"/>
                  </a:lnTo>
                  <a:lnTo>
                    <a:pt x="1416413" y="540735"/>
                  </a:lnTo>
                  <a:lnTo>
                    <a:pt x="1366799" y="551642"/>
                  </a:lnTo>
                  <a:lnTo>
                    <a:pt x="1316466" y="562223"/>
                  </a:lnTo>
                  <a:lnTo>
                    <a:pt x="1265441" y="572471"/>
                  </a:lnTo>
                  <a:lnTo>
                    <a:pt x="1213755" y="582375"/>
                  </a:lnTo>
                  <a:lnTo>
                    <a:pt x="1161436" y="591930"/>
                  </a:lnTo>
                  <a:lnTo>
                    <a:pt x="1108512" y="601125"/>
                  </a:lnTo>
                  <a:lnTo>
                    <a:pt x="1055013" y="609953"/>
                  </a:lnTo>
                  <a:lnTo>
                    <a:pt x="1000966" y="618405"/>
                  </a:lnTo>
                  <a:lnTo>
                    <a:pt x="946402" y="626473"/>
                  </a:lnTo>
                  <a:lnTo>
                    <a:pt x="891348" y="634148"/>
                  </a:lnTo>
                  <a:lnTo>
                    <a:pt x="842019" y="640638"/>
                  </a:lnTo>
                  <a:lnTo>
                    <a:pt x="792346" y="646804"/>
                  </a:lnTo>
                  <a:lnTo>
                    <a:pt x="742349" y="652641"/>
                  </a:lnTo>
                  <a:lnTo>
                    <a:pt x="692049" y="658143"/>
                  </a:lnTo>
                  <a:lnTo>
                    <a:pt x="641467" y="663305"/>
                  </a:lnTo>
                  <a:lnTo>
                    <a:pt x="590622" y="668122"/>
                  </a:lnTo>
                  <a:lnTo>
                    <a:pt x="539537" y="672589"/>
                  </a:lnTo>
                  <a:lnTo>
                    <a:pt x="488230" y="676699"/>
                  </a:lnTo>
                  <a:lnTo>
                    <a:pt x="436724" y="680448"/>
                  </a:lnTo>
                  <a:lnTo>
                    <a:pt x="390199" y="683495"/>
                  </a:lnTo>
                  <a:lnTo>
                    <a:pt x="343545" y="686244"/>
                  </a:lnTo>
                  <a:lnTo>
                    <a:pt x="296776" y="688689"/>
                  </a:lnTo>
                  <a:lnTo>
                    <a:pt x="249906" y="690825"/>
                  </a:lnTo>
                  <a:lnTo>
                    <a:pt x="202949" y="692648"/>
                  </a:lnTo>
                  <a:lnTo>
                    <a:pt x="144159" y="694464"/>
                  </a:lnTo>
                  <a:lnTo>
                    <a:pt x="85274" y="695773"/>
                  </a:lnTo>
                  <a:lnTo>
                    <a:pt x="41062" y="696402"/>
                  </a:lnTo>
                  <a:lnTo>
                    <a:pt x="26324" y="696548"/>
                  </a:lnTo>
                  <a:lnTo>
                    <a:pt x="0" y="69672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34087" y="3648442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79">
                  <a:moveTo>
                    <a:pt x="21299" y="30374"/>
                  </a:moveTo>
                  <a:lnTo>
                    <a:pt x="11749" y="18624"/>
                  </a:lnTo>
                  <a:lnTo>
                    <a:pt x="0" y="28199"/>
                  </a:lnTo>
                  <a:lnTo>
                    <a:pt x="13649" y="0"/>
                  </a:lnTo>
                  <a:lnTo>
                    <a:pt x="21299" y="303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34087" y="3648442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79">
                  <a:moveTo>
                    <a:pt x="11749" y="18624"/>
                  </a:moveTo>
                  <a:lnTo>
                    <a:pt x="21299" y="30374"/>
                  </a:lnTo>
                  <a:lnTo>
                    <a:pt x="13649" y="0"/>
                  </a:lnTo>
                  <a:lnTo>
                    <a:pt x="0" y="28199"/>
                  </a:lnTo>
                  <a:lnTo>
                    <a:pt x="11749" y="186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46667" y="435306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449" y="21424"/>
                  </a:moveTo>
                  <a:lnTo>
                    <a:pt x="0" y="10774"/>
                  </a:lnTo>
                  <a:lnTo>
                    <a:pt x="29399" y="0"/>
                  </a:lnTo>
                  <a:lnTo>
                    <a:pt x="18724" y="10724"/>
                  </a:lnTo>
                  <a:lnTo>
                    <a:pt x="29449" y="21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46667" y="435306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24" y="10724"/>
                  </a:moveTo>
                  <a:lnTo>
                    <a:pt x="29399" y="0"/>
                  </a:lnTo>
                  <a:lnTo>
                    <a:pt x="0" y="10774"/>
                  </a:lnTo>
                  <a:lnTo>
                    <a:pt x="29449" y="21424"/>
                  </a:lnTo>
                  <a:lnTo>
                    <a:pt x="18724" y="10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79613" y="4304300"/>
            <a:ext cx="22345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Recover Important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60671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172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Faithfulness of</a:t>
            </a:r>
            <a:r>
              <a:rPr sz="2800" spc="-95" dirty="0"/>
              <a:t> </a:t>
            </a:r>
            <a:r>
              <a:rPr sz="2800" spc="-5" dirty="0"/>
              <a:t>Explanations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3815079" cy="154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LIME Achieves Good</a:t>
            </a:r>
            <a:r>
              <a:rPr sz="18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Faithfulness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595959"/>
              </a:buClr>
              <a:buFont typeface="Arial"/>
              <a:buChar char="●"/>
            </a:pPr>
            <a:endParaRPr sz="19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Sentiments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classification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Books,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DVDs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○"/>
            </a:pPr>
            <a:endParaRPr sz="135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Classifiers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1" y="2742384"/>
            <a:ext cx="375920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ts val="1664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lang="en-US" sz="1400" spc="-5" dirty="0">
                <a:solidFill>
                  <a:srgbClr val="595959"/>
                </a:solidFill>
                <a:latin typeface="Arial"/>
                <a:cs typeface="Arial"/>
              </a:rPr>
              <a:t>Sparse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logistic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regr</a:t>
            </a: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ession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400" spc="-9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LR)</a:t>
            </a:r>
            <a:endParaRPr sz="1400" dirty="0">
              <a:latin typeface="Arial"/>
              <a:cs typeface="Arial"/>
            </a:endParaRPr>
          </a:p>
          <a:p>
            <a:pPr marL="348615" indent="-336550">
              <a:lnSpc>
                <a:spcPts val="1664"/>
              </a:lnSpc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93452" y="1017477"/>
            <a:ext cx="3139165" cy="11832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06544" y="2631565"/>
            <a:ext cx="3149745" cy="11769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83259" y="2305083"/>
            <a:ext cx="11798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Books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4641" y="3802362"/>
            <a:ext cx="269748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89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DVDs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  <a:p>
            <a:pPr marL="12700" marR="737235">
              <a:lnSpc>
                <a:spcPct val="100000"/>
              </a:lnSpc>
              <a:spcBef>
                <a:spcPts val="1080"/>
              </a:spcBef>
            </a:pPr>
            <a:r>
              <a:rPr sz="1000" spc="-5" dirty="0">
                <a:latin typeface="Arial"/>
                <a:cs typeface="Arial"/>
              </a:rPr>
              <a:t>parzen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Baehrens et al, 2010 </a:t>
            </a:r>
            <a:r>
              <a:rPr sz="1000" spc="-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random - randomly </a:t>
            </a:r>
            <a:r>
              <a:rPr sz="1000" spc="-5" dirty="0">
                <a:latin typeface="Arial"/>
                <a:cs typeface="Arial"/>
              </a:rPr>
              <a:t>pick </a:t>
            </a:r>
            <a:r>
              <a:rPr sz="1000" dirty="0">
                <a:latin typeface="Arial"/>
                <a:cs typeface="Arial"/>
              </a:rPr>
              <a:t>K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greedy </a:t>
            </a:r>
            <a:r>
              <a:rPr sz="1000" dirty="0">
                <a:latin typeface="Arial"/>
                <a:cs typeface="Arial"/>
              </a:rPr>
              <a:t>- remove </a:t>
            </a:r>
            <a:r>
              <a:rPr sz="1000" spc="-5" dirty="0">
                <a:latin typeface="Arial"/>
                <a:cs typeface="Arial"/>
              </a:rPr>
              <a:t>features </a:t>
            </a:r>
            <a:r>
              <a:rPr sz="1000" dirty="0">
                <a:latin typeface="Arial"/>
                <a:cs typeface="Arial"/>
              </a:rPr>
              <a:t>contribute most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 </a:t>
            </a:r>
            <a:r>
              <a:rPr sz="1000" dirty="0">
                <a:latin typeface="Arial"/>
                <a:cs typeface="Arial"/>
              </a:rPr>
              <a:t>classifiers</a:t>
            </a:r>
            <a:endParaRPr sz="1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9498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121256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Trustworthiness </a:t>
            </a:r>
            <a:r>
              <a:rPr sz="2800" spc="-5" dirty="0"/>
              <a:t>for </a:t>
            </a:r>
            <a:r>
              <a:rPr sz="2800" dirty="0"/>
              <a:t>ML</a:t>
            </a:r>
            <a:r>
              <a:rPr sz="2800" spc="-165" dirty="0"/>
              <a:t> </a:t>
            </a:r>
            <a:r>
              <a:rPr sz="280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7087870" cy="96583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Human discredits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certain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 in the learning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Classifiers that use those features will be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considered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trustable.</a:t>
            </a:r>
            <a:endParaRPr sz="1800">
              <a:latin typeface="Arial"/>
              <a:cs typeface="Arial"/>
            </a:endParaRPr>
          </a:p>
          <a:p>
            <a:pPr marL="859155">
              <a:lnSpc>
                <a:spcPct val="100000"/>
              </a:lnSpc>
              <a:spcBef>
                <a:spcPts val="770"/>
              </a:spcBef>
            </a:pPr>
            <a:r>
              <a:rPr sz="1400" spc="-5" dirty="0">
                <a:latin typeface="Arial"/>
                <a:cs typeface="Arial"/>
              </a:rPr>
              <a:t>Predict the need for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ICU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0801" y="2095428"/>
            <a:ext cx="193611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7105" algn="l"/>
              </a:tabLst>
            </a:pPr>
            <a:r>
              <a:rPr sz="1400" spc="-5" dirty="0">
                <a:latin typeface="Arial"/>
                <a:cs typeface="Arial"/>
              </a:rPr>
              <a:t>hear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5" dirty="0">
                <a:latin typeface="Arial"/>
                <a:cs typeface="Arial"/>
              </a:rPr>
              <a:t> bea</a:t>
            </a:r>
            <a:r>
              <a:rPr sz="1400" dirty="0">
                <a:latin typeface="Arial"/>
                <a:cs typeface="Arial"/>
              </a:rPr>
              <a:t>t	</a:t>
            </a:r>
            <a:r>
              <a:rPr sz="1400" spc="-5" dirty="0">
                <a:latin typeface="Arial"/>
                <a:cs typeface="Arial"/>
              </a:rPr>
              <a:t>temperature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02377" y="3545905"/>
            <a:ext cx="53340" cy="41275"/>
            <a:chOff x="4902377" y="3545905"/>
            <a:chExt cx="53340" cy="41275"/>
          </a:xfrm>
        </p:grpSpPr>
        <p:sp>
          <p:nvSpPr>
            <p:cNvPr id="6" name="object 6"/>
            <p:cNvSpPr/>
            <p:nvPr/>
          </p:nvSpPr>
          <p:spPr>
            <a:xfrm>
              <a:off x="4907139" y="3550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7139" y="3550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65660" y="2123408"/>
          <a:ext cx="3937634" cy="2625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2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144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salary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120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BPM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101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$20,000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80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BPM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104.4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$40,000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140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BPM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99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$800,000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40" dirty="0">
                          <a:latin typeface="Arial"/>
                          <a:cs typeface="Arial"/>
                        </a:rPr>
                        <a:t>110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BPM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$30,000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71652" y="2445657"/>
          <a:ext cx="957580" cy="2312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814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961111" y="2136033"/>
            <a:ext cx="1160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Need for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ICU?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29392" y="1989015"/>
            <a:ext cx="508848" cy="501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34932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791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Trustworthiness </a:t>
            </a:r>
            <a:r>
              <a:rPr sz="2800" spc="-5" dirty="0"/>
              <a:t>for</a:t>
            </a:r>
            <a:r>
              <a:rPr sz="2800" spc="-60" dirty="0"/>
              <a:t> </a:t>
            </a:r>
            <a:r>
              <a:rPr sz="2800" spc="-5" dirty="0"/>
              <a:t>Explanations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5598" y="1700721"/>
            <a:ext cx="1016000" cy="71056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85725" marR="142875">
              <a:lnSpc>
                <a:spcPts val="1420"/>
              </a:lnSpc>
            </a:pPr>
            <a:r>
              <a:rPr sz="1200" spc="-5" dirty="0">
                <a:latin typeface="Arial"/>
                <a:cs typeface="Arial"/>
              </a:rPr>
              <a:t>Untrustable  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598" y="2410820"/>
            <a:ext cx="1016000" cy="71056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85725" marR="292100">
              <a:lnSpc>
                <a:spcPts val="1420"/>
              </a:lnSpc>
            </a:pP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rustable  </a:t>
            </a:r>
            <a:r>
              <a:rPr sz="1200" spc="-5" dirty="0"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9719" y="1776946"/>
            <a:ext cx="772160" cy="126301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53021" y="2387950"/>
            <a:ext cx="647700" cy="41275"/>
            <a:chOff x="1853021" y="2387950"/>
            <a:chExt cx="647700" cy="41275"/>
          </a:xfrm>
        </p:grpSpPr>
        <p:sp>
          <p:nvSpPr>
            <p:cNvPr id="7" name="object 7"/>
            <p:cNvSpPr/>
            <p:nvPr/>
          </p:nvSpPr>
          <p:spPr>
            <a:xfrm>
              <a:off x="1853021" y="2408445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5995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52569" y="23927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52569" y="23927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63554" y="2382455"/>
            <a:ext cx="451484" cy="501650"/>
            <a:chOff x="4063554" y="2382455"/>
            <a:chExt cx="451484" cy="501650"/>
          </a:xfrm>
        </p:grpSpPr>
        <p:sp>
          <p:nvSpPr>
            <p:cNvPr id="11" name="object 11"/>
            <p:cNvSpPr/>
            <p:nvPr/>
          </p:nvSpPr>
          <p:spPr>
            <a:xfrm>
              <a:off x="4068316" y="2387217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60" h="492125">
                  <a:moveTo>
                    <a:pt x="441899" y="491701"/>
                  </a:moveTo>
                  <a:lnTo>
                    <a:pt x="0" y="491701"/>
                  </a:lnTo>
                  <a:lnTo>
                    <a:pt x="0" y="0"/>
                  </a:lnTo>
                  <a:lnTo>
                    <a:pt x="441899" y="0"/>
                  </a:lnTo>
                  <a:lnTo>
                    <a:pt x="441899" y="491701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8316" y="2387217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60" h="492125">
                  <a:moveTo>
                    <a:pt x="0" y="0"/>
                  </a:moveTo>
                  <a:lnTo>
                    <a:pt x="441899" y="0"/>
                  </a:lnTo>
                  <a:lnTo>
                    <a:pt x="441899" y="491701"/>
                  </a:lnTo>
                  <a:lnTo>
                    <a:pt x="0" y="4917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68316" y="2387217"/>
            <a:ext cx="441959" cy="4921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55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76555" y="2403682"/>
            <a:ext cx="783590" cy="233679"/>
            <a:chOff x="3276555" y="2403682"/>
            <a:chExt cx="783590" cy="233679"/>
          </a:xfrm>
        </p:grpSpPr>
        <p:sp>
          <p:nvSpPr>
            <p:cNvPr id="15" name="object 15"/>
            <p:cNvSpPr/>
            <p:nvPr/>
          </p:nvSpPr>
          <p:spPr>
            <a:xfrm>
              <a:off x="3281318" y="2408445"/>
              <a:ext cx="732155" cy="209550"/>
            </a:xfrm>
            <a:custGeom>
              <a:avLst/>
              <a:gdLst/>
              <a:ahLst/>
              <a:cxnLst/>
              <a:rect l="l" t="t" r="r" b="b"/>
              <a:pathLst>
                <a:path w="732154" h="209550">
                  <a:moveTo>
                    <a:pt x="0" y="0"/>
                  </a:moveTo>
                  <a:lnTo>
                    <a:pt x="731948" y="2089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8941" y="2602319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249"/>
                  </a:moveTo>
                  <a:lnTo>
                    <a:pt x="8649" y="0"/>
                  </a:lnTo>
                  <a:lnTo>
                    <a:pt x="45874" y="26999"/>
                  </a:lnTo>
                  <a:lnTo>
                    <a:pt x="0" y="302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08941" y="2602319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249"/>
                  </a:moveTo>
                  <a:lnTo>
                    <a:pt x="45874" y="26999"/>
                  </a:lnTo>
                  <a:lnTo>
                    <a:pt x="8649" y="0"/>
                  </a:lnTo>
                  <a:lnTo>
                    <a:pt x="0" y="30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5598" y="3496167"/>
            <a:ext cx="1016000" cy="71056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85725" marR="292100">
              <a:lnSpc>
                <a:spcPts val="1420"/>
              </a:lnSpc>
            </a:pP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rustable  </a:t>
            </a:r>
            <a:r>
              <a:rPr sz="1200" spc="-5" dirty="0"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09719" y="3231043"/>
            <a:ext cx="772160" cy="126301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36333" y="3841154"/>
            <a:ext cx="664845" cy="41275"/>
            <a:chOff x="1836333" y="3841154"/>
            <a:chExt cx="664845" cy="41275"/>
          </a:xfrm>
        </p:grpSpPr>
        <p:sp>
          <p:nvSpPr>
            <p:cNvPr id="21" name="object 21"/>
            <p:cNvSpPr/>
            <p:nvPr/>
          </p:nvSpPr>
          <p:spPr>
            <a:xfrm>
              <a:off x="1841096" y="3851217"/>
              <a:ext cx="612140" cy="10795"/>
            </a:xfrm>
            <a:custGeom>
              <a:avLst/>
              <a:gdLst/>
              <a:ahLst/>
              <a:cxnLst/>
              <a:rect l="l" t="t" r="r" b="b"/>
              <a:pathLst>
                <a:path w="612139" h="10795">
                  <a:moveTo>
                    <a:pt x="0" y="0"/>
                  </a:moveTo>
                  <a:lnTo>
                    <a:pt x="611556" y="104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52385" y="38459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537" y="0"/>
                  </a:lnTo>
                  <a:lnTo>
                    <a:pt x="43487" y="1647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385" y="38459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487" y="16474"/>
                  </a:lnTo>
                  <a:lnTo>
                    <a:pt x="537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063554" y="3384480"/>
            <a:ext cx="451484" cy="501650"/>
            <a:chOff x="4063554" y="3384480"/>
            <a:chExt cx="451484" cy="501650"/>
          </a:xfrm>
        </p:grpSpPr>
        <p:sp>
          <p:nvSpPr>
            <p:cNvPr id="25" name="object 25"/>
            <p:cNvSpPr/>
            <p:nvPr/>
          </p:nvSpPr>
          <p:spPr>
            <a:xfrm>
              <a:off x="4068316" y="3389243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60" h="492125">
                  <a:moveTo>
                    <a:pt x="441899" y="491699"/>
                  </a:moveTo>
                  <a:lnTo>
                    <a:pt x="0" y="491699"/>
                  </a:lnTo>
                  <a:lnTo>
                    <a:pt x="0" y="0"/>
                  </a:lnTo>
                  <a:lnTo>
                    <a:pt x="441899" y="0"/>
                  </a:lnTo>
                  <a:lnTo>
                    <a:pt x="441899" y="491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68316" y="3389243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60" h="492125">
                  <a:moveTo>
                    <a:pt x="0" y="0"/>
                  </a:moveTo>
                  <a:lnTo>
                    <a:pt x="441899" y="0"/>
                  </a:lnTo>
                  <a:lnTo>
                    <a:pt x="441899" y="491699"/>
                  </a:lnTo>
                  <a:lnTo>
                    <a:pt x="0" y="49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68316" y="3389243"/>
            <a:ext cx="441959" cy="4921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55"/>
              </a:spcBef>
            </a:pPr>
            <a:r>
              <a:rPr sz="1400" dirty="0">
                <a:latin typeface="Arial"/>
                <a:cs typeface="Arial"/>
              </a:rPr>
              <a:t>y'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76555" y="2888081"/>
            <a:ext cx="1028700" cy="979805"/>
            <a:chOff x="3276555" y="2888081"/>
            <a:chExt cx="1028700" cy="979805"/>
          </a:xfrm>
        </p:grpSpPr>
        <p:sp>
          <p:nvSpPr>
            <p:cNvPr id="29" name="object 29"/>
            <p:cNvSpPr/>
            <p:nvPr/>
          </p:nvSpPr>
          <p:spPr>
            <a:xfrm>
              <a:off x="3281318" y="3651017"/>
              <a:ext cx="732155" cy="212090"/>
            </a:xfrm>
            <a:custGeom>
              <a:avLst/>
              <a:gdLst/>
              <a:ahLst/>
              <a:cxnLst/>
              <a:rect l="l" t="t" r="r" b="b"/>
              <a:pathLst>
                <a:path w="732154" h="212089">
                  <a:moveTo>
                    <a:pt x="0" y="211524"/>
                  </a:moveTo>
                  <a:lnTo>
                    <a:pt x="73199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08941" y="363589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749" y="30224"/>
                  </a:moveTo>
                  <a:lnTo>
                    <a:pt x="0" y="0"/>
                  </a:lnTo>
                  <a:lnTo>
                    <a:pt x="45899" y="3124"/>
                  </a:lnTo>
                  <a:lnTo>
                    <a:pt x="8749" y="30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08941" y="363589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749" y="30224"/>
                  </a:moveTo>
                  <a:lnTo>
                    <a:pt x="45899" y="3124"/>
                  </a:lnTo>
                  <a:lnTo>
                    <a:pt x="0" y="0"/>
                  </a:lnTo>
                  <a:lnTo>
                    <a:pt x="8749" y="30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89266" y="2911569"/>
              <a:ext cx="0" cy="445134"/>
            </a:xfrm>
            <a:custGeom>
              <a:avLst/>
              <a:gdLst/>
              <a:ahLst/>
              <a:cxnLst/>
              <a:rect l="l" t="t" r="r" b="b"/>
              <a:pathLst>
                <a:path h="445135">
                  <a:moveTo>
                    <a:pt x="0" y="0"/>
                  </a:moveTo>
                  <a:lnTo>
                    <a:pt x="0" y="4449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78566" y="289284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21424" y="29424"/>
                  </a:moveTo>
                  <a:lnTo>
                    <a:pt x="10699" y="18724"/>
                  </a:lnTo>
                  <a:lnTo>
                    <a:pt x="0" y="29424"/>
                  </a:lnTo>
                  <a:lnTo>
                    <a:pt x="10699" y="0"/>
                  </a:lnTo>
                  <a:lnTo>
                    <a:pt x="21424" y="29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78566" y="289284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699" y="18724"/>
                  </a:moveTo>
                  <a:lnTo>
                    <a:pt x="21424" y="29424"/>
                  </a:lnTo>
                  <a:lnTo>
                    <a:pt x="10699" y="0"/>
                  </a:lnTo>
                  <a:lnTo>
                    <a:pt x="0" y="29424"/>
                  </a:lnTo>
                  <a:lnTo>
                    <a:pt x="10699" y="18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78566" y="3345868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699" y="29424"/>
                  </a:moveTo>
                  <a:lnTo>
                    <a:pt x="0" y="0"/>
                  </a:lnTo>
                  <a:lnTo>
                    <a:pt x="10699" y="10699"/>
                  </a:lnTo>
                  <a:lnTo>
                    <a:pt x="21424" y="0"/>
                  </a:lnTo>
                  <a:lnTo>
                    <a:pt x="10699" y="29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78566" y="3345868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699" y="10699"/>
                  </a:moveTo>
                  <a:lnTo>
                    <a:pt x="0" y="0"/>
                  </a:lnTo>
                  <a:lnTo>
                    <a:pt x="10699" y="29424"/>
                  </a:lnTo>
                  <a:lnTo>
                    <a:pt x="21424" y="0"/>
                  </a:lnTo>
                  <a:lnTo>
                    <a:pt x="10699" y="10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896714" y="3014360"/>
            <a:ext cx="8070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changed?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40732" y="2880715"/>
            <a:ext cx="8070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changed?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36122" y="2624632"/>
            <a:ext cx="43180" cy="974725"/>
            <a:chOff x="7536122" y="2624632"/>
            <a:chExt cx="43180" cy="974725"/>
          </a:xfrm>
        </p:grpSpPr>
        <p:sp>
          <p:nvSpPr>
            <p:cNvPr id="40" name="object 40"/>
            <p:cNvSpPr/>
            <p:nvPr/>
          </p:nvSpPr>
          <p:spPr>
            <a:xfrm>
              <a:off x="7551509" y="2648119"/>
              <a:ext cx="7620" cy="902969"/>
            </a:xfrm>
            <a:custGeom>
              <a:avLst/>
              <a:gdLst/>
              <a:ahLst/>
              <a:cxnLst/>
              <a:rect l="l" t="t" r="r" b="b"/>
              <a:pathLst>
                <a:path w="7620" h="902970">
                  <a:moveTo>
                    <a:pt x="0" y="0"/>
                  </a:moveTo>
                  <a:lnTo>
                    <a:pt x="7099" y="90292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40884" y="262939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90" h="29844">
                  <a:moveTo>
                    <a:pt x="0" y="29524"/>
                  </a:moveTo>
                  <a:lnTo>
                    <a:pt x="10474" y="0"/>
                  </a:lnTo>
                  <a:lnTo>
                    <a:pt x="21424" y="29349"/>
                  </a:lnTo>
                  <a:lnTo>
                    <a:pt x="10624" y="18724"/>
                  </a:lnTo>
                  <a:lnTo>
                    <a:pt x="0" y="29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40884" y="262939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90" h="29844">
                  <a:moveTo>
                    <a:pt x="10624" y="18724"/>
                  </a:moveTo>
                  <a:lnTo>
                    <a:pt x="21424" y="29349"/>
                  </a:lnTo>
                  <a:lnTo>
                    <a:pt x="10474" y="0"/>
                  </a:lnTo>
                  <a:lnTo>
                    <a:pt x="0" y="29524"/>
                  </a:lnTo>
                  <a:lnTo>
                    <a:pt x="10624" y="18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42884" y="355091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074" y="43324"/>
                  </a:moveTo>
                  <a:lnTo>
                    <a:pt x="0" y="224"/>
                  </a:lnTo>
                  <a:lnTo>
                    <a:pt x="31449" y="0"/>
                  </a:lnTo>
                  <a:lnTo>
                    <a:pt x="16074" y="433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42884" y="355091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224"/>
                  </a:moveTo>
                  <a:lnTo>
                    <a:pt x="16074" y="43324"/>
                  </a:lnTo>
                  <a:lnTo>
                    <a:pt x="31449" y="0"/>
                  </a:lnTo>
                  <a:lnTo>
                    <a:pt x="0" y="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523138" y="1740671"/>
            <a:ext cx="714375" cy="126301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"/>
                <a:cs typeface="Arial"/>
              </a:rPr>
              <a:t>LIME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290393" y="2133138"/>
            <a:ext cx="2214880" cy="41275"/>
            <a:chOff x="3290393" y="2133138"/>
            <a:chExt cx="2214880" cy="41275"/>
          </a:xfrm>
        </p:grpSpPr>
        <p:sp>
          <p:nvSpPr>
            <p:cNvPr id="47" name="object 47"/>
            <p:cNvSpPr/>
            <p:nvPr/>
          </p:nvSpPr>
          <p:spPr>
            <a:xfrm>
              <a:off x="3290393" y="2153633"/>
              <a:ext cx="2166620" cy="0"/>
            </a:xfrm>
            <a:custGeom>
              <a:avLst/>
              <a:gdLst/>
              <a:ahLst/>
              <a:cxnLst/>
              <a:rect l="l" t="t" r="r" b="b"/>
              <a:pathLst>
                <a:path w="2166620">
                  <a:moveTo>
                    <a:pt x="0" y="0"/>
                  </a:moveTo>
                  <a:lnTo>
                    <a:pt x="216644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456839" y="21379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56839" y="21379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7325547" y="2119018"/>
            <a:ext cx="451484" cy="501650"/>
            <a:chOff x="7325547" y="2119018"/>
            <a:chExt cx="451484" cy="501650"/>
          </a:xfrm>
        </p:grpSpPr>
        <p:sp>
          <p:nvSpPr>
            <p:cNvPr id="51" name="object 51"/>
            <p:cNvSpPr/>
            <p:nvPr/>
          </p:nvSpPr>
          <p:spPr>
            <a:xfrm>
              <a:off x="7330309" y="2123780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59" h="492125">
                  <a:moveTo>
                    <a:pt x="441899" y="491689"/>
                  </a:moveTo>
                  <a:lnTo>
                    <a:pt x="0" y="491689"/>
                  </a:lnTo>
                  <a:lnTo>
                    <a:pt x="0" y="0"/>
                  </a:lnTo>
                  <a:lnTo>
                    <a:pt x="441899" y="0"/>
                  </a:lnTo>
                  <a:lnTo>
                    <a:pt x="441899" y="49168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30309" y="2123780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59" h="492125">
                  <a:moveTo>
                    <a:pt x="0" y="0"/>
                  </a:moveTo>
                  <a:lnTo>
                    <a:pt x="441899" y="0"/>
                  </a:lnTo>
                  <a:lnTo>
                    <a:pt x="441899" y="491689"/>
                  </a:lnTo>
                  <a:lnTo>
                    <a:pt x="0" y="4916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330309" y="2123780"/>
            <a:ext cx="441959" cy="4921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55"/>
              </a:spcBef>
            </a:pP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232375" y="2349400"/>
            <a:ext cx="1089025" cy="41275"/>
            <a:chOff x="6232375" y="2349400"/>
            <a:chExt cx="1089025" cy="41275"/>
          </a:xfrm>
        </p:grpSpPr>
        <p:sp>
          <p:nvSpPr>
            <p:cNvPr id="55" name="object 55"/>
            <p:cNvSpPr/>
            <p:nvPr/>
          </p:nvSpPr>
          <p:spPr>
            <a:xfrm>
              <a:off x="6237137" y="2369895"/>
              <a:ext cx="1036319" cy="2540"/>
            </a:xfrm>
            <a:custGeom>
              <a:avLst/>
              <a:gdLst/>
              <a:ahLst/>
              <a:cxnLst/>
              <a:rect l="l" t="t" r="r" b="b"/>
              <a:pathLst>
                <a:path w="1036320" h="2539">
                  <a:moveTo>
                    <a:pt x="0" y="2274"/>
                  </a:moveTo>
                  <a:lnTo>
                    <a:pt x="10360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73160" y="23541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9" y="31464"/>
                  </a:moveTo>
                  <a:lnTo>
                    <a:pt x="0" y="0"/>
                  </a:lnTo>
                  <a:lnTo>
                    <a:pt x="43249" y="15637"/>
                  </a:lnTo>
                  <a:lnTo>
                    <a:pt x="49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73160" y="23541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9" y="31464"/>
                  </a:moveTo>
                  <a:lnTo>
                    <a:pt x="43249" y="15637"/>
                  </a:lnTo>
                  <a:lnTo>
                    <a:pt x="0" y="0"/>
                  </a:lnTo>
                  <a:lnTo>
                    <a:pt x="49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523138" y="3231043"/>
            <a:ext cx="714375" cy="126301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"/>
                <a:cs typeface="Arial"/>
              </a:rPr>
              <a:t>LIME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290393" y="4025254"/>
            <a:ext cx="2214880" cy="41275"/>
            <a:chOff x="3290393" y="4025254"/>
            <a:chExt cx="2214880" cy="41275"/>
          </a:xfrm>
        </p:grpSpPr>
        <p:sp>
          <p:nvSpPr>
            <p:cNvPr id="60" name="object 60"/>
            <p:cNvSpPr/>
            <p:nvPr/>
          </p:nvSpPr>
          <p:spPr>
            <a:xfrm>
              <a:off x="3290393" y="4045741"/>
              <a:ext cx="2166620" cy="0"/>
            </a:xfrm>
            <a:custGeom>
              <a:avLst/>
              <a:gdLst/>
              <a:ahLst/>
              <a:cxnLst/>
              <a:rect l="l" t="t" r="r" b="b"/>
              <a:pathLst>
                <a:path w="2166620">
                  <a:moveTo>
                    <a:pt x="0" y="0"/>
                  </a:moveTo>
                  <a:lnTo>
                    <a:pt x="216644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456839" y="4030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56839" y="4030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7333322" y="3603505"/>
            <a:ext cx="451484" cy="501650"/>
            <a:chOff x="7333322" y="3603505"/>
            <a:chExt cx="451484" cy="501650"/>
          </a:xfrm>
        </p:grpSpPr>
        <p:sp>
          <p:nvSpPr>
            <p:cNvPr id="64" name="object 64"/>
            <p:cNvSpPr/>
            <p:nvPr/>
          </p:nvSpPr>
          <p:spPr>
            <a:xfrm>
              <a:off x="7338085" y="3608267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59" h="492125">
                  <a:moveTo>
                    <a:pt x="441899" y="491699"/>
                  </a:moveTo>
                  <a:lnTo>
                    <a:pt x="0" y="491699"/>
                  </a:lnTo>
                  <a:lnTo>
                    <a:pt x="0" y="0"/>
                  </a:lnTo>
                  <a:lnTo>
                    <a:pt x="441899" y="0"/>
                  </a:lnTo>
                  <a:lnTo>
                    <a:pt x="441899" y="491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338085" y="3608267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59" h="492125">
                  <a:moveTo>
                    <a:pt x="0" y="0"/>
                  </a:moveTo>
                  <a:lnTo>
                    <a:pt x="441899" y="0"/>
                  </a:lnTo>
                  <a:lnTo>
                    <a:pt x="441899" y="491699"/>
                  </a:lnTo>
                  <a:lnTo>
                    <a:pt x="0" y="49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338085" y="3608267"/>
            <a:ext cx="441959" cy="4921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55"/>
              </a:spcBef>
            </a:pPr>
            <a:r>
              <a:rPr sz="1400" spc="-5" dirty="0">
                <a:latin typeface="Arial"/>
                <a:cs typeface="Arial"/>
              </a:rPr>
              <a:t>e'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232375" y="3834079"/>
            <a:ext cx="1096645" cy="41275"/>
            <a:chOff x="6232375" y="3834079"/>
            <a:chExt cx="1096645" cy="41275"/>
          </a:xfrm>
        </p:grpSpPr>
        <p:sp>
          <p:nvSpPr>
            <p:cNvPr id="68" name="object 68"/>
            <p:cNvSpPr/>
            <p:nvPr/>
          </p:nvSpPr>
          <p:spPr>
            <a:xfrm>
              <a:off x="6237137" y="3854567"/>
              <a:ext cx="1043940" cy="8255"/>
            </a:xfrm>
            <a:custGeom>
              <a:avLst/>
              <a:gdLst/>
              <a:ahLst/>
              <a:cxnLst/>
              <a:rect l="l" t="t" r="r" b="b"/>
              <a:pathLst>
                <a:path w="1043940" h="8254">
                  <a:moveTo>
                    <a:pt x="0" y="7974"/>
                  </a:moveTo>
                  <a:lnTo>
                    <a:pt x="10438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280860" y="3838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249" y="31474"/>
                  </a:moveTo>
                  <a:lnTo>
                    <a:pt x="0" y="0"/>
                  </a:lnTo>
                  <a:lnTo>
                    <a:pt x="43349" y="15399"/>
                  </a:lnTo>
                  <a:lnTo>
                    <a:pt x="249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280860" y="3838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249" y="31474"/>
                  </a:moveTo>
                  <a:lnTo>
                    <a:pt x="43349" y="15399"/>
                  </a:lnTo>
                  <a:lnTo>
                    <a:pt x="0" y="0"/>
                  </a:lnTo>
                  <a:lnTo>
                    <a:pt x="249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11433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62309"/>
            <a:ext cx="7644765" cy="16287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Untrustable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25% of features are "untrustable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features"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595959"/>
              </a:buClr>
              <a:buFont typeface="Arial"/>
              <a:buChar char="○"/>
            </a:pPr>
            <a:endParaRPr sz="165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Trustworthiness of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Predictions</a:t>
            </a:r>
            <a:endParaRPr sz="1800" dirty="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spcBef>
                <a:spcPts val="6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Compares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predictions and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explanations when  </a:t>
            </a:r>
            <a:r>
              <a:rPr sz="1400" spc="-5" dirty="0" err="1">
                <a:solidFill>
                  <a:srgbClr val="595959"/>
                </a:solidFill>
                <a:latin typeface="Arial"/>
                <a:cs typeface="Arial"/>
              </a:rPr>
              <a:t>un</a:t>
            </a:r>
            <a:r>
              <a:rPr lang="en-US" sz="1400" spc="-5" dirty="0" err="1">
                <a:solidFill>
                  <a:srgbClr val="595959"/>
                </a:solidFill>
                <a:latin typeface="Arial"/>
                <a:cs typeface="Arial"/>
              </a:rPr>
              <a:t>trustable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features are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removed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486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Trustworthiness </a:t>
            </a:r>
            <a:r>
              <a:rPr sz="2800" spc="-5" dirty="0"/>
              <a:t>of</a:t>
            </a:r>
            <a:r>
              <a:rPr sz="2800" spc="-55" dirty="0"/>
              <a:t> </a:t>
            </a:r>
            <a:r>
              <a:rPr sz="2800" spc="-5" dirty="0"/>
              <a:t>Predictions</a:t>
            </a:r>
            <a:endParaRPr sz="2800" dirty="0"/>
          </a:p>
        </p:txBody>
      </p:sp>
      <p:sp>
        <p:nvSpPr>
          <p:cNvPr id="4" name="object 4"/>
          <p:cNvSpPr/>
          <p:nvPr/>
        </p:nvSpPr>
        <p:spPr>
          <a:xfrm>
            <a:off x="2985986" y="2951047"/>
            <a:ext cx="3457970" cy="1032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761" y="4535100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0690" y="4113738"/>
            <a:ext cx="28276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Trustworthiness of LIME with </a:t>
            </a:r>
            <a:r>
              <a:rPr sz="1000" spc="-10" dirty="0">
                <a:latin typeface="Arial"/>
                <a:cs typeface="Arial"/>
              </a:rPr>
              <a:t>different </a:t>
            </a:r>
            <a:r>
              <a:rPr sz="1000" dirty="0">
                <a:latin typeface="Arial"/>
                <a:cs typeface="Arial"/>
              </a:rPr>
              <a:t>ML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models: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2611" y="4266137"/>
            <a:ext cx="29552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100"/>
              </a:spcBef>
              <a:buChar char="●"/>
              <a:tabLst>
                <a:tab pos="317500" algn="l"/>
                <a:tab pos="318135" algn="l"/>
              </a:tabLst>
            </a:pPr>
            <a:r>
              <a:rPr sz="1000" spc="-5" dirty="0">
                <a:latin typeface="Arial"/>
                <a:cs typeface="Arial"/>
              </a:rPr>
              <a:t>Logistic Regression with L2 </a:t>
            </a:r>
            <a:r>
              <a:rPr sz="1000" dirty="0">
                <a:latin typeface="Arial"/>
                <a:cs typeface="Arial"/>
              </a:rPr>
              <a:t>regularization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(LR)</a:t>
            </a:r>
            <a:endParaRPr sz="10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buChar char="●"/>
              <a:tabLst>
                <a:tab pos="317500" algn="l"/>
                <a:tab pos="318135" algn="l"/>
              </a:tabLst>
            </a:pPr>
            <a:r>
              <a:rPr sz="1000" spc="-5" dirty="0">
                <a:latin typeface="Arial"/>
                <a:cs typeface="Arial"/>
              </a:rPr>
              <a:t>Nearest Neighbors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(NN)</a:t>
            </a:r>
            <a:endParaRPr sz="10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buChar char="●"/>
              <a:tabLst>
                <a:tab pos="317500" algn="l"/>
                <a:tab pos="318135" algn="l"/>
              </a:tabLst>
            </a:pPr>
            <a:r>
              <a:rPr sz="1000" spc="-5" dirty="0">
                <a:latin typeface="Arial"/>
                <a:cs typeface="Arial"/>
              </a:rPr>
              <a:t>Random Forests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(RF)</a:t>
            </a:r>
            <a:endParaRPr sz="10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buChar char="●"/>
              <a:tabLst>
                <a:tab pos="317500" algn="l"/>
                <a:tab pos="318135" algn="l"/>
              </a:tabLst>
            </a:pPr>
            <a:r>
              <a:rPr sz="1000" spc="-5" dirty="0">
                <a:latin typeface="Arial"/>
                <a:cs typeface="Arial"/>
              </a:rPr>
              <a:t>Support </a:t>
            </a:r>
            <a:r>
              <a:rPr sz="1000" spc="-15" dirty="0">
                <a:latin typeface="Arial"/>
                <a:cs typeface="Arial"/>
              </a:rPr>
              <a:t>Vector </a:t>
            </a:r>
            <a:r>
              <a:rPr sz="1000" dirty="0">
                <a:latin typeface="Arial"/>
                <a:cs typeface="Arial"/>
              </a:rPr>
              <a:t>Machines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(SVM)</a:t>
            </a:r>
            <a:endParaRPr sz="1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14712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257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dirty="0"/>
              <a:t>Multiple</a:t>
            </a:r>
            <a:r>
              <a:rPr sz="2800" spc="-90" dirty="0"/>
              <a:t> </a:t>
            </a:r>
            <a:r>
              <a:rPr sz="2800" spc="-5" dirty="0"/>
              <a:t>Samples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62548" y="1162309"/>
            <a:ext cx="677989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917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91795" algn="l"/>
                <a:tab pos="3924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Explain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a set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of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samples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get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complete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picture of the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spc="7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have its</a:t>
            </a:r>
            <a:r>
              <a:rPr sz="1400" spc="-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438656"/>
            <a:ext cx="610044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How do 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samples?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Select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maximum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information about the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34628" y="1839340"/>
            <a:ext cx="3002462" cy="5691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25743" y="3237953"/>
            <a:ext cx="1698363" cy="682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2997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1189"/>
            <a:ext cx="81534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dirty="0"/>
              <a:t>Multiple</a:t>
            </a:r>
            <a:r>
              <a:rPr sz="2800" spc="-90" dirty="0"/>
              <a:t> </a:t>
            </a:r>
            <a:r>
              <a:rPr sz="2800" spc="-5" dirty="0"/>
              <a:t>Samples</a:t>
            </a:r>
            <a:r>
              <a:rPr lang="en-US" sz="2800" spc="-5" dirty="0"/>
              <a:t> – </a:t>
            </a:r>
            <a:r>
              <a:rPr lang="en-US" sz="2800" spc="-5" dirty="0" err="1"/>
              <a:t>Submodular</a:t>
            </a:r>
            <a:r>
              <a:rPr lang="en-US" sz="2800" spc="-5" dirty="0"/>
              <a:t> Pick 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28601" y="1137456"/>
            <a:ext cx="5105400" cy="81368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How do 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samples?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Select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maximum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information about the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211" y="2486538"/>
            <a:ext cx="12985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802" y="3499456"/>
            <a:ext cx="641599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want to get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V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elements that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maximize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10786" y="2879233"/>
            <a:ext cx="2283014" cy="512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33600" y="3937264"/>
            <a:ext cx="2574696" cy="328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0800" y="1906324"/>
            <a:ext cx="1145409" cy="4602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764" y="1037895"/>
            <a:ext cx="4075507" cy="251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936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56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dirty="0"/>
              <a:t>Multiple</a:t>
            </a:r>
            <a:r>
              <a:rPr sz="2800" spc="-90" dirty="0"/>
              <a:t> </a:t>
            </a:r>
            <a:r>
              <a:rPr sz="2800" spc="-5" dirty="0"/>
              <a:t>Samples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648271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How do 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samples?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want to get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V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maximize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438656"/>
            <a:ext cx="6025515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Searching for the global optimal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NP-Hard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Feige,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1998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turn to greedy algorithm as an approximation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5359" y="1891132"/>
            <a:ext cx="2283025" cy="512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82327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858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Greedy </a:t>
            </a:r>
            <a:r>
              <a:rPr sz="2800" spc="-10" dirty="0"/>
              <a:t>Algorithm </a:t>
            </a:r>
            <a:r>
              <a:rPr sz="2800" spc="-5" dirty="0"/>
              <a:t>for </a:t>
            </a:r>
            <a:r>
              <a:rPr sz="2800" spc="-10" dirty="0"/>
              <a:t>Sample</a:t>
            </a:r>
            <a:r>
              <a:rPr sz="2800" spc="-245" dirty="0"/>
              <a:t> </a:t>
            </a:r>
            <a:r>
              <a:rPr sz="2800" spc="-5" dirty="0"/>
              <a:t>Selection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887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Pick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subset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 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maximize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148" y="2205049"/>
            <a:ext cx="6577330" cy="115760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171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417195" algn="l"/>
                <a:tab pos="4178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Start with an empty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spc="22" baseline="-30092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spc="-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oyagiKouzanFontT"/>
                <a:cs typeface="AoyagiKouzanFontT"/>
              </a:rPr>
              <a:t>∅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4171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17195" algn="l"/>
                <a:tab pos="4178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the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800" spc="7" baseline="30092" dirty="0">
                <a:solidFill>
                  <a:srgbClr val="595959"/>
                </a:solidFill>
                <a:latin typeface="Arial"/>
                <a:cs typeface="Arial"/>
              </a:rPr>
              <a:t>th</a:t>
            </a:r>
            <a:r>
              <a:rPr sz="1800" spc="240" baseline="30092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endParaRPr sz="1800">
              <a:latin typeface="Arial"/>
              <a:cs typeface="Arial"/>
            </a:endParaRPr>
          </a:p>
          <a:p>
            <a:pPr marL="8743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74394" algn="l"/>
                <a:tab pos="8750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Pick the next element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spc="15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 \ V</a:t>
            </a:r>
            <a:r>
              <a:rPr sz="1350" baseline="-3395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such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spc="7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maximizes c(V</a:t>
            </a:r>
            <a:r>
              <a:rPr sz="1350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⋃</a:t>
            </a:r>
            <a:r>
              <a:rPr sz="1400" spc="-355" dirty="0">
                <a:solidFill>
                  <a:srgbClr val="595959"/>
                </a:solidFill>
                <a:latin typeface="AoyagiKouzanFontT"/>
                <a:cs typeface="AoyagiKouzanFont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{x</a:t>
            </a:r>
            <a:r>
              <a:rPr sz="1350" spc="-7" baseline="-3395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}, 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W,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I)</a:t>
            </a:r>
            <a:endParaRPr sz="1400">
              <a:latin typeface="Arial"/>
              <a:cs typeface="Arial"/>
            </a:endParaRPr>
          </a:p>
          <a:p>
            <a:pPr marL="8743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74394" algn="l"/>
                <a:tab pos="8750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repeat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until |V</a:t>
            </a:r>
            <a:r>
              <a:rPr sz="1350" spc="-7" baseline="-30864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|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≥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11660" y="1701279"/>
            <a:ext cx="2758983" cy="351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555256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162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Theoretical Guarantees on</a:t>
            </a:r>
            <a:r>
              <a:rPr sz="2800" spc="-95" dirty="0"/>
              <a:t> </a:t>
            </a:r>
            <a:r>
              <a:rPr sz="2800" spc="-5" dirty="0"/>
              <a:t>Performance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74535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 defined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submodular</a:t>
            </a:r>
            <a:r>
              <a:rPr sz="1800" spc="-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953005"/>
            <a:ext cx="7024370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 of Submodular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performance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greedy algorithm is at least 1-1/e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(~63%)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the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optimum</a:t>
            </a:r>
            <a:endParaRPr sz="1400">
              <a:latin typeface="Arial"/>
              <a:cs typeface="Arial"/>
            </a:endParaRPr>
          </a:p>
          <a:p>
            <a:pPr marL="2264410" lvl="1" indent="-1764664">
              <a:lnSpc>
                <a:spcPct val="100000"/>
              </a:lnSpc>
              <a:spcBef>
                <a:spcPts val="270"/>
              </a:spcBef>
              <a:buChar char="○"/>
              <a:tabLst>
                <a:tab pos="2264410" algn="l"/>
                <a:tab pos="226504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submodular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performance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greedy algorithm 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guaranteed 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lower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77907" y="1608285"/>
            <a:ext cx="542158" cy="1478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1297" y="3553092"/>
            <a:ext cx="1370772" cy="317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5823" y="2194011"/>
            <a:ext cx="4723557" cy="2933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35090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648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Human</a:t>
            </a:r>
            <a:r>
              <a:rPr sz="2800" spc="-85" dirty="0"/>
              <a:t> </a:t>
            </a:r>
            <a:r>
              <a:rPr sz="2800" spc="-5" dirty="0"/>
              <a:t>Experiments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877435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Ask Human to Select the Best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Classifier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Annotators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shown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Annotators have no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knowledge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7928" y="2056395"/>
            <a:ext cx="4441999" cy="2287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2375" y="4442595"/>
            <a:ext cx="506603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Classification of Atheism/Christian in the 20 newsgroups</a:t>
            </a:r>
            <a:r>
              <a:rPr sz="1400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769178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839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Human </a:t>
            </a:r>
            <a:r>
              <a:rPr sz="2800" spc="-10" dirty="0"/>
              <a:t>Experiments </a:t>
            </a:r>
            <a:r>
              <a:rPr sz="2800" dirty="0"/>
              <a:t>- </a:t>
            </a:r>
            <a:r>
              <a:rPr sz="2800" spc="-10" dirty="0"/>
              <a:t>Select </a:t>
            </a:r>
            <a:r>
              <a:rPr sz="2800" spc="-5" dirty="0"/>
              <a:t>the </a:t>
            </a:r>
            <a:r>
              <a:rPr sz="2800" spc="-10" dirty="0"/>
              <a:t>Best</a:t>
            </a:r>
            <a:r>
              <a:rPr sz="2800" spc="-80" dirty="0"/>
              <a:t> </a:t>
            </a:r>
            <a:r>
              <a:rPr sz="2800" spc="-5" dirty="0"/>
              <a:t>Classifier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719963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Original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SVM trained on the dataset with original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Cleaned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SVM trained on the dataset with "cleaned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features"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30548" y="2238580"/>
            <a:ext cx="3697664" cy="2501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28762" y="3714517"/>
            <a:ext cx="18383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greedy </a:t>
            </a:r>
            <a:r>
              <a:rPr sz="1000" dirty="0">
                <a:latin typeface="Arial"/>
                <a:cs typeface="Arial"/>
              </a:rPr>
              <a:t>- remove </a:t>
            </a:r>
            <a:r>
              <a:rPr sz="1000" spc="-5" dirty="0">
                <a:latin typeface="Arial"/>
                <a:cs typeface="Arial"/>
              </a:rPr>
              <a:t>features  </a:t>
            </a:r>
            <a:r>
              <a:rPr sz="1000" dirty="0">
                <a:latin typeface="Arial"/>
                <a:cs typeface="Arial"/>
              </a:rPr>
              <a:t>contribute most </a:t>
            </a:r>
            <a:r>
              <a:rPr sz="1000" spc="-5" dirty="0">
                <a:latin typeface="Arial"/>
                <a:cs typeface="Arial"/>
              </a:rPr>
              <a:t>to the</a:t>
            </a:r>
            <a:r>
              <a:rPr sz="1000" spc="-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classifiers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2518" y="4784981"/>
            <a:ext cx="230314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results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on 20 newsgroups</a:t>
            </a:r>
            <a:r>
              <a:rPr sz="12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75189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108582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Improving </a:t>
            </a:r>
            <a:r>
              <a:rPr sz="2800" dirty="0"/>
              <a:t>Models </a:t>
            </a:r>
            <a:r>
              <a:rPr sz="2800" spc="-5" dirty="0"/>
              <a:t>Through </a:t>
            </a:r>
            <a:r>
              <a:rPr sz="2800" dirty="0"/>
              <a:t>ML</a:t>
            </a:r>
            <a:r>
              <a:rPr sz="2800" spc="-265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633334" cy="16002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Improving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Human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raters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shown model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They are asked to improve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out unnecessary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Which words from the explanations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should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removed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subsequent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select 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random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select 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greedy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91497" y="2873916"/>
            <a:ext cx="2598765" cy="1815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2518" y="4784981"/>
            <a:ext cx="230314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results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on 20 newsgroups</a:t>
            </a:r>
            <a:r>
              <a:rPr sz="12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79270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620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Faithfulness of </a:t>
            </a:r>
            <a:r>
              <a:rPr sz="2800" dirty="0"/>
              <a:t>Model</a:t>
            </a:r>
            <a:r>
              <a:rPr sz="2800" spc="-95" dirty="0"/>
              <a:t> </a:t>
            </a:r>
            <a:r>
              <a:rPr sz="2800" spc="-10" dirty="0"/>
              <a:t>Explanations</a:t>
            </a:r>
            <a:endParaRPr sz="2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14607" y="1355243"/>
            <a:ext cx="5344795" cy="3401060"/>
            <a:chOff x="1914607" y="1355243"/>
            <a:chExt cx="5344795" cy="3401060"/>
          </a:xfrm>
        </p:grpSpPr>
        <p:sp>
          <p:nvSpPr>
            <p:cNvPr id="4" name="object 4"/>
            <p:cNvSpPr/>
            <p:nvPr/>
          </p:nvSpPr>
          <p:spPr>
            <a:xfrm>
              <a:off x="1914607" y="1355243"/>
              <a:ext cx="5344280" cy="34009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17012" y="1862251"/>
              <a:ext cx="4290060" cy="2226310"/>
            </a:xfrm>
            <a:custGeom>
              <a:avLst/>
              <a:gdLst/>
              <a:ahLst/>
              <a:cxnLst/>
              <a:rect l="l" t="t" r="r" b="b"/>
              <a:pathLst>
                <a:path w="4290059" h="2226310">
                  <a:moveTo>
                    <a:pt x="1407947" y="0"/>
                  </a:moveTo>
                  <a:lnTo>
                    <a:pt x="103555" y="0"/>
                  </a:lnTo>
                  <a:lnTo>
                    <a:pt x="103555" y="346798"/>
                  </a:lnTo>
                  <a:lnTo>
                    <a:pt x="1407947" y="346798"/>
                  </a:lnTo>
                  <a:lnTo>
                    <a:pt x="1407947" y="0"/>
                  </a:lnTo>
                  <a:close/>
                </a:path>
                <a:path w="4290059" h="2226310">
                  <a:moveTo>
                    <a:pt x="4289818" y="2042401"/>
                  </a:moveTo>
                  <a:lnTo>
                    <a:pt x="4193997" y="2042401"/>
                  </a:lnTo>
                  <a:lnTo>
                    <a:pt x="4193997" y="1808073"/>
                  </a:lnTo>
                  <a:lnTo>
                    <a:pt x="1304404" y="1808073"/>
                  </a:lnTo>
                  <a:lnTo>
                    <a:pt x="1304404" y="1002779"/>
                  </a:lnTo>
                  <a:lnTo>
                    <a:pt x="0" y="1002779"/>
                  </a:lnTo>
                  <a:lnTo>
                    <a:pt x="0" y="2138273"/>
                  </a:lnTo>
                  <a:lnTo>
                    <a:pt x="304800" y="2138273"/>
                  </a:lnTo>
                  <a:lnTo>
                    <a:pt x="304800" y="2220874"/>
                  </a:lnTo>
                  <a:lnTo>
                    <a:pt x="338226" y="2220874"/>
                  </a:lnTo>
                  <a:lnTo>
                    <a:pt x="338226" y="2225700"/>
                  </a:lnTo>
                  <a:lnTo>
                    <a:pt x="4289818" y="2225700"/>
                  </a:lnTo>
                  <a:lnTo>
                    <a:pt x="4289818" y="20424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10761" y="4535100"/>
            <a:ext cx="1407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Plumb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3777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4E97A1-D26C-42BA-9732-A416E9E71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0" y="2190750"/>
            <a:ext cx="1143000" cy="536972"/>
          </a:xfrm>
        </p:spPr>
        <p:txBody>
          <a:bodyPr/>
          <a:lstStyle/>
          <a:p>
            <a:r>
              <a:rPr lang="en-US" sz="2800" b="1" dirty="0"/>
              <a:t>END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19068483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263539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Local </a:t>
            </a:r>
            <a:r>
              <a:rPr sz="2800" spc="-10" dirty="0"/>
              <a:t>Surrogate</a:t>
            </a:r>
            <a:r>
              <a:rPr sz="2800" spc="-90" dirty="0"/>
              <a:t> </a:t>
            </a:r>
            <a:r>
              <a:rPr sz="280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224520" cy="116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surrogate methods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aim at finding explanation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approximate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around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Fidelity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Arial"/>
              <a:cs typeface="Arial"/>
            </a:endParaRPr>
          </a:p>
          <a:p>
            <a:pPr marL="297180" algn="ctr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neighbors 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53898" y="2464019"/>
            <a:ext cx="5661025" cy="1106170"/>
            <a:chOff x="1753898" y="2464019"/>
            <a:chExt cx="5661025" cy="1106170"/>
          </a:xfrm>
        </p:grpSpPr>
        <p:sp>
          <p:nvSpPr>
            <p:cNvPr id="5" name="object 5"/>
            <p:cNvSpPr/>
            <p:nvPr/>
          </p:nvSpPr>
          <p:spPr>
            <a:xfrm>
              <a:off x="1753898" y="3062062"/>
              <a:ext cx="5660783" cy="5078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6315" y="2464019"/>
              <a:ext cx="0" cy="592455"/>
            </a:xfrm>
            <a:custGeom>
              <a:avLst/>
              <a:gdLst/>
              <a:ahLst/>
              <a:cxnLst/>
              <a:rect l="l" t="t" r="r" b="b"/>
              <a:pathLst>
                <a:path h="592455">
                  <a:moveTo>
                    <a:pt x="0" y="0"/>
                  </a:moveTo>
                  <a:lnTo>
                    <a:pt x="0" y="5923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70590" y="30563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70590" y="30563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258777" y="3664604"/>
            <a:ext cx="41275" cy="669925"/>
            <a:chOff x="5258777" y="3664604"/>
            <a:chExt cx="41275" cy="669925"/>
          </a:xfrm>
        </p:grpSpPr>
        <p:sp>
          <p:nvSpPr>
            <p:cNvPr id="10" name="object 10"/>
            <p:cNvSpPr/>
            <p:nvPr/>
          </p:nvSpPr>
          <p:spPr>
            <a:xfrm>
              <a:off x="5271864" y="3712592"/>
              <a:ext cx="7620" cy="617220"/>
            </a:xfrm>
            <a:custGeom>
              <a:avLst/>
              <a:gdLst/>
              <a:ahLst/>
              <a:cxnLst/>
              <a:rect l="l" t="t" r="r" b="b"/>
              <a:pathLst>
                <a:path w="7620" h="617220">
                  <a:moveTo>
                    <a:pt x="0" y="616948"/>
                  </a:moveTo>
                  <a:lnTo>
                    <a:pt x="742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63539" y="36693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74" y="43399"/>
                  </a:moveTo>
                  <a:lnTo>
                    <a:pt x="0" y="43024"/>
                  </a:lnTo>
                  <a:lnTo>
                    <a:pt x="16249" y="0"/>
                  </a:lnTo>
                  <a:lnTo>
                    <a:pt x="31474" y="43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63539" y="36693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74" y="43399"/>
                  </a:moveTo>
                  <a:lnTo>
                    <a:pt x="16249" y="0"/>
                  </a:lnTo>
                  <a:lnTo>
                    <a:pt x="0" y="43024"/>
                  </a:lnTo>
                  <a:lnTo>
                    <a:pt x="31474" y="43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03244" y="4388177"/>
            <a:ext cx="93471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explanation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66049" y="3664604"/>
            <a:ext cx="41275" cy="669925"/>
            <a:chOff x="6366049" y="3664604"/>
            <a:chExt cx="41275" cy="669925"/>
          </a:xfrm>
        </p:grpSpPr>
        <p:sp>
          <p:nvSpPr>
            <p:cNvPr id="15" name="object 15"/>
            <p:cNvSpPr/>
            <p:nvPr/>
          </p:nvSpPr>
          <p:spPr>
            <a:xfrm>
              <a:off x="6379137" y="3712592"/>
              <a:ext cx="7620" cy="617220"/>
            </a:xfrm>
            <a:custGeom>
              <a:avLst/>
              <a:gdLst/>
              <a:ahLst/>
              <a:cxnLst/>
              <a:rect l="l" t="t" r="r" b="b"/>
              <a:pathLst>
                <a:path w="7620" h="617220">
                  <a:moveTo>
                    <a:pt x="0" y="616948"/>
                  </a:moveTo>
                  <a:lnTo>
                    <a:pt x="742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70812" y="36693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74" y="43399"/>
                  </a:moveTo>
                  <a:lnTo>
                    <a:pt x="0" y="43024"/>
                  </a:lnTo>
                  <a:lnTo>
                    <a:pt x="16249" y="0"/>
                  </a:lnTo>
                  <a:lnTo>
                    <a:pt x="31474" y="43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70812" y="36693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74" y="43399"/>
                  </a:moveTo>
                  <a:lnTo>
                    <a:pt x="16249" y="0"/>
                  </a:lnTo>
                  <a:lnTo>
                    <a:pt x="0" y="43024"/>
                  </a:lnTo>
                  <a:lnTo>
                    <a:pt x="31474" y="43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30890" y="4388177"/>
            <a:ext cx="727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blackbox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3488" y="4441031"/>
            <a:ext cx="13970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Plumb el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800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Local </a:t>
            </a:r>
            <a:r>
              <a:rPr sz="2800" spc="-10" dirty="0"/>
              <a:t>Surrogate</a:t>
            </a:r>
            <a:r>
              <a:rPr sz="2800" spc="-90" dirty="0"/>
              <a:t> </a:t>
            </a:r>
            <a:r>
              <a:rPr sz="280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22452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surrogate methods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aim at finding explanation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approximate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around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Fidelity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2176" y="1914654"/>
            <a:ext cx="5660783" cy="501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546882" y="2623894"/>
            <a:ext cx="3548379" cy="2519680"/>
            <a:chOff x="2546882" y="2623894"/>
            <a:chExt cx="3548379" cy="2519680"/>
          </a:xfrm>
        </p:grpSpPr>
        <p:sp>
          <p:nvSpPr>
            <p:cNvPr id="6" name="object 6"/>
            <p:cNvSpPr/>
            <p:nvPr/>
          </p:nvSpPr>
          <p:spPr>
            <a:xfrm>
              <a:off x="2848594" y="2623894"/>
              <a:ext cx="2848569" cy="25195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21015" y="3160593"/>
              <a:ext cx="1669414" cy="342900"/>
            </a:xfrm>
            <a:custGeom>
              <a:avLst/>
              <a:gdLst/>
              <a:ahLst/>
              <a:cxnLst/>
              <a:rect l="l" t="t" r="r" b="b"/>
              <a:pathLst>
                <a:path w="1669414" h="342900">
                  <a:moveTo>
                    <a:pt x="1669321" y="0"/>
                  </a:moveTo>
                  <a:lnTo>
                    <a:pt x="0" y="3424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8691" y="348769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99" y="30824"/>
                  </a:moveTo>
                  <a:lnTo>
                    <a:pt x="0" y="24099"/>
                  </a:lnTo>
                  <a:lnTo>
                    <a:pt x="39174" y="0"/>
                  </a:lnTo>
                  <a:lnTo>
                    <a:pt x="45499" y="308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8691" y="348769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174" y="0"/>
                  </a:moveTo>
                  <a:lnTo>
                    <a:pt x="0" y="24099"/>
                  </a:lnTo>
                  <a:lnTo>
                    <a:pt x="45499" y="30824"/>
                  </a:lnTo>
                  <a:lnTo>
                    <a:pt x="391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21715" y="3718742"/>
              <a:ext cx="1468755" cy="301625"/>
            </a:xfrm>
            <a:custGeom>
              <a:avLst/>
              <a:gdLst/>
              <a:ahLst/>
              <a:cxnLst/>
              <a:rect l="l" t="t" r="r" b="b"/>
              <a:pathLst>
                <a:path w="1468754" h="301625">
                  <a:moveTo>
                    <a:pt x="1468622" y="30112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9390" y="37033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174" y="30824"/>
                  </a:moveTo>
                  <a:lnTo>
                    <a:pt x="0" y="6724"/>
                  </a:lnTo>
                  <a:lnTo>
                    <a:pt x="45499" y="0"/>
                  </a:lnTo>
                  <a:lnTo>
                    <a:pt x="39174" y="308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9390" y="370334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99" y="0"/>
                  </a:moveTo>
                  <a:lnTo>
                    <a:pt x="0" y="6724"/>
                  </a:lnTo>
                  <a:lnTo>
                    <a:pt x="39174" y="30824"/>
                  </a:lnTo>
                  <a:lnTo>
                    <a:pt x="454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51644" y="2860669"/>
              <a:ext cx="1543050" cy="539115"/>
            </a:xfrm>
            <a:custGeom>
              <a:avLst/>
              <a:gdLst/>
              <a:ahLst/>
              <a:cxnLst/>
              <a:rect l="l" t="t" r="r" b="b"/>
              <a:pathLst>
                <a:path w="1543050" h="539114">
                  <a:moveTo>
                    <a:pt x="0" y="0"/>
                  </a:moveTo>
                  <a:lnTo>
                    <a:pt x="1542946" y="5388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89391" y="3384668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0" y="29699"/>
                  </a:moveTo>
                  <a:lnTo>
                    <a:pt x="10374" y="0"/>
                  </a:lnTo>
                  <a:lnTo>
                    <a:pt x="45999" y="29099"/>
                  </a:lnTo>
                  <a:lnTo>
                    <a:pt x="0" y="296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89391" y="3384668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0" y="29699"/>
                  </a:moveTo>
                  <a:lnTo>
                    <a:pt x="45999" y="29099"/>
                  </a:lnTo>
                  <a:lnTo>
                    <a:pt x="10374" y="0"/>
                  </a:lnTo>
                  <a:lnTo>
                    <a:pt x="0" y="29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07719" y="3784617"/>
              <a:ext cx="1556385" cy="142240"/>
            </a:xfrm>
            <a:custGeom>
              <a:avLst/>
              <a:gdLst/>
              <a:ahLst/>
              <a:cxnLst/>
              <a:rect l="l" t="t" r="r" b="b"/>
              <a:pathLst>
                <a:path w="1556385" h="142239">
                  <a:moveTo>
                    <a:pt x="0" y="142099"/>
                  </a:moveTo>
                  <a:lnTo>
                    <a:pt x="155617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62466" y="3768942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2874" y="31349"/>
                  </a:moveTo>
                  <a:lnTo>
                    <a:pt x="0" y="0"/>
                  </a:lnTo>
                  <a:lnTo>
                    <a:pt x="44474" y="11749"/>
                  </a:lnTo>
                  <a:lnTo>
                    <a:pt x="2874" y="313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62466" y="3768942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2874" y="31349"/>
                  </a:moveTo>
                  <a:lnTo>
                    <a:pt x="44474" y="11749"/>
                  </a:lnTo>
                  <a:lnTo>
                    <a:pt x="0" y="0"/>
                  </a:lnTo>
                  <a:lnTo>
                    <a:pt x="2874" y="31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10641" y="3236293"/>
              <a:ext cx="654050" cy="654050"/>
            </a:xfrm>
            <a:custGeom>
              <a:avLst/>
              <a:gdLst/>
              <a:ahLst/>
              <a:cxnLst/>
              <a:rect l="l" t="t" r="r" b="b"/>
              <a:pathLst>
                <a:path w="654050" h="654050">
                  <a:moveTo>
                    <a:pt x="0" y="326849"/>
                  </a:moveTo>
                  <a:lnTo>
                    <a:pt x="3543" y="278547"/>
                  </a:lnTo>
                  <a:lnTo>
                    <a:pt x="13837" y="232447"/>
                  </a:lnTo>
                  <a:lnTo>
                    <a:pt x="30376" y="189053"/>
                  </a:lnTo>
                  <a:lnTo>
                    <a:pt x="52654" y="148871"/>
                  </a:lnTo>
                  <a:lnTo>
                    <a:pt x="80167" y="112407"/>
                  </a:lnTo>
                  <a:lnTo>
                    <a:pt x="112407" y="80167"/>
                  </a:lnTo>
                  <a:lnTo>
                    <a:pt x="148871" y="52654"/>
                  </a:lnTo>
                  <a:lnTo>
                    <a:pt x="189053" y="30376"/>
                  </a:lnTo>
                  <a:lnTo>
                    <a:pt x="232447" y="13837"/>
                  </a:lnTo>
                  <a:lnTo>
                    <a:pt x="278547" y="3543"/>
                  </a:lnTo>
                  <a:lnTo>
                    <a:pt x="326849" y="0"/>
                  </a:lnTo>
                  <a:lnTo>
                    <a:pt x="378284" y="4070"/>
                  </a:lnTo>
                  <a:lnTo>
                    <a:pt x="427994" y="16040"/>
                  </a:lnTo>
                  <a:lnTo>
                    <a:pt x="475098" y="35548"/>
                  </a:lnTo>
                  <a:lnTo>
                    <a:pt x="518718" y="62230"/>
                  </a:lnTo>
                  <a:lnTo>
                    <a:pt x="557973" y="95724"/>
                  </a:lnTo>
                  <a:lnTo>
                    <a:pt x="591468" y="134980"/>
                  </a:lnTo>
                  <a:lnTo>
                    <a:pt x="618150" y="178599"/>
                  </a:lnTo>
                  <a:lnTo>
                    <a:pt x="637657" y="225704"/>
                  </a:lnTo>
                  <a:lnTo>
                    <a:pt x="649628" y="275414"/>
                  </a:lnTo>
                  <a:lnTo>
                    <a:pt x="653698" y="326849"/>
                  </a:lnTo>
                  <a:lnTo>
                    <a:pt x="650155" y="375151"/>
                  </a:lnTo>
                  <a:lnTo>
                    <a:pt x="639861" y="421251"/>
                  </a:lnTo>
                  <a:lnTo>
                    <a:pt x="623322" y="464645"/>
                  </a:lnTo>
                  <a:lnTo>
                    <a:pt x="601043" y="504826"/>
                  </a:lnTo>
                  <a:lnTo>
                    <a:pt x="573531" y="541290"/>
                  </a:lnTo>
                  <a:lnTo>
                    <a:pt x="541290" y="573531"/>
                  </a:lnTo>
                  <a:lnTo>
                    <a:pt x="504826" y="601043"/>
                  </a:lnTo>
                  <a:lnTo>
                    <a:pt x="464645" y="623322"/>
                  </a:lnTo>
                  <a:lnTo>
                    <a:pt x="421251" y="639861"/>
                  </a:lnTo>
                  <a:lnTo>
                    <a:pt x="375151" y="650155"/>
                  </a:lnTo>
                  <a:lnTo>
                    <a:pt x="326849" y="653698"/>
                  </a:lnTo>
                  <a:lnTo>
                    <a:pt x="278547" y="650155"/>
                  </a:lnTo>
                  <a:lnTo>
                    <a:pt x="232447" y="639861"/>
                  </a:lnTo>
                  <a:lnTo>
                    <a:pt x="189053" y="623322"/>
                  </a:lnTo>
                  <a:lnTo>
                    <a:pt x="148871" y="601043"/>
                  </a:lnTo>
                  <a:lnTo>
                    <a:pt x="112407" y="573531"/>
                  </a:lnTo>
                  <a:lnTo>
                    <a:pt x="80167" y="541290"/>
                  </a:lnTo>
                  <a:lnTo>
                    <a:pt x="52654" y="504826"/>
                  </a:lnTo>
                  <a:lnTo>
                    <a:pt x="30376" y="464645"/>
                  </a:lnTo>
                  <a:lnTo>
                    <a:pt x="13837" y="421251"/>
                  </a:lnTo>
                  <a:lnTo>
                    <a:pt x="3543" y="375151"/>
                  </a:lnTo>
                  <a:lnTo>
                    <a:pt x="0" y="326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63364" y="2971203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33488" y="4457874"/>
            <a:ext cx="139700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Plumb el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3407" y="3841205"/>
            <a:ext cx="607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x' </a:t>
            </a:r>
            <a:r>
              <a:rPr sz="1400" dirty="0">
                <a:latin typeface="AoyagiKouzanFontT"/>
                <a:cs typeface="AoyagiKouzanFontT"/>
              </a:rPr>
              <a:t>∈</a:t>
            </a:r>
            <a:r>
              <a:rPr sz="1400" spc="-385" dirty="0">
                <a:latin typeface="AoyagiKouzanFontT"/>
                <a:cs typeface="AoyagiKouzanFontT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800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86371" y="2671280"/>
            <a:ext cx="37592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x'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oyagiKouzanFontT"/>
                <a:cs typeface="AoyagiKouzanFontT"/>
              </a:rPr>
              <a:t>∈</a:t>
            </a:r>
            <a:endParaRPr sz="1400">
              <a:latin typeface="AoyagiKouzanFontT"/>
              <a:cs typeface="AoyagiKouzanFontT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latin typeface="Arial"/>
                <a:cs typeface="Arial"/>
              </a:rPr>
              <a:t>N</a:t>
            </a:r>
            <a:r>
              <a:rPr sz="800" spc="-5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2640" y="3737326"/>
            <a:ext cx="37592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x'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oyagiKouzanFontT"/>
                <a:cs typeface="AoyagiKouzanFontT"/>
              </a:rPr>
              <a:t>∈</a:t>
            </a:r>
            <a:endParaRPr sz="1400">
              <a:latin typeface="AoyagiKouzanFontT"/>
              <a:cs typeface="AoyagiKouzanFontT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latin typeface="Arial"/>
                <a:cs typeface="Arial"/>
              </a:rPr>
              <a:t>N</a:t>
            </a:r>
            <a:r>
              <a:rPr sz="800" spc="-5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648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Local </a:t>
            </a:r>
            <a:r>
              <a:rPr sz="2800" spc="-10" dirty="0"/>
              <a:t>Surrogate</a:t>
            </a:r>
            <a:r>
              <a:rPr sz="2800" spc="-90" dirty="0"/>
              <a:t> </a:t>
            </a:r>
            <a:r>
              <a:rPr sz="280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22452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surrogate methods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aim at finding explanation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approximate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around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Fidelity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2176" y="1914654"/>
            <a:ext cx="5660783" cy="501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48594" y="2623894"/>
            <a:ext cx="3246755" cy="2519680"/>
            <a:chOff x="2848594" y="2623894"/>
            <a:chExt cx="3246755" cy="2519680"/>
          </a:xfrm>
        </p:grpSpPr>
        <p:sp>
          <p:nvSpPr>
            <p:cNvPr id="6" name="object 6"/>
            <p:cNvSpPr/>
            <p:nvPr/>
          </p:nvSpPr>
          <p:spPr>
            <a:xfrm>
              <a:off x="2848594" y="2623894"/>
              <a:ext cx="2848569" cy="25195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21016" y="3160593"/>
              <a:ext cx="1669414" cy="342900"/>
            </a:xfrm>
            <a:custGeom>
              <a:avLst/>
              <a:gdLst/>
              <a:ahLst/>
              <a:cxnLst/>
              <a:rect l="l" t="t" r="r" b="b"/>
              <a:pathLst>
                <a:path w="1669414" h="342900">
                  <a:moveTo>
                    <a:pt x="1669321" y="0"/>
                  </a:moveTo>
                  <a:lnTo>
                    <a:pt x="0" y="3424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8691" y="348769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99" y="30824"/>
                  </a:moveTo>
                  <a:lnTo>
                    <a:pt x="0" y="24099"/>
                  </a:lnTo>
                  <a:lnTo>
                    <a:pt x="39174" y="0"/>
                  </a:lnTo>
                  <a:lnTo>
                    <a:pt x="45499" y="308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8691" y="348769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174" y="0"/>
                  </a:moveTo>
                  <a:lnTo>
                    <a:pt x="0" y="24099"/>
                  </a:lnTo>
                  <a:lnTo>
                    <a:pt x="45499" y="30824"/>
                  </a:lnTo>
                  <a:lnTo>
                    <a:pt x="391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18366" y="3423518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4">
                  <a:moveTo>
                    <a:pt x="0" y="118349"/>
                  </a:moveTo>
                  <a:lnTo>
                    <a:pt x="9298" y="72288"/>
                  </a:lnTo>
                  <a:lnTo>
                    <a:pt x="34659" y="34668"/>
                  </a:lnTo>
                  <a:lnTo>
                    <a:pt x="72277" y="9302"/>
                  </a:lnTo>
                  <a:lnTo>
                    <a:pt x="118349" y="0"/>
                  </a:lnTo>
                  <a:lnTo>
                    <a:pt x="163637" y="9012"/>
                  </a:lnTo>
                  <a:lnTo>
                    <a:pt x="202024" y="34674"/>
                  </a:lnTo>
                  <a:lnTo>
                    <a:pt x="227687" y="73062"/>
                  </a:lnTo>
                  <a:lnTo>
                    <a:pt x="236699" y="118349"/>
                  </a:lnTo>
                  <a:lnTo>
                    <a:pt x="227397" y="164421"/>
                  </a:lnTo>
                  <a:lnTo>
                    <a:pt x="202030" y="202040"/>
                  </a:lnTo>
                  <a:lnTo>
                    <a:pt x="164411" y="227400"/>
                  </a:lnTo>
                  <a:lnTo>
                    <a:pt x="118349" y="236699"/>
                  </a:lnTo>
                  <a:lnTo>
                    <a:pt x="72277" y="227400"/>
                  </a:lnTo>
                  <a:lnTo>
                    <a:pt x="34659" y="202040"/>
                  </a:lnTo>
                  <a:lnTo>
                    <a:pt x="9298" y="164421"/>
                  </a:lnTo>
                  <a:lnTo>
                    <a:pt x="0" y="118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63364" y="2971203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33488" y="4457874"/>
            <a:ext cx="139700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Plumb el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4825"/>
            <a:ext cx="8534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/>
              <a:t>Local Interpretable </a:t>
            </a:r>
            <a:r>
              <a:rPr sz="2500" dirty="0"/>
              <a:t>Model-agnostic </a:t>
            </a:r>
            <a:r>
              <a:rPr sz="2500" spc="-5" dirty="0"/>
              <a:t>Explanations</a:t>
            </a:r>
            <a:r>
              <a:rPr sz="2500" spc="-105" dirty="0"/>
              <a:t> </a:t>
            </a:r>
            <a:r>
              <a:rPr sz="2500" dirty="0"/>
              <a:t>(LIME)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827341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Deep learning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usually too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complex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global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interpretation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Instead, we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seek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local interpretability using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simple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 (e.g.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78218" y="2332096"/>
            <a:ext cx="4626657" cy="2250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761" y="4535100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2693423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LIME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805434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LIME generates an explainable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optimizes both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model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fidelity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and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explanation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8158" y="2435307"/>
            <a:ext cx="5996305" cy="2008505"/>
            <a:chOff x="1918158" y="2435307"/>
            <a:chExt cx="5996305" cy="2008505"/>
          </a:xfrm>
        </p:grpSpPr>
        <p:sp>
          <p:nvSpPr>
            <p:cNvPr id="5" name="object 5"/>
            <p:cNvSpPr/>
            <p:nvPr/>
          </p:nvSpPr>
          <p:spPr>
            <a:xfrm>
              <a:off x="1918158" y="2931829"/>
              <a:ext cx="4737363" cy="61355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9962" y="3371118"/>
              <a:ext cx="1659255" cy="1067435"/>
            </a:xfrm>
            <a:custGeom>
              <a:avLst/>
              <a:gdLst/>
              <a:ahLst/>
              <a:cxnLst/>
              <a:rect l="l" t="t" r="r" b="b"/>
              <a:pathLst>
                <a:path w="1659254" h="1067435">
                  <a:moveTo>
                    <a:pt x="1659221" y="106737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3587" y="3347718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29">
                  <a:moveTo>
                    <a:pt x="27849" y="36624"/>
                  </a:moveTo>
                  <a:lnTo>
                    <a:pt x="0" y="0"/>
                  </a:lnTo>
                  <a:lnTo>
                    <a:pt x="44874" y="10174"/>
                  </a:lnTo>
                  <a:lnTo>
                    <a:pt x="27849" y="366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13587" y="3347718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29">
                  <a:moveTo>
                    <a:pt x="44874" y="10174"/>
                  </a:moveTo>
                  <a:lnTo>
                    <a:pt x="0" y="0"/>
                  </a:lnTo>
                  <a:lnTo>
                    <a:pt x="27849" y="36624"/>
                  </a:lnTo>
                  <a:lnTo>
                    <a:pt x="44874" y="101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27214" y="3379218"/>
              <a:ext cx="741680" cy="1059815"/>
            </a:xfrm>
            <a:custGeom>
              <a:avLst/>
              <a:gdLst/>
              <a:ahLst/>
              <a:cxnLst/>
              <a:rect l="l" t="t" r="r" b="b"/>
              <a:pathLst>
                <a:path w="741679" h="1059814">
                  <a:moveTo>
                    <a:pt x="741223" y="105927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2414" y="3343793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11899" y="44449"/>
                  </a:moveTo>
                  <a:lnTo>
                    <a:pt x="0" y="0"/>
                  </a:lnTo>
                  <a:lnTo>
                    <a:pt x="37674" y="26399"/>
                  </a:lnTo>
                  <a:lnTo>
                    <a:pt x="11899" y="44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02414" y="3343793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37674" y="26399"/>
                  </a:moveTo>
                  <a:lnTo>
                    <a:pt x="0" y="0"/>
                  </a:lnTo>
                  <a:lnTo>
                    <a:pt x="11899" y="44449"/>
                  </a:lnTo>
                  <a:lnTo>
                    <a:pt x="37674" y="26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52143" y="2440070"/>
              <a:ext cx="1257935" cy="451484"/>
            </a:xfrm>
            <a:custGeom>
              <a:avLst/>
              <a:gdLst/>
              <a:ahLst/>
              <a:cxnLst/>
              <a:rect l="l" t="t" r="r" b="b"/>
              <a:pathLst>
                <a:path w="1257935" h="451485">
                  <a:moveTo>
                    <a:pt x="0" y="0"/>
                  </a:moveTo>
                  <a:lnTo>
                    <a:pt x="1257797" y="4513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04640" y="2876669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0" y="29599"/>
                  </a:moveTo>
                  <a:lnTo>
                    <a:pt x="10624" y="0"/>
                  </a:lnTo>
                  <a:lnTo>
                    <a:pt x="45999" y="29399"/>
                  </a:lnTo>
                  <a:lnTo>
                    <a:pt x="0" y="295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4640" y="2876669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0" y="29599"/>
                  </a:moveTo>
                  <a:lnTo>
                    <a:pt x="45999" y="29399"/>
                  </a:lnTo>
                  <a:lnTo>
                    <a:pt x="10624" y="0"/>
                  </a:lnTo>
                  <a:lnTo>
                    <a:pt x="0" y="29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74114" y="4504401"/>
            <a:ext cx="1545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Complexity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Penalty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08814" y="4504401"/>
            <a:ext cx="14947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Proximity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Measure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0665" y="2124588"/>
            <a:ext cx="13442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latin typeface="Arial"/>
                <a:cs typeface="Arial"/>
              </a:rPr>
              <a:t>Black Box </a:t>
            </a:r>
            <a:r>
              <a:rPr sz="1300" dirty="0">
                <a:latin typeface="Arial"/>
                <a:cs typeface="Arial"/>
              </a:rPr>
              <a:t>Model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f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5041" y="2104906"/>
            <a:ext cx="10991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Explanation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48145" y="2314132"/>
            <a:ext cx="3607435" cy="2407920"/>
            <a:chOff x="2148145" y="2314132"/>
            <a:chExt cx="3607435" cy="2407920"/>
          </a:xfrm>
        </p:grpSpPr>
        <p:sp>
          <p:nvSpPr>
            <p:cNvPr id="20" name="object 20"/>
            <p:cNvSpPr/>
            <p:nvPr/>
          </p:nvSpPr>
          <p:spPr>
            <a:xfrm>
              <a:off x="5046864" y="2318895"/>
              <a:ext cx="703580" cy="570230"/>
            </a:xfrm>
            <a:custGeom>
              <a:avLst/>
              <a:gdLst/>
              <a:ahLst/>
              <a:cxnLst/>
              <a:rect l="l" t="t" r="r" b="b"/>
              <a:pathLst>
                <a:path w="703579" h="570230">
                  <a:moveTo>
                    <a:pt x="703498" y="0"/>
                  </a:moveTo>
                  <a:lnTo>
                    <a:pt x="0" y="56972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13289" y="2876394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5">
                  <a:moveTo>
                    <a:pt x="0" y="39424"/>
                  </a:moveTo>
                  <a:lnTo>
                    <a:pt x="23674" y="0"/>
                  </a:lnTo>
                  <a:lnTo>
                    <a:pt x="43499" y="24449"/>
                  </a:lnTo>
                  <a:lnTo>
                    <a:pt x="0" y="39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13289" y="2876394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5">
                  <a:moveTo>
                    <a:pt x="23674" y="0"/>
                  </a:moveTo>
                  <a:lnTo>
                    <a:pt x="0" y="39424"/>
                  </a:lnTo>
                  <a:lnTo>
                    <a:pt x="43499" y="24449"/>
                  </a:lnTo>
                  <a:lnTo>
                    <a:pt x="236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32642" y="3356118"/>
              <a:ext cx="666115" cy="763905"/>
            </a:xfrm>
            <a:custGeom>
              <a:avLst/>
              <a:gdLst/>
              <a:ahLst/>
              <a:cxnLst/>
              <a:rect l="l" t="t" r="r" b="b"/>
              <a:pathLst>
                <a:path w="666114" h="763904">
                  <a:moveTo>
                    <a:pt x="0" y="763623"/>
                  </a:moveTo>
                  <a:lnTo>
                    <a:pt x="6659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86716" y="3323543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79">
                  <a:moveTo>
                    <a:pt x="23724" y="42899"/>
                  </a:moveTo>
                  <a:lnTo>
                    <a:pt x="0" y="22224"/>
                  </a:lnTo>
                  <a:lnTo>
                    <a:pt x="40274" y="0"/>
                  </a:lnTo>
                  <a:lnTo>
                    <a:pt x="23724" y="428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86716" y="3323543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79">
                  <a:moveTo>
                    <a:pt x="23724" y="42899"/>
                  </a:moveTo>
                  <a:lnTo>
                    <a:pt x="40274" y="0"/>
                  </a:lnTo>
                  <a:lnTo>
                    <a:pt x="0" y="22224"/>
                  </a:lnTo>
                  <a:lnTo>
                    <a:pt x="23724" y="42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8145" y="4319997"/>
              <a:ext cx="2884074" cy="4016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693423" y="4095541"/>
            <a:ext cx="17513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 Surrogate</a:t>
            </a:r>
            <a:r>
              <a:rPr sz="1400" spc="3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953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Linear </a:t>
            </a:r>
            <a:r>
              <a:rPr sz="2800" spc="-10" dirty="0"/>
              <a:t>Explainable</a:t>
            </a:r>
            <a:r>
              <a:rPr sz="2800" spc="-90" dirty="0"/>
              <a:t> </a:t>
            </a:r>
            <a:r>
              <a:rPr sz="280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1870" y="2047060"/>
            <a:ext cx="11353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z'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{0,</a:t>
            </a:r>
            <a:r>
              <a:rPr sz="1400" spc="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1}</a:t>
            </a:r>
            <a:r>
              <a:rPr sz="1350" baseline="30864" dirty="0">
                <a:solidFill>
                  <a:srgbClr val="595959"/>
                </a:solidFill>
                <a:latin typeface="Arial"/>
                <a:cs typeface="Arial"/>
              </a:rPr>
              <a:t>d'</a:t>
            </a:r>
            <a:endParaRPr sz="1350" baseline="30864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64366" y="2060110"/>
            <a:ext cx="1198916" cy="21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11017" y="1126427"/>
            <a:ext cx="3519531" cy="488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5248" y="1146835"/>
            <a:ext cx="3827779" cy="113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304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 Surrogate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1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Linear Explainable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</a:t>
            </a:r>
            <a:endParaRPr sz="1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CFBD0C-C2F6-4769-B192-8B51F654A2D2}"/>
                  </a:ext>
                </a:extLst>
              </p14:cNvPr>
              <p14:cNvContentPartPr/>
              <p14:nvPr/>
            </p14:nvContentPartPr>
            <p14:xfrm>
              <a:off x="5438880" y="1395360"/>
              <a:ext cx="209880" cy="62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CFBD0C-C2F6-4769-B192-8B51F654A2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29520" y="1386000"/>
                <a:ext cx="228600" cy="8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876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Linear </a:t>
            </a:r>
            <a:r>
              <a:rPr sz="2800" spc="-10" dirty="0"/>
              <a:t>Explainable</a:t>
            </a:r>
            <a:r>
              <a:rPr sz="2800" spc="-90" dirty="0"/>
              <a:t> </a:t>
            </a:r>
            <a:r>
              <a:rPr sz="280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4364366" y="2060110"/>
            <a:ext cx="1198916" cy="21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11017" y="1126427"/>
            <a:ext cx="3519531" cy="488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2548" y="1146835"/>
            <a:ext cx="7837805" cy="163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574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 Surrogate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391795" indent="-367030">
              <a:lnSpc>
                <a:spcPct val="100000"/>
              </a:lnSpc>
              <a:spcBef>
                <a:spcPts val="1190"/>
              </a:spcBef>
              <a:buChar char="●"/>
              <a:tabLst>
                <a:tab pos="391795" algn="l"/>
                <a:tab pos="3924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Linear Explainable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 dirty="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8994" algn="l"/>
                <a:tab pos="849630" algn="l"/>
                <a:tab pos="5156835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explanation	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z'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{0,</a:t>
            </a:r>
            <a:r>
              <a:rPr sz="1400" spc="-2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1}</a:t>
            </a:r>
            <a:r>
              <a:rPr sz="1350" baseline="30864" dirty="0">
                <a:solidFill>
                  <a:srgbClr val="595959"/>
                </a:solidFill>
                <a:latin typeface="Arial"/>
                <a:cs typeface="Arial"/>
              </a:rPr>
              <a:t>d'</a:t>
            </a:r>
            <a:endParaRPr sz="1350" baseline="30864" dirty="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z'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indicating whether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specific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input will be included in the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</a:t>
            </a:r>
            <a:endParaRPr sz="1400" dirty="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perturbed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 z 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recovered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</a:t>
            </a:r>
            <a:r>
              <a:rPr sz="14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z',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23022" y="2546070"/>
            <a:ext cx="875247" cy="237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303315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Linear </a:t>
            </a:r>
            <a:r>
              <a:rPr sz="2800" spc="-10" dirty="0"/>
              <a:t>Explainable</a:t>
            </a:r>
            <a:r>
              <a:rPr sz="2800" spc="-90" dirty="0"/>
              <a:t> </a:t>
            </a:r>
            <a:r>
              <a:rPr sz="280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4364366" y="2060110"/>
            <a:ext cx="1198916" cy="21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147" y="4277734"/>
            <a:ext cx="2037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Sample </a:t>
            </a:r>
            <a:r>
              <a:rPr sz="1400" dirty="0">
                <a:latin typeface="Arial"/>
                <a:cs typeface="Arial"/>
              </a:rPr>
              <a:t>x </a:t>
            </a:r>
            <a:r>
              <a:rPr sz="1400" spc="-5" dirty="0">
                <a:latin typeface="Arial"/>
                <a:cs typeface="Arial"/>
              </a:rPr>
              <a:t>to be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Explained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604" y="3274906"/>
            <a:ext cx="224154" cy="6273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0615" y="4277734"/>
            <a:ext cx="1282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Feature </a:t>
            </a:r>
            <a:r>
              <a:rPr sz="1400" dirty="0">
                <a:latin typeface="Arial"/>
                <a:cs typeface="Arial"/>
              </a:rPr>
              <a:t>Mask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z'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06280" y="3100362"/>
            <a:ext cx="2131695" cy="260350"/>
            <a:chOff x="3506280" y="3481705"/>
            <a:chExt cx="2131695" cy="260350"/>
          </a:xfrm>
        </p:grpSpPr>
        <p:sp>
          <p:nvSpPr>
            <p:cNvPr id="14" name="object 14"/>
            <p:cNvSpPr/>
            <p:nvPr/>
          </p:nvSpPr>
          <p:spPr>
            <a:xfrm>
              <a:off x="3511043" y="34864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2121895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2121895" y="0"/>
                  </a:lnTo>
                  <a:lnTo>
                    <a:pt x="2121895" y="2507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11043" y="34864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46016" y="3105937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3605" y="3105937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19695" y="3105937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06280" y="3405161"/>
            <a:ext cx="2131695" cy="260350"/>
            <a:chOff x="3506280" y="3786504"/>
            <a:chExt cx="2131695" cy="260350"/>
          </a:xfrm>
        </p:grpSpPr>
        <p:sp>
          <p:nvSpPr>
            <p:cNvPr id="20" name="object 20"/>
            <p:cNvSpPr/>
            <p:nvPr/>
          </p:nvSpPr>
          <p:spPr>
            <a:xfrm>
              <a:off x="3511043" y="37912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2121895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2121895" y="0"/>
                  </a:lnTo>
                  <a:lnTo>
                    <a:pt x="2121895" y="2507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11043" y="37912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46016" y="3410736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83605" y="3410736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19695" y="3410736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06280" y="3709961"/>
            <a:ext cx="2131695" cy="260350"/>
            <a:chOff x="3506280" y="4091304"/>
            <a:chExt cx="2131695" cy="260350"/>
          </a:xfrm>
        </p:grpSpPr>
        <p:sp>
          <p:nvSpPr>
            <p:cNvPr id="26" name="object 26"/>
            <p:cNvSpPr/>
            <p:nvPr/>
          </p:nvSpPr>
          <p:spPr>
            <a:xfrm>
              <a:off x="3511043" y="4096066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2121895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2121895" y="0"/>
                  </a:lnTo>
                  <a:lnTo>
                    <a:pt x="2121895" y="2507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11043" y="4096066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646016" y="37155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83605" y="37155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19695" y="37155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506280" y="4014760"/>
            <a:ext cx="2131695" cy="260350"/>
            <a:chOff x="3506280" y="4396103"/>
            <a:chExt cx="2131695" cy="260350"/>
          </a:xfrm>
        </p:grpSpPr>
        <p:sp>
          <p:nvSpPr>
            <p:cNvPr id="32" name="object 32"/>
            <p:cNvSpPr/>
            <p:nvPr/>
          </p:nvSpPr>
          <p:spPr>
            <a:xfrm>
              <a:off x="3511043" y="4400866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2121895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2121895" y="0"/>
                  </a:lnTo>
                  <a:lnTo>
                    <a:pt x="2121895" y="2507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11043" y="4400866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46016" y="40203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83605" y="40203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19695" y="4020335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63716" y="3135479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137243" y="3214799"/>
            <a:ext cx="5032114" cy="917628"/>
            <a:chOff x="3137243" y="3596142"/>
            <a:chExt cx="5032114" cy="917628"/>
          </a:xfrm>
        </p:grpSpPr>
        <p:sp>
          <p:nvSpPr>
            <p:cNvPr id="42" name="object 42"/>
            <p:cNvSpPr/>
            <p:nvPr/>
          </p:nvSpPr>
          <p:spPr>
            <a:xfrm>
              <a:off x="3137243" y="3611867"/>
              <a:ext cx="316865" cy="0"/>
            </a:xfrm>
            <a:custGeom>
              <a:avLst/>
              <a:gdLst/>
              <a:ahLst/>
              <a:cxnLst/>
              <a:rect l="l" t="t" r="r" b="b"/>
              <a:pathLst>
                <a:path w="316864">
                  <a:moveTo>
                    <a:pt x="0" y="0"/>
                  </a:moveTo>
                  <a:lnTo>
                    <a:pt x="3166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53892" y="35961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53892" y="35961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37243" y="3611867"/>
              <a:ext cx="329565" cy="269240"/>
            </a:xfrm>
            <a:custGeom>
              <a:avLst/>
              <a:gdLst/>
              <a:ahLst/>
              <a:cxnLst/>
              <a:rect l="l" t="t" r="r" b="b"/>
              <a:pathLst>
                <a:path w="329564" h="269239">
                  <a:moveTo>
                    <a:pt x="0" y="0"/>
                  </a:moveTo>
                  <a:lnTo>
                    <a:pt x="329499" y="2686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56817" y="3868367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4">
                  <a:moveTo>
                    <a:pt x="43424" y="39499"/>
                  </a:moveTo>
                  <a:lnTo>
                    <a:pt x="0" y="24374"/>
                  </a:lnTo>
                  <a:lnTo>
                    <a:pt x="19874" y="0"/>
                  </a:lnTo>
                  <a:lnTo>
                    <a:pt x="43424" y="394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56817" y="3868367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4">
                  <a:moveTo>
                    <a:pt x="0" y="24374"/>
                  </a:moveTo>
                  <a:lnTo>
                    <a:pt x="43424" y="39499"/>
                  </a:lnTo>
                  <a:lnTo>
                    <a:pt x="19874" y="0"/>
                  </a:lnTo>
                  <a:lnTo>
                    <a:pt x="0" y="243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37243" y="3611867"/>
              <a:ext cx="344170" cy="561340"/>
            </a:xfrm>
            <a:custGeom>
              <a:avLst/>
              <a:gdLst/>
              <a:ahLst/>
              <a:cxnLst/>
              <a:rect l="l" t="t" r="r" b="b"/>
              <a:pathLst>
                <a:path w="344170" h="561339">
                  <a:moveTo>
                    <a:pt x="0" y="0"/>
                  </a:moveTo>
                  <a:lnTo>
                    <a:pt x="343924" y="56087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67767" y="4164516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5" h="45085">
                  <a:moveTo>
                    <a:pt x="35999" y="45074"/>
                  </a:moveTo>
                  <a:lnTo>
                    <a:pt x="0" y="16449"/>
                  </a:lnTo>
                  <a:lnTo>
                    <a:pt x="26799" y="0"/>
                  </a:lnTo>
                  <a:lnTo>
                    <a:pt x="35999" y="450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67767" y="4164516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5" h="45085">
                  <a:moveTo>
                    <a:pt x="0" y="16449"/>
                  </a:moveTo>
                  <a:lnTo>
                    <a:pt x="35999" y="45074"/>
                  </a:lnTo>
                  <a:lnTo>
                    <a:pt x="26799" y="0"/>
                  </a:lnTo>
                  <a:lnTo>
                    <a:pt x="0" y="16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37243" y="3611867"/>
              <a:ext cx="352425" cy="861694"/>
            </a:xfrm>
            <a:custGeom>
              <a:avLst/>
              <a:gdLst/>
              <a:ahLst/>
              <a:cxnLst/>
              <a:rect l="l" t="t" r="r" b="b"/>
              <a:pathLst>
                <a:path w="352425" h="861695">
                  <a:moveTo>
                    <a:pt x="0" y="0"/>
                  </a:moveTo>
                  <a:lnTo>
                    <a:pt x="352174" y="8614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74842" y="4467415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4">
                  <a:moveTo>
                    <a:pt x="30924" y="45949"/>
                  </a:moveTo>
                  <a:lnTo>
                    <a:pt x="0" y="11899"/>
                  </a:lnTo>
                  <a:lnTo>
                    <a:pt x="29149" y="0"/>
                  </a:lnTo>
                  <a:lnTo>
                    <a:pt x="30924" y="459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74842" y="4467415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4">
                  <a:moveTo>
                    <a:pt x="0" y="11899"/>
                  </a:moveTo>
                  <a:lnTo>
                    <a:pt x="30924" y="45949"/>
                  </a:lnTo>
                  <a:lnTo>
                    <a:pt x="29149" y="0"/>
                  </a:lnTo>
                  <a:lnTo>
                    <a:pt x="0" y="11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47187" y="37912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063716" y="3440278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083429"/>
              </p:ext>
            </p:extLst>
          </p:nvPr>
        </p:nvGraphicFramePr>
        <p:xfrm>
          <a:off x="6038800" y="3100349"/>
          <a:ext cx="212407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7" name="object 57"/>
          <p:cNvGrpSpPr/>
          <p:nvPr/>
        </p:nvGrpSpPr>
        <p:grpSpPr>
          <a:xfrm>
            <a:off x="6042425" y="2800350"/>
            <a:ext cx="2131695" cy="865505"/>
            <a:chOff x="6042425" y="3181693"/>
            <a:chExt cx="2131695" cy="865505"/>
          </a:xfrm>
        </p:grpSpPr>
        <p:sp>
          <p:nvSpPr>
            <p:cNvPr id="58" name="object 58"/>
            <p:cNvSpPr/>
            <p:nvPr/>
          </p:nvSpPr>
          <p:spPr>
            <a:xfrm>
              <a:off x="6043562" y="3181705"/>
              <a:ext cx="2125980" cy="860425"/>
            </a:xfrm>
            <a:custGeom>
              <a:avLst/>
              <a:gdLst/>
              <a:ahLst/>
              <a:cxnLst/>
              <a:rect l="l" t="t" r="r" b="b"/>
              <a:pathLst>
                <a:path w="2125979" h="860425">
                  <a:moveTo>
                    <a:pt x="693597" y="0"/>
                  </a:moveTo>
                  <a:lnTo>
                    <a:pt x="0" y="0"/>
                  </a:lnTo>
                  <a:lnTo>
                    <a:pt x="0" y="250799"/>
                  </a:lnTo>
                  <a:lnTo>
                    <a:pt x="693597" y="250799"/>
                  </a:lnTo>
                  <a:lnTo>
                    <a:pt x="693597" y="0"/>
                  </a:lnTo>
                  <a:close/>
                </a:path>
                <a:path w="2125979" h="860425">
                  <a:moveTo>
                    <a:pt x="2125510" y="609561"/>
                  </a:moveTo>
                  <a:lnTo>
                    <a:pt x="693597" y="609561"/>
                  </a:lnTo>
                  <a:lnTo>
                    <a:pt x="693597" y="860361"/>
                  </a:lnTo>
                  <a:lnTo>
                    <a:pt x="2125510" y="860361"/>
                  </a:lnTo>
                  <a:lnTo>
                    <a:pt x="2125510" y="6095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47187" y="3791267"/>
              <a:ext cx="2122170" cy="250825"/>
            </a:xfrm>
            <a:custGeom>
              <a:avLst/>
              <a:gdLst/>
              <a:ahLst/>
              <a:cxnLst/>
              <a:rect l="l" t="t" r="r" b="b"/>
              <a:pathLst>
                <a:path w="2122170" h="250825">
                  <a:moveTo>
                    <a:pt x="0" y="0"/>
                  </a:moveTo>
                  <a:lnTo>
                    <a:pt x="2121895" y="0"/>
                  </a:lnTo>
                  <a:lnTo>
                    <a:pt x="2121895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063716" y="3440278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63716" y="3745077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700" dirty="0">
                <a:latin typeface="Arial"/>
                <a:cs typeface="Arial"/>
              </a:rPr>
              <a:t>z</a:t>
            </a: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63716" y="4049877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700" dirty="0">
                <a:latin typeface="Arial"/>
                <a:cs typeface="Arial"/>
              </a:rPr>
              <a:t>z</a:t>
            </a: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038800" y="3405161"/>
            <a:ext cx="1396365" cy="260350"/>
            <a:chOff x="6038800" y="3786504"/>
            <a:chExt cx="1396365" cy="260350"/>
          </a:xfrm>
        </p:grpSpPr>
        <p:sp>
          <p:nvSpPr>
            <p:cNvPr id="64" name="object 64"/>
            <p:cNvSpPr/>
            <p:nvPr/>
          </p:nvSpPr>
          <p:spPr>
            <a:xfrm>
              <a:off x="6736561" y="3791267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693598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693598" y="0"/>
                  </a:lnTo>
                  <a:lnTo>
                    <a:pt x="693598" y="250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36561" y="3791267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0" y="0"/>
                  </a:moveTo>
                  <a:lnTo>
                    <a:pt x="693598" y="0"/>
                  </a:lnTo>
                  <a:lnTo>
                    <a:pt x="693598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43562" y="3791292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693598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693598" y="0"/>
                  </a:lnTo>
                  <a:lnTo>
                    <a:pt x="693598" y="250799"/>
                  </a:lnTo>
                  <a:close/>
                </a:path>
              </a:pathLst>
            </a:custGeom>
            <a:solidFill>
              <a:srgbClr val="B6D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43562" y="3791292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0" y="0"/>
                  </a:moveTo>
                  <a:lnTo>
                    <a:pt x="693598" y="0"/>
                  </a:lnTo>
                  <a:lnTo>
                    <a:pt x="693598" y="250799"/>
                  </a:lnTo>
                  <a:lnTo>
                    <a:pt x="0" y="25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8" name="object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456825"/>
              </p:ext>
            </p:extLst>
          </p:nvPr>
        </p:nvGraphicFramePr>
        <p:xfrm>
          <a:off x="6038800" y="3709948"/>
          <a:ext cx="212407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object 69"/>
          <p:cNvSpPr/>
          <p:nvPr/>
        </p:nvSpPr>
        <p:spPr>
          <a:xfrm>
            <a:off x="7430159" y="4019523"/>
            <a:ext cx="739140" cy="250825"/>
          </a:xfrm>
          <a:custGeom>
            <a:avLst/>
            <a:gdLst/>
            <a:ahLst/>
            <a:cxnLst/>
            <a:rect l="l" t="t" r="r" b="b"/>
            <a:pathLst>
              <a:path w="739140" h="250825">
                <a:moveTo>
                  <a:pt x="0" y="250799"/>
                </a:moveTo>
                <a:lnTo>
                  <a:pt x="738923" y="250799"/>
                </a:lnTo>
                <a:lnTo>
                  <a:pt x="738923" y="0"/>
                </a:lnTo>
                <a:lnTo>
                  <a:pt x="0" y="0"/>
                </a:lnTo>
                <a:lnTo>
                  <a:pt x="0" y="250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0" name="object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19524"/>
              </p:ext>
            </p:extLst>
          </p:nvPr>
        </p:nvGraphicFramePr>
        <p:xfrm>
          <a:off x="6038800" y="4014747"/>
          <a:ext cx="212407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" name="object 71"/>
          <p:cNvGrpSpPr/>
          <p:nvPr/>
        </p:nvGrpSpPr>
        <p:grpSpPr>
          <a:xfrm>
            <a:off x="5632863" y="3214799"/>
            <a:ext cx="1797538" cy="1055574"/>
            <a:chOff x="5632863" y="3596142"/>
            <a:chExt cx="1797538" cy="1055574"/>
          </a:xfrm>
        </p:grpSpPr>
        <p:sp>
          <p:nvSpPr>
            <p:cNvPr id="75" name="object 75"/>
            <p:cNvSpPr/>
            <p:nvPr/>
          </p:nvSpPr>
          <p:spPr>
            <a:xfrm>
              <a:off x="5632938" y="3611867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986487" y="35961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986487" y="35961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632938" y="3916667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86487" y="39009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986487" y="39009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632938" y="4221466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43561" y="4096067"/>
              <a:ext cx="1386840" cy="250825"/>
            </a:xfrm>
            <a:custGeom>
              <a:avLst/>
              <a:gdLst/>
              <a:ahLst/>
              <a:cxnLst/>
              <a:rect l="l" t="t" r="r" b="b"/>
              <a:pathLst>
                <a:path w="1386840" h="250825">
                  <a:moveTo>
                    <a:pt x="1386586" y="0"/>
                  </a:moveTo>
                  <a:lnTo>
                    <a:pt x="692988" y="0"/>
                  </a:lnTo>
                  <a:lnTo>
                    <a:pt x="0" y="25"/>
                  </a:lnTo>
                  <a:lnTo>
                    <a:pt x="0" y="250825"/>
                  </a:lnTo>
                  <a:lnTo>
                    <a:pt x="693597" y="250825"/>
                  </a:lnTo>
                  <a:lnTo>
                    <a:pt x="1386586" y="250799"/>
                  </a:lnTo>
                  <a:lnTo>
                    <a:pt x="13865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986487" y="42057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986487" y="42057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632863" y="4526290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43562" y="4400891"/>
              <a:ext cx="694055" cy="250825"/>
            </a:xfrm>
            <a:custGeom>
              <a:avLst/>
              <a:gdLst/>
              <a:ahLst/>
              <a:cxnLst/>
              <a:rect l="l" t="t" r="r" b="b"/>
              <a:pathLst>
                <a:path w="694054" h="250825">
                  <a:moveTo>
                    <a:pt x="693598" y="250799"/>
                  </a:moveTo>
                  <a:lnTo>
                    <a:pt x="0" y="250799"/>
                  </a:lnTo>
                  <a:lnTo>
                    <a:pt x="0" y="0"/>
                  </a:lnTo>
                  <a:lnTo>
                    <a:pt x="693598" y="0"/>
                  </a:lnTo>
                  <a:lnTo>
                    <a:pt x="693598" y="250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986412" y="451054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49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986412" y="451054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43224" y="15749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6312211" y="4269638"/>
            <a:ext cx="1591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Perturbed Sample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711017" y="1126427"/>
            <a:ext cx="3519531" cy="488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462548" y="1146835"/>
            <a:ext cx="7837805" cy="163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574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Local Surrogate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391795" indent="-367030">
              <a:lnSpc>
                <a:spcPct val="100000"/>
              </a:lnSpc>
              <a:spcBef>
                <a:spcPts val="1190"/>
              </a:spcBef>
              <a:buChar char="●"/>
              <a:tabLst>
                <a:tab pos="391795" algn="l"/>
                <a:tab pos="3924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Linear Explainable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8994" algn="l"/>
                <a:tab pos="849630" algn="l"/>
                <a:tab pos="5156835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linear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explanation	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z'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{0,</a:t>
            </a:r>
            <a:r>
              <a:rPr sz="1400" spc="-2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1}</a:t>
            </a:r>
            <a:r>
              <a:rPr sz="1350" baseline="30864" dirty="0">
                <a:solidFill>
                  <a:srgbClr val="595959"/>
                </a:solidFill>
                <a:latin typeface="Arial"/>
                <a:cs typeface="Arial"/>
              </a:rPr>
              <a:t>d'</a:t>
            </a:r>
            <a:endParaRPr sz="1350" baseline="30864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z'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indicating whether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specific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input will be included in the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</a:t>
            </a:r>
            <a:endParaRPr sz="140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perturbed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 z 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recovered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</a:t>
            </a:r>
            <a:r>
              <a:rPr sz="14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z',</a:t>
            </a:r>
            <a:endParaRPr sz="14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623022" y="2546070"/>
            <a:ext cx="875247" cy="237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958322" y="3135479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96" name="object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046198"/>
              </p:ext>
            </p:extLst>
          </p:nvPr>
        </p:nvGraphicFramePr>
        <p:xfrm>
          <a:off x="933418" y="3100349"/>
          <a:ext cx="212280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" name="object 97"/>
          <p:cNvSpPr txBox="1"/>
          <p:nvPr/>
        </p:nvSpPr>
        <p:spPr>
          <a:xfrm>
            <a:off x="1958322" y="3440278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98" name="object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76338"/>
              </p:ext>
            </p:extLst>
          </p:nvPr>
        </p:nvGraphicFramePr>
        <p:xfrm>
          <a:off x="933418" y="3405149"/>
          <a:ext cx="212280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" name="object 99"/>
          <p:cNvSpPr txBox="1"/>
          <p:nvPr/>
        </p:nvSpPr>
        <p:spPr>
          <a:xfrm>
            <a:off x="1958322" y="3745077"/>
            <a:ext cx="8890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00" name="object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15702"/>
              </p:ext>
            </p:extLst>
          </p:nvPr>
        </p:nvGraphicFramePr>
        <p:xfrm>
          <a:off x="933418" y="3709948"/>
          <a:ext cx="212280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" name="object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800386"/>
              </p:ext>
            </p:extLst>
          </p:nvPr>
        </p:nvGraphicFramePr>
        <p:xfrm>
          <a:off x="933418" y="4014747"/>
          <a:ext cx="2122804" cy="25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B6D6A8"/>
                    </a:solidFill>
                  </a:tcPr>
                </a:tc>
                <a:tc>
                  <a:txBody>
                    <a:bodyPr/>
                    <a:lstStyle/>
                    <a:p>
                      <a:pPr marL="64769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A3C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230074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 dirty="0"/>
              <a:t>Training </a:t>
            </a:r>
            <a:r>
              <a:rPr sz="2800" spc="-5" dirty="0"/>
              <a:t>Objective for</a:t>
            </a:r>
            <a:r>
              <a:rPr sz="2800" spc="-85" dirty="0"/>
              <a:t> </a:t>
            </a:r>
            <a:r>
              <a:rPr sz="2800" spc="-5" dirty="0"/>
              <a:t>LIME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750175" cy="13525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Loss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Match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predictions of the explanation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that of the black box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f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around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an exponentially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scaled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measure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proximity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 = cosine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distance for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 =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L2 distance for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images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2353" y="2720234"/>
            <a:ext cx="745458" cy="242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67591" y="2708155"/>
            <a:ext cx="1657073" cy="236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17336" y="4101044"/>
            <a:ext cx="13284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Complexity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Penalty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7669" y="4101044"/>
            <a:ext cx="1462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Local Surrogate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Loss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73350" y="3417898"/>
            <a:ext cx="5793105" cy="633095"/>
            <a:chOff x="1573350" y="3417898"/>
            <a:chExt cx="5793105" cy="633095"/>
          </a:xfrm>
        </p:grpSpPr>
        <p:sp>
          <p:nvSpPr>
            <p:cNvPr id="9" name="object 9"/>
            <p:cNvSpPr/>
            <p:nvPr/>
          </p:nvSpPr>
          <p:spPr>
            <a:xfrm>
              <a:off x="3180468" y="4037741"/>
              <a:ext cx="4062095" cy="8255"/>
            </a:xfrm>
            <a:custGeom>
              <a:avLst/>
              <a:gdLst/>
              <a:ahLst/>
              <a:cxnLst/>
              <a:rect l="l" t="t" r="r" b="b"/>
              <a:pathLst>
                <a:path w="4062095" h="8254">
                  <a:moveTo>
                    <a:pt x="0" y="8249"/>
                  </a:moveTo>
                  <a:lnTo>
                    <a:pt x="2526294" y="8249"/>
                  </a:lnTo>
                </a:path>
                <a:path w="4062095" h="8254">
                  <a:moveTo>
                    <a:pt x="2790519" y="0"/>
                  </a:moveTo>
                  <a:lnTo>
                    <a:pt x="4061916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73350" y="3417898"/>
              <a:ext cx="5792857" cy="5815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56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spc="-5" dirty="0"/>
              <a:t>Google</a:t>
            </a:r>
            <a:r>
              <a:rPr sz="2800" spc="-90" dirty="0"/>
              <a:t> </a:t>
            </a:r>
            <a:r>
              <a:rPr sz="2800" spc="-5" dirty="0"/>
              <a:t>InceptionNet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880248" y="1953056"/>
            <a:ext cx="7316314" cy="19909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26367" y="3904879"/>
            <a:ext cx="672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 =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0.32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8479" y="3904879"/>
            <a:ext cx="672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 =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0.21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1209" y="3913137"/>
            <a:ext cx="723265" cy="45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 =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0.24</a:t>
            </a:r>
            <a:endParaRPr sz="1400">
              <a:latin typeface="Arial"/>
              <a:cs typeface="Arial"/>
            </a:endParaRPr>
          </a:p>
          <a:p>
            <a:pPr marL="97155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x </a:t>
            </a:r>
            <a:r>
              <a:rPr sz="1400" dirty="0">
                <a:latin typeface="AoyagiKouzanFontT"/>
                <a:cs typeface="AoyagiKouzanFontT"/>
              </a:rPr>
              <a:t>⊗</a:t>
            </a:r>
            <a:r>
              <a:rPr sz="1400" spc="-345" dirty="0">
                <a:latin typeface="AoyagiKouzanFontT"/>
                <a:cs typeface="AoyagiKouzanFontT"/>
              </a:rPr>
              <a:t> </a:t>
            </a: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-30864" dirty="0">
                <a:latin typeface="Arial"/>
                <a:cs typeface="Arial"/>
              </a:rPr>
              <a:t>g</a:t>
            </a:r>
            <a:endParaRPr sz="1350" baseline="-30864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14609" y="4460878"/>
            <a:ext cx="4226083" cy="424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21998" y="4143080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31923" y="4184816"/>
            <a:ext cx="1738630" cy="0"/>
          </a:xfrm>
          <a:custGeom>
            <a:avLst/>
            <a:gdLst/>
            <a:ahLst/>
            <a:cxnLst/>
            <a:rect l="l" t="t" r="r" b="b"/>
            <a:pathLst>
              <a:path w="1738630">
                <a:moveTo>
                  <a:pt x="0" y="0"/>
                </a:moveTo>
                <a:lnTo>
                  <a:pt x="1738496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22644" y="4184816"/>
            <a:ext cx="5448300" cy="0"/>
          </a:xfrm>
          <a:custGeom>
            <a:avLst/>
            <a:gdLst/>
            <a:ahLst/>
            <a:cxnLst/>
            <a:rect l="l" t="t" r="r" b="b"/>
            <a:pathLst>
              <a:path w="5448300">
                <a:moveTo>
                  <a:pt x="0" y="0"/>
                </a:moveTo>
                <a:lnTo>
                  <a:pt x="544798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04519" y="1448003"/>
            <a:ext cx="13284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Complexity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Penalty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21854" y="1666534"/>
            <a:ext cx="2926080" cy="528320"/>
            <a:chOff x="3821854" y="1666534"/>
            <a:chExt cx="2926080" cy="528320"/>
          </a:xfrm>
        </p:grpSpPr>
        <p:sp>
          <p:nvSpPr>
            <p:cNvPr id="13" name="object 13"/>
            <p:cNvSpPr/>
            <p:nvPr/>
          </p:nvSpPr>
          <p:spPr>
            <a:xfrm>
              <a:off x="3855517" y="1671296"/>
              <a:ext cx="436880" cy="486409"/>
            </a:xfrm>
            <a:custGeom>
              <a:avLst/>
              <a:gdLst/>
              <a:ahLst/>
              <a:cxnLst/>
              <a:rect l="l" t="t" r="r" b="b"/>
              <a:pathLst>
                <a:path w="436879" h="486410">
                  <a:moveTo>
                    <a:pt x="436699" y="0"/>
                  </a:moveTo>
                  <a:lnTo>
                    <a:pt x="0" y="48608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6617" y="2146868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0" y="42669"/>
                  </a:moveTo>
                  <a:lnTo>
                    <a:pt x="17199" y="0"/>
                  </a:lnTo>
                  <a:lnTo>
                    <a:pt x="40599" y="21029"/>
                  </a:lnTo>
                  <a:lnTo>
                    <a:pt x="0" y="4266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26617" y="2146868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17199" y="0"/>
                  </a:moveTo>
                  <a:lnTo>
                    <a:pt x="0" y="42669"/>
                  </a:lnTo>
                  <a:lnTo>
                    <a:pt x="40599" y="21029"/>
                  </a:lnTo>
                  <a:lnTo>
                    <a:pt x="171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28066" y="1671296"/>
              <a:ext cx="1058545" cy="418465"/>
            </a:xfrm>
            <a:custGeom>
              <a:avLst/>
              <a:gdLst/>
              <a:ahLst/>
              <a:cxnLst/>
              <a:rect l="l" t="t" r="r" b="b"/>
              <a:pathLst>
                <a:path w="1058545" h="418464">
                  <a:moveTo>
                    <a:pt x="0" y="0"/>
                  </a:moveTo>
                  <a:lnTo>
                    <a:pt x="1058047" y="41819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0339" y="207485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45974" y="30519"/>
                  </a:moveTo>
                  <a:lnTo>
                    <a:pt x="0" y="29262"/>
                  </a:lnTo>
                  <a:lnTo>
                    <a:pt x="11549" y="0"/>
                  </a:lnTo>
                  <a:lnTo>
                    <a:pt x="45974" y="3051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80339" y="207485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29262"/>
                  </a:moveTo>
                  <a:lnTo>
                    <a:pt x="45974" y="30519"/>
                  </a:lnTo>
                  <a:lnTo>
                    <a:pt x="11549" y="0"/>
                  </a:lnTo>
                  <a:lnTo>
                    <a:pt x="0" y="292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54941" y="1671296"/>
              <a:ext cx="2345690" cy="499109"/>
            </a:xfrm>
            <a:custGeom>
              <a:avLst/>
              <a:gdLst/>
              <a:ahLst/>
              <a:cxnLst/>
              <a:rect l="l" t="t" r="r" b="b"/>
              <a:pathLst>
                <a:path w="2345690" h="499110">
                  <a:moveTo>
                    <a:pt x="0" y="0"/>
                  </a:moveTo>
                  <a:lnTo>
                    <a:pt x="2345595" y="49900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97261" y="215491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777"/>
                  </a:moveTo>
                  <a:lnTo>
                    <a:pt x="6549" y="0"/>
                  </a:lnTo>
                  <a:lnTo>
                    <a:pt x="45549" y="24382"/>
                  </a:lnTo>
                  <a:lnTo>
                    <a:pt x="0" y="3077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97261" y="215491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777"/>
                  </a:moveTo>
                  <a:lnTo>
                    <a:pt x="45549" y="24382"/>
                  </a:lnTo>
                  <a:lnTo>
                    <a:pt x="6549" y="0"/>
                  </a:lnTo>
                  <a:lnTo>
                    <a:pt x="0" y="3077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324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Example </a:t>
            </a:r>
            <a:r>
              <a:rPr sz="2800" spc="-5" dirty="0"/>
              <a:t>for </a:t>
            </a:r>
            <a:r>
              <a:rPr sz="2800" spc="-10" dirty="0"/>
              <a:t>Bad </a:t>
            </a:r>
            <a:r>
              <a:rPr sz="2800" dirty="0"/>
              <a:t>ML</a:t>
            </a:r>
            <a:r>
              <a:rPr sz="2800" spc="-190" dirty="0"/>
              <a:t> </a:t>
            </a:r>
            <a:r>
              <a:rPr sz="2800" spc="-5" dirty="0"/>
              <a:t>Predictions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210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Explanations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misclassified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Husky as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Wolf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93974" y="1848736"/>
            <a:ext cx="5038207" cy="2592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257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spc="-85" dirty="0"/>
              <a:t>Text</a:t>
            </a:r>
            <a:r>
              <a:rPr sz="2800" spc="-125" dirty="0"/>
              <a:t> </a:t>
            </a:r>
            <a:r>
              <a:rPr sz="2800" spc="-5" dirty="0"/>
              <a:t>Classifiers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604075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Explanations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SVM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classifier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94%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accuracy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arbitrary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reasons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word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“Posting”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appears in 22% of examples in the training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99% of which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attribute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“Atheism”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8744" y="2676335"/>
            <a:ext cx="6944416" cy="1991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65107" y="4618348"/>
            <a:ext cx="2705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-30864" dirty="0">
                <a:latin typeface="Arial"/>
                <a:cs typeface="Arial"/>
              </a:rPr>
              <a:t>g</a:t>
            </a:r>
            <a:endParaRPr sz="1350" baseline="-30864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81422" y="4681156"/>
            <a:ext cx="5486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 </a:t>
            </a:r>
            <a:r>
              <a:rPr sz="1400" dirty="0">
                <a:latin typeface="AoyagiKouzanFontT"/>
                <a:cs typeface="AoyagiKouzanFontT"/>
              </a:rPr>
              <a:t>⊗</a:t>
            </a:r>
            <a:r>
              <a:rPr sz="1400" spc="-375" dirty="0">
                <a:latin typeface="AoyagiKouzanFontT"/>
                <a:cs typeface="AoyagiKouzanFontT"/>
              </a:rPr>
              <a:t> </a:t>
            </a:r>
            <a:r>
              <a:rPr sz="1400" spc="5" dirty="0">
                <a:latin typeface="Arial"/>
                <a:cs typeface="Arial"/>
              </a:rPr>
              <a:t>w</a:t>
            </a:r>
            <a:r>
              <a:rPr sz="1350" spc="7" baseline="-30864" dirty="0">
                <a:latin typeface="Arial"/>
                <a:cs typeface="Arial"/>
              </a:rPr>
              <a:t>g</a:t>
            </a:r>
            <a:endParaRPr sz="1350" baseline="-30864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0639" y="4681146"/>
            <a:ext cx="281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f(x)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63160" y="4687499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56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Faithfulness of</a:t>
            </a:r>
            <a:r>
              <a:rPr sz="2800" spc="-95" dirty="0"/>
              <a:t> </a:t>
            </a:r>
            <a:r>
              <a:rPr sz="2800" spc="-5" dirty="0"/>
              <a:t>Explanations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649046" y="4026667"/>
            <a:ext cx="1784350" cy="67500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85725" marR="327660">
              <a:lnSpc>
                <a:spcPts val="1650"/>
              </a:lnSpc>
              <a:spcBef>
                <a:spcPts val="204"/>
              </a:spcBef>
            </a:pPr>
            <a:r>
              <a:rPr sz="1400" spc="-5" dirty="0">
                <a:latin typeface="Arial"/>
                <a:cs typeface="Arial"/>
              </a:rPr>
              <a:t>Restrict Input to  Utilize at </a:t>
            </a:r>
            <a:r>
              <a:rPr sz="1400" dirty="0">
                <a:latin typeface="Arial"/>
                <a:cs typeface="Arial"/>
              </a:rPr>
              <a:t>Most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10  Features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20457" y="3643730"/>
            <a:ext cx="41275" cy="383540"/>
            <a:chOff x="2520457" y="3643730"/>
            <a:chExt cx="41275" cy="383540"/>
          </a:xfrm>
        </p:grpSpPr>
        <p:sp>
          <p:nvSpPr>
            <p:cNvPr id="5" name="object 5"/>
            <p:cNvSpPr/>
            <p:nvPr/>
          </p:nvSpPr>
          <p:spPr>
            <a:xfrm>
              <a:off x="2540944" y="3691717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334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25219" y="36484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0" y="43224"/>
                  </a:lnTo>
                  <a:lnTo>
                    <a:pt x="15724" y="0"/>
                  </a:lnTo>
                  <a:lnTo>
                    <a:pt x="31449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25219" y="36484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15724" y="0"/>
                  </a:lnTo>
                  <a:lnTo>
                    <a:pt x="0" y="43224"/>
                  </a:lnTo>
                  <a:lnTo>
                    <a:pt x="31449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48896" y="3109293"/>
            <a:ext cx="1784350" cy="52578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185"/>
              </a:spcBef>
            </a:pPr>
            <a:r>
              <a:rPr sz="1400" spc="-5" dirty="0">
                <a:latin typeface="Arial"/>
                <a:cs typeface="Arial"/>
              </a:rPr>
              <a:t>Black-box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5297" y="1886171"/>
            <a:ext cx="2211070" cy="61976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20307" y="2505669"/>
            <a:ext cx="41275" cy="594995"/>
            <a:chOff x="2520307" y="2505669"/>
            <a:chExt cx="41275" cy="594995"/>
          </a:xfrm>
        </p:grpSpPr>
        <p:sp>
          <p:nvSpPr>
            <p:cNvPr id="11" name="object 11"/>
            <p:cNvSpPr/>
            <p:nvPr/>
          </p:nvSpPr>
          <p:spPr>
            <a:xfrm>
              <a:off x="2540794" y="2505669"/>
              <a:ext cx="0" cy="546735"/>
            </a:xfrm>
            <a:custGeom>
              <a:avLst/>
              <a:gdLst/>
              <a:ahLst/>
              <a:cxnLst/>
              <a:rect l="l" t="t" r="r" b="b"/>
              <a:pathLst>
                <a:path h="546735">
                  <a:moveTo>
                    <a:pt x="0" y="0"/>
                  </a:moveTo>
                  <a:lnTo>
                    <a:pt x="0" y="5464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25069" y="30521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25069" y="30521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57239" y="3109293"/>
            <a:ext cx="1784350" cy="525780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185"/>
              </a:spcBef>
            </a:pPr>
            <a:r>
              <a:rPr sz="1400" spc="-5" dirty="0">
                <a:latin typeface="Arial"/>
                <a:cs typeface="Arial"/>
              </a:rPr>
              <a:t>Explanations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32693" y="3351455"/>
            <a:ext cx="1615440" cy="41275"/>
            <a:chOff x="3432693" y="3351455"/>
            <a:chExt cx="1615440" cy="41275"/>
          </a:xfrm>
        </p:grpSpPr>
        <p:sp>
          <p:nvSpPr>
            <p:cNvPr id="16" name="object 16"/>
            <p:cNvSpPr/>
            <p:nvPr/>
          </p:nvSpPr>
          <p:spPr>
            <a:xfrm>
              <a:off x="3432693" y="3371943"/>
              <a:ext cx="1567815" cy="0"/>
            </a:xfrm>
            <a:custGeom>
              <a:avLst/>
              <a:gdLst/>
              <a:ahLst/>
              <a:cxnLst/>
              <a:rect l="l" t="t" r="r" b="b"/>
              <a:pathLst>
                <a:path w="1567814">
                  <a:moveTo>
                    <a:pt x="0" y="0"/>
                  </a:moveTo>
                  <a:lnTo>
                    <a:pt x="1567346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00040" y="335621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00040" y="335621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71792" y="3128184"/>
            <a:ext cx="440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41905" y="3643680"/>
            <a:ext cx="2518410" cy="735965"/>
            <a:chOff x="3441905" y="3643680"/>
            <a:chExt cx="2518410" cy="735965"/>
          </a:xfrm>
        </p:grpSpPr>
        <p:sp>
          <p:nvSpPr>
            <p:cNvPr id="21" name="object 21"/>
            <p:cNvSpPr/>
            <p:nvPr/>
          </p:nvSpPr>
          <p:spPr>
            <a:xfrm>
              <a:off x="3465392" y="3667067"/>
              <a:ext cx="2480945" cy="697230"/>
            </a:xfrm>
            <a:custGeom>
              <a:avLst/>
              <a:gdLst/>
              <a:ahLst/>
              <a:cxnLst/>
              <a:rect l="l" t="t" r="r" b="b"/>
              <a:pathLst>
                <a:path w="2480945" h="697229">
                  <a:moveTo>
                    <a:pt x="2480445" y="0"/>
                  </a:moveTo>
                  <a:lnTo>
                    <a:pt x="2461304" y="52808"/>
                  </a:lnTo>
                  <a:lnTo>
                    <a:pt x="2440231" y="86695"/>
                  </a:lnTo>
                  <a:lnTo>
                    <a:pt x="2396392" y="137059"/>
                  </a:lnTo>
                  <a:lnTo>
                    <a:pt x="2359338" y="170234"/>
                  </a:lnTo>
                  <a:lnTo>
                    <a:pt x="2316295" y="203010"/>
                  </a:lnTo>
                  <a:lnTo>
                    <a:pt x="2267495" y="235324"/>
                  </a:lnTo>
                  <a:lnTo>
                    <a:pt x="2231871" y="256565"/>
                  </a:lnTo>
                  <a:lnTo>
                    <a:pt x="2193859" y="277550"/>
                  </a:lnTo>
                  <a:lnTo>
                    <a:pt x="2153526" y="298258"/>
                  </a:lnTo>
                  <a:lnTo>
                    <a:pt x="2110941" y="318670"/>
                  </a:lnTo>
                  <a:lnTo>
                    <a:pt x="2066171" y="338766"/>
                  </a:lnTo>
                  <a:lnTo>
                    <a:pt x="2019286" y="358527"/>
                  </a:lnTo>
                  <a:lnTo>
                    <a:pt x="1970354" y="377932"/>
                  </a:lnTo>
                  <a:lnTo>
                    <a:pt x="1919442" y="396961"/>
                  </a:lnTo>
                  <a:lnTo>
                    <a:pt x="1866620" y="415594"/>
                  </a:lnTo>
                  <a:lnTo>
                    <a:pt x="1811955" y="433813"/>
                  </a:lnTo>
                  <a:lnTo>
                    <a:pt x="1755516" y="451596"/>
                  </a:lnTo>
                  <a:lnTo>
                    <a:pt x="1697371" y="468924"/>
                  </a:lnTo>
                  <a:lnTo>
                    <a:pt x="1652679" y="481609"/>
                  </a:lnTo>
                  <a:lnTo>
                    <a:pt x="1607096" y="494019"/>
                  </a:lnTo>
                  <a:lnTo>
                    <a:pt x="1560648" y="506145"/>
                  </a:lnTo>
                  <a:lnTo>
                    <a:pt x="1513366" y="517978"/>
                  </a:lnTo>
                  <a:lnTo>
                    <a:pt x="1465278" y="529511"/>
                  </a:lnTo>
                  <a:lnTo>
                    <a:pt x="1416413" y="540735"/>
                  </a:lnTo>
                  <a:lnTo>
                    <a:pt x="1366799" y="551642"/>
                  </a:lnTo>
                  <a:lnTo>
                    <a:pt x="1316466" y="562223"/>
                  </a:lnTo>
                  <a:lnTo>
                    <a:pt x="1265441" y="572471"/>
                  </a:lnTo>
                  <a:lnTo>
                    <a:pt x="1213755" y="582375"/>
                  </a:lnTo>
                  <a:lnTo>
                    <a:pt x="1161436" y="591930"/>
                  </a:lnTo>
                  <a:lnTo>
                    <a:pt x="1108512" y="601125"/>
                  </a:lnTo>
                  <a:lnTo>
                    <a:pt x="1055013" y="609953"/>
                  </a:lnTo>
                  <a:lnTo>
                    <a:pt x="1000966" y="618405"/>
                  </a:lnTo>
                  <a:lnTo>
                    <a:pt x="946402" y="626473"/>
                  </a:lnTo>
                  <a:lnTo>
                    <a:pt x="891348" y="634148"/>
                  </a:lnTo>
                  <a:lnTo>
                    <a:pt x="842019" y="640638"/>
                  </a:lnTo>
                  <a:lnTo>
                    <a:pt x="792346" y="646804"/>
                  </a:lnTo>
                  <a:lnTo>
                    <a:pt x="742349" y="652641"/>
                  </a:lnTo>
                  <a:lnTo>
                    <a:pt x="692049" y="658143"/>
                  </a:lnTo>
                  <a:lnTo>
                    <a:pt x="641467" y="663305"/>
                  </a:lnTo>
                  <a:lnTo>
                    <a:pt x="590622" y="668122"/>
                  </a:lnTo>
                  <a:lnTo>
                    <a:pt x="539537" y="672589"/>
                  </a:lnTo>
                  <a:lnTo>
                    <a:pt x="488230" y="676699"/>
                  </a:lnTo>
                  <a:lnTo>
                    <a:pt x="436724" y="680448"/>
                  </a:lnTo>
                  <a:lnTo>
                    <a:pt x="390199" y="683495"/>
                  </a:lnTo>
                  <a:lnTo>
                    <a:pt x="343545" y="686244"/>
                  </a:lnTo>
                  <a:lnTo>
                    <a:pt x="296776" y="688689"/>
                  </a:lnTo>
                  <a:lnTo>
                    <a:pt x="249906" y="690825"/>
                  </a:lnTo>
                  <a:lnTo>
                    <a:pt x="202949" y="692648"/>
                  </a:lnTo>
                  <a:lnTo>
                    <a:pt x="144159" y="694464"/>
                  </a:lnTo>
                  <a:lnTo>
                    <a:pt x="85274" y="695773"/>
                  </a:lnTo>
                  <a:lnTo>
                    <a:pt x="41062" y="696402"/>
                  </a:lnTo>
                  <a:lnTo>
                    <a:pt x="26324" y="696548"/>
                  </a:lnTo>
                  <a:lnTo>
                    <a:pt x="0" y="69672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34087" y="3648442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79">
                  <a:moveTo>
                    <a:pt x="21299" y="30374"/>
                  </a:moveTo>
                  <a:lnTo>
                    <a:pt x="11749" y="18624"/>
                  </a:lnTo>
                  <a:lnTo>
                    <a:pt x="0" y="28199"/>
                  </a:lnTo>
                  <a:lnTo>
                    <a:pt x="13649" y="0"/>
                  </a:lnTo>
                  <a:lnTo>
                    <a:pt x="21299" y="303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34087" y="3648442"/>
              <a:ext cx="21590" cy="30480"/>
            </a:xfrm>
            <a:custGeom>
              <a:avLst/>
              <a:gdLst/>
              <a:ahLst/>
              <a:cxnLst/>
              <a:rect l="l" t="t" r="r" b="b"/>
              <a:pathLst>
                <a:path w="21589" h="30479">
                  <a:moveTo>
                    <a:pt x="11749" y="18624"/>
                  </a:moveTo>
                  <a:lnTo>
                    <a:pt x="21299" y="30374"/>
                  </a:lnTo>
                  <a:lnTo>
                    <a:pt x="13649" y="0"/>
                  </a:lnTo>
                  <a:lnTo>
                    <a:pt x="0" y="28199"/>
                  </a:lnTo>
                  <a:lnTo>
                    <a:pt x="11749" y="186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46667" y="435306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449" y="21424"/>
                  </a:moveTo>
                  <a:lnTo>
                    <a:pt x="0" y="10774"/>
                  </a:lnTo>
                  <a:lnTo>
                    <a:pt x="29399" y="0"/>
                  </a:lnTo>
                  <a:lnTo>
                    <a:pt x="18724" y="10724"/>
                  </a:lnTo>
                  <a:lnTo>
                    <a:pt x="29449" y="21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46667" y="435306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24" y="10724"/>
                  </a:moveTo>
                  <a:lnTo>
                    <a:pt x="29399" y="0"/>
                  </a:lnTo>
                  <a:lnTo>
                    <a:pt x="0" y="10774"/>
                  </a:lnTo>
                  <a:lnTo>
                    <a:pt x="29449" y="21424"/>
                  </a:lnTo>
                  <a:lnTo>
                    <a:pt x="18724" y="10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79613" y="4304300"/>
            <a:ext cx="22345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Recover Important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172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Faithfulness of</a:t>
            </a:r>
            <a:r>
              <a:rPr sz="2800" spc="-95" dirty="0"/>
              <a:t> </a:t>
            </a:r>
            <a:r>
              <a:rPr sz="2800" spc="-5" dirty="0"/>
              <a:t>Explanations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3815079" cy="154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LIME Achieves Good</a:t>
            </a:r>
            <a:r>
              <a:rPr sz="18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Faithfulness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595959"/>
              </a:buClr>
              <a:buFont typeface="Arial"/>
              <a:buChar char="●"/>
            </a:pPr>
            <a:endParaRPr sz="19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Sentiments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classification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Books,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DVDs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○"/>
            </a:pPr>
            <a:endParaRPr sz="135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Classifiers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1" y="2742384"/>
            <a:ext cx="375920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ts val="1664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lang="en-US" sz="1400" spc="-5" dirty="0">
                <a:solidFill>
                  <a:srgbClr val="595959"/>
                </a:solidFill>
                <a:latin typeface="Arial"/>
                <a:cs typeface="Arial"/>
              </a:rPr>
              <a:t>Sparse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logistic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regr</a:t>
            </a:r>
            <a:r>
              <a:rPr lang="en-US" sz="1400" dirty="0">
                <a:solidFill>
                  <a:srgbClr val="595959"/>
                </a:solidFill>
                <a:latin typeface="Arial"/>
                <a:cs typeface="Arial"/>
              </a:rPr>
              <a:t>ession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400" spc="-9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LR)</a:t>
            </a:r>
            <a:endParaRPr sz="1400" dirty="0">
              <a:latin typeface="Arial"/>
              <a:cs typeface="Arial"/>
            </a:endParaRPr>
          </a:p>
          <a:p>
            <a:pPr marL="348615" indent="-336550">
              <a:lnSpc>
                <a:spcPts val="1664"/>
              </a:lnSpc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93452" y="1017477"/>
            <a:ext cx="3139165" cy="11832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06544" y="2631565"/>
            <a:ext cx="3149745" cy="11769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83259" y="2305083"/>
            <a:ext cx="11798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Books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4641" y="3802362"/>
            <a:ext cx="269748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89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DVDs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  <a:p>
            <a:pPr marL="12700" marR="737235">
              <a:lnSpc>
                <a:spcPct val="100000"/>
              </a:lnSpc>
              <a:spcBef>
                <a:spcPts val="1080"/>
              </a:spcBef>
            </a:pPr>
            <a:r>
              <a:rPr sz="1000" spc="-5" dirty="0">
                <a:latin typeface="Arial"/>
                <a:cs typeface="Arial"/>
              </a:rPr>
              <a:t>parzen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Baehrens et al, 2010 </a:t>
            </a:r>
            <a:r>
              <a:rPr sz="1000" spc="-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random - randomly </a:t>
            </a:r>
            <a:r>
              <a:rPr sz="1000" spc="-5" dirty="0">
                <a:latin typeface="Arial"/>
                <a:cs typeface="Arial"/>
              </a:rPr>
              <a:t>pick </a:t>
            </a:r>
            <a:r>
              <a:rPr sz="1000" dirty="0">
                <a:latin typeface="Arial"/>
                <a:cs typeface="Arial"/>
              </a:rPr>
              <a:t>K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greedy </a:t>
            </a:r>
            <a:r>
              <a:rPr sz="1000" dirty="0">
                <a:latin typeface="Arial"/>
                <a:cs typeface="Arial"/>
              </a:rPr>
              <a:t>- remove </a:t>
            </a:r>
            <a:r>
              <a:rPr sz="1000" spc="-5" dirty="0">
                <a:latin typeface="Arial"/>
                <a:cs typeface="Arial"/>
              </a:rPr>
              <a:t>features </a:t>
            </a:r>
            <a:r>
              <a:rPr sz="1000" dirty="0">
                <a:latin typeface="Arial"/>
                <a:cs typeface="Arial"/>
              </a:rPr>
              <a:t>contribute most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 </a:t>
            </a:r>
            <a:r>
              <a:rPr sz="1000" dirty="0">
                <a:latin typeface="Arial"/>
                <a:cs typeface="Arial"/>
              </a:rPr>
              <a:t>classifiers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121256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Trustworthiness </a:t>
            </a:r>
            <a:r>
              <a:rPr sz="2800" spc="-5" dirty="0"/>
              <a:t>for </a:t>
            </a:r>
            <a:r>
              <a:rPr sz="2800" dirty="0"/>
              <a:t>ML</a:t>
            </a:r>
            <a:r>
              <a:rPr sz="2800" spc="-165" dirty="0"/>
              <a:t> </a:t>
            </a:r>
            <a:r>
              <a:rPr sz="280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7087870" cy="96583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Human discredits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certain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 in the learning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Classifiers that use those features will be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considered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trustable.</a:t>
            </a:r>
            <a:endParaRPr sz="1800">
              <a:latin typeface="Arial"/>
              <a:cs typeface="Arial"/>
            </a:endParaRPr>
          </a:p>
          <a:p>
            <a:pPr marL="859155">
              <a:lnSpc>
                <a:spcPct val="100000"/>
              </a:lnSpc>
              <a:spcBef>
                <a:spcPts val="770"/>
              </a:spcBef>
            </a:pPr>
            <a:r>
              <a:rPr sz="1400" spc="-5" dirty="0">
                <a:latin typeface="Arial"/>
                <a:cs typeface="Arial"/>
              </a:rPr>
              <a:t>Predict the need for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ICU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0801" y="2095428"/>
            <a:ext cx="193611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7105" algn="l"/>
              </a:tabLst>
            </a:pPr>
            <a:r>
              <a:rPr sz="1400" spc="-5" dirty="0">
                <a:latin typeface="Arial"/>
                <a:cs typeface="Arial"/>
              </a:rPr>
              <a:t>hear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5" dirty="0">
                <a:latin typeface="Arial"/>
                <a:cs typeface="Arial"/>
              </a:rPr>
              <a:t> bea</a:t>
            </a:r>
            <a:r>
              <a:rPr sz="1400" dirty="0">
                <a:latin typeface="Arial"/>
                <a:cs typeface="Arial"/>
              </a:rPr>
              <a:t>t	</a:t>
            </a:r>
            <a:r>
              <a:rPr sz="1400" spc="-5" dirty="0">
                <a:latin typeface="Arial"/>
                <a:cs typeface="Arial"/>
              </a:rPr>
              <a:t>temperature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02377" y="3545905"/>
            <a:ext cx="53340" cy="41275"/>
            <a:chOff x="4902377" y="3545905"/>
            <a:chExt cx="53340" cy="41275"/>
          </a:xfrm>
        </p:grpSpPr>
        <p:sp>
          <p:nvSpPr>
            <p:cNvPr id="6" name="object 6"/>
            <p:cNvSpPr/>
            <p:nvPr/>
          </p:nvSpPr>
          <p:spPr>
            <a:xfrm>
              <a:off x="4907139" y="3550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7139" y="3550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65660" y="2123408"/>
          <a:ext cx="3937634" cy="2625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2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144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salary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120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BPM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101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$20,000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80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BPM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104.4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$40,000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140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BPM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99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$800,000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40" dirty="0">
                          <a:latin typeface="Arial"/>
                          <a:cs typeface="Arial"/>
                        </a:rPr>
                        <a:t>110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BPM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$30,000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71652" y="2445657"/>
          <a:ext cx="957580" cy="2312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814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148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961111" y="2136033"/>
            <a:ext cx="1160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Need for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ICU?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29392" y="1989015"/>
            <a:ext cx="508848" cy="501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791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Trustworthiness </a:t>
            </a:r>
            <a:r>
              <a:rPr sz="2800" spc="-5" dirty="0"/>
              <a:t>for</a:t>
            </a:r>
            <a:r>
              <a:rPr sz="2800" spc="-60" dirty="0"/>
              <a:t> </a:t>
            </a:r>
            <a:r>
              <a:rPr sz="2800" spc="-5" dirty="0"/>
              <a:t>Explanations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5598" y="1700721"/>
            <a:ext cx="1016000" cy="71056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85725" marR="142875">
              <a:lnSpc>
                <a:spcPts val="1420"/>
              </a:lnSpc>
            </a:pPr>
            <a:r>
              <a:rPr sz="1200" spc="-5" dirty="0">
                <a:latin typeface="Arial"/>
                <a:cs typeface="Arial"/>
              </a:rPr>
              <a:t>Untrustable  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598" y="2410820"/>
            <a:ext cx="1016000" cy="71056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85725" marR="292100">
              <a:lnSpc>
                <a:spcPts val="1420"/>
              </a:lnSpc>
            </a:pP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rustable  </a:t>
            </a:r>
            <a:r>
              <a:rPr sz="1200" spc="-5" dirty="0"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9719" y="1776946"/>
            <a:ext cx="772160" cy="126301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53021" y="2387950"/>
            <a:ext cx="647700" cy="41275"/>
            <a:chOff x="1853021" y="2387950"/>
            <a:chExt cx="647700" cy="41275"/>
          </a:xfrm>
        </p:grpSpPr>
        <p:sp>
          <p:nvSpPr>
            <p:cNvPr id="7" name="object 7"/>
            <p:cNvSpPr/>
            <p:nvPr/>
          </p:nvSpPr>
          <p:spPr>
            <a:xfrm>
              <a:off x="1853021" y="2408445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5995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52569" y="23927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52569" y="23927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63554" y="2382455"/>
            <a:ext cx="451484" cy="501650"/>
            <a:chOff x="4063554" y="2382455"/>
            <a:chExt cx="451484" cy="501650"/>
          </a:xfrm>
        </p:grpSpPr>
        <p:sp>
          <p:nvSpPr>
            <p:cNvPr id="11" name="object 11"/>
            <p:cNvSpPr/>
            <p:nvPr/>
          </p:nvSpPr>
          <p:spPr>
            <a:xfrm>
              <a:off x="4068316" y="2387217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60" h="492125">
                  <a:moveTo>
                    <a:pt x="441899" y="491701"/>
                  </a:moveTo>
                  <a:lnTo>
                    <a:pt x="0" y="491701"/>
                  </a:lnTo>
                  <a:lnTo>
                    <a:pt x="0" y="0"/>
                  </a:lnTo>
                  <a:lnTo>
                    <a:pt x="441899" y="0"/>
                  </a:lnTo>
                  <a:lnTo>
                    <a:pt x="441899" y="491701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8316" y="2387217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60" h="492125">
                  <a:moveTo>
                    <a:pt x="0" y="0"/>
                  </a:moveTo>
                  <a:lnTo>
                    <a:pt x="441899" y="0"/>
                  </a:lnTo>
                  <a:lnTo>
                    <a:pt x="441899" y="491701"/>
                  </a:lnTo>
                  <a:lnTo>
                    <a:pt x="0" y="4917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68316" y="2387217"/>
            <a:ext cx="441959" cy="4921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55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76555" y="2403682"/>
            <a:ext cx="783590" cy="233679"/>
            <a:chOff x="3276555" y="2403682"/>
            <a:chExt cx="783590" cy="233679"/>
          </a:xfrm>
        </p:grpSpPr>
        <p:sp>
          <p:nvSpPr>
            <p:cNvPr id="15" name="object 15"/>
            <p:cNvSpPr/>
            <p:nvPr/>
          </p:nvSpPr>
          <p:spPr>
            <a:xfrm>
              <a:off x="3281318" y="2408445"/>
              <a:ext cx="732155" cy="209550"/>
            </a:xfrm>
            <a:custGeom>
              <a:avLst/>
              <a:gdLst/>
              <a:ahLst/>
              <a:cxnLst/>
              <a:rect l="l" t="t" r="r" b="b"/>
              <a:pathLst>
                <a:path w="732154" h="209550">
                  <a:moveTo>
                    <a:pt x="0" y="0"/>
                  </a:moveTo>
                  <a:lnTo>
                    <a:pt x="731948" y="2089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8941" y="2602319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249"/>
                  </a:moveTo>
                  <a:lnTo>
                    <a:pt x="8649" y="0"/>
                  </a:lnTo>
                  <a:lnTo>
                    <a:pt x="45874" y="26999"/>
                  </a:lnTo>
                  <a:lnTo>
                    <a:pt x="0" y="302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08941" y="2602319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249"/>
                  </a:moveTo>
                  <a:lnTo>
                    <a:pt x="45874" y="26999"/>
                  </a:lnTo>
                  <a:lnTo>
                    <a:pt x="8649" y="0"/>
                  </a:lnTo>
                  <a:lnTo>
                    <a:pt x="0" y="30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5598" y="3496167"/>
            <a:ext cx="1016000" cy="71056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85725" marR="292100">
              <a:lnSpc>
                <a:spcPts val="1420"/>
              </a:lnSpc>
            </a:pPr>
            <a:r>
              <a:rPr sz="1200" spc="-50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rustable  </a:t>
            </a:r>
            <a:r>
              <a:rPr sz="1200" spc="-5" dirty="0"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09719" y="3231043"/>
            <a:ext cx="772160" cy="126301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36333" y="3841154"/>
            <a:ext cx="664845" cy="41275"/>
            <a:chOff x="1836333" y="3841154"/>
            <a:chExt cx="664845" cy="41275"/>
          </a:xfrm>
        </p:grpSpPr>
        <p:sp>
          <p:nvSpPr>
            <p:cNvPr id="21" name="object 21"/>
            <p:cNvSpPr/>
            <p:nvPr/>
          </p:nvSpPr>
          <p:spPr>
            <a:xfrm>
              <a:off x="1841096" y="3851217"/>
              <a:ext cx="612140" cy="10795"/>
            </a:xfrm>
            <a:custGeom>
              <a:avLst/>
              <a:gdLst/>
              <a:ahLst/>
              <a:cxnLst/>
              <a:rect l="l" t="t" r="r" b="b"/>
              <a:pathLst>
                <a:path w="612139" h="10795">
                  <a:moveTo>
                    <a:pt x="0" y="0"/>
                  </a:moveTo>
                  <a:lnTo>
                    <a:pt x="611556" y="104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52385" y="38459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537" y="0"/>
                  </a:lnTo>
                  <a:lnTo>
                    <a:pt x="43487" y="1647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385" y="38459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487" y="16474"/>
                  </a:lnTo>
                  <a:lnTo>
                    <a:pt x="537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063554" y="3384480"/>
            <a:ext cx="451484" cy="501650"/>
            <a:chOff x="4063554" y="3384480"/>
            <a:chExt cx="451484" cy="501650"/>
          </a:xfrm>
        </p:grpSpPr>
        <p:sp>
          <p:nvSpPr>
            <p:cNvPr id="25" name="object 25"/>
            <p:cNvSpPr/>
            <p:nvPr/>
          </p:nvSpPr>
          <p:spPr>
            <a:xfrm>
              <a:off x="4068316" y="3389243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60" h="492125">
                  <a:moveTo>
                    <a:pt x="441899" y="491699"/>
                  </a:moveTo>
                  <a:lnTo>
                    <a:pt x="0" y="491699"/>
                  </a:lnTo>
                  <a:lnTo>
                    <a:pt x="0" y="0"/>
                  </a:lnTo>
                  <a:lnTo>
                    <a:pt x="441899" y="0"/>
                  </a:lnTo>
                  <a:lnTo>
                    <a:pt x="441899" y="491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68316" y="3389243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60" h="492125">
                  <a:moveTo>
                    <a:pt x="0" y="0"/>
                  </a:moveTo>
                  <a:lnTo>
                    <a:pt x="441899" y="0"/>
                  </a:lnTo>
                  <a:lnTo>
                    <a:pt x="441899" y="491699"/>
                  </a:lnTo>
                  <a:lnTo>
                    <a:pt x="0" y="49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68316" y="3389243"/>
            <a:ext cx="441959" cy="4921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55"/>
              </a:spcBef>
            </a:pPr>
            <a:r>
              <a:rPr sz="1400" dirty="0">
                <a:latin typeface="Arial"/>
                <a:cs typeface="Arial"/>
              </a:rPr>
              <a:t>y'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76555" y="2888081"/>
            <a:ext cx="1028700" cy="979805"/>
            <a:chOff x="3276555" y="2888081"/>
            <a:chExt cx="1028700" cy="979805"/>
          </a:xfrm>
        </p:grpSpPr>
        <p:sp>
          <p:nvSpPr>
            <p:cNvPr id="29" name="object 29"/>
            <p:cNvSpPr/>
            <p:nvPr/>
          </p:nvSpPr>
          <p:spPr>
            <a:xfrm>
              <a:off x="3281318" y="3651017"/>
              <a:ext cx="732155" cy="212090"/>
            </a:xfrm>
            <a:custGeom>
              <a:avLst/>
              <a:gdLst/>
              <a:ahLst/>
              <a:cxnLst/>
              <a:rect l="l" t="t" r="r" b="b"/>
              <a:pathLst>
                <a:path w="732154" h="212089">
                  <a:moveTo>
                    <a:pt x="0" y="211524"/>
                  </a:moveTo>
                  <a:lnTo>
                    <a:pt x="73199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08941" y="363589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749" y="30224"/>
                  </a:moveTo>
                  <a:lnTo>
                    <a:pt x="0" y="0"/>
                  </a:lnTo>
                  <a:lnTo>
                    <a:pt x="45899" y="3124"/>
                  </a:lnTo>
                  <a:lnTo>
                    <a:pt x="8749" y="30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08941" y="363589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8749" y="30224"/>
                  </a:moveTo>
                  <a:lnTo>
                    <a:pt x="45899" y="3124"/>
                  </a:lnTo>
                  <a:lnTo>
                    <a:pt x="0" y="0"/>
                  </a:lnTo>
                  <a:lnTo>
                    <a:pt x="8749" y="30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89266" y="2911569"/>
              <a:ext cx="0" cy="445134"/>
            </a:xfrm>
            <a:custGeom>
              <a:avLst/>
              <a:gdLst/>
              <a:ahLst/>
              <a:cxnLst/>
              <a:rect l="l" t="t" r="r" b="b"/>
              <a:pathLst>
                <a:path h="445135">
                  <a:moveTo>
                    <a:pt x="0" y="0"/>
                  </a:moveTo>
                  <a:lnTo>
                    <a:pt x="0" y="4449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78566" y="289284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21424" y="29424"/>
                  </a:moveTo>
                  <a:lnTo>
                    <a:pt x="10699" y="18724"/>
                  </a:lnTo>
                  <a:lnTo>
                    <a:pt x="0" y="29424"/>
                  </a:lnTo>
                  <a:lnTo>
                    <a:pt x="10699" y="0"/>
                  </a:lnTo>
                  <a:lnTo>
                    <a:pt x="21424" y="29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78566" y="289284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4">
                  <a:moveTo>
                    <a:pt x="10699" y="18724"/>
                  </a:moveTo>
                  <a:lnTo>
                    <a:pt x="21424" y="29424"/>
                  </a:lnTo>
                  <a:lnTo>
                    <a:pt x="10699" y="0"/>
                  </a:lnTo>
                  <a:lnTo>
                    <a:pt x="0" y="29424"/>
                  </a:lnTo>
                  <a:lnTo>
                    <a:pt x="10699" y="18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78566" y="3345868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699" y="29424"/>
                  </a:moveTo>
                  <a:lnTo>
                    <a:pt x="0" y="0"/>
                  </a:lnTo>
                  <a:lnTo>
                    <a:pt x="10699" y="10699"/>
                  </a:lnTo>
                  <a:lnTo>
                    <a:pt x="21424" y="0"/>
                  </a:lnTo>
                  <a:lnTo>
                    <a:pt x="10699" y="294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78566" y="3345868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699" y="10699"/>
                  </a:moveTo>
                  <a:lnTo>
                    <a:pt x="0" y="0"/>
                  </a:lnTo>
                  <a:lnTo>
                    <a:pt x="10699" y="29424"/>
                  </a:lnTo>
                  <a:lnTo>
                    <a:pt x="21424" y="0"/>
                  </a:lnTo>
                  <a:lnTo>
                    <a:pt x="10699" y="10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896714" y="3014360"/>
            <a:ext cx="8070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changed?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40732" y="2880715"/>
            <a:ext cx="8070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changed?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36122" y="2624632"/>
            <a:ext cx="43180" cy="974725"/>
            <a:chOff x="7536122" y="2624632"/>
            <a:chExt cx="43180" cy="974725"/>
          </a:xfrm>
        </p:grpSpPr>
        <p:sp>
          <p:nvSpPr>
            <p:cNvPr id="40" name="object 40"/>
            <p:cNvSpPr/>
            <p:nvPr/>
          </p:nvSpPr>
          <p:spPr>
            <a:xfrm>
              <a:off x="7551509" y="2648119"/>
              <a:ext cx="7620" cy="902969"/>
            </a:xfrm>
            <a:custGeom>
              <a:avLst/>
              <a:gdLst/>
              <a:ahLst/>
              <a:cxnLst/>
              <a:rect l="l" t="t" r="r" b="b"/>
              <a:pathLst>
                <a:path w="7620" h="902970">
                  <a:moveTo>
                    <a:pt x="0" y="0"/>
                  </a:moveTo>
                  <a:lnTo>
                    <a:pt x="7099" y="90292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40884" y="262939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90" h="29844">
                  <a:moveTo>
                    <a:pt x="0" y="29524"/>
                  </a:moveTo>
                  <a:lnTo>
                    <a:pt x="10474" y="0"/>
                  </a:lnTo>
                  <a:lnTo>
                    <a:pt x="21424" y="29349"/>
                  </a:lnTo>
                  <a:lnTo>
                    <a:pt x="10624" y="18724"/>
                  </a:lnTo>
                  <a:lnTo>
                    <a:pt x="0" y="29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40884" y="2629394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90" h="29844">
                  <a:moveTo>
                    <a:pt x="10624" y="18724"/>
                  </a:moveTo>
                  <a:lnTo>
                    <a:pt x="21424" y="29349"/>
                  </a:lnTo>
                  <a:lnTo>
                    <a:pt x="10474" y="0"/>
                  </a:lnTo>
                  <a:lnTo>
                    <a:pt x="0" y="29524"/>
                  </a:lnTo>
                  <a:lnTo>
                    <a:pt x="10624" y="18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42884" y="355091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074" y="43324"/>
                  </a:moveTo>
                  <a:lnTo>
                    <a:pt x="0" y="224"/>
                  </a:lnTo>
                  <a:lnTo>
                    <a:pt x="31449" y="0"/>
                  </a:lnTo>
                  <a:lnTo>
                    <a:pt x="16074" y="433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42884" y="355091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224"/>
                  </a:moveTo>
                  <a:lnTo>
                    <a:pt x="16074" y="43324"/>
                  </a:lnTo>
                  <a:lnTo>
                    <a:pt x="31449" y="0"/>
                  </a:lnTo>
                  <a:lnTo>
                    <a:pt x="0" y="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523138" y="1740671"/>
            <a:ext cx="714375" cy="126301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"/>
                <a:cs typeface="Arial"/>
              </a:rPr>
              <a:t>LIME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290393" y="2133138"/>
            <a:ext cx="2214880" cy="41275"/>
            <a:chOff x="3290393" y="2133138"/>
            <a:chExt cx="2214880" cy="41275"/>
          </a:xfrm>
        </p:grpSpPr>
        <p:sp>
          <p:nvSpPr>
            <p:cNvPr id="47" name="object 47"/>
            <p:cNvSpPr/>
            <p:nvPr/>
          </p:nvSpPr>
          <p:spPr>
            <a:xfrm>
              <a:off x="3290393" y="2153633"/>
              <a:ext cx="2166620" cy="0"/>
            </a:xfrm>
            <a:custGeom>
              <a:avLst/>
              <a:gdLst/>
              <a:ahLst/>
              <a:cxnLst/>
              <a:rect l="l" t="t" r="r" b="b"/>
              <a:pathLst>
                <a:path w="2166620">
                  <a:moveTo>
                    <a:pt x="0" y="0"/>
                  </a:moveTo>
                  <a:lnTo>
                    <a:pt x="216644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456839" y="21379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56839" y="21379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7325547" y="2119018"/>
            <a:ext cx="451484" cy="501650"/>
            <a:chOff x="7325547" y="2119018"/>
            <a:chExt cx="451484" cy="501650"/>
          </a:xfrm>
        </p:grpSpPr>
        <p:sp>
          <p:nvSpPr>
            <p:cNvPr id="51" name="object 51"/>
            <p:cNvSpPr/>
            <p:nvPr/>
          </p:nvSpPr>
          <p:spPr>
            <a:xfrm>
              <a:off x="7330309" y="2123780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59" h="492125">
                  <a:moveTo>
                    <a:pt x="441899" y="491689"/>
                  </a:moveTo>
                  <a:lnTo>
                    <a:pt x="0" y="491689"/>
                  </a:lnTo>
                  <a:lnTo>
                    <a:pt x="0" y="0"/>
                  </a:lnTo>
                  <a:lnTo>
                    <a:pt x="441899" y="0"/>
                  </a:lnTo>
                  <a:lnTo>
                    <a:pt x="441899" y="49168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30309" y="2123780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59" h="492125">
                  <a:moveTo>
                    <a:pt x="0" y="0"/>
                  </a:moveTo>
                  <a:lnTo>
                    <a:pt x="441899" y="0"/>
                  </a:lnTo>
                  <a:lnTo>
                    <a:pt x="441899" y="491689"/>
                  </a:lnTo>
                  <a:lnTo>
                    <a:pt x="0" y="4916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330309" y="2123780"/>
            <a:ext cx="441959" cy="4921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55"/>
              </a:spcBef>
            </a:pP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232375" y="2349400"/>
            <a:ext cx="1089025" cy="41275"/>
            <a:chOff x="6232375" y="2349400"/>
            <a:chExt cx="1089025" cy="41275"/>
          </a:xfrm>
        </p:grpSpPr>
        <p:sp>
          <p:nvSpPr>
            <p:cNvPr id="55" name="object 55"/>
            <p:cNvSpPr/>
            <p:nvPr/>
          </p:nvSpPr>
          <p:spPr>
            <a:xfrm>
              <a:off x="6237137" y="2369895"/>
              <a:ext cx="1036319" cy="2540"/>
            </a:xfrm>
            <a:custGeom>
              <a:avLst/>
              <a:gdLst/>
              <a:ahLst/>
              <a:cxnLst/>
              <a:rect l="l" t="t" r="r" b="b"/>
              <a:pathLst>
                <a:path w="1036320" h="2539">
                  <a:moveTo>
                    <a:pt x="0" y="2274"/>
                  </a:moveTo>
                  <a:lnTo>
                    <a:pt x="10360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73160" y="23541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9" y="31464"/>
                  </a:moveTo>
                  <a:lnTo>
                    <a:pt x="0" y="0"/>
                  </a:lnTo>
                  <a:lnTo>
                    <a:pt x="43249" y="15637"/>
                  </a:lnTo>
                  <a:lnTo>
                    <a:pt x="49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73160" y="23541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9" y="31464"/>
                  </a:moveTo>
                  <a:lnTo>
                    <a:pt x="43249" y="15637"/>
                  </a:lnTo>
                  <a:lnTo>
                    <a:pt x="0" y="0"/>
                  </a:lnTo>
                  <a:lnTo>
                    <a:pt x="49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523138" y="3231043"/>
            <a:ext cx="714375" cy="126301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"/>
                <a:cs typeface="Arial"/>
              </a:rPr>
              <a:t>LIME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290393" y="4025254"/>
            <a:ext cx="2214880" cy="41275"/>
            <a:chOff x="3290393" y="4025254"/>
            <a:chExt cx="2214880" cy="41275"/>
          </a:xfrm>
        </p:grpSpPr>
        <p:sp>
          <p:nvSpPr>
            <p:cNvPr id="60" name="object 60"/>
            <p:cNvSpPr/>
            <p:nvPr/>
          </p:nvSpPr>
          <p:spPr>
            <a:xfrm>
              <a:off x="3290393" y="4045741"/>
              <a:ext cx="2166620" cy="0"/>
            </a:xfrm>
            <a:custGeom>
              <a:avLst/>
              <a:gdLst/>
              <a:ahLst/>
              <a:cxnLst/>
              <a:rect l="l" t="t" r="r" b="b"/>
              <a:pathLst>
                <a:path w="2166620">
                  <a:moveTo>
                    <a:pt x="0" y="0"/>
                  </a:moveTo>
                  <a:lnTo>
                    <a:pt x="216644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456839" y="4030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56839" y="4030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7333322" y="3603505"/>
            <a:ext cx="451484" cy="501650"/>
            <a:chOff x="7333322" y="3603505"/>
            <a:chExt cx="451484" cy="501650"/>
          </a:xfrm>
        </p:grpSpPr>
        <p:sp>
          <p:nvSpPr>
            <p:cNvPr id="64" name="object 64"/>
            <p:cNvSpPr/>
            <p:nvPr/>
          </p:nvSpPr>
          <p:spPr>
            <a:xfrm>
              <a:off x="7338085" y="3608267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59" h="492125">
                  <a:moveTo>
                    <a:pt x="441899" y="491699"/>
                  </a:moveTo>
                  <a:lnTo>
                    <a:pt x="0" y="491699"/>
                  </a:lnTo>
                  <a:lnTo>
                    <a:pt x="0" y="0"/>
                  </a:lnTo>
                  <a:lnTo>
                    <a:pt x="441899" y="0"/>
                  </a:lnTo>
                  <a:lnTo>
                    <a:pt x="441899" y="491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338085" y="3608267"/>
              <a:ext cx="441959" cy="492125"/>
            </a:xfrm>
            <a:custGeom>
              <a:avLst/>
              <a:gdLst/>
              <a:ahLst/>
              <a:cxnLst/>
              <a:rect l="l" t="t" r="r" b="b"/>
              <a:pathLst>
                <a:path w="441959" h="492125">
                  <a:moveTo>
                    <a:pt x="0" y="0"/>
                  </a:moveTo>
                  <a:lnTo>
                    <a:pt x="441899" y="0"/>
                  </a:lnTo>
                  <a:lnTo>
                    <a:pt x="441899" y="491699"/>
                  </a:lnTo>
                  <a:lnTo>
                    <a:pt x="0" y="49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338085" y="3608267"/>
            <a:ext cx="441959" cy="4921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55"/>
              </a:spcBef>
            </a:pPr>
            <a:r>
              <a:rPr sz="1400" spc="-5" dirty="0">
                <a:latin typeface="Arial"/>
                <a:cs typeface="Arial"/>
              </a:rPr>
              <a:t>e'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232375" y="3834079"/>
            <a:ext cx="1096645" cy="41275"/>
            <a:chOff x="6232375" y="3834079"/>
            <a:chExt cx="1096645" cy="41275"/>
          </a:xfrm>
        </p:grpSpPr>
        <p:sp>
          <p:nvSpPr>
            <p:cNvPr id="68" name="object 68"/>
            <p:cNvSpPr/>
            <p:nvPr/>
          </p:nvSpPr>
          <p:spPr>
            <a:xfrm>
              <a:off x="6237137" y="3854567"/>
              <a:ext cx="1043940" cy="8255"/>
            </a:xfrm>
            <a:custGeom>
              <a:avLst/>
              <a:gdLst/>
              <a:ahLst/>
              <a:cxnLst/>
              <a:rect l="l" t="t" r="r" b="b"/>
              <a:pathLst>
                <a:path w="1043940" h="8254">
                  <a:moveTo>
                    <a:pt x="0" y="7974"/>
                  </a:moveTo>
                  <a:lnTo>
                    <a:pt x="10438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280860" y="3838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249" y="31474"/>
                  </a:moveTo>
                  <a:lnTo>
                    <a:pt x="0" y="0"/>
                  </a:lnTo>
                  <a:lnTo>
                    <a:pt x="43349" y="15399"/>
                  </a:lnTo>
                  <a:lnTo>
                    <a:pt x="249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280860" y="3838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249" y="31474"/>
                  </a:moveTo>
                  <a:lnTo>
                    <a:pt x="43349" y="15399"/>
                  </a:lnTo>
                  <a:lnTo>
                    <a:pt x="0" y="0"/>
                  </a:lnTo>
                  <a:lnTo>
                    <a:pt x="249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62309"/>
            <a:ext cx="7644765" cy="16287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Untrustable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25% of features are "untrustable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features"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595959"/>
              </a:buClr>
              <a:buFont typeface="Arial"/>
              <a:buChar char="○"/>
            </a:pPr>
            <a:endParaRPr sz="165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Trustworthiness of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Predictions</a:t>
            </a:r>
            <a:endParaRPr sz="1800" dirty="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spcBef>
                <a:spcPts val="6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Compares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predictions and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explanations when  </a:t>
            </a:r>
            <a:r>
              <a:rPr sz="1400" spc="-5" dirty="0" err="1">
                <a:solidFill>
                  <a:srgbClr val="595959"/>
                </a:solidFill>
                <a:latin typeface="Arial"/>
                <a:cs typeface="Arial"/>
              </a:rPr>
              <a:t>un</a:t>
            </a:r>
            <a:r>
              <a:rPr lang="en-US" sz="1400" spc="-5" dirty="0" err="1">
                <a:solidFill>
                  <a:srgbClr val="595959"/>
                </a:solidFill>
                <a:latin typeface="Arial"/>
                <a:cs typeface="Arial"/>
              </a:rPr>
              <a:t>trustable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features are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removed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486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Trustworthiness </a:t>
            </a:r>
            <a:r>
              <a:rPr sz="2800" spc="-5" dirty="0"/>
              <a:t>of</a:t>
            </a:r>
            <a:r>
              <a:rPr sz="2800" spc="-55" dirty="0"/>
              <a:t> </a:t>
            </a:r>
            <a:r>
              <a:rPr sz="2800" spc="-5" dirty="0"/>
              <a:t>Predictions</a:t>
            </a:r>
            <a:endParaRPr sz="2800" dirty="0"/>
          </a:p>
        </p:txBody>
      </p:sp>
      <p:sp>
        <p:nvSpPr>
          <p:cNvPr id="4" name="object 4"/>
          <p:cNvSpPr/>
          <p:nvPr/>
        </p:nvSpPr>
        <p:spPr>
          <a:xfrm>
            <a:off x="2985986" y="2951047"/>
            <a:ext cx="3457970" cy="1032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761" y="4535100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0690" y="4113738"/>
            <a:ext cx="28276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Trustworthiness of LIME with </a:t>
            </a:r>
            <a:r>
              <a:rPr sz="1000" spc="-10" dirty="0">
                <a:latin typeface="Arial"/>
                <a:cs typeface="Arial"/>
              </a:rPr>
              <a:t>different </a:t>
            </a:r>
            <a:r>
              <a:rPr sz="1000" dirty="0">
                <a:latin typeface="Arial"/>
                <a:cs typeface="Arial"/>
              </a:rPr>
              <a:t>ML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models: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2611" y="4266137"/>
            <a:ext cx="29552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100"/>
              </a:spcBef>
              <a:buChar char="●"/>
              <a:tabLst>
                <a:tab pos="317500" algn="l"/>
                <a:tab pos="318135" algn="l"/>
              </a:tabLst>
            </a:pPr>
            <a:r>
              <a:rPr sz="1000" spc="-5" dirty="0">
                <a:latin typeface="Arial"/>
                <a:cs typeface="Arial"/>
              </a:rPr>
              <a:t>Logistic Regression with L2 </a:t>
            </a:r>
            <a:r>
              <a:rPr sz="1000" dirty="0">
                <a:latin typeface="Arial"/>
                <a:cs typeface="Arial"/>
              </a:rPr>
              <a:t>regularization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(LR)</a:t>
            </a:r>
            <a:endParaRPr sz="10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buChar char="●"/>
              <a:tabLst>
                <a:tab pos="317500" algn="l"/>
                <a:tab pos="318135" algn="l"/>
              </a:tabLst>
            </a:pPr>
            <a:r>
              <a:rPr sz="1000" spc="-5" dirty="0">
                <a:latin typeface="Arial"/>
                <a:cs typeface="Arial"/>
              </a:rPr>
              <a:t>Nearest Neighbors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(NN)</a:t>
            </a:r>
            <a:endParaRPr sz="10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buChar char="●"/>
              <a:tabLst>
                <a:tab pos="317500" algn="l"/>
                <a:tab pos="318135" algn="l"/>
              </a:tabLst>
            </a:pPr>
            <a:r>
              <a:rPr sz="1000" spc="-5" dirty="0">
                <a:latin typeface="Arial"/>
                <a:cs typeface="Arial"/>
              </a:rPr>
              <a:t>Random Forests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(RF)</a:t>
            </a:r>
            <a:endParaRPr sz="10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buChar char="●"/>
              <a:tabLst>
                <a:tab pos="317500" algn="l"/>
                <a:tab pos="318135" algn="l"/>
              </a:tabLst>
            </a:pPr>
            <a:r>
              <a:rPr sz="1000" spc="-5" dirty="0">
                <a:latin typeface="Arial"/>
                <a:cs typeface="Arial"/>
              </a:rPr>
              <a:t>Support </a:t>
            </a:r>
            <a:r>
              <a:rPr sz="1000" spc="-15" dirty="0">
                <a:latin typeface="Arial"/>
                <a:cs typeface="Arial"/>
              </a:rPr>
              <a:t>Vector </a:t>
            </a:r>
            <a:r>
              <a:rPr sz="1000" dirty="0">
                <a:latin typeface="Arial"/>
                <a:cs typeface="Arial"/>
              </a:rPr>
              <a:t>Machines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(SVM)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257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dirty="0"/>
              <a:t>Multiple</a:t>
            </a:r>
            <a:r>
              <a:rPr sz="2800" spc="-90" dirty="0"/>
              <a:t> </a:t>
            </a:r>
            <a:r>
              <a:rPr sz="2800" spc="-5" dirty="0"/>
              <a:t>Samples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62548" y="1162309"/>
            <a:ext cx="677989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917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91795" algn="l"/>
                <a:tab pos="3924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Explain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a set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of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samples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get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complete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picture of the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8489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8994" algn="l"/>
                <a:tab pos="8496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spc="7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have its</a:t>
            </a:r>
            <a:r>
              <a:rPr sz="1400" spc="-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438656"/>
            <a:ext cx="610044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How do 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samples?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Select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maximum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information about the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34628" y="1839340"/>
            <a:ext cx="3002462" cy="5691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25743" y="3237953"/>
            <a:ext cx="1698363" cy="682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56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dirty="0"/>
              <a:t>Multiple</a:t>
            </a:r>
            <a:r>
              <a:rPr sz="2800" spc="-90" dirty="0"/>
              <a:t> </a:t>
            </a:r>
            <a:r>
              <a:rPr sz="2800" spc="-5" dirty="0"/>
              <a:t>Samples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28601" y="1137456"/>
            <a:ext cx="5105400" cy="81368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How do 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samples?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Select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maximum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information about the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211" y="2486538"/>
            <a:ext cx="12985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802" y="3499456"/>
            <a:ext cx="641599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want to get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V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elements that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maximize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10786" y="2879233"/>
            <a:ext cx="2283014" cy="512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33600" y="3937264"/>
            <a:ext cx="2574696" cy="328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0800" y="1906324"/>
            <a:ext cx="1145409" cy="4602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764" y="1037895"/>
            <a:ext cx="4075507" cy="2512091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56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Explaining </a:t>
            </a:r>
            <a:r>
              <a:rPr sz="2800" dirty="0"/>
              <a:t>Multiple</a:t>
            </a:r>
            <a:r>
              <a:rPr sz="2800" spc="-90" dirty="0"/>
              <a:t> </a:t>
            </a:r>
            <a:r>
              <a:rPr sz="2800" spc="-5" dirty="0"/>
              <a:t>Samples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648271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How do we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samples?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want to get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samples V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maximize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438656"/>
            <a:ext cx="6025515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Searching for the global optimal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NP-Hard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Feige,</a:t>
            </a:r>
            <a:r>
              <a:rPr sz="14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1998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turn to greedy algorithm as an approximation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5359" y="1891132"/>
            <a:ext cx="2283025" cy="512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6858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Greedy </a:t>
            </a:r>
            <a:r>
              <a:rPr sz="2800" spc="-10" dirty="0"/>
              <a:t>Algorithm </a:t>
            </a:r>
            <a:r>
              <a:rPr sz="2800" spc="-5" dirty="0"/>
              <a:t>for </a:t>
            </a:r>
            <a:r>
              <a:rPr sz="2800" spc="-10" dirty="0"/>
              <a:t>Sample</a:t>
            </a:r>
            <a:r>
              <a:rPr sz="2800" spc="-245" dirty="0"/>
              <a:t> </a:t>
            </a:r>
            <a:r>
              <a:rPr sz="2800" spc="-5" dirty="0"/>
              <a:t>Selection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887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Pick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subset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 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maximize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148" y="2205049"/>
            <a:ext cx="6577330" cy="115760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171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417195" algn="l"/>
                <a:tab pos="4178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Start with an empty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800" spc="22" baseline="-30092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spc="-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oyagiKouzanFontT"/>
                <a:cs typeface="AoyagiKouzanFontT"/>
              </a:rPr>
              <a:t>∅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4171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17195" algn="l"/>
                <a:tab pos="4178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the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800" spc="7" baseline="30092" dirty="0">
                <a:solidFill>
                  <a:srgbClr val="595959"/>
                </a:solidFill>
                <a:latin typeface="Arial"/>
                <a:cs typeface="Arial"/>
              </a:rPr>
              <a:t>th</a:t>
            </a:r>
            <a:r>
              <a:rPr sz="1800" spc="240" baseline="30092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endParaRPr sz="1800">
              <a:latin typeface="Arial"/>
              <a:cs typeface="Arial"/>
            </a:endParaRPr>
          </a:p>
          <a:p>
            <a:pPr marL="8743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74394" algn="l"/>
                <a:tab pos="8750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Pick the next element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spc="15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∈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 \ V</a:t>
            </a:r>
            <a:r>
              <a:rPr sz="1350" baseline="-3395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 such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spc="7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maximizes c(V</a:t>
            </a:r>
            <a:r>
              <a:rPr sz="1350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⋃</a:t>
            </a:r>
            <a:r>
              <a:rPr sz="1400" spc="-355" dirty="0">
                <a:solidFill>
                  <a:srgbClr val="595959"/>
                </a:solidFill>
                <a:latin typeface="AoyagiKouzanFontT"/>
                <a:cs typeface="AoyagiKouzanFontT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{x</a:t>
            </a:r>
            <a:r>
              <a:rPr sz="1350" spc="-7" baseline="-3395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}, 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W,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I)</a:t>
            </a:r>
            <a:endParaRPr sz="1400">
              <a:latin typeface="Arial"/>
              <a:cs typeface="Arial"/>
            </a:endParaRPr>
          </a:p>
          <a:p>
            <a:pPr marL="8743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74394" algn="l"/>
                <a:tab pos="8750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repeat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until |V</a:t>
            </a:r>
            <a:r>
              <a:rPr sz="1350" spc="-7" baseline="-30864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|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≥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11660" y="1701279"/>
            <a:ext cx="2758983" cy="351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162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Theoretical Guarantees on</a:t>
            </a:r>
            <a:r>
              <a:rPr sz="2800" spc="-95" dirty="0"/>
              <a:t> </a:t>
            </a:r>
            <a:r>
              <a:rPr sz="2800" spc="-5" dirty="0"/>
              <a:t>Performance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745355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 defined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submodular</a:t>
            </a:r>
            <a:r>
              <a:rPr sz="1800" spc="-2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953005"/>
            <a:ext cx="7024370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 of Submodular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performance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greedy algorithm is at least 1-1/e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(~63%)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the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optimum</a:t>
            </a:r>
            <a:endParaRPr sz="1400">
              <a:latin typeface="Arial"/>
              <a:cs typeface="Arial"/>
            </a:endParaRPr>
          </a:p>
          <a:p>
            <a:pPr marL="2264410" lvl="1" indent="-1764664">
              <a:lnSpc>
                <a:spcPct val="100000"/>
              </a:lnSpc>
              <a:spcBef>
                <a:spcPts val="270"/>
              </a:spcBef>
              <a:buChar char="○"/>
              <a:tabLst>
                <a:tab pos="2264410" algn="l"/>
                <a:tab pos="226504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submodular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performance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greedy algorithm 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guaranteed 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lower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77907" y="1608285"/>
            <a:ext cx="542158" cy="1478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1297" y="3553092"/>
            <a:ext cx="1370772" cy="317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5823" y="2194011"/>
            <a:ext cx="4723557" cy="2933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63160" y="47043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648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Human</a:t>
            </a:r>
            <a:r>
              <a:rPr sz="2800" spc="-85" dirty="0"/>
              <a:t> </a:t>
            </a:r>
            <a:r>
              <a:rPr sz="2800" spc="-5" dirty="0"/>
              <a:t>Experiments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4877435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Ask Human to Select the Best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Classifier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Annotators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shown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explanations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Annotators have no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knowledge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7928" y="2056395"/>
            <a:ext cx="4441999" cy="2287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2375" y="4442595"/>
            <a:ext cx="506603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Classification of Atheism/Christian in the 20 newsgroups</a:t>
            </a:r>
            <a:r>
              <a:rPr sz="1400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839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Human </a:t>
            </a:r>
            <a:r>
              <a:rPr sz="2800" spc="-10" dirty="0"/>
              <a:t>Experiments </a:t>
            </a:r>
            <a:r>
              <a:rPr sz="2800" dirty="0"/>
              <a:t>- </a:t>
            </a:r>
            <a:r>
              <a:rPr sz="2800" spc="-10" dirty="0"/>
              <a:t>Select </a:t>
            </a:r>
            <a:r>
              <a:rPr sz="2800" spc="-5" dirty="0"/>
              <a:t>the </a:t>
            </a:r>
            <a:r>
              <a:rPr sz="2800" spc="-10" dirty="0"/>
              <a:t>Best</a:t>
            </a:r>
            <a:r>
              <a:rPr sz="2800" spc="-80" dirty="0"/>
              <a:t> </a:t>
            </a:r>
            <a:r>
              <a:rPr sz="2800" spc="-5" dirty="0"/>
              <a:t>Classifier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719963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Original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SVM trained on the dataset with original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Cleaned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SVM trained on the dataset with "cleaned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features"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30548" y="2238580"/>
            <a:ext cx="3697664" cy="2501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28762" y="3714517"/>
            <a:ext cx="18383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greedy </a:t>
            </a:r>
            <a:r>
              <a:rPr sz="1000" dirty="0">
                <a:latin typeface="Arial"/>
                <a:cs typeface="Arial"/>
              </a:rPr>
              <a:t>- remove </a:t>
            </a:r>
            <a:r>
              <a:rPr sz="1000" spc="-5" dirty="0">
                <a:latin typeface="Arial"/>
                <a:cs typeface="Arial"/>
              </a:rPr>
              <a:t>features  </a:t>
            </a:r>
            <a:r>
              <a:rPr sz="1000" dirty="0">
                <a:latin typeface="Arial"/>
                <a:cs typeface="Arial"/>
              </a:rPr>
              <a:t>contribute most </a:t>
            </a:r>
            <a:r>
              <a:rPr sz="1000" spc="-5" dirty="0">
                <a:latin typeface="Arial"/>
                <a:cs typeface="Arial"/>
              </a:rPr>
              <a:t>to the</a:t>
            </a:r>
            <a:r>
              <a:rPr sz="1000" spc="-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classifiers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2518" y="4784981"/>
            <a:ext cx="230314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results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on 20 newsgroups</a:t>
            </a:r>
            <a:r>
              <a:rPr sz="12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3432240" y="3440160"/>
              <a:ext cx="2254680" cy="3560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3600" y="3434760"/>
                <a:ext cx="2268720" cy="36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108582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Improving </a:t>
            </a:r>
            <a:r>
              <a:rPr sz="2800" dirty="0"/>
              <a:t>Models </a:t>
            </a:r>
            <a:r>
              <a:rPr sz="2800" spc="-5" dirty="0"/>
              <a:t>Through </a:t>
            </a:r>
            <a:r>
              <a:rPr sz="2800" dirty="0"/>
              <a:t>ML</a:t>
            </a:r>
            <a:r>
              <a:rPr sz="2800" spc="-265" dirty="0"/>
              <a:t> </a:t>
            </a:r>
            <a:r>
              <a:rPr sz="2800" spc="-5" dirty="0"/>
              <a:t>Interpretability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633334" cy="16002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Improving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Human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raters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shown model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interpretability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They are asked to improve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masking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out unnecessary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Which words from the explanations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should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removed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subsequent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select 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random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select samples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greedy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91497" y="2873916"/>
            <a:ext cx="2598765" cy="1815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761" y="4551942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2518" y="4784981"/>
            <a:ext cx="230314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results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on 20 newsgroups</a:t>
            </a:r>
            <a:r>
              <a:rPr sz="12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620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Faithfulness of </a:t>
            </a:r>
            <a:r>
              <a:rPr sz="2800" dirty="0"/>
              <a:t>Model</a:t>
            </a:r>
            <a:r>
              <a:rPr sz="2800" spc="-95" dirty="0"/>
              <a:t> </a:t>
            </a:r>
            <a:r>
              <a:rPr sz="2800" spc="-10" dirty="0"/>
              <a:t>Explanations</a:t>
            </a:r>
            <a:endParaRPr sz="2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14607" y="1355243"/>
            <a:ext cx="5344795" cy="3401060"/>
            <a:chOff x="1914607" y="1355243"/>
            <a:chExt cx="5344795" cy="3401060"/>
          </a:xfrm>
        </p:grpSpPr>
        <p:sp>
          <p:nvSpPr>
            <p:cNvPr id="4" name="object 4"/>
            <p:cNvSpPr/>
            <p:nvPr/>
          </p:nvSpPr>
          <p:spPr>
            <a:xfrm>
              <a:off x="1914607" y="1355243"/>
              <a:ext cx="5344280" cy="34009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17012" y="1862251"/>
              <a:ext cx="4290060" cy="2226310"/>
            </a:xfrm>
            <a:custGeom>
              <a:avLst/>
              <a:gdLst/>
              <a:ahLst/>
              <a:cxnLst/>
              <a:rect l="l" t="t" r="r" b="b"/>
              <a:pathLst>
                <a:path w="4290059" h="2226310">
                  <a:moveTo>
                    <a:pt x="1407947" y="0"/>
                  </a:moveTo>
                  <a:lnTo>
                    <a:pt x="103555" y="0"/>
                  </a:lnTo>
                  <a:lnTo>
                    <a:pt x="103555" y="346798"/>
                  </a:lnTo>
                  <a:lnTo>
                    <a:pt x="1407947" y="346798"/>
                  </a:lnTo>
                  <a:lnTo>
                    <a:pt x="1407947" y="0"/>
                  </a:lnTo>
                  <a:close/>
                </a:path>
                <a:path w="4290059" h="2226310">
                  <a:moveTo>
                    <a:pt x="4289818" y="2042401"/>
                  </a:moveTo>
                  <a:lnTo>
                    <a:pt x="4193997" y="2042401"/>
                  </a:lnTo>
                  <a:lnTo>
                    <a:pt x="4193997" y="1808073"/>
                  </a:lnTo>
                  <a:lnTo>
                    <a:pt x="1304404" y="1808073"/>
                  </a:lnTo>
                  <a:lnTo>
                    <a:pt x="1304404" y="1002779"/>
                  </a:lnTo>
                  <a:lnTo>
                    <a:pt x="0" y="1002779"/>
                  </a:lnTo>
                  <a:lnTo>
                    <a:pt x="0" y="2138273"/>
                  </a:lnTo>
                  <a:lnTo>
                    <a:pt x="304800" y="2138273"/>
                  </a:lnTo>
                  <a:lnTo>
                    <a:pt x="304800" y="2220874"/>
                  </a:lnTo>
                  <a:lnTo>
                    <a:pt x="338226" y="2220874"/>
                  </a:lnTo>
                  <a:lnTo>
                    <a:pt x="338226" y="2225700"/>
                  </a:lnTo>
                  <a:lnTo>
                    <a:pt x="4289818" y="2225700"/>
                  </a:lnTo>
                  <a:lnTo>
                    <a:pt x="4289818" y="20424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10761" y="4535100"/>
            <a:ext cx="1407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Plumb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752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Outline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2941955" cy="17335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Post Hoc</a:t>
            </a:r>
            <a:r>
              <a:rPr sz="1800" spc="-55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Interpretability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Proxy</a:t>
            </a:r>
            <a:r>
              <a:rPr sz="1400" spc="-1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B6B6B6"/>
                </a:solidFill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B6B6B6"/>
                </a:solidFill>
                <a:latin typeface="Arial"/>
                <a:cs typeface="Arial"/>
              </a:rPr>
              <a:t>Local Surrogate</a:t>
            </a:r>
            <a:r>
              <a:rPr sz="1800" spc="-90" dirty="0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B6B6B6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B6B6B6"/>
                </a:solidFill>
                <a:latin typeface="Arial"/>
                <a:cs typeface="Arial"/>
              </a:rPr>
              <a:t>LIME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Rule Based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Explainers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Anchors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572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Rule </a:t>
            </a:r>
            <a:r>
              <a:rPr sz="2800" spc="-10" dirty="0"/>
              <a:t>Based</a:t>
            </a:r>
            <a:r>
              <a:rPr sz="2800" spc="-90" dirty="0"/>
              <a:t> </a:t>
            </a:r>
            <a:r>
              <a:rPr sz="2800" spc="-5" dirty="0"/>
              <a:t>Explainers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6619240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Explain the Predictions of Deep Learning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Rules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How do we find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rules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particular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predictor?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31755" y="2145979"/>
            <a:ext cx="3796676" cy="2272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905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46315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Generate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Predicates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Known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Anchors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(i.e.,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rules)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Using anchors to explain the performance of deep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mimic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decisions of deep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x,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f(x)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explain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range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similar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decisions in the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76880" y="2431478"/>
            <a:ext cx="3796676" cy="2272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01768" y="4769529"/>
            <a:ext cx="3044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Anchors found in adult income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1828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Anchors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2216554" y="3089237"/>
            <a:ext cx="2221525" cy="16988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248" y="1216356"/>
            <a:ext cx="7252970" cy="3395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An Anchor is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 set </a:t>
            </a: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of feature predicates applied to the feature</a:t>
            </a:r>
            <a:r>
              <a:rPr sz="1800" spc="-17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  <a:p>
            <a:pPr marL="163830" algn="ctr">
              <a:lnSpc>
                <a:spcPct val="100000"/>
              </a:lnSpc>
              <a:spcBef>
                <a:spcPts val="1455"/>
              </a:spcBef>
            </a:pPr>
            <a:r>
              <a:rPr sz="1400" dirty="0">
                <a:latin typeface="Arial"/>
                <a:cs typeface="Arial"/>
              </a:rPr>
              <a:t>A = </a:t>
            </a:r>
            <a:r>
              <a:rPr sz="1400" spc="-5" dirty="0">
                <a:latin typeface="Arial"/>
                <a:cs typeface="Arial"/>
              </a:rPr>
              <a:t>{“not”,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“bad”}</a:t>
            </a:r>
            <a:endParaRPr sz="1400">
              <a:latin typeface="Arial"/>
              <a:cs typeface="Arial"/>
            </a:endParaRPr>
          </a:p>
          <a:p>
            <a:pPr marL="836294" marR="135890" lvl="1" indent="-836294">
              <a:lnSpc>
                <a:spcPts val="1650"/>
              </a:lnSpc>
              <a:spcBef>
                <a:spcPts val="132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Any text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sample x containing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both "not" and "bad" will be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selected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the anchor  A(x)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=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 anchor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be applied to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dataset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to generate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subset</a:t>
            </a:r>
            <a:r>
              <a:rPr sz="1400" spc="-5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D(.|A)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"/>
              <a:cs typeface="Arial"/>
            </a:endParaRPr>
          </a:p>
          <a:p>
            <a:pPr marL="4168775" marR="1191260" indent="83185">
              <a:lnSpc>
                <a:spcPct val="2315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A = </a:t>
            </a:r>
            <a:r>
              <a:rPr sz="1400" spc="-5" dirty="0">
                <a:latin typeface="Arial"/>
                <a:cs typeface="Arial"/>
              </a:rPr>
              <a:t>{“not”, </a:t>
            </a:r>
            <a:r>
              <a:rPr sz="1400" dirty="0">
                <a:latin typeface="Arial"/>
                <a:cs typeface="Arial"/>
              </a:rPr>
              <a:t>“bad”}  </a:t>
            </a:r>
            <a:r>
              <a:rPr sz="1400" spc="-5" dirty="0">
                <a:latin typeface="Arial"/>
                <a:cs typeface="Arial"/>
              </a:rPr>
              <a:t>Samples in </a:t>
            </a:r>
            <a:r>
              <a:rPr sz="140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data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>
              <a:latin typeface="Arial"/>
              <a:cs typeface="Arial"/>
            </a:endParaRPr>
          </a:p>
          <a:p>
            <a:pPr marL="4051935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Samples </a:t>
            </a:r>
            <a:r>
              <a:rPr sz="1400" dirty="0">
                <a:latin typeface="Arial"/>
                <a:cs typeface="Arial"/>
              </a:rPr>
              <a:t>selected </a:t>
            </a:r>
            <a:r>
              <a:rPr sz="1400" spc="-5" dirty="0">
                <a:latin typeface="Arial"/>
                <a:cs typeface="Arial"/>
              </a:rPr>
              <a:t>by Anchor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1189"/>
            <a:ext cx="58674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Formal Definitions of</a:t>
            </a:r>
            <a:r>
              <a:rPr sz="2800" spc="-245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277734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Preconditions of</a:t>
            </a:r>
            <a:r>
              <a:rPr sz="1800" spc="-11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Anchors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Applies to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sample x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being</a:t>
            </a:r>
            <a:r>
              <a:rPr sz="14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interpreted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5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Precisions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Samples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anchor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need to have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similar</a:t>
            </a:r>
            <a:r>
              <a:rPr sz="1400" spc="-229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predictions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i.e., f(x)=f(z) for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z~D(.|A)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5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Coverage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64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significant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portion of the data needs to be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Anchor</a:t>
            </a:r>
            <a:r>
              <a:rPr sz="1400" spc="-27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67365" y="2939838"/>
            <a:ext cx="2853690" cy="1699260"/>
            <a:chOff x="2567365" y="2939838"/>
            <a:chExt cx="2853690" cy="1699260"/>
          </a:xfrm>
        </p:grpSpPr>
        <p:sp>
          <p:nvSpPr>
            <p:cNvPr id="5" name="object 5"/>
            <p:cNvSpPr/>
            <p:nvPr/>
          </p:nvSpPr>
          <p:spPr>
            <a:xfrm>
              <a:off x="2567365" y="2939838"/>
              <a:ext cx="2221513" cy="169883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21365" y="4210241"/>
              <a:ext cx="768350" cy="108585"/>
            </a:xfrm>
            <a:custGeom>
              <a:avLst/>
              <a:gdLst/>
              <a:ahLst/>
              <a:cxnLst/>
              <a:rect l="l" t="t" r="r" b="b"/>
              <a:pathLst>
                <a:path w="768350" h="108585">
                  <a:moveTo>
                    <a:pt x="767798" y="108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8565" y="4194641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0599" y="31174"/>
                  </a:moveTo>
                  <a:lnTo>
                    <a:pt x="0" y="9549"/>
                  </a:lnTo>
                  <a:lnTo>
                    <a:pt x="44999" y="0"/>
                  </a:lnTo>
                  <a:lnTo>
                    <a:pt x="40599" y="311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8565" y="4194641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4999" y="0"/>
                  </a:moveTo>
                  <a:lnTo>
                    <a:pt x="0" y="9549"/>
                  </a:lnTo>
                  <a:lnTo>
                    <a:pt x="40599" y="31174"/>
                  </a:lnTo>
                  <a:lnTo>
                    <a:pt x="449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38140" y="4327591"/>
              <a:ext cx="778510" cy="192405"/>
            </a:xfrm>
            <a:custGeom>
              <a:avLst/>
              <a:gdLst/>
              <a:ahLst/>
              <a:cxnLst/>
              <a:rect l="l" t="t" r="r" b="b"/>
              <a:pathLst>
                <a:path w="778510" h="192404">
                  <a:moveTo>
                    <a:pt x="777923" y="0"/>
                  </a:moveTo>
                  <a:lnTo>
                    <a:pt x="0" y="1923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96190" y="4504690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724" y="30549"/>
                  </a:moveTo>
                  <a:lnTo>
                    <a:pt x="0" y="25649"/>
                  </a:lnTo>
                  <a:lnTo>
                    <a:pt x="38174" y="0"/>
                  </a:lnTo>
                  <a:lnTo>
                    <a:pt x="45724" y="305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96190" y="4504690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8174" y="0"/>
                  </a:moveTo>
                  <a:lnTo>
                    <a:pt x="0" y="25649"/>
                  </a:lnTo>
                  <a:lnTo>
                    <a:pt x="45724" y="30549"/>
                  </a:lnTo>
                  <a:lnTo>
                    <a:pt x="381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77064" y="4185921"/>
            <a:ext cx="1177290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44805" marR="5080" indent="-332740">
              <a:lnSpc>
                <a:spcPts val="1420"/>
              </a:lnSpc>
              <a:spcBef>
                <a:spcPts val="160"/>
              </a:spcBef>
            </a:pPr>
            <a:r>
              <a:rPr sz="1200" dirty="0">
                <a:latin typeface="Arial"/>
                <a:cs typeface="Arial"/>
              </a:rPr>
              <a:t>same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predictions  f(x)=f(z)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0837" y="3257521"/>
            <a:ext cx="186372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14033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Anchor generated from  </a:t>
            </a:r>
            <a:r>
              <a:rPr sz="1200" dirty="0">
                <a:latin typeface="Arial"/>
                <a:cs typeface="Arial"/>
              </a:rPr>
              <a:t>x= </a:t>
            </a:r>
            <a:r>
              <a:rPr sz="1200" spc="-5" dirty="0">
                <a:latin typeface="Arial"/>
                <a:cs typeface="Arial"/>
              </a:rPr>
              <a:t>"This </a:t>
            </a:r>
            <a:r>
              <a:rPr sz="1200" dirty="0">
                <a:latin typeface="Arial"/>
                <a:cs typeface="Arial"/>
              </a:rPr>
              <a:t>movie </a:t>
            </a:r>
            <a:r>
              <a:rPr sz="1200" spc="-5" dirty="0">
                <a:latin typeface="Arial"/>
                <a:cs typeface="Arial"/>
              </a:rPr>
              <a:t>is not bad.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"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334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Formal Definitions of</a:t>
            </a:r>
            <a:r>
              <a:rPr sz="2800" spc="-245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4066540" cy="51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Preconditions of</a:t>
            </a:r>
            <a:r>
              <a:rPr sz="1800" spc="-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Anchors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Applies to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sample x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being</a:t>
            </a:r>
            <a:r>
              <a:rPr sz="1400" spc="-9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interpreted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1" y="2256610"/>
            <a:ext cx="649478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ts val="1664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Precision</a:t>
            </a:r>
            <a:endParaRPr sz="1400">
              <a:latin typeface="Arial"/>
              <a:cs typeface="Arial"/>
            </a:endParaRPr>
          </a:p>
          <a:p>
            <a:pPr marL="805815" lvl="1" indent="-336550">
              <a:lnSpc>
                <a:spcPts val="1664"/>
              </a:lnSpc>
              <a:buChar char="■"/>
              <a:tabLst>
                <a:tab pos="805180" algn="l"/>
                <a:tab pos="80645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Samples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the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same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anchor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need to have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similar</a:t>
            </a:r>
            <a:r>
              <a:rPr sz="1400" spc="-23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predictions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191" y="3504382"/>
            <a:ext cx="6043295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ts val="1664"/>
              </a:lnSpc>
              <a:spcBef>
                <a:spcPts val="10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Coverage</a:t>
            </a:r>
            <a:endParaRPr sz="1400">
              <a:latin typeface="Arial"/>
              <a:cs typeface="Arial"/>
            </a:endParaRPr>
          </a:p>
          <a:p>
            <a:pPr marL="805815" lvl="1" indent="-336550">
              <a:lnSpc>
                <a:spcPts val="1664"/>
              </a:lnSpc>
              <a:buChar char="■"/>
              <a:tabLst>
                <a:tab pos="805180" algn="l"/>
                <a:tab pos="806450" algn="l"/>
              </a:tabLst>
            </a:pP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significant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amount of data needs to be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covered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by one anchor</a:t>
            </a:r>
            <a:r>
              <a:rPr sz="1400" spc="-2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85591" y="1840940"/>
            <a:ext cx="881231" cy="284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24393" y="2946168"/>
            <a:ext cx="2701819" cy="389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90534" y="4249273"/>
            <a:ext cx="1508382" cy="3098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618163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Anchors </a:t>
            </a:r>
            <a:r>
              <a:rPr sz="2800" spc="-5" dirty="0"/>
              <a:t>for </a:t>
            </a:r>
            <a:r>
              <a:rPr sz="2800" spc="-10" dirty="0"/>
              <a:t>Part </a:t>
            </a:r>
            <a:r>
              <a:rPr sz="2800" spc="-5" dirty="0"/>
              <a:t>of </a:t>
            </a:r>
            <a:r>
              <a:rPr sz="2800" spc="-10" dirty="0"/>
              <a:t>Speech</a:t>
            </a:r>
            <a:r>
              <a:rPr sz="2800" spc="-120" dirty="0"/>
              <a:t> </a:t>
            </a:r>
            <a:r>
              <a:rPr sz="2800" spc="-50" dirty="0"/>
              <a:t>Tagging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126932" y="1605761"/>
            <a:ext cx="6798422" cy="2602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791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Anchors </a:t>
            </a:r>
            <a:r>
              <a:rPr sz="2800" spc="-5" dirty="0"/>
              <a:t>for </a:t>
            </a:r>
            <a:r>
              <a:rPr sz="2800" dirty="0"/>
              <a:t>Machine</a:t>
            </a:r>
            <a:r>
              <a:rPr sz="2800" spc="-140" dirty="0"/>
              <a:t> </a:t>
            </a:r>
            <a:r>
              <a:rPr sz="2800" spc="-10" dirty="0"/>
              <a:t>Translation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5470525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Group Predictions of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Words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Similar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Meanings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"esta"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(feminine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word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"this")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"este"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(masculine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word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"this")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"isso"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(if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referent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not in the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sentence)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5059" y="2623756"/>
            <a:ext cx="4146493" cy="14535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6264" y="2738280"/>
            <a:ext cx="3783842" cy="1288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30060" y="4353699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229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Anchors </a:t>
            </a:r>
            <a:r>
              <a:rPr sz="2800" spc="-5" dirty="0"/>
              <a:t>for Image Classification</a:t>
            </a:r>
            <a:r>
              <a:rPr sz="2800" spc="-90" dirty="0"/>
              <a:t> </a:t>
            </a:r>
            <a:r>
              <a:rPr sz="2800" dirty="0"/>
              <a:t>(InceptionV3)</a:t>
            </a:r>
          </a:p>
        </p:txBody>
      </p:sp>
      <p:sp>
        <p:nvSpPr>
          <p:cNvPr id="3" name="object 3"/>
          <p:cNvSpPr/>
          <p:nvPr/>
        </p:nvSpPr>
        <p:spPr>
          <a:xfrm>
            <a:off x="2625728" y="1944013"/>
            <a:ext cx="3773158" cy="1897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3761" y="3841481"/>
            <a:ext cx="163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Anchors for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"beagle"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1061" y="3837004"/>
            <a:ext cx="11322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original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image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8229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Anchors </a:t>
            </a:r>
            <a:r>
              <a:rPr sz="2800" spc="-5" dirty="0"/>
              <a:t>for </a:t>
            </a:r>
            <a:r>
              <a:rPr sz="2800" spc="-15" dirty="0"/>
              <a:t>Visual </a:t>
            </a:r>
            <a:r>
              <a:rPr sz="2800" spc="-5" dirty="0"/>
              <a:t>Question </a:t>
            </a:r>
            <a:r>
              <a:rPr sz="2800" spc="-10" dirty="0"/>
              <a:t>Answering</a:t>
            </a:r>
            <a:r>
              <a:rPr sz="2800" spc="-220" dirty="0"/>
              <a:t> </a:t>
            </a:r>
            <a:r>
              <a:rPr sz="2800" dirty="0"/>
              <a:t>(VQA)</a:t>
            </a:r>
          </a:p>
        </p:txBody>
      </p:sp>
      <p:sp>
        <p:nvSpPr>
          <p:cNvPr id="3" name="object 3"/>
          <p:cNvSpPr/>
          <p:nvPr/>
        </p:nvSpPr>
        <p:spPr>
          <a:xfrm>
            <a:off x="3747701" y="1434092"/>
            <a:ext cx="1763238" cy="1724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7931" y="3526212"/>
            <a:ext cx="2385919" cy="667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1795" y="4204354"/>
            <a:ext cx="2133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Anchor for predicting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"dog"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54209" y="3513599"/>
            <a:ext cx="2570708" cy="6784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8770" y="4198401"/>
            <a:ext cx="11595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Other</a:t>
            </a:r>
            <a:r>
              <a:rPr sz="1400" spc="-1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Anchors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038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</a:t>
            </a:r>
            <a:r>
              <a:rPr sz="2800" spc="-245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280909" cy="25527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Preconditions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lr>
                <a:srgbClr val="595959"/>
              </a:buClr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Precision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har char="○"/>
            </a:pPr>
            <a:endParaRPr sz="185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Coverage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har char="○"/>
            </a:pPr>
            <a:endParaRPr sz="1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har char="○"/>
            </a:pPr>
            <a:endParaRPr sz="22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Challenges in Generating the Optimal</a:t>
            </a:r>
            <a:r>
              <a:rPr sz="1800" spc="-11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Calculating precision and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computationally</a:t>
            </a:r>
            <a:r>
              <a:rPr sz="14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intensive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will need to iterate through the predictions of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f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over the entire</a:t>
            </a:r>
            <a:r>
              <a:rPr sz="1400" spc="-3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Usually 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difficult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to apply white box optimization techniques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(e.g.,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gradient</a:t>
            </a:r>
            <a:r>
              <a:rPr sz="1400" spc="-4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descent)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0768" y="1524957"/>
            <a:ext cx="2493240" cy="2658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70893" y="1981546"/>
            <a:ext cx="2105120" cy="265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37418" y="3928111"/>
            <a:ext cx="3454267" cy="5657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962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</a:t>
            </a:r>
            <a:r>
              <a:rPr sz="2800" spc="-245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2352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Optimization</a:t>
            </a:r>
            <a:r>
              <a:rPr sz="1800" spc="-10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24242"/>
                </a:solidFill>
                <a:latin typeface="Arial"/>
                <a:cs typeface="Arial"/>
              </a:rPr>
              <a:t>Target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2597478"/>
            <a:ext cx="6839584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1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for each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step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t,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Construct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a set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candidate solutions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the best</a:t>
            </a:r>
            <a:r>
              <a:rPr sz="1400" spc="-6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</a:t>
            </a:r>
            <a:endParaRPr sz="1400">
              <a:latin typeface="Arial"/>
              <a:cs typeface="Arial"/>
            </a:endParaRPr>
          </a:p>
          <a:p>
            <a:pPr marL="1750695" lvl="3" indent="-336550">
              <a:lnSpc>
                <a:spcPts val="1650"/>
              </a:lnSpc>
              <a:buChar char="●"/>
              <a:tabLst>
                <a:tab pos="1750695" algn="l"/>
                <a:tab pos="17513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Candidate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solutions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need to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satisfy cov(A) ≥</a:t>
            </a:r>
            <a:r>
              <a:rPr sz="1400" spc="-4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5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2) Pick top-k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candidates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the best</a:t>
            </a:r>
            <a:r>
              <a:rPr sz="14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precision</a:t>
            </a:r>
            <a:endParaRPr sz="1400">
              <a:latin typeface="Arial"/>
              <a:cs typeface="Arial"/>
            </a:endParaRPr>
          </a:p>
          <a:p>
            <a:pPr marL="1750695" lvl="3" indent="-336550">
              <a:lnSpc>
                <a:spcPts val="1650"/>
              </a:lnSpc>
              <a:buChar char="●"/>
              <a:tabLst>
                <a:tab pos="1750695" algn="l"/>
                <a:tab pos="17513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Candidates need to have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τ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confidence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at least</a:t>
            </a:r>
            <a:r>
              <a:rPr sz="1400" spc="-8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ts val="1664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Anchor</a:t>
            </a:r>
            <a:r>
              <a:rPr sz="1400" spc="-17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5869" y="1643290"/>
            <a:ext cx="3454268" cy="565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" y="503238"/>
            <a:ext cx="7677211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Optimizing</a:t>
            </a:r>
            <a:r>
              <a:rPr sz="2800" spc="-254" dirty="0"/>
              <a:t> </a:t>
            </a:r>
            <a:r>
              <a:rPr sz="2800" spc="-5" dirty="0"/>
              <a:t>Coverage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3178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8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8" y="1494611"/>
            <a:ext cx="5172075" cy="155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6294" indent="-336550">
              <a:lnSpc>
                <a:spcPts val="1664"/>
              </a:lnSpc>
              <a:spcBef>
                <a:spcPts val="10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1) Optimizing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coverage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with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cov(A) ≥</a:t>
            </a:r>
            <a:r>
              <a:rPr sz="1400" u="heavy" spc="-1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5080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2) Optimizing precision with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τ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confidence 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at least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</a:t>
            </a:r>
            <a:r>
              <a:rPr sz="1400" spc="-9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191" y="3031944"/>
            <a:ext cx="1100455" cy="5207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Start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Expand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81291" y="3031944"/>
            <a:ext cx="1792605" cy="5207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oyagiKouzanFontT"/>
                <a:cs typeface="AoyagiKouzanFontT"/>
              </a:rPr>
              <a:t>∅</a:t>
            </a:r>
            <a:endParaRPr sz="1400">
              <a:latin typeface="AoyagiKouzanFontT"/>
              <a:cs typeface="AoyagiKouzanFontT"/>
            </a:endParaRPr>
          </a:p>
          <a:p>
            <a:pPr marL="7112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one element to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get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87250" y="1545809"/>
          <a:ext cx="1952625" cy="14335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8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120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BPM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101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$20,000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80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BPM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104.4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$40,000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140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BPM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99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$800,000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954043" y="1323771"/>
            <a:ext cx="5099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latin typeface="Arial"/>
                <a:cs typeface="Arial"/>
              </a:rPr>
              <a:t>heart</a:t>
            </a:r>
            <a:r>
              <a:rPr sz="800" b="1" spc="-65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beat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7498" y="1318133"/>
            <a:ext cx="612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Arial"/>
                <a:cs typeface="Arial"/>
              </a:rPr>
              <a:t>temperature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7806" y="1297711"/>
            <a:ext cx="3194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latin typeface="Arial"/>
                <a:cs typeface="Arial"/>
              </a:rPr>
              <a:t>salary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05795" y="3142080"/>
            <a:ext cx="493395" cy="486409"/>
            <a:chOff x="2005795" y="3142080"/>
            <a:chExt cx="493395" cy="486409"/>
          </a:xfrm>
        </p:grpSpPr>
        <p:sp>
          <p:nvSpPr>
            <p:cNvPr id="12" name="object 12"/>
            <p:cNvSpPr/>
            <p:nvPr/>
          </p:nvSpPr>
          <p:spPr>
            <a:xfrm>
              <a:off x="2162588" y="3142080"/>
              <a:ext cx="276448" cy="21025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05795" y="3339918"/>
              <a:ext cx="493324" cy="2884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363339" y="3355434"/>
            <a:ext cx="283706" cy="243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68611" y="3776581"/>
            <a:ext cx="479492" cy="2197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27717" y="4050110"/>
            <a:ext cx="7918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{heart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{temperature}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97882" y="4153329"/>
            <a:ext cx="1421130" cy="132080"/>
            <a:chOff x="2597882" y="4153329"/>
            <a:chExt cx="1421130" cy="132080"/>
          </a:xfrm>
        </p:grpSpPr>
        <p:sp>
          <p:nvSpPr>
            <p:cNvPr id="18" name="object 18"/>
            <p:cNvSpPr/>
            <p:nvPr/>
          </p:nvSpPr>
          <p:spPr>
            <a:xfrm>
              <a:off x="2602644" y="4173816"/>
              <a:ext cx="1368425" cy="0"/>
            </a:xfrm>
            <a:custGeom>
              <a:avLst/>
              <a:gdLst/>
              <a:ahLst/>
              <a:cxnLst/>
              <a:rect l="l" t="t" r="r" b="b"/>
              <a:pathLst>
                <a:path w="1368425">
                  <a:moveTo>
                    <a:pt x="0" y="0"/>
                  </a:moveTo>
                  <a:lnTo>
                    <a:pt x="13678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70492" y="41580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70492" y="41580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25169" y="4173716"/>
              <a:ext cx="1328420" cy="91440"/>
            </a:xfrm>
            <a:custGeom>
              <a:avLst/>
              <a:gdLst/>
              <a:ahLst/>
              <a:cxnLst/>
              <a:rect l="l" t="t" r="r" b="b"/>
              <a:pathLst>
                <a:path w="1328420" h="91439">
                  <a:moveTo>
                    <a:pt x="0" y="0"/>
                  </a:moveTo>
                  <a:lnTo>
                    <a:pt x="1328072" y="908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52167" y="4248916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99"/>
                  </a:moveTo>
                  <a:lnTo>
                    <a:pt x="2149" y="0"/>
                  </a:lnTo>
                  <a:lnTo>
                    <a:pt x="44199" y="18649"/>
                  </a:lnTo>
                  <a:lnTo>
                    <a:pt x="0" y="31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52167" y="4248916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99"/>
                  </a:moveTo>
                  <a:lnTo>
                    <a:pt x="44199" y="18649"/>
                  </a:lnTo>
                  <a:lnTo>
                    <a:pt x="2149" y="0"/>
                  </a:lnTo>
                  <a:lnTo>
                    <a:pt x="0" y="31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75617" y="3949860"/>
            <a:ext cx="8185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+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temperature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 rot="180000">
            <a:off x="3054355" y="4219801"/>
            <a:ext cx="467784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000" dirty="0">
                <a:latin typeface="Arial"/>
                <a:cs typeface="Arial"/>
              </a:rPr>
              <a:t>+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salary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99732" y="4322728"/>
            <a:ext cx="1403350" cy="150495"/>
            <a:chOff x="2599732" y="4322728"/>
            <a:chExt cx="1403350" cy="150495"/>
          </a:xfrm>
        </p:grpSpPr>
        <p:sp>
          <p:nvSpPr>
            <p:cNvPr id="27" name="object 27"/>
            <p:cNvSpPr/>
            <p:nvPr/>
          </p:nvSpPr>
          <p:spPr>
            <a:xfrm>
              <a:off x="2604494" y="4327491"/>
              <a:ext cx="1351280" cy="125095"/>
            </a:xfrm>
            <a:custGeom>
              <a:avLst/>
              <a:gdLst/>
              <a:ahLst/>
              <a:cxnLst/>
              <a:rect l="l" t="t" r="r" b="b"/>
              <a:pathLst>
                <a:path w="1351279" h="125095">
                  <a:moveTo>
                    <a:pt x="0" y="0"/>
                  </a:moveTo>
                  <a:lnTo>
                    <a:pt x="1350697" y="1249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53742" y="4436766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324"/>
                  </a:moveTo>
                  <a:lnTo>
                    <a:pt x="2899" y="0"/>
                  </a:lnTo>
                  <a:lnTo>
                    <a:pt x="44474" y="19649"/>
                  </a:lnTo>
                  <a:lnTo>
                    <a:pt x="0" y="313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3742" y="4436766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324"/>
                  </a:moveTo>
                  <a:lnTo>
                    <a:pt x="44474" y="19649"/>
                  </a:lnTo>
                  <a:lnTo>
                    <a:pt x="2899" y="0"/>
                  </a:lnTo>
                  <a:lnTo>
                    <a:pt x="0" y="313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 rot="300000">
            <a:off x="2982511" y="4394587"/>
            <a:ext cx="466562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000" dirty="0">
                <a:latin typeface="Arial"/>
                <a:cs typeface="Arial"/>
              </a:rPr>
              <a:t>+</a:t>
            </a:r>
            <a:r>
              <a:rPr sz="1000" spc="-1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salary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83289" y="4032108"/>
            <a:ext cx="14065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{heart </a:t>
            </a:r>
            <a:r>
              <a:rPr sz="1000" dirty="0">
                <a:latin typeface="Arial"/>
                <a:cs typeface="Arial"/>
              </a:rPr>
              <a:t>rate,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temperature}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83289" y="4184508"/>
            <a:ext cx="11645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{heart </a:t>
            </a:r>
            <a:r>
              <a:rPr sz="1000" dirty="0">
                <a:latin typeface="Arial"/>
                <a:cs typeface="Arial"/>
              </a:rPr>
              <a:t>rate,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salary}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{temperature,salary}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617488" y="4097429"/>
            <a:ext cx="694690" cy="41275"/>
            <a:chOff x="5617488" y="4097429"/>
            <a:chExt cx="694690" cy="41275"/>
          </a:xfrm>
        </p:grpSpPr>
        <p:sp>
          <p:nvSpPr>
            <p:cNvPr id="34" name="object 34"/>
            <p:cNvSpPr/>
            <p:nvPr/>
          </p:nvSpPr>
          <p:spPr>
            <a:xfrm>
              <a:off x="5617488" y="4117916"/>
              <a:ext cx="647065" cy="0"/>
            </a:xfrm>
            <a:custGeom>
              <a:avLst/>
              <a:gdLst/>
              <a:ahLst/>
              <a:cxnLst/>
              <a:rect l="l" t="t" r="r" b="b"/>
              <a:pathLst>
                <a:path w="647064">
                  <a:moveTo>
                    <a:pt x="0" y="0"/>
                  </a:moveTo>
                  <a:lnTo>
                    <a:pt x="6466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64137" y="41021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64137" y="41021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655759" y="3920428"/>
            <a:ext cx="5651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cov(A)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&lt;c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334701" y="4279853"/>
            <a:ext cx="1255395" cy="206375"/>
            <a:chOff x="5334701" y="4279853"/>
            <a:chExt cx="1255395" cy="206375"/>
          </a:xfrm>
        </p:grpSpPr>
        <p:sp>
          <p:nvSpPr>
            <p:cNvPr id="39" name="object 39"/>
            <p:cNvSpPr/>
            <p:nvPr/>
          </p:nvSpPr>
          <p:spPr>
            <a:xfrm>
              <a:off x="6394487" y="42846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94487" y="42846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39464" y="4465416"/>
              <a:ext cx="1202690" cy="0"/>
            </a:xfrm>
            <a:custGeom>
              <a:avLst/>
              <a:gdLst/>
              <a:ahLst/>
              <a:cxnLst/>
              <a:rect l="l" t="t" r="r" b="b"/>
              <a:pathLst>
                <a:path w="1202690">
                  <a:moveTo>
                    <a:pt x="0" y="0"/>
                  </a:moveTo>
                  <a:lnTo>
                    <a:pt x="12025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42012" y="44496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42012" y="444969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274639" y="4122958"/>
            <a:ext cx="1132840" cy="33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790" algn="l"/>
                <a:tab pos="1119505" algn="l"/>
              </a:tabLst>
            </a:pPr>
            <a:r>
              <a:rPr sz="1000" u="sng" dirty="0">
                <a:uFill>
                  <a:solidFill>
                    <a:srgbClr val="59595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000" u="sng" dirty="0"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cov(A) </a:t>
            </a:r>
            <a:r>
              <a:rPr sz="1000" u="sng" dirty="0">
                <a:solidFill>
                  <a:srgbClr val="424242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≥</a:t>
            </a:r>
            <a:r>
              <a:rPr sz="1000" spc="-1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000" u="sng" dirty="0"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c	</a:t>
            </a:r>
            <a:endParaRPr sz="1000">
              <a:latin typeface="Arial"/>
              <a:cs typeface="Arial"/>
            </a:endParaRPr>
          </a:p>
          <a:p>
            <a:pPr marL="367665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Arial"/>
                <a:cs typeface="Arial"/>
              </a:rPr>
              <a:t>cov(A) </a:t>
            </a:r>
            <a:r>
              <a:rPr sz="1000" u="sng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≥</a:t>
            </a:r>
            <a:r>
              <a:rPr sz="1000" spc="-4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996063" y="3766092"/>
            <a:ext cx="299185" cy="25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721613" y="4202510"/>
            <a:ext cx="11645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{heart </a:t>
            </a:r>
            <a:r>
              <a:rPr sz="1000" dirty="0">
                <a:latin typeface="Arial"/>
                <a:cs typeface="Arial"/>
              </a:rPr>
              <a:t>rate,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salary}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{temperature,salary}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57062" y="3956717"/>
            <a:ext cx="339725" cy="692150"/>
            <a:chOff x="6357062" y="3956717"/>
            <a:chExt cx="339725" cy="692150"/>
          </a:xfrm>
        </p:grpSpPr>
        <p:sp>
          <p:nvSpPr>
            <p:cNvPr id="48" name="object 48"/>
            <p:cNvSpPr/>
            <p:nvPr/>
          </p:nvSpPr>
          <p:spPr>
            <a:xfrm>
              <a:off x="6357062" y="3956717"/>
              <a:ext cx="230699" cy="2306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411537" y="4208866"/>
              <a:ext cx="285224" cy="4394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3068868" y="2432582"/>
            <a:ext cx="2105120" cy="26598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6962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Optimizing</a:t>
            </a:r>
            <a:r>
              <a:rPr sz="2800" spc="-254" dirty="0"/>
              <a:t> </a:t>
            </a:r>
            <a:r>
              <a:rPr sz="2800" spc="-5" dirty="0"/>
              <a:t>Precisions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5380355" cy="222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Optimizing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cov(A) ≥</a:t>
            </a:r>
            <a:r>
              <a:rPr sz="1400" spc="-3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212725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2) Optimizing precision with prec(A)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≥ τ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and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confidence 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at least</a:t>
            </a:r>
            <a:r>
              <a:rPr sz="1400" u="heavy" spc="-10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</a:t>
            </a:r>
            <a:r>
              <a:rPr sz="1400" spc="-9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har char="○"/>
            </a:pPr>
            <a:endParaRPr sz="1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○"/>
            </a:pPr>
            <a:endParaRPr sz="22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Precisions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Formulate it 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Multi-armed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bandit optimization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81968" y="2493953"/>
            <a:ext cx="2493240" cy="2658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5486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Multi-Armed </a:t>
            </a:r>
            <a:r>
              <a:rPr sz="2800" spc="-10" dirty="0"/>
              <a:t>Bandit</a:t>
            </a:r>
            <a:r>
              <a:rPr sz="2800" spc="-100" dirty="0"/>
              <a:t> </a:t>
            </a:r>
            <a:r>
              <a:rPr sz="2800" spc="-5" dirty="0"/>
              <a:t>Problem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2573951" y="3641792"/>
            <a:ext cx="3674735" cy="976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8419" y="1152472"/>
            <a:ext cx="3558642" cy="2276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70120" y="4552018"/>
            <a:ext cx="25914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5" dirty="0">
                <a:latin typeface="Arial"/>
                <a:cs typeface="Arial"/>
              </a:rPr>
              <a:t>Reward Distribution of Each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Arm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162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Exploration </a:t>
            </a:r>
            <a:r>
              <a:rPr sz="2800" spc="-5" dirty="0"/>
              <a:t>and </a:t>
            </a:r>
            <a:r>
              <a:rPr sz="2800" spc="-10" dirty="0"/>
              <a:t>Exploitation</a:t>
            </a:r>
            <a:r>
              <a:rPr sz="2800" spc="-110" dirty="0"/>
              <a:t> </a:t>
            </a:r>
            <a:r>
              <a:rPr sz="2800" spc="-20" dirty="0"/>
              <a:t>Trade-offs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4013611" y="2093466"/>
            <a:ext cx="4290411" cy="19644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6059" y="1812632"/>
            <a:ext cx="3269418" cy="25284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848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Optimizing</a:t>
            </a:r>
            <a:r>
              <a:rPr sz="2800" spc="-254" dirty="0"/>
              <a:t> </a:t>
            </a:r>
            <a:r>
              <a:rPr sz="2800" spc="-5" dirty="0"/>
              <a:t>Precisions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5380355" cy="307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Optimizing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cov(A) ≥</a:t>
            </a:r>
            <a:r>
              <a:rPr sz="1400" spc="-3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212725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2) Optimizing precision with prec(A)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≥ τ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and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confidence 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at least</a:t>
            </a:r>
            <a:r>
              <a:rPr sz="1400" u="heavy" spc="-10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</a:t>
            </a:r>
            <a:r>
              <a:rPr sz="1400" spc="-9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har char="○"/>
            </a:pPr>
            <a:endParaRPr sz="1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har char="○"/>
            </a:pPr>
            <a:endParaRPr sz="13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Precisions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Formulate it 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Multi-armed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bandit optimization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Find 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candidates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τ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Using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minimal costs (number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of pulls of the</a:t>
            </a:r>
            <a:r>
              <a:rPr sz="1400" spc="-7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arms)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candidate solution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an</a:t>
            </a:r>
            <a:r>
              <a:rPr sz="14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Prec(A)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single sample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the latent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reward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11892" y="2493953"/>
            <a:ext cx="2493240" cy="2658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7769" y="4308816"/>
            <a:ext cx="1309370" cy="0"/>
          </a:xfrm>
          <a:custGeom>
            <a:avLst/>
            <a:gdLst/>
            <a:ahLst/>
            <a:cxnLst/>
            <a:rect l="l" t="t" r="r" b="b"/>
            <a:pathLst>
              <a:path w="1309370">
                <a:moveTo>
                  <a:pt x="0" y="0"/>
                </a:moveTo>
                <a:lnTo>
                  <a:pt x="1308897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2716200" y="3535200"/>
              <a:ext cx="2234160" cy="3571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8640" y="3524400"/>
                <a:ext cx="2250720" cy="37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772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Optimizing</a:t>
            </a:r>
            <a:r>
              <a:rPr sz="2800" spc="-254" dirty="0"/>
              <a:t> </a:t>
            </a:r>
            <a:r>
              <a:rPr sz="2800" spc="-5" dirty="0"/>
              <a:t>Precisions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729220" cy="332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14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Optimizing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cov(A) ≥</a:t>
            </a:r>
            <a:r>
              <a:rPr sz="1400" spc="-2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2561590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2) Optimizing precision with prec(A)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≥ τ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and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confidence 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at least</a:t>
            </a:r>
            <a:r>
              <a:rPr sz="1400" u="heavy" spc="-10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3) Update the optimal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solution</a:t>
            </a:r>
            <a:r>
              <a:rPr sz="1400" spc="-8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har char="○"/>
            </a:pPr>
            <a:endParaRPr sz="15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har char="○"/>
            </a:pPr>
            <a:endParaRPr sz="13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Optimizing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Precisions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Formulate it 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Multi-armed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bandit optimization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Find 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candidates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</a:t>
            </a:r>
            <a:r>
              <a:rPr sz="1400" spc="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τ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Using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minimal costs (number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of pulls of the</a:t>
            </a:r>
            <a:r>
              <a:rPr sz="1400" spc="-3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arms)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candidate solution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an</a:t>
            </a:r>
            <a:r>
              <a:rPr sz="1400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Prec(A)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single sample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the latent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reward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Return the top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K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arms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(i.e.,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A) with the highest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reward (Prec(A))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that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satisfies</a:t>
            </a:r>
            <a:r>
              <a:rPr sz="1400" spc="-15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0394" y="4552131"/>
            <a:ext cx="29857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100"/>
              </a:spcBef>
              <a:buChar char="■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τ, P(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τ)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</a:t>
            </a:r>
            <a:r>
              <a:rPr sz="1400" spc="-5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11892" y="2493953"/>
            <a:ext cx="2493240" cy="2658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5438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Generating </a:t>
            </a:r>
            <a:r>
              <a:rPr sz="2800" spc="-10" dirty="0"/>
              <a:t>Anchors </a:t>
            </a:r>
            <a:r>
              <a:rPr sz="2800" dirty="0"/>
              <a:t>- </a:t>
            </a:r>
            <a:r>
              <a:rPr sz="2800" spc="-5" dirty="0"/>
              <a:t>Update Optimal</a:t>
            </a:r>
            <a:r>
              <a:rPr sz="2800" spc="-405" dirty="0"/>
              <a:t> </a:t>
            </a:r>
            <a:r>
              <a:rPr sz="2800" spc="-5" dirty="0"/>
              <a:t>A*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5172075" cy="287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424242"/>
                </a:solidFill>
                <a:latin typeface="Arial"/>
                <a:cs typeface="Arial"/>
              </a:rPr>
              <a:t>Searching for the Optimal</a:t>
            </a:r>
            <a:r>
              <a:rPr sz="1800" spc="-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24242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1) Optimizing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cov(A) ≥</a:t>
            </a:r>
            <a:r>
              <a:rPr sz="1400" spc="-3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2) Optimizing precision with prec(A)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≥ τ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424242"/>
                </a:solidFill>
                <a:latin typeface="Arial"/>
                <a:cs typeface="Arial"/>
              </a:rPr>
              <a:t>confidence 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at least</a:t>
            </a:r>
            <a:r>
              <a:rPr sz="1400" spc="-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24242"/>
                </a:solidFill>
                <a:latin typeface="Arial"/>
                <a:cs typeface="Arial"/>
              </a:rPr>
              <a:t>1-δ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ts val="16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3) Update the optimal </a:t>
            </a:r>
            <a:r>
              <a:rPr sz="1400" u="heavy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solution</a:t>
            </a:r>
            <a:r>
              <a:rPr sz="1400" u="heavy" spc="-80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cs typeface="Arial"/>
              </a:rPr>
              <a:t>A*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○"/>
            </a:pPr>
            <a:endParaRPr sz="135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A*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the top-k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returned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r>
              <a:rPr sz="14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2)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Find the best A* based on the Coverage</a:t>
            </a:r>
            <a:r>
              <a:rPr sz="1400"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criteria</a:t>
            </a:r>
            <a:endParaRPr sz="14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buClr>
                <a:srgbClr val="595959"/>
              </a:buClr>
              <a:buFont typeface="Arial"/>
              <a:buChar char="■"/>
            </a:pPr>
            <a:endParaRPr sz="15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Clr>
                <a:srgbClr val="595959"/>
              </a:buClr>
              <a:buFont typeface="Arial"/>
              <a:buChar char="■"/>
            </a:pPr>
            <a:endParaRPr sz="21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Loop into the next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7753" y="3508342"/>
            <a:ext cx="3650232" cy="248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813175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Precision </a:t>
            </a:r>
            <a:r>
              <a:rPr sz="2800" spc="-5" dirty="0"/>
              <a:t>and</a:t>
            </a:r>
            <a:r>
              <a:rPr sz="2800" spc="-85" dirty="0"/>
              <a:t> </a:t>
            </a:r>
            <a:r>
              <a:rPr sz="2800" spc="-5" dirty="0"/>
              <a:t>Coverage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4308542" y="1551322"/>
            <a:ext cx="4292296" cy="2546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0671" y="2600994"/>
            <a:ext cx="1967446" cy="248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47932" y="1827921"/>
            <a:ext cx="2493255" cy="2437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1723" y="1361230"/>
            <a:ext cx="7817484" cy="313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Precision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75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Coverage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595959"/>
              </a:buClr>
              <a:buFont typeface="Arial"/>
              <a:buChar char="●"/>
            </a:pPr>
            <a:endParaRPr sz="175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Limes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ts val="1664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lime-n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Naive LIME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400">
              <a:latin typeface="Arial"/>
              <a:cs typeface="Arial"/>
            </a:endParaRPr>
          </a:p>
          <a:p>
            <a:pPr marL="836294" marR="4474845" lvl="1" indent="-336550">
              <a:lnSpc>
                <a:spcPts val="1650"/>
              </a:lnSpc>
              <a:spcBef>
                <a:spcPts val="6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lime-t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Make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predictions only  when its predictive probability is  above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threshold</a:t>
            </a:r>
            <a:endParaRPr sz="1400">
              <a:latin typeface="Arial"/>
              <a:cs typeface="Arial"/>
            </a:endParaRPr>
          </a:p>
          <a:p>
            <a:pPr marL="4126865" algn="ctr">
              <a:lnSpc>
                <a:spcPts val="1130"/>
              </a:lnSpc>
            </a:pPr>
            <a:r>
              <a:rPr sz="1200" spc="-5" dirty="0">
                <a:latin typeface="Arial"/>
                <a:cs typeface="Arial"/>
              </a:rPr>
              <a:t>logistic: logistic </a:t>
            </a:r>
            <a:r>
              <a:rPr sz="1200" dirty="0">
                <a:latin typeface="Arial"/>
                <a:cs typeface="Arial"/>
              </a:rPr>
              <a:t>regression, </a:t>
            </a:r>
            <a:r>
              <a:rPr sz="1200" spc="-5" dirty="0">
                <a:latin typeface="Arial"/>
                <a:cs typeface="Arial"/>
              </a:rPr>
              <a:t>gbt: gradient boosted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trees</a:t>
            </a:r>
            <a:endParaRPr sz="1200">
              <a:latin typeface="Arial"/>
              <a:cs typeface="Arial"/>
            </a:endParaRPr>
          </a:p>
          <a:p>
            <a:pPr marL="4127500" algn="ctr">
              <a:lnSpc>
                <a:spcPts val="1430"/>
              </a:lnSpc>
            </a:pPr>
            <a:r>
              <a:rPr sz="1200" spc="-5" dirty="0">
                <a:latin typeface="Arial"/>
                <a:cs typeface="Arial"/>
              </a:rPr>
              <a:t>nn: two layers of 50 units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MLP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6576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User</a:t>
            </a:r>
            <a:r>
              <a:rPr sz="2800" spc="-90" dirty="0"/>
              <a:t> </a:t>
            </a:r>
            <a:r>
              <a:rPr sz="2800" spc="-5" dirty="0"/>
              <a:t>Study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8049259" cy="13525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Guess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Outcomes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After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Explanations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Human annotators are 26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students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who took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machine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course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Calculate precision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coverage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the users'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performance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Human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mark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"I don't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know"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when they are 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certain,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makes coverage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perceived  one.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4704" y="2694368"/>
            <a:ext cx="7278077" cy="1520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92747" y="4385669"/>
            <a:ext cx="3111500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LIME(n): </a:t>
            </a:r>
            <a:r>
              <a:rPr sz="1200" dirty="0">
                <a:latin typeface="Arial"/>
                <a:cs typeface="Arial"/>
              </a:rPr>
              <a:t>results </a:t>
            </a:r>
            <a:r>
              <a:rPr sz="1200" spc="-5" dirty="0">
                <a:latin typeface="Arial"/>
                <a:cs typeface="Arial"/>
              </a:rPr>
              <a:t>after </a:t>
            </a:r>
            <a:r>
              <a:rPr sz="1200" dirty="0">
                <a:latin typeface="Arial"/>
                <a:cs typeface="Arial"/>
              </a:rPr>
              <a:t>n </a:t>
            </a:r>
            <a:r>
              <a:rPr sz="1200" spc="-5" dirty="0">
                <a:latin typeface="Arial"/>
                <a:cs typeface="Arial"/>
              </a:rPr>
              <a:t>LIME explanations  Anchor(n): </a:t>
            </a:r>
            <a:r>
              <a:rPr sz="1200" dirty="0">
                <a:latin typeface="Arial"/>
                <a:cs typeface="Arial"/>
              </a:rPr>
              <a:t>results </a:t>
            </a:r>
            <a:r>
              <a:rPr sz="1200" spc="-5" dirty="0">
                <a:latin typeface="Arial"/>
                <a:cs typeface="Arial"/>
              </a:rPr>
              <a:t>after </a:t>
            </a:r>
            <a:r>
              <a:rPr sz="1200" dirty="0">
                <a:latin typeface="Arial"/>
                <a:cs typeface="Arial"/>
              </a:rPr>
              <a:t>n </a:t>
            </a:r>
            <a:r>
              <a:rPr sz="1200" spc="-5" dirty="0">
                <a:latin typeface="Arial"/>
                <a:cs typeface="Arial"/>
              </a:rPr>
              <a:t>Anchor</a:t>
            </a:r>
            <a:r>
              <a:rPr sz="1200" spc="-16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explanations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3810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User </a:t>
            </a:r>
            <a:r>
              <a:rPr sz="2800" spc="-10" dirty="0"/>
              <a:t>Study</a:t>
            </a:r>
            <a:r>
              <a:rPr sz="2800" spc="-90" dirty="0"/>
              <a:t> </a:t>
            </a:r>
            <a:r>
              <a:rPr sz="2800" spc="-5" dirty="0"/>
              <a:t>Results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62309"/>
            <a:ext cx="7528559" cy="11049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Coverage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number of explanations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seen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user.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gradient boosted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trees(gb)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Submodular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Pick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Random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8874" y="2499825"/>
            <a:ext cx="5550039" cy="23830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65456"/>
            <a:ext cx="1457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04800" y="438150"/>
            <a:ext cx="41910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Comparisons to</a:t>
            </a:r>
            <a:r>
              <a:rPr sz="2800" spc="-95" dirty="0"/>
              <a:t> </a:t>
            </a:r>
            <a:r>
              <a:rPr sz="2800" spc="-5" dirty="0"/>
              <a:t>LIME</a:t>
            </a:r>
            <a:endParaRPr sz="28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1911" y="1585784"/>
          <a:ext cx="8036559" cy="25958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23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LIME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Anchors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6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Explanations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Anchors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6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Optimization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Target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259712" y="3587541"/>
            <a:ext cx="2090208" cy="342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6643" y="3624186"/>
            <a:ext cx="2661254" cy="3690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90242" y="2771974"/>
            <a:ext cx="1264362" cy="2272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343400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Comparisons to</a:t>
            </a:r>
            <a:r>
              <a:rPr sz="2800" spc="-95" dirty="0"/>
              <a:t> </a:t>
            </a:r>
            <a:r>
              <a:rPr sz="2800" spc="-5" dirty="0"/>
              <a:t>LIME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906986" y="2006255"/>
            <a:ext cx="3320815" cy="26202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17610" y="1870822"/>
            <a:ext cx="2991478" cy="2622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4548139" cy="452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Overly </a:t>
            </a:r>
            <a:r>
              <a:rPr sz="2800" spc="-10" dirty="0"/>
              <a:t>Specific</a:t>
            </a:r>
            <a:r>
              <a:rPr sz="2800" spc="-250" dirty="0"/>
              <a:t> </a:t>
            </a:r>
            <a:r>
              <a:rPr sz="2800" spc="-5" dirty="0"/>
              <a:t>Anchors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679314" y="1819255"/>
            <a:ext cx="3414858" cy="2309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48139" y="2703072"/>
            <a:ext cx="3851432" cy="14785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30060" y="4582298"/>
            <a:ext cx="14573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Ribeiro el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24499</TotalTime>
  <Words>6054</Words>
  <Application>Microsoft Office PowerPoint</Application>
  <PresentationFormat>On-screen Show (16:9)</PresentationFormat>
  <Paragraphs>1158</Paragraphs>
  <Slides>145</Slides>
  <Notes>2</Notes>
  <HiddenSlides>61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145</vt:i4>
      </vt:variant>
    </vt:vector>
  </HeadingPairs>
  <TitlesOfParts>
    <vt:vector size="156" baseType="lpstr">
      <vt:lpstr>AoyagiKouzanFontT</vt:lpstr>
      <vt:lpstr>Arial</vt:lpstr>
      <vt:lpstr>Calibri</vt:lpstr>
      <vt:lpstr>Carlito</vt:lpstr>
      <vt:lpstr>kiloji</vt:lpstr>
      <vt:lpstr>Symbola</vt:lpstr>
      <vt:lpstr>Tahoma</vt:lpstr>
      <vt:lpstr>Times New Roman</vt:lpstr>
      <vt:lpstr>Trebuchet MS</vt:lpstr>
      <vt:lpstr>Verdana</vt:lpstr>
      <vt:lpstr>3_Office Theme</vt:lpstr>
      <vt:lpstr>Fair, Accountable, Transparent Machine Learning (FAccT ML) ZG517 </vt:lpstr>
      <vt:lpstr>PowerPoint Presentation</vt:lpstr>
      <vt:lpstr>Outline</vt:lpstr>
      <vt:lpstr>Machine Learning Interpretability</vt:lpstr>
      <vt:lpstr>VGG19 Architecture</vt:lpstr>
      <vt:lpstr>Visualizations of GoogLeNet</vt:lpstr>
      <vt:lpstr>Regulating AI Models for Trading</vt:lpstr>
      <vt:lpstr>Precision Medicine (Caruana et al., 2015)</vt:lpstr>
      <vt:lpstr>Medical Imaging (Sundararajan et al., 2017)</vt:lpstr>
      <vt:lpstr>Legal Tool Explanation (Tan et al., 2018)</vt:lpstr>
      <vt:lpstr>Question Answering (Seo et al, 2017)</vt:lpstr>
      <vt:lpstr>Image Caption Generation (Selvaraju et al., 2017)</vt:lpstr>
      <vt:lpstr>Reasons for ML Interpretability</vt:lpstr>
      <vt:lpstr>Right to Explanation</vt:lpstr>
      <vt:lpstr>Surge in Explainable Research (Arrieta et al., 2019)</vt:lpstr>
      <vt:lpstr>Outline</vt:lpstr>
      <vt:lpstr>Intrinsically interpretable models</vt:lpstr>
      <vt:lpstr>Linear Regression</vt:lpstr>
      <vt:lpstr>Decision Trees</vt:lpstr>
      <vt:lpstr>K-Nearest Neighbors</vt:lpstr>
      <vt:lpstr>PowerPoint Presentation</vt:lpstr>
      <vt:lpstr>Outline</vt:lpstr>
      <vt:lpstr>Sparsity</vt:lpstr>
      <vt:lpstr>Sparsity for Interpretable Linear Regression</vt:lpstr>
      <vt:lpstr>Interpretable Neural Embeddings (Subramanian et al., 2018)</vt:lpstr>
      <vt:lpstr>Interpretable Neural Embeddings (Subramanian et al., 2018)</vt:lpstr>
      <vt:lpstr>Interpretable Neural Embeddings (Subramanian et al., 2018)</vt:lpstr>
      <vt:lpstr>Clustering of Words for the Top Participating Dimension</vt:lpstr>
      <vt:lpstr>Performance on Intrusion Detection Test</vt:lpstr>
      <vt:lpstr>Regularization for Saliency Maps (Plumb et al, 2019)</vt:lpstr>
      <vt:lpstr>Regularization for Saliency Maps (Plumb et al, 2019)</vt:lpstr>
      <vt:lpstr>Regularization for Saliency Maps (Plumb et al, 2019)</vt:lpstr>
      <vt:lpstr>Regularization for Saliency Maps (Plumb et al, 2019)</vt:lpstr>
      <vt:lpstr>Bayesian Deep Learning</vt:lpstr>
      <vt:lpstr>Epistemic and Heteroscedastic Uncertainty (Kendall et al, 2017)</vt:lpstr>
      <vt:lpstr>Neural Modular Networks (Andreas et al, 2016)</vt:lpstr>
      <vt:lpstr>Neural Modular Networks (Andreas et al, 2016)</vt:lpstr>
      <vt:lpstr>Neural Modular Networks (Andreas et al, 2016)</vt:lpstr>
      <vt:lpstr>Neural Modular Networks (Andreas et al, 2016)</vt:lpstr>
      <vt:lpstr>Neural Logic Induction Learning (Yang el al, 2020)</vt:lpstr>
      <vt:lpstr>Neural Basis Expansion (Oreshkin el al, 2020)</vt:lpstr>
      <vt:lpstr>Neural Basis Expansion (Oreshkin el al, 2020)</vt:lpstr>
      <vt:lpstr>Outline</vt:lpstr>
      <vt:lpstr>Intrinsic and Post Hoc Interpretability</vt:lpstr>
      <vt:lpstr>Post Hoc Interpretability</vt:lpstr>
      <vt:lpstr>Model Specific and Model Agnostic Methods</vt:lpstr>
      <vt:lpstr>Global and Local Interpretability</vt:lpstr>
      <vt:lpstr>Global Interpretability</vt:lpstr>
      <vt:lpstr>Local Interpretability</vt:lpstr>
      <vt:lpstr>Local Interpretability</vt:lpstr>
      <vt:lpstr>An Ontology of AI Explainability (ADADI el al, 2018)</vt:lpstr>
      <vt:lpstr>The Big Picture</vt:lpstr>
      <vt:lpstr>Interpretability and Performance Trade-offs</vt:lpstr>
      <vt:lpstr>Interpretability and Performance Trade-offs (Arrieta et al., 2019)</vt:lpstr>
      <vt:lpstr>PowerPoint Presentation</vt:lpstr>
      <vt:lpstr>Evaluations for Interpretability (Finale Doshi-Velez et al, 2017)</vt:lpstr>
      <vt:lpstr>Application-Grounded Evaluation</vt:lpstr>
      <vt:lpstr>Human-Grounded Evaluation</vt:lpstr>
      <vt:lpstr>Functionally-Grounded Evaluation</vt:lpstr>
      <vt:lpstr>Proxy Methods for Post Hoc  Interpretability</vt:lpstr>
      <vt:lpstr>Post Hoc Interpretability</vt:lpstr>
      <vt:lpstr>Proxy Models for Post Hoc Interpretability</vt:lpstr>
      <vt:lpstr>Proxy Methods for Post Hoc Interpretability</vt:lpstr>
      <vt:lpstr>PowerPoint Presentation</vt:lpstr>
      <vt:lpstr>PowerPoint Presentation</vt:lpstr>
      <vt:lpstr>Local Surrogate Methods</vt:lpstr>
      <vt:lpstr>Local Surrogate Methods</vt:lpstr>
      <vt:lpstr>Local Surrogate Methods</vt:lpstr>
      <vt:lpstr>Local Interpretable Model-agnostic Explanations (LIME)</vt:lpstr>
      <vt:lpstr>LIME</vt:lpstr>
      <vt:lpstr>Linear Explainable Model</vt:lpstr>
      <vt:lpstr>Linear Explainable Model</vt:lpstr>
      <vt:lpstr>Linear Explainable Model</vt:lpstr>
      <vt:lpstr>PowerPoint Presentation</vt:lpstr>
      <vt:lpstr>PowerPoint Presentation</vt:lpstr>
      <vt:lpstr>PowerPoint Presentation</vt:lpstr>
      <vt:lpstr>Explaining Google InceptionNet</vt:lpstr>
      <vt:lpstr>Example for Bad ML Predictions</vt:lpstr>
      <vt:lpstr>Explaining Text Classifiers</vt:lpstr>
      <vt:lpstr>Faithfulness of Explanations</vt:lpstr>
      <vt:lpstr>Faithfulness of Explanations</vt:lpstr>
      <vt:lpstr>Trustworthiness for ML Models</vt:lpstr>
      <vt:lpstr>Trustworthiness for Explanations</vt:lpstr>
      <vt:lpstr>Trustworthiness of Predictions</vt:lpstr>
      <vt:lpstr>Explaining Multiple Samples</vt:lpstr>
      <vt:lpstr>Explaining Multiple Samples – Submodular Pick </vt:lpstr>
      <vt:lpstr>Explaining Multiple Samples</vt:lpstr>
      <vt:lpstr>Greedy Algorithm for Sample Selection</vt:lpstr>
      <vt:lpstr>Theoretical Guarantees on Performance</vt:lpstr>
      <vt:lpstr>Human Experiments</vt:lpstr>
      <vt:lpstr>Human Experiments - Select the Best Classifier</vt:lpstr>
      <vt:lpstr>Improving Models Through ML Interpretability</vt:lpstr>
      <vt:lpstr>Faithfulness of Model Explanations</vt:lpstr>
      <vt:lpstr>PowerPoint Presentation</vt:lpstr>
      <vt:lpstr>Local Surrogate Methods</vt:lpstr>
      <vt:lpstr>Local Surrogate Methods</vt:lpstr>
      <vt:lpstr>Local Surrogate Methods</vt:lpstr>
      <vt:lpstr>Local Interpretable Model-agnostic Explanations (LIME)</vt:lpstr>
      <vt:lpstr>LIME</vt:lpstr>
      <vt:lpstr>Linear Explainable Model</vt:lpstr>
      <vt:lpstr>Linear Explainable Model</vt:lpstr>
      <vt:lpstr>Linear Explainable Model</vt:lpstr>
      <vt:lpstr>Training Objective for LIME</vt:lpstr>
      <vt:lpstr>Explaining Google InceptionNet</vt:lpstr>
      <vt:lpstr>Example for Bad ML Predictions</vt:lpstr>
      <vt:lpstr>Explaining Text Classifiers</vt:lpstr>
      <vt:lpstr>Faithfulness of Explanations</vt:lpstr>
      <vt:lpstr>Faithfulness of Explanations</vt:lpstr>
      <vt:lpstr>Trustworthiness for ML Models</vt:lpstr>
      <vt:lpstr>Trustworthiness for Explanations</vt:lpstr>
      <vt:lpstr>Trustworthiness of Predictions</vt:lpstr>
      <vt:lpstr>Explaining Multiple Samples</vt:lpstr>
      <vt:lpstr>Explaining Multiple Samples</vt:lpstr>
      <vt:lpstr>Explaining Multiple Samples</vt:lpstr>
      <vt:lpstr>Greedy Algorithm for Sample Selection</vt:lpstr>
      <vt:lpstr>Theoretical Guarantees on Performance</vt:lpstr>
      <vt:lpstr>Human Experiments</vt:lpstr>
      <vt:lpstr>Human Experiments - Select the Best Classifier</vt:lpstr>
      <vt:lpstr>Improving Models Through ML Interpretability</vt:lpstr>
      <vt:lpstr>Faithfulness of Model Explanations</vt:lpstr>
      <vt:lpstr>Outline</vt:lpstr>
      <vt:lpstr>Rule Based Explainers</vt:lpstr>
      <vt:lpstr>Anchors</vt:lpstr>
      <vt:lpstr>Anchors</vt:lpstr>
      <vt:lpstr>Formal Definitions of Anchors</vt:lpstr>
      <vt:lpstr>Formal Definitions of Anchors</vt:lpstr>
      <vt:lpstr>Anchors for Part of Speech Tagging</vt:lpstr>
      <vt:lpstr>Anchors for Machine Translation</vt:lpstr>
      <vt:lpstr>Anchors for Image Classification (InceptionV3)</vt:lpstr>
      <vt:lpstr>Anchors for Visual Question Answering (VQA)</vt:lpstr>
      <vt:lpstr>Generating Anchors</vt:lpstr>
      <vt:lpstr>Generating Anchors</vt:lpstr>
      <vt:lpstr>Generating Anchors - Optimizing Coverage</vt:lpstr>
      <vt:lpstr>Generating Anchors - Optimizing Precisions</vt:lpstr>
      <vt:lpstr>Multi-Armed Bandit Problem</vt:lpstr>
      <vt:lpstr>Exploration and Exploitation Trade-offs</vt:lpstr>
      <vt:lpstr>Generating Anchors - Optimizing Precisions</vt:lpstr>
      <vt:lpstr>Generating Anchors - Optimizing Precisions</vt:lpstr>
      <vt:lpstr>Generating Anchors - Update Optimal A*</vt:lpstr>
      <vt:lpstr>Precision and Coverage</vt:lpstr>
      <vt:lpstr>User Study</vt:lpstr>
      <vt:lpstr>User Study Results</vt:lpstr>
      <vt:lpstr>Comparisons to LIME</vt:lpstr>
      <vt:lpstr>Comparisons to LIME</vt:lpstr>
      <vt:lpstr>Overly Specific Anchors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BITS</cp:lastModifiedBy>
  <cp:revision>115</cp:revision>
  <dcterms:created xsi:type="dcterms:W3CDTF">2021-03-10T15:42:36Z</dcterms:created>
  <dcterms:modified xsi:type="dcterms:W3CDTF">2025-07-05T05:36:47Z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