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10" r:id="rId2"/>
    <p:sldId id="311" r:id="rId3"/>
    <p:sldId id="312" r:id="rId4"/>
    <p:sldId id="313" r:id="rId5"/>
    <p:sldId id="314" r:id="rId6"/>
    <p:sldId id="315" r:id="rId7"/>
    <p:sldId id="316" r:id="rId8"/>
    <p:sldId id="317" r:id="rId9"/>
    <p:sldId id="318" r:id="rId10"/>
    <p:sldId id="319" r:id="rId11"/>
    <p:sldId id="320" r:id="rId12"/>
    <p:sldId id="321" r:id="rId13"/>
    <p:sldId id="322" r:id="rId14"/>
    <p:sldId id="323" r:id="rId15"/>
    <p:sldId id="324" r:id="rId16"/>
    <p:sldId id="325" r:id="rId17"/>
    <p:sldId id="331" r:id="rId18"/>
    <p:sldId id="326" r:id="rId19"/>
    <p:sldId id="333" r:id="rId20"/>
    <p:sldId id="332" r:id="rId21"/>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61" autoAdjust="0"/>
    <p:restoredTop sz="94660"/>
  </p:normalViewPr>
  <p:slideViewPr>
    <p:cSldViewPr>
      <p:cViewPr varScale="1">
        <p:scale>
          <a:sx n="83" d="100"/>
          <a:sy n="83" d="100"/>
        </p:scale>
        <p:origin x="900" y="52"/>
      </p:cViewPr>
      <p:guideLst>
        <p:guide orient="horz" pos="2880"/>
        <p:guide pos="216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0" i="0">
                <a:solidFill>
                  <a:schemeClr val="tx1"/>
                </a:solidFill>
                <a:latin typeface="Arial"/>
                <a:cs typeface="Arial"/>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06743" y="1091181"/>
            <a:ext cx="7330512" cy="1608455"/>
          </a:xfrm>
          <a:prstGeom prst="rect">
            <a:avLst/>
          </a:prstGeom>
        </p:spPr>
        <p:txBody>
          <a:bodyPr wrap="square" lIns="0" tIns="0" rIns="0" bIns="0">
            <a:spAutoFit/>
          </a:bodyPr>
          <a:lstStyle>
            <a:lvl1pPr>
              <a:defRPr sz="5200" b="0" i="0">
                <a:solidFill>
                  <a:schemeClr val="tx1"/>
                </a:solidFill>
                <a:latin typeface="Arial"/>
                <a:cs typeface="Arial"/>
              </a:defRPr>
            </a:lvl1pPr>
          </a:lstStyle>
          <a:p>
            <a:endParaRPr/>
          </a:p>
        </p:txBody>
      </p:sp>
      <p:sp>
        <p:nvSpPr>
          <p:cNvPr id="3" name="Holder 3"/>
          <p:cNvSpPr>
            <a:spLocks noGrp="1"/>
          </p:cNvSpPr>
          <p:nvPr>
            <p:ph type="body" idx="1"/>
          </p:nvPr>
        </p:nvSpPr>
        <p:spPr>
          <a:xfrm>
            <a:off x="947735" y="1804983"/>
            <a:ext cx="6633845" cy="267398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image" Target="../media/image7.jpeg"/><Relationship Id="rId1" Type="http://schemas.openxmlformats.org/officeDocument/2006/relationships/slideLayout" Target="../slideLayouts/slideLayout5.xml"/><Relationship Id="rId6" Type="http://schemas.openxmlformats.org/officeDocument/2006/relationships/image" Target="../media/image11.jpeg"/><Relationship Id="rId11" Type="http://schemas.openxmlformats.org/officeDocument/2006/relationships/image" Target="../media/image16.png"/><Relationship Id="rId5" Type="http://schemas.openxmlformats.org/officeDocument/2006/relationships/image" Target="../media/image10.jpeg"/><Relationship Id="rId10" Type="http://schemas.openxmlformats.org/officeDocument/2006/relationships/image" Target="../media/image15.jpeg"/><Relationship Id="rId4" Type="http://schemas.openxmlformats.org/officeDocument/2006/relationships/image" Target="../media/image9.jpeg"/><Relationship Id="rId9" Type="http://schemas.openxmlformats.org/officeDocument/2006/relationships/image" Target="../media/image14.jpe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1500" y="401925"/>
            <a:ext cx="8001000" cy="4339650"/>
          </a:xfrm>
          <a:prstGeom prst="rect">
            <a:avLst/>
          </a:prstGeom>
          <a:noFill/>
        </p:spPr>
        <p:txBody>
          <a:bodyPr wrap="square" rtlCol="0">
            <a:spAutoFit/>
          </a:bodyPr>
          <a:lstStyle/>
          <a:p>
            <a:r>
              <a:rPr lang="en-US" sz="2400" b="1" dirty="0" err="1"/>
              <a:t>Compre</a:t>
            </a:r>
            <a:r>
              <a:rPr lang="en-US" sz="2400" b="1" dirty="0"/>
              <a:t> Tips</a:t>
            </a:r>
            <a:endParaRPr lang="en-US" dirty="0"/>
          </a:p>
          <a:p>
            <a:pPr marL="285750" indent="-285750">
              <a:buFont typeface="Arial" panose="020B0604020202020204" pitchFamily="34" charset="0"/>
              <a:buChar char="•"/>
            </a:pPr>
            <a:r>
              <a:rPr lang="en-US" dirty="0"/>
              <a:t>Focus on both pre-</a:t>
            </a:r>
            <a:r>
              <a:rPr lang="en-US" dirty="0" err="1"/>
              <a:t>midsem</a:t>
            </a:r>
            <a:r>
              <a:rPr lang="en-US" dirty="0"/>
              <a:t> and post-</a:t>
            </a:r>
            <a:r>
              <a:rPr lang="en-US" dirty="0" err="1"/>
              <a:t>midsem</a:t>
            </a:r>
            <a:r>
              <a:rPr lang="en-US" dirty="0"/>
              <a:t> topics</a:t>
            </a:r>
          </a:p>
          <a:p>
            <a:pPr marL="742950" lvl="1" indent="-285750">
              <a:buFont typeface="Arial" panose="020B0604020202020204" pitchFamily="34" charset="0"/>
              <a:buChar char="•"/>
            </a:pPr>
            <a:r>
              <a:rPr lang="en-US" dirty="0"/>
              <a:t>Approximately 10-20% pre-</a:t>
            </a:r>
            <a:r>
              <a:rPr lang="en-US" dirty="0" err="1"/>
              <a:t>midsem</a:t>
            </a:r>
            <a:r>
              <a:rPr lang="en-US" dirty="0"/>
              <a:t> topics</a:t>
            </a:r>
          </a:p>
          <a:p>
            <a:pPr marL="742950" lvl="1" indent="-285750">
              <a:buFont typeface="Arial" panose="020B0604020202020204" pitchFamily="34" charset="0"/>
              <a:buChar char="•"/>
            </a:pPr>
            <a:r>
              <a:rPr lang="en-US" dirty="0"/>
              <a:t>80-90% post </a:t>
            </a:r>
            <a:r>
              <a:rPr lang="en-US" dirty="0" err="1"/>
              <a:t>midsem</a:t>
            </a:r>
            <a:r>
              <a:rPr lang="en-US" dirty="0"/>
              <a:t> topics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Among post </a:t>
            </a:r>
            <a:r>
              <a:rPr lang="en-US" dirty="0" err="1"/>
              <a:t>midsem</a:t>
            </a:r>
            <a:r>
              <a:rPr lang="en-US" dirty="0"/>
              <a:t> topics, focus on LIME, Shapley/SHAP and gradient based techniques for visualization/robustness/privacy </a:t>
            </a:r>
          </a:p>
          <a:p>
            <a:pPr marL="285750" indent="-285750">
              <a:buFont typeface="Arial" panose="020B0604020202020204" pitchFamily="34" charset="0"/>
              <a:buChar char="•"/>
            </a:pPr>
            <a:r>
              <a:rPr lang="en-US" dirty="0"/>
              <a:t>Among pre </a:t>
            </a:r>
            <a:r>
              <a:rPr lang="en-US" dirty="0" err="1"/>
              <a:t>midsem</a:t>
            </a:r>
            <a:r>
              <a:rPr lang="en-US" dirty="0"/>
              <a:t> topics, focus on fairness metrics, preprocessing, counterfactuals and debiasing for NLP/vision.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Review problems discussed in class / </a:t>
            </a:r>
            <a:r>
              <a:rPr lang="en-US" dirty="0" err="1"/>
              <a:t>midsem</a:t>
            </a:r>
            <a:r>
              <a:rPr lang="en-US" dirty="0"/>
              <a:t> solutions and in this deck (problems from previous papers)</a:t>
            </a:r>
          </a:p>
          <a:p>
            <a:pPr marL="285750" indent="-285750">
              <a:buFont typeface="Arial" panose="020B0604020202020204" pitchFamily="34" charset="0"/>
              <a:buChar char="•"/>
            </a:pPr>
            <a:r>
              <a:rPr lang="en-US" dirty="0"/>
              <a:t>Expected to use basic concepts from ML/DNN courses (e.g., loss function, weighted regression, minimization of loss functions, backprop, SGD etc.)</a:t>
            </a:r>
          </a:p>
          <a:p>
            <a:pPr marL="285750" indent="-285750">
              <a:buFont typeface="Arial" panose="020B0604020202020204" pitchFamily="34" charset="0"/>
              <a:buChar char="•"/>
            </a:pPr>
            <a:r>
              <a:rPr lang="en-US" b="1" dirty="0">
                <a:solidFill>
                  <a:srgbClr val="FF0000"/>
                </a:solidFill>
              </a:rPr>
              <a:t>Note: This deck will not be included in BITS watermarked exam materials!!!</a:t>
            </a:r>
            <a:endParaRPr lang="en-IN" b="1"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590550"/>
            <a:ext cx="7620000" cy="1685077"/>
          </a:xfrm>
          <a:prstGeom prst="rect">
            <a:avLst/>
          </a:prstGeom>
        </p:spPr>
        <p:txBody>
          <a:bodyPr wrap="square">
            <a:spAutoFit/>
          </a:bodyPr>
          <a:lstStyle/>
          <a:p>
            <a:pPr lvl="0" algn="just">
              <a:lnSpc>
                <a:spcPct val="115000"/>
              </a:lnSpc>
              <a:spcAft>
                <a:spcPts val="0"/>
              </a:spcAft>
            </a:pPr>
            <a:r>
              <a:rPr lang="en-US" dirty="0">
                <a:latin typeface="Calibri" panose="020F0502020204030204" pitchFamily="34" charset="0"/>
                <a:ea typeface="Calibri" panose="020F0502020204030204" pitchFamily="34" charset="0"/>
                <a:cs typeface="Calibri" panose="020F0502020204030204" pitchFamily="34" charset="0"/>
              </a:rPr>
              <a:t>Consider DP-SGD is being used to train a logistic regression based classifier of the form, output = 1/(1+exp(-w0-w1*x1-w2*x2)). All parameters w0, w1 and w2 of the classifier are initialized to 0. Mini-batch size is chosen to be 4, and gradient norm bound is chosen to be 0.6. What will be the expected value of gradient vector after first iteration? Show all calculation steps clearly.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611213367"/>
              </p:ext>
            </p:extLst>
          </p:nvPr>
        </p:nvGraphicFramePr>
        <p:xfrm>
          <a:off x="1744980" y="2419350"/>
          <a:ext cx="5806440" cy="2115566"/>
        </p:xfrm>
        <a:graphic>
          <a:graphicData uri="http://schemas.openxmlformats.org/drawingml/2006/table">
            <a:tbl>
              <a:tblPr firstRow="1" firstCol="1" bandRow="1">
                <a:tableStyleId>{5C22544A-7EE6-4342-B048-85BDC9FD1C3A}</a:tableStyleId>
              </a:tblPr>
              <a:tblGrid>
                <a:gridCol w="1457960">
                  <a:extLst>
                    <a:ext uri="{9D8B030D-6E8A-4147-A177-3AD203B41FA5}">
                      <a16:colId xmlns:a16="http://schemas.microsoft.com/office/drawing/2014/main" val="20000"/>
                    </a:ext>
                  </a:extLst>
                </a:gridCol>
                <a:gridCol w="1457960">
                  <a:extLst>
                    <a:ext uri="{9D8B030D-6E8A-4147-A177-3AD203B41FA5}">
                      <a16:colId xmlns:a16="http://schemas.microsoft.com/office/drawing/2014/main" val="20001"/>
                    </a:ext>
                  </a:extLst>
                </a:gridCol>
                <a:gridCol w="1464945">
                  <a:extLst>
                    <a:ext uri="{9D8B030D-6E8A-4147-A177-3AD203B41FA5}">
                      <a16:colId xmlns:a16="http://schemas.microsoft.com/office/drawing/2014/main" val="20002"/>
                    </a:ext>
                  </a:extLst>
                </a:gridCol>
                <a:gridCol w="1425575">
                  <a:extLst>
                    <a:ext uri="{9D8B030D-6E8A-4147-A177-3AD203B41FA5}">
                      <a16:colId xmlns:a16="http://schemas.microsoft.com/office/drawing/2014/main" val="20003"/>
                    </a:ext>
                  </a:extLst>
                </a:gridCol>
              </a:tblGrid>
              <a:tr h="0">
                <a:tc>
                  <a:txBody>
                    <a:bodyPr/>
                    <a:lstStyle/>
                    <a:p>
                      <a:pPr marL="457200" algn="ctr">
                        <a:lnSpc>
                          <a:spcPct val="115000"/>
                        </a:lnSpc>
                        <a:spcAft>
                          <a:spcPts val="0"/>
                        </a:spcAft>
                      </a:pPr>
                      <a:r>
                        <a:rPr lang="en-US" sz="1800" dirty="0">
                          <a:effectLst/>
                        </a:rPr>
                        <a:t>Data Instance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Input x1</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Input x2</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Target 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a:txBody>
                    <a:bodyPr/>
                    <a:lstStyle/>
                    <a:p>
                      <a:pPr marL="457200" algn="ctr">
                        <a:lnSpc>
                          <a:spcPct val="115000"/>
                        </a:lnSpc>
                        <a:spcAft>
                          <a:spcPts val="0"/>
                        </a:spcAft>
                      </a:pPr>
                      <a:r>
                        <a:rPr lang="en-US" sz="1800">
                          <a:effectLst/>
                        </a:rPr>
                        <a:t>1</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0</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0</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0</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0">
                <a:tc>
                  <a:txBody>
                    <a:bodyPr/>
                    <a:lstStyle/>
                    <a:p>
                      <a:pPr marL="457200" algn="ctr">
                        <a:lnSpc>
                          <a:spcPct val="115000"/>
                        </a:lnSpc>
                        <a:spcAft>
                          <a:spcPts val="0"/>
                        </a:spcAft>
                      </a:pPr>
                      <a:r>
                        <a:rPr lang="en-US" sz="1800">
                          <a:effectLst/>
                        </a:rPr>
                        <a:t>2</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0</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1</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0</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0">
                <a:tc>
                  <a:txBody>
                    <a:bodyPr/>
                    <a:lstStyle/>
                    <a:p>
                      <a:pPr marL="457200" algn="ctr">
                        <a:lnSpc>
                          <a:spcPct val="115000"/>
                        </a:lnSpc>
                        <a:spcAft>
                          <a:spcPts val="0"/>
                        </a:spcAft>
                      </a:pPr>
                      <a:r>
                        <a:rPr lang="en-US" sz="1800">
                          <a:effectLst/>
                        </a:rPr>
                        <a:t>3</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1</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0</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0</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0">
                <a:tc>
                  <a:txBody>
                    <a:bodyPr/>
                    <a:lstStyle/>
                    <a:p>
                      <a:pPr marL="457200" algn="ctr">
                        <a:lnSpc>
                          <a:spcPct val="115000"/>
                        </a:lnSpc>
                        <a:spcAft>
                          <a:spcPts val="0"/>
                        </a:spcAft>
                      </a:pPr>
                      <a:r>
                        <a:rPr lang="en-US" sz="1800">
                          <a:effectLst/>
                        </a:rPr>
                        <a:t>4</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1</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1</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1</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
        <p:nvSpPr>
          <p:cNvPr id="4" name="Rectangle 1"/>
          <p:cNvSpPr>
            <a:spLocks noChangeArrowheads="1"/>
          </p:cNvSpPr>
          <p:nvPr/>
        </p:nvSpPr>
        <p:spPr bwMode="auto">
          <a:xfrm>
            <a:off x="1600200" y="241935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250377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080189141"/>
              </p:ext>
            </p:extLst>
          </p:nvPr>
        </p:nvGraphicFramePr>
        <p:xfrm>
          <a:off x="914400" y="666750"/>
          <a:ext cx="7543800" cy="3583316"/>
        </p:xfrm>
        <a:graphic>
          <a:graphicData uri="http://schemas.openxmlformats.org/drawingml/2006/table">
            <a:tbl>
              <a:tblPr firstRow="1" firstCol="1" bandRow="1">
                <a:tableStyleId>{5C22544A-7EE6-4342-B048-85BDC9FD1C3A}</a:tableStyleId>
              </a:tblPr>
              <a:tblGrid>
                <a:gridCol w="8382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8382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gridCol w="838200">
                  <a:extLst>
                    <a:ext uri="{9D8B030D-6E8A-4147-A177-3AD203B41FA5}">
                      <a16:colId xmlns:a16="http://schemas.microsoft.com/office/drawing/2014/main" val="20008"/>
                    </a:ext>
                  </a:extLst>
                </a:gridCol>
                <a:gridCol w="838200">
                  <a:extLst>
                    <a:ext uri="{9D8B030D-6E8A-4147-A177-3AD203B41FA5}">
                      <a16:colId xmlns:a16="http://schemas.microsoft.com/office/drawing/2014/main" val="20009"/>
                    </a:ext>
                  </a:extLst>
                </a:gridCol>
              </a:tblGrid>
              <a:tr h="304800">
                <a:tc>
                  <a:txBody>
                    <a:bodyPr/>
                    <a:lstStyle/>
                    <a:p>
                      <a:endParaRPr lang="en-IN" sz="1100" dirty="0">
                        <a:effectLst/>
                        <a:latin typeface="Times New Roman" panose="02020603050405020304" pitchFamily="18" charset="0"/>
                      </a:endParaRPr>
                    </a:p>
                  </a:txBody>
                  <a:tcPr marL="61317" marR="61317" marT="0" marB="0" anchor="b"/>
                </a:tc>
                <a:tc>
                  <a:txBody>
                    <a:bodyPr/>
                    <a:lstStyle/>
                    <a:p>
                      <a:endParaRPr lang="en-IN" sz="1100" dirty="0">
                        <a:effectLst/>
                        <a:latin typeface="Times New Roman" panose="02020603050405020304" pitchFamily="18" charset="0"/>
                      </a:endParaRPr>
                    </a:p>
                  </a:txBody>
                  <a:tcPr marL="61317" marR="61317" marT="0" marB="0" anchor="b"/>
                </a:tc>
                <a:tc>
                  <a:txBody>
                    <a:bodyPr/>
                    <a:lstStyle/>
                    <a:p>
                      <a:endParaRPr lang="en-IN" sz="1100" dirty="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pPr>
                        <a:spcAft>
                          <a:spcPts val="0"/>
                        </a:spcAft>
                      </a:pPr>
                      <a:r>
                        <a:rPr lang="en-US" sz="1600" dirty="0">
                          <a:effectLst/>
                        </a:rPr>
                        <a:t>w0</a:t>
                      </a:r>
                      <a:endParaRPr lang="en-IN" sz="2000" dirty="0">
                        <a:effectLst/>
                        <a:latin typeface="Times New Roman" panose="02020603050405020304" pitchFamily="18" charset="0"/>
                        <a:ea typeface="Times New Roman" panose="02020603050405020304" pitchFamily="18" charset="0"/>
                      </a:endParaRPr>
                    </a:p>
                  </a:txBody>
                  <a:tcPr marL="61317" marR="61317" marT="0" marB="0" anchor="b"/>
                </a:tc>
                <a:tc>
                  <a:txBody>
                    <a:bodyPr/>
                    <a:lstStyle/>
                    <a:p>
                      <a:pPr>
                        <a:spcAft>
                          <a:spcPts val="0"/>
                        </a:spcAft>
                      </a:pPr>
                      <a:r>
                        <a:rPr lang="en-US" sz="1600" dirty="0">
                          <a:effectLst/>
                        </a:rPr>
                        <a:t>w1</a:t>
                      </a:r>
                      <a:endParaRPr lang="en-IN" sz="2000" dirty="0">
                        <a:effectLst/>
                        <a:latin typeface="Times New Roman" panose="02020603050405020304" pitchFamily="18" charset="0"/>
                        <a:ea typeface="Times New Roman" panose="02020603050405020304" pitchFamily="18" charset="0"/>
                      </a:endParaRPr>
                    </a:p>
                  </a:txBody>
                  <a:tcPr marL="61317" marR="61317" marT="0" marB="0" anchor="b"/>
                </a:tc>
                <a:tc>
                  <a:txBody>
                    <a:bodyPr/>
                    <a:lstStyle/>
                    <a:p>
                      <a:pPr>
                        <a:spcAft>
                          <a:spcPts val="0"/>
                        </a:spcAft>
                      </a:pPr>
                      <a:r>
                        <a:rPr lang="en-US" sz="1600" dirty="0">
                          <a:effectLst/>
                        </a:rPr>
                        <a:t>w2</a:t>
                      </a:r>
                      <a:endParaRPr lang="en-IN" sz="2000" dirty="0">
                        <a:effectLst/>
                        <a:latin typeface="Times New Roman" panose="02020603050405020304" pitchFamily="18" charset="0"/>
                        <a:ea typeface="Times New Roman" panose="02020603050405020304" pitchFamily="18" charset="0"/>
                      </a:endParaRPr>
                    </a:p>
                  </a:txBody>
                  <a:tcPr marL="61317" marR="61317" marT="0" marB="0" anchor="b"/>
                </a:tc>
                <a:tc>
                  <a:txBody>
                    <a:bodyPr/>
                    <a:lstStyle/>
                    <a:p>
                      <a:endParaRPr lang="en-IN" sz="1100" dirty="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extLst>
                  <a:ext uri="{0D108BD9-81ED-4DB2-BD59-A6C34878D82A}">
                    <a16:rowId xmlns:a16="http://schemas.microsoft.com/office/drawing/2014/main" val="10000"/>
                  </a:ext>
                </a:extLst>
              </a:tr>
              <a:tr h="304800">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dirty="0">
                        <a:effectLst/>
                        <a:latin typeface="Times New Roman" panose="02020603050405020304" pitchFamily="18" charset="0"/>
                      </a:endParaRPr>
                    </a:p>
                  </a:txBody>
                  <a:tcPr marL="61317" marR="61317" marT="0" marB="0" anchor="b"/>
                </a:tc>
                <a:tc>
                  <a:txBody>
                    <a:bodyPr/>
                    <a:lstStyle/>
                    <a:p>
                      <a:endParaRPr lang="en-IN" sz="1100" dirty="0">
                        <a:effectLst/>
                        <a:latin typeface="Times New Roman" panose="02020603050405020304" pitchFamily="18" charset="0"/>
                      </a:endParaRPr>
                    </a:p>
                  </a:txBody>
                  <a:tcPr marL="61317" marR="61317" marT="0" marB="0" anchor="b"/>
                </a:tc>
                <a:tc>
                  <a:txBody>
                    <a:bodyPr/>
                    <a:lstStyle/>
                    <a:p>
                      <a:pPr algn="r">
                        <a:spcAft>
                          <a:spcPts val="0"/>
                        </a:spcAft>
                      </a:pPr>
                      <a:r>
                        <a:rPr lang="en-US" sz="1200" dirty="0">
                          <a:effectLst/>
                        </a:rPr>
                        <a:t>0</a:t>
                      </a:r>
                      <a:endParaRPr lang="en-IN" sz="1600" dirty="0">
                        <a:effectLst/>
                        <a:latin typeface="Times New Roman" panose="02020603050405020304" pitchFamily="18" charset="0"/>
                        <a:ea typeface="Times New Roman" panose="02020603050405020304" pitchFamily="18" charset="0"/>
                      </a:endParaRPr>
                    </a:p>
                  </a:txBody>
                  <a:tcPr marL="61317" marR="61317" marT="0" marB="0" anchor="b"/>
                </a:tc>
                <a:tc>
                  <a:txBody>
                    <a:bodyPr/>
                    <a:lstStyle/>
                    <a:p>
                      <a:pPr algn="r">
                        <a:spcAft>
                          <a:spcPts val="0"/>
                        </a:spcAft>
                      </a:pPr>
                      <a:r>
                        <a:rPr lang="en-US" sz="1200" dirty="0">
                          <a:effectLst/>
                        </a:rPr>
                        <a:t>0</a:t>
                      </a:r>
                      <a:endParaRPr lang="en-IN" sz="1600" dirty="0">
                        <a:effectLst/>
                        <a:latin typeface="Times New Roman" panose="02020603050405020304" pitchFamily="18" charset="0"/>
                        <a:ea typeface="Times New Roman" panose="02020603050405020304" pitchFamily="18" charset="0"/>
                      </a:endParaRPr>
                    </a:p>
                  </a:txBody>
                  <a:tcPr marL="61317" marR="61317" marT="0" marB="0" anchor="b"/>
                </a:tc>
                <a:tc>
                  <a:txBody>
                    <a:bodyPr/>
                    <a:lstStyle/>
                    <a:p>
                      <a:pPr algn="r">
                        <a:spcAft>
                          <a:spcPts val="0"/>
                        </a:spcAft>
                      </a:pPr>
                      <a:r>
                        <a:rPr lang="en-US" sz="1200" dirty="0">
                          <a:effectLst/>
                        </a:rPr>
                        <a:t>0</a:t>
                      </a:r>
                      <a:endParaRPr lang="en-IN" sz="1600" dirty="0">
                        <a:effectLst/>
                        <a:latin typeface="Times New Roman" panose="02020603050405020304" pitchFamily="18" charset="0"/>
                        <a:ea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extLst>
                  <a:ext uri="{0D108BD9-81ED-4DB2-BD59-A6C34878D82A}">
                    <a16:rowId xmlns:a16="http://schemas.microsoft.com/office/drawing/2014/main" val="10001"/>
                  </a:ext>
                </a:extLst>
              </a:tr>
              <a:tr h="1092941">
                <a:tc>
                  <a:txBody>
                    <a:bodyPr/>
                    <a:lstStyle/>
                    <a:p>
                      <a:pPr algn="ctr">
                        <a:spcAft>
                          <a:spcPts val="0"/>
                        </a:spcAft>
                      </a:pPr>
                      <a:r>
                        <a:rPr lang="en-US" sz="1600">
                          <a:effectLst/>
                        </a:rPr>
                        <a:t>Data Instance #</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a:effectLst/>
                        </a:rPr>
                        <a:t>Input x1</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a:effectLst/>
                        </a:rPr>
                        <a:t>Input x2</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a:effectLst/>
                        </a:rPr>
                        <a:t>Target y</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a:effectLst/>
                        </a:rPr>
                        <a:t>Actual Output</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dirty="0" err="1">
                          <a:effectLst/>
                        </a:rPr>
                        <a:t>dL</a:t>
                      </a:r>
                      <a:r>
                        <a:rPr lang="en-US" sz="1600" dirty="0">
                          <a:effectLst/>
                        </a:rPr>
                        <a:t>/dw0</a:t>
                      </a:r>
                      <a:endParaRPr lang="en-IN" sz="1600" dirty="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dirty="0" err="1">
                          <a:effectLst/>
                        </a:rPr>
                        <a:t>dL</a:t>
                      </a:r>
                      <a:r>
                        <a:rPr lang="en-US" sz="1600" dirty="0">
                          <a:effectLst/>
                        </a:rPr>
                        <a:t>/dw1</a:t>
                      </a:r>
                      <a:endParaRPr lang="en-IN" sz="1600" dirty="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dirty="0" err="1">
                          <a:effectLst/>
                        </a:rPr>
                        <a:t>dL</a:t>
                      </a:r>
                      <a:r>
                        <a:rPr lang="en-US" sz="1600" dirty="0">
                          <a:effectLst/>
                        </a:rPr>
                        <a:t>/dw2</a:t>
                      </a:r>
                      <a:endParaRPr lang="en-IN" sz="1600" dirty="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dirty="0">
                          <a:effectLst/>
                        </a:rPr>
                        <a:t>L2 norm of gradient</a:t>
                      </a:r>
                      <a:endParaRPr lang="en-IN" sz="1600" dirty="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dirty="0">
                          <a:effectLst/>
                        </a:rPr>
                        <a:t>Clipped L2 norm</a:t>
                      </a:r>
                      <a:endParaRPr lang="en-IN" sz="1600" dirty="0">
                        <a:effectLst/>
                        <a:latin typeface="Times New Roman" panose="02020603050405020304" pitchFamily="18" charset="0"/>
                        <a:ea typeface="Times New Roman" panose="02020603050405020304" pitchFamily="18" charset="0"/>
                      </a:endParaRPr>
                    </a:p>
                  </a:txBody>
                  <a:tcPr marL="61317" marR="61317" marT="0" marB="0" anchor="ctr"/>
                </a:tc>
                <a:extLst>
                  <a:ext uri="{0D108BD9-81ED-4DB2-BD59-A6C34878D82A}">
                    <a16:rowId xmlns:a16="http://schemas.microsoft.com/office/drawing/2014/main" val="10002"/>
                  </a:ext>
                </a:extLst>
              </a:tr>
              <a:tr h="244298">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a:effectLst/>
                        </a:rPr>
                        <a:t>0</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a:effectLst/>
                        </a:rPr>
                        <a:t>0</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a:effectLst/>
                        </a:rPr>
                        <a:t>0</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a:effectLst/>
                        </a:rPr>
                        <a:t>0.5</a:t>
                      </a:r>
                      <a:endParaRPr lang="en-IN" sz="1600">
                        <a:effectLst/>
                        <a:latin typeface="Times New Roman" panose="02020603050405020304" pitchFamily="18" charset="0"/>
                        <a:ea typeface="Times New Roman" panose="02020603050405020304" pitchFamily="18" charset="0"/>
                      </a:endParaRPr>
                    </a:p>
                  </a:txBody>
                  <a:tcPr marL="61317" marR="61317" marT="0" marB="0" anchor="b"/>
                </a:tc>
                <a:tc>
                  <a:txBody>
                    <a:bodyPr/>
                    <a:lstStyle/>
                    <a:p>
                      <a:pPr algn="r">
                        <a:spcAft>
                          <a:spcPts val="0"/>
                        </a:spcAft>
                      </a:pPr>
                      <a:r>
                        <a:rPr lang="en-US" sz="1200">
                          <a:effectLst/>
                        </a:rPr>
                        <a:t>0.5</a:t>
                      </a:r>
                      <a:endParaRPr lang="en-IN" sz="1600">
                        <a:effectLst/>
                        <a:latin typeface="Times New Roman" panose="02020603050405020304" pitchFamily="18" charset="0"/>
                        <a:ea typeface="Times New Roman" panose="02020603050405020304" pitchFamily="18" charset="0"/>
                      </a:endParaRPr>
                    </a:p>
                  </a:txBody>
                  <a:tcPr marL="61317" marR="61317" marT="0" marB="0" anchor="b"/>
                </a:tc>
                <a:tc>
                  <a:txBody>
                    <a:bodyPr/>
                    <a:lstStyle/>
                    <a:p>
                      <a:pPr algn="r">
                        <a:spcAft>
                          <a:spcPts val="0"/>
                        </a:spcAft>
                      </a:pPr>
                      <a:r>
                        <a:rPr lang="en-US" sz="1200">
                          <a:effectLst/>
                        </a:rPr>
                        <a:t>0</a:t>
                      </a:r>
                      <a:endParaRPr lang="en-IN" sz="1600">
                        <a:effectLst/>
                        <a:latin typeface="Times New Roman" panose="02020603050405020304" pitchFamily="18" charset="0"/>
                        <a:ea typeface="Times New Roman" panose="02020603050405020304" pitchFamily="18" charset="0"/>
                      </a:endParaRPr>
                    </a:p>
                  </a:txBody>
                  <a:tcPr marL="61317" marR="61317" marT="0" marB="0" anchor="b"/>
                </a:tc>
                <a:tc>
                  <a:txBody>
                    <a:bodyPr/>
                    <a:lstStyle/>
                    <a:p>
                      <a:pPr algn="r">
                        <a:spcAft>
                          <a:spcPts val="0"/>
                        </a:spcAft>
                      </a:pPr>
                      <a:r>
                        <a:rPr lang="en-US" sz="1200">
                          <a:effectLst/>
                        </a:rPr>
                        <a:t>0</a:t>
                      </a:r>
                      <a:endParaRPr lang="en-IN" sz="1600">
                        <a:effectLst/>
                        <a:latin typeface="Times New Roman" panose="02020603050405020304" pitchFamily="18" charset="0"/>
                        <a:ea typeface="Times New Roman" panose="02020603050405020304" pitchFamily="18" charset="0"/>
                      </a:endParaRPr>
                    </a:p>
                  </a:txBody>
                  <a:tcPr marL="61317" marR="61317" marT="0" marB="0" anchor="b"/>
                </a:tc>
                <a:tc>
                  <a:txBody>
                    <a:bodyPr/>
                    <a:lstStyle/>
                    <a:p>
                      <a:pPr algn="r">
                        <a:spcAft>
                          <a:spcPts val="0"/>
                        </a:spcAft>
                      </a:pPr>
                      <a:r>
                        <a:rPr lang="en-US" sz="1200">
                          <a:effectLst/>
                        </a:rPr>
                        <a:t>0.5</a:t>
                      </a:r>
                      <a:endParaRPr lang="en-IN" sz="1600">
                        <a:effectLst/>
                        <a:latin typeface="Times New Roman" panose="02020603050405020304" pitchFamily="18" charset="0"/>
                        <a:ea typeface="Times New Roman" panose="02020603050405020304" pitchFamily="18" charset="0"/>
                      </a:endParaRPr>
                    </a:p>
                  </a:txBody>
                  <a:tcPr marL="61317" marR="61317" marT="0" marB="0" anchor="b"/>
                </a:tc>
                <a:tc>
                  <a:txBody>
                    <a:bodyPr/>
                    <a:lstStyle/>
                    <a:p>
                      <a:pPr algn="r">
                        <a:spcAft>
                          <a:spcPts val="0"/>
                        </a:spcAft>
                      </a:pPr>
                      <a:r>
                        <a:rPr lang="en-US" sz="1200" dirty="0">
                          <a:effectLst/>
                        </a:rPr>
                        <a:t>0.5</a:t>
                      </a:r>
                      <a:endParaRPr lang="en-IN" sz="1600" dirty="0">
                        <a:effectLst/>
                        <a:latin typeface="Times New Roman" panose="02020603050405020304" pitchFamily="18" charset="0"/>
                        <a:ea typeface="Times New Roman" panose="02020603050405020304" pitchFamily="18" charset="0"/>
                      </a:endParaRPr>
                    </a:p>
                  </a:txBody>
                  <a:tcPr marL="61317" marR="61317" marT="0" marB="0" anchor="b"/>
                </a:tc>
                <a:extLst>
                  <a:ext uri="{0D108BD9-81ED-4DB2-BD59-A6C34878D82A}">
                    <a16:rowId xmlns:a16="http://schemas.microsoft.com/office/drawing/2014/main" val="10003"/>
                  </a:ext>
                </a:extLst>
              </a:tr>
              <a:tr h="397433">
                <a:tc>
                  <a:txBody>
                    <a:bodyPr/>
                    <a:lstStyle/>
                    <a:p>
                      <a:pPr algn="ctr">
                        <a:spcAft>
                          <a:spcPts val="0"/>
                        </a:spcAft>
                      </a:pPr>
                      <a:r>
                        <a:rPr lang="en-US" sz="1600">
                          <a:effectLst/>
                        </a:rPr>
                        <a:t>2</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a:effectLst/>
                        </a:rPr>
                        <a:t>0</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a:effectLst/>
                        </a:rPr>
                        <a:t>0</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dirty="0">
                          <a:effectLst/>
                        </a:rPr>
                        <a:t>0.5</a:t>
                      </a:r>
                      <a:endParaRPr lang="en-IN" sz="1600" dirty="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dirty="0">
                          <a:effectLst/>
                        </a:rPr>
                        <a:t>0.5</a:t>
                      </a:r>
                      <a:endParaRPr lang="en-IN" sz="1600" dirty="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a:effectLst/>
                        </a:rPr>
                        <a:t>0</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a:effectLst/>
                        </a:rPr>
                        <a:t>0.5</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a:effectLst/>
                        </a:rPr>
                        <a:t>0.707107</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a:effectLst/>
                        </a:rPr>
                        <a:t>0.6</a:t>
                      </a:r>
                      <a:endParaRPr lang="en-IN" sz="1600">
                        <a:effectLst/>
                        <a:latin typeface="Times New Roman" panose="02020603050405020304" pitchFamily="18" charset="0"/>
                        <a:ea typeface="Times New Roman" panose="02020603050405020304" pitchFamily="18" charset="0"/>
                      </a:endParaRPr>
                    </a:p>
                  </a:txBody>
                  <a:tcPr marL="61317" marR="61317" marT="0" marB="0" anchor="b"/>
                </a:tc>
                <a:extLst>
                  <a:ext uri="{0D108BD9-81ED-4DB2-BD59-A6C34878D82A}">
                    <a16:rowId xmlns:a16="http://schemas.microsoft.com/office/drawing/2014/main" val="10004"/>
                  </a:ext>
                </a:extLst>
              </a:tr>
              <a:tr h="397433">
                <a:tc>
                  <a:txBody>
                    <a:bodyPr/>
                    <a:lstStyle/>
                    <a:p>
                      <a:pPr algn="ctr">
                        <a:spcAft>
                          <a:spcPts val="0"/>
                        </a:spcAft>
                      </a:pPr>
                      <a:r>
                        <a:rPr lang="en-US" sz="1600">
                          <a:effectLst/>
                        </a:rPr>
                        <a:t>3</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a:effectLst/>
                        </a:rPr>
                        <a:t>0</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a:effectLst/>
                        </a:rPr>
                        <a:t>0</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a:effectLst/>
                        </a:rPr>
                        <a:t>0.5</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dirty="0">
                          <a:effectLst/>
                        </a:rPr>
                        <a:t>0.5</a:t>
                      </a:r>
                      <a:endParaRPr lang="en-IN" sz="1600" dirty="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dirty="0">
                          <a:effectLst/>
                        </a:rPr>
                        <a:t>0.5</a:t>
                      </a:r>
                      <a:endParaRPr lang="en-IN" sz="1600" dirty="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a:effectLst/>
                        </a:rPr>
                        <a:t>0</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a:effectLst/>
                        </a:rPr>
                        <a:t>0.707107</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a:effectLst/>
                        </a:rPr>
                        <a:t>0.6</a:t>
                      </a:r>
                      <a:endParaRPr lang="en-IN" sz="1600">
                        <a:effectLst/>
                        <a:latin typeface="Times New Roman" panose="02020603050405020304" pitchFamily="18" charset="0"/>
                        <a:ea typeface="Times New Roman" panose="02020603050405020304" pitchFamily="18" charset="0"/>
                      </a:endParaRPr>
                    </a:p>
                  </a:txBody>
                  <a:tcPr marL="61317" marR="61317" marT="0" marB="0" anchor="b"/>
                </a:tc>
                <a:extLst>
                  <a:ext uri="{0D108BD9-81ED-4DB2-BD59-A6C34878D82A}">
                    <a16:rowId xmlns:a16="http://schemas.microsoft.com/office/drawing/2014/main" val="10005"/>
                  </a:ext>
                </a:extLst>
              </a:tr>
              <a:tr h="397433">
                <a:tc>
                  <a:txBody>
                    <a:bodyPr/>
                    <a:lstStyle/>
                    <a:p>
                      <a:pPr algn="ctr">
                        <a:spcAft>
                          <a:spcPts val="0"/>
                        </a:spcAft>
                      </a:pPr>
                      <a:r>
                        <a:rPr lang="en-US" sz="1600">
                          <a:effectLst/>
                        </a:rPr>
                        <a:t>4</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a:effectLst/>
                        </a:rPr>
                        <a:t>0.5</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a:effectLst/>
                        </a:rPr>
                        <a:t>-0.5</a:t>
                      </a:r>
                      <a:endParaRPr lang="en-IN" sz="160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dirty="0">
                          <a:effectLst/>
                        </a:rPr>
                        <a:t>-0.5</a:t>
                      </a:r>
                      <a:endParaRPr lang="en-IN" sz="1600" dirty="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dirty="0">
                          <a:effectLst/>
                        </a:rPr>
                        <a:t>-0.5</a:t>
                      </a:r>
                      <a:endParaRPr lang="en-IN" sz="1600" dirty="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dirty="0">
                          <a:effectLst/>
                        </a:rPr>
                        <a:t>0.866025</a:t>
                      </a:r>
                      <a:endParaRPr lang="en-IN" sz="1600" dirty="0">
                        <a:effectLst/>
                        <a:latin typeface="Times New Roman" panose="02020603050405020304" pitchFamily="18" charset="0"/>
                        <a:ea typeface="Times New Roman" panose="02020603050405020304" pitchFamily="18" charset="0"/>
                      </a:endParaRPr>
                    </a:p>
                  </a:txBody>
                  <a:tcPr marL="61317" marR="61317" marT="0" marB="0" anchor="ctr"/>
                </a:tc>
                <a:tc>
                  <a:txBody>
                    <a:bodyPr/>
                    <a:lstStyle/>
                    <a:p>
                      <a:pPr algn="r">
                        <a:spcAft>
                          <a:spcPts val="0"/>
                        </a:spcAft>
                      </a:pPr>
                      <a:r>
                        <a:rPr lang="en-US" sz="1200">
                          <a:effectLst/>
                        </a:rPr>
                        <a:t>0.6</a:t>
                      </a:r>
                      <a:endParaRPr lang="en-IN" sz="1600">
                        <a:effectLst/>
                        <a:latin typeface="Times New Roman" panose="02020603050405020304" pitchFamily="18" charset="0"/>
                        <a:ea typeface="Times New Roman" panose="02020603050405020304" pitchFamily="18" charset="0"/>
                      </a:endParaRPr>
                    </a:p>
                  </a:txBody>
                  <a:tcPr marL="61317" marR="61317" marT="0" marB="0" anchor="b"/>
                </a:tc>
                <a:extLst>
                  <a:ext uri="{0D108BD9-81ED-4DB2-BD59-A6C34878D82A}">
                    <a16:rowId xmlns:a16="http://schemas.microsoft.com/office/drawing/2014/main" val="10006"/>
                  </a:ext>
                </a:extLst>
              </a:tr>
              <a:tr h="222089">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pPr algn="r">
                        <a:spcAft>
                          <a:spcPts val="0"/>
                        </a:spcAft>
                      </a:pPr>
                      <a:r>
                        <a:rPr lang="en-US" sz="1200" b="1" dirty="0">
                          <a:solidFill>
                            <a:srgbClr val="FF0000"/>
                          </a:solidFill>
                          <a:effectLst/>
                        </a:rPr>
                        <a:t>0.575</a:t>
                      </a:r>
                      <a:endParaRPr lang="en-IN" sz="1600" b="1" dirty="0">
                        <a:solidFill>
                          <a:srgbClr val="FF0000"/>
                        </a:solidFill>
                        <a:effectLst/>
                        <a:latin typeface="Times New Roman" panose="02020603050405020304" pitchFamily="18" charset="0"/>
                        <a:ea typeface="Times New Roman" panose="02020603050405020304" pitchFamily="18" charset="0"/>
                      </a:endParaRPr>
                    </a:p>
                  </a:txBody>
                  <a:tcPr marL="61317" marR="61317" marT="0" marB="0" anchor="b"/>
                </a:tc>
                <a:extLst>
                  <a:ext uri="{0D108BD9-81ED-4DB2-BD59-A6C34878D82A}">
                    <a16:rowId xmlns:a16="http://schemas.microsoft.com/office/drawing/2014/main" val="10007"/>
                  </a:ext>
                </a:extLst>
              </a:tr>
              <a:tr h="222089">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endParaRPr lang="en-IN" sz="1100">
                        <a:effectLst/>
                        <a:latin typeface="Times New Roman" panose="02020603050405020304" pitchFamily="18" charset="0"/>
                      </a:endParaRPr>
                    </a:p>
                  </a:txBody>
                  <a:tcPr marL="61317" marR="61317" marT="0" marB="0" anchor="b"/>
                </a:tc>
                <a:tc>
                  <a:txBody>
                    <a:bodyPr/>
                    <a:lstStyle/>
                    <a:p>
                      <a:pPr algn="ctr"/>
                      <a:r>
                        <a:rPr lang="en-US" sz="1100" b="1" dirty="0" err="1">
                          <a:solidFill>
                            <a:srgbClr val="FF0000"/>
                          </a:solidFill>
                          <a:effectLst/>
                          <a:latin typeface="Times New Roman" panose="02020603050405020304" pitchFamily="18" charset="0"/>
                        </a:rPr>
                        <a:t>Avg</a:t>
                      </a:r>
                      <a:r>
                        <a:rPr lang="en-US" sz="1100" b="1" dirty="0">
                          <a:solidFill>
                            <a:srgbClr val="FF0000"/>
                          </a:solidFill>
                          <a:effectLst/>
                          <a:latin typeface="Times New Roman" panose="02020603050405020304" pitchFamily="18" charset="0"/>
                        </a:rPr>
                        <a:t> grad</a:t>
                      </a:r>
                      <a:endParaRPr lang="en-IN" sz="1100" b="1" dirty="0">
                        <a:solidFill>
                          <a:srgbClr val="FF0000"/>
                        </a:solidFill>
                        <a:effectLst/>
                        <a:latin typeface="Times New Roman" panose="02020603050405020304" pitchFamily="18" charset="0"/>
                      </a:endParaRPr>
                    </a:p>
                  </a:txBody>
                  <a:tcPr marL="61317" marR="61317" marT="0" marB="0" anchor="b"/>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746413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590550"/>
            <a:ext cx="7543800" cy="1366528"/>
          </a:xfrm>
          <a:prstGeom prst="rect">
            <a:avLst/>
          </a:prstGeom>
        </p:spPr>
        <p:txBody>
          <a:bodyPr wrap="square">
            <a:spAutoFit/>
          </a:bodyPr>
          <a:lstStyle/>
          <a:p>
            <a:pPr lvl="0" algn="just">
              <a:lnSpc>
                <a:spcPct val="115000"/>
              </a:lnSpc>
              <a:spcAft>
                <a:spcPts val="0"/>
              </a:spcAft>
            </a:pPr>
            <a:r>
              <a:rPr lang="en-US" dirty="0">
                <a:latin typeface="Calibri" panose="020F0502020204030204" pitchFamily="34" charset="0"/>
                <a:ea typeface="Calibri" panose="020F0502020204030204" pitchFamily="34" charset="0"/>
                <a:cs typeface="Calibri" panose="020F0502020204030204" pitchFamily="34" charset="0"/>
              </a:rPr>
              <a:t>Assume federated learning setting with the following training set. Data instance # 1 and #4 are processed by first node and #2 and #3 are processing by the second node. All parameters are initialized to 0 and learning rate is 0.6. What will be the value of parameters after 1</a:t>
            </a:r>
            <a:r>
              <a:rPr lang="en-US" baseline="30000" dirty="0">
                <a:latin typeface="Calibri" panose="020F0502020204030204" pitchFamily="34" charset="0"/>
                <a:ea typeface="Calibri" panose="020F0502020204030204" pitchFamily="34" charset="0"/>
                <a:cs typeface="Calibri" panose="020F0502020204030204" pitchFamily="34" charset="0"/>
              </a:rPr>
              <a:t>st</a:t>
            </a:r>
            <a:r>
              <a:rPr lang="en-US" dirty="0">
                <a:latin typeface="Calibri" panose="020F0502020204030204" pitchFamily="34" charset="0"/>
                <a:ea typeface="Calibri" panose="020F0502020204030204" pitchFamily="34" charset="0"/>
                <a:cs typeface="Calibri" panose="020F0502020204030204" pitchFamily="34" charset="0"/>
              </a:rPr>
              <a:t> iteration if </a:t>
            </a:r>
            <a:r>
              <a:rPr lang="en-US" dirty="0" err="1">
                <a:latin typeface="Times New Roman" panose="02020603050405020304" pitchFamily="18" charset="0"/>
                <a:ea typeface="Times New Roman" panose="02020603050405020304" pitchFamily="18" charset="0"/>
                <a:cs typeface="Calibri" panose="020F0502020204030204" pitchFamily="34" charset="0"/>
              </a:rPr>
              <a:t>FedSGD</a:t>
            </a:r>
            <a:r>
              <a:rPr lang="en-US" dirty="0">
                <a:latin typeface="Times New Roman" panose="02020603050405020304" pitchFamily="18" charset="0"/>
                <a:ea typeface="Times New Roman" panose="02020603050405020304" pitchFamily="18" charset="0"/>
                <a:cs typeface="Calibri" panose="020F0502020204030204" pitchFamily="34" charset="0"/>
              </a:rPr>
              <a:t> is used?</a:t>
            </a:r>
            <a:endParaRPr lang="en-IN" dirty="0"/>
          </a:p>
        </p:txBody>
      </p:sp>
      <p:graphicFrame>
        <p:nvGraphicFramePr>
          <p:cNvPr id="3" name="Table 2"/>
          <p:cNvGraphicFramePr>
            <a:graphicFrameLocks noGrp="1"/>
          </p:cNvGraphicFramePr>
          <p:nvPr>
            <p:extLst>
              <p:ext uri="{D42A27DB-BD31-4B8C-83A1-F6EECF244321}">
                <p14:modId xmlns:p14="http://schemas.microsoft.com/office/powerpoint/2010/main" val="564878183"/>
              </p:ext>
            </p:extLst>
          </p:nvPr>
        </p:nvGraphicFramePr>
        <p:xfrm>
          <a:off x="1676400" y="2190750"/>
          <a:ext cx="5806440" cy="2115566"/>
        </p:xfrm>
        <a:graphic>
          <a:graphicData uri="http://schemas.openxmlformats.org/drawingml/2006/table">
            <a:tbl>
              <a:tblPr firstRow="1" firstCol="1" bandRow="1">
                <a:tableStyleId>{5C22544A-7EE6-4342-B048-85BDC9FD1C3A}</a:tableStyleId>
              </a:tblPr>
              <a:tblGrid>
                <a:gridCol w="1457960">
                  <a:extLst>
                    <a:ext uri="{9D8B030D-6E8A-4147-A177-3AD203B41FA5}">
                      <a16:colId xmlns:a16="http://schemas.microsoft.com/office/drawing/2014/main" val="20000"/>
                    </a:ext>
                  </a:extLst>
                </a:gridCol>
                <a:gridCol w="1457960">
                  <a:extLst>
                    <a:ext uri="{9D8B030D-6E8A-4147-A177-3AD203B41FA5}">
                      <a16:colId xmlns:a16="http://schemas.microsoft.com/office/drawing/2014/main" val="20001"/>
                    </a:ext>
                  </a:extLst>
                </a:gridCol>
                <a:gridCol w="1464945">
                  <a:extLst>
                    <a:ext uri="{9D8B030D-6E8A-4147-A177-3AD203B41FA5}">
                      <a16:colId xmlns:a16="http://schemas.microsoft.com/office/drawing/2014/main" val="20002"/>
                    </a:ext>
                  </a:extLst>
                </a:gridCol>
                <a:gridCol w="1425575">
                  <a:extLst>
                    <a:ext uri="{9D8B030D-6E8A-4147-A177-3AD203B41FA5}">
                      <a16:colId xmlns:a16="http://schemas.microsoft.com/office/drawing/2014/main" val="20003"/>
                    </a:ext>
                  </a:extLst>
                </a:gridCol>
              </a:tblGrid>
              <a:tr h="0">
                <a:tc>
                  <a:txBody>
                    <a:bodyPr/>
                    <a:lstStyle/>
                    <a:p>
                      <a:pPr marL="457200" algn="ctr">
                        <a:lnSpc>
                          <a:spcPct val="115000"/>
                        </a:lnSpc>
                        <a:spcAft>
                          <a:spcPts val="0"/>
                        </a:spcAft>
                      </a:pPr>
                      <a:r>
                        <a:rPr lang="en-US" sz="1800" dirty="0">
                          <a:effectLst/>
                        </a:rPr>
                        <a:t>Data Instance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Input x1</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Input x2</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Target 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a:txBody>
                    <a:bodyPr/>
                    <a:lstStyle/>
                    <a:p>
                      <a:pPr marL="457200" algn="ctr">
                        <a:lnSpc>
                          <a:spcPct val="115000"/>
                        </a:lnSpc>
                        <a:spcAft>
                          <a:spcPts val="0"/>
                        </a:spcAft>
                      </a:pPr>
                      <a:r>
                        <a:rPr lang="en-US" sz="1800">
                          <a:effectLst/>
                        </a:rPr>
                        <a:t>1</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0</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0</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0</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0">
                <a:tc>
                  <a:txBody>
                    <a:bodyPr/>
                    <a:lstStyle/>
                    <a:p>
                      <a:pPr marL="457200" algn="ctr">
                        <a:lnSpc>
                          <a:spcPct val="115000"/>
                        </a:lnSpc>
                        <a:spcAft>
                          <a:spcPts val="0"/>
                        </a:spcAft>
                      </a:pPr>
                      <a:r>
                        <a:rPr lang="en-US" sz="1800">
                          <a:effectLst/>
                        </a:rPr>
                        <a:t>2</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0</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1</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0</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0">
                <a:tc>
                  <a:txBody>
                    <a:bodyPr/>
                    <a:lstStyle/>
                    <a:p>
                      <a:pPr marL="457200" algn="ctr">
                        <a:lnSpc>
                          <a:spcPct val="115000"/>
                        </a:lnSpc>
                        <a:spcAft>
                          <a:spcPts val="0"/>
                        </a:spcAft>
                      </a:pPr>
                      <a:r>
                        <a:rPr lang="en-US" sz="1800">
                          <a:effectLst/>
                        </a:rPr>
                        <a:t>3</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1</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0</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0</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0">
                <a:tc>
                  <a:txBody>
                    <a:bodyPr/>
                    <a:lstStyle/>
                    <a:p>
                      <a:pPr marL="457200" algn="ctr">
                        <a:lnSpc>
                          <a:spcPct val="115000"/>
                        </a:lnSpc>
                        <a:spcAft>
                          <a:spcPts val="0"/>
                        </a:spcAft>
                      </a:pPr>
                      <a:r>
                        <a:rPr lang="en-US" sz="1800">
                          <a:effectLst/>
                        </a:rPr>
                        <a:t>4</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1</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1</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1</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50414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38921846"/>
              </p:ext>
            </p:extLst>
          </p:nvPr>
        </p:nvGraphicFramePr>
        <p:xfrm>
          <a:off x="914400" y="1885950"/>
          <a:ext cx="7391401" cy="1835052"/>
        </p:xfrm>
        <a:graphic>
          <a:graphicData uri="http://schemas.openxmlformats.org/drawingml/2006/table">
            <a:tbl>
              <a:tblPr firstRow="1" firstCol="1" bandRow="1">
                <a:tableStyleId>{5C22544A-7EE6-4342-B048-85BDC9FD1C3A}</a:tableStyleId>
              </a:tblPr>
              <a:tblGrid>
                <a:gridCol w="775918">
                  <a:extLst>
                    <a:ext uri="{9D8B030D-6E8A-4147-A177-3AD203B41FA5}">
                      <a16:colId xmlns:a16="http://schemas.microsoft.com/office/drawing/2014/main" val="20000"/>
                    </a:ext>
                  </a:extLst>
                </a:gridCol>
                <a:gridCol w="945069">
                  <a:extLst>
                    <a:ext uri="{9D8B030D-6E8A-4147-A177-3AD203B41FA5}">
                      <a16:colId xmlns:a16="http://schemas.microsoft.com/office/drawing/2014/main" val="20001"/>
                    </a:ext>
                  </a:extLst>
                </a:gridCol>
                <a:gridCol w="945069">
                  <a:extLst>
                    <a:ext uri="{9D8B030D-6E8A-4147-A177-3AD203B41FA5}">
                      <a16:colId xmlns:a16="http://schemas.microsoft.com/office/drawing/2014/main" val="20002"/>
                    </a:ext>
                  </a:extLst>
                </a:gridCol>
                <a:gridCol w="945069">
                  <a:extLst>
                    <a:ext uri="{9D8B030D-6E8A-4147-A177-3AD203B41FA5}">
                      <a16:colId xmlns:a16="http://schemas.microsoft.com/office/drawing/2014/main" val="20003"/>
                    </a:ext>
                  </a:extLst>
                </a:gridCol>
                <a:gridCol w="945069">
                  <a:extLst>
                    <a:ext uri="{9D8B030D-6E8A-4147-A177-3AD203B41FA5}">
                      <a16:colId xmlns:a16="http://schemas.microsoft.com/office/drawing/2014/main" val="20004"/>
                    </a:ext>
                  </a:extLst>
                </a:gridCol>
                <a:gridCol w="945069">
                  <a:extLst>
                    <a:ext uri="{9D8B030D-6E8A-4147-A177-3AD203B41FA5}">
                      <a16:colId xmlns:a16="http://schemas.microsoft.com/office/drawing/2014/main" val="20005"/>
                    </a:ext>
                  </a:extLst>
                </a:gridCol>
                <a:gridCol w="945069">
                  <a:extLst>
                    <a:ext uri="{9D8B030D-6E8A-4147-A177-3AD203B41FA5}">
                      <a16:colId xmlns:a16="http://schemas.microsoft.com/office/drawing/2014/main" val="20006"/>
                    </a:ext>
                  </a:extLst>
                </a:gridCol>
                <a:gridCol w="945069">
                  <a:extLst>
                    <a:ext uri="{9D8B030D-6E8A-4147-A177-3AD203B41FA5}">
                      <a16:colId xmlns:a16="http://schemas.microsoft.com/office/drawing/2014/main" val="20007"/>
                    </a:ext>
                  </a:extLst>
                </a:gridCol>
              </a:tblGrid>
              <a:tr h="960245">
                <a:tc>
                  <a:txBody>
                    <a:bodyPr/>
                    <a:lstStyle/>
                    <a:p>
                      <a:pPr algn="ctr">
                        <a:spcAft>
                          <a:spcPts val="0"/>
                        </a:spcAft>
                      </a:pPr>
                      <a:r>
                        <a:rPr lang="en-US" sz="1400" dirty="0">
                          <a:effectLst/>
                        </a:rPr>
                        <a:t>Data Instance #</a:t>
                      </a:r>
                      <a:endParaRPr lang="en-IN" sz="1400" dirty="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Input x1</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Input x2</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Target y</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Actual Output</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dL/dw0</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dL/dw1</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dirty="0" err="1">
                          <a:effectLst/>
                        </a:rPr>
                        <a:t>dL</a:t>
                      </a:r>
                      <a:r>
                        <a:rPr lang="en-US" sz="1400" dirty="0">
                          <a:effectLst/>
                        </a:rPr>
                        <a:t>/dw2</a:t>
                      </a:r>
                      <a:endParaRPr lang="en-IN" sz="1400" dirty="0">
                        <a:effectLst/>
                        <a:latin typeface="Times New Roman" panose="02020603050405020304" pitchFamily="18" charset="0"/>
                        <a:ea typeface="Times New Roman" panose="02020603050405020304" pitchFamily="18" charset="0"/>
                      </a:endParaRPr>
                    </a:p>
                  </a:txBody>
                  <a:tcPr marL="24006" marR="24006" marT="0" marB="0" anchor="ctr"/>
                </a:tc>
                <a:extLst>
                  <a:ext uri="{0D108BD9-81ED-4DB2-BD59-A6C34878D82A}">
                    <a16:rowId xmlns:a16="http://schemas.microsoft.com/office/drawing/2014/main" val="10000"/>
                  </a:ext>
                </a:extLst>
              </a:tr>
              <a:tr h="176045">
                <a:tc>
                  <a:txBody>
                    <a:bodyPr/>
                    <a:lstStyle/>
                    <a:p>
                      <a:pPr algn="ctr">
                        <a:spcAft>
                          <a:spcPts val="0"/>
                        </a:spcAft>
                      </a:pPr>
                      <a:r>
                        <a:rPr lang="en-US" sz="1400">
                          <a:effectLst/>
                        </a:rPr>
                        <a:t>1</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006" marR="24006" marT="0" marB="0" anchor="b"/>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006" marR="24006" marT="0" marB="0" anchor="b"/>
                </a:tc>
                <a:tc>
                  <a:txBody>
                    <a:bodyPr/>
                    <a:lstStyle/>
                    <a:p>
                      <a:pPr algn="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006" marR="24006" marT="0" marB="0" anchor="b"/>
                </a:tc>
                <a:tc>
                  <a:txBody>
                    <a:bodyPr/>
                    <a:lstStyle/>
                    <a:p>
                      <a:pPr algn="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006" marR="24006" marT="0" marB="0" anchor="b"/>
                </a:tc>
                <a:extLst>
                  <a:ext uri="{0D108BD9-81ED-4DB2-BD59-A6C34878D82A}">
                    <a16:rowId xmlns:a16="http://schemas.microsoft.com/office/drawing/2014/main" val="10001"/>
                  </a:ext>
                </a:extLst>
              </a:tr>
              <a:tr h="176045">
                <a:tc>
                  <a:txBody>
                    <a:bodyPr/>
                    <a:lstStyle/>
                    <a:p>
                      <a:pPr algn="ctr">
                        <a:spcAft>
                          <a:spcPts val="0"/>
                        </a:spcAft>
                      </a:pPr>
                      <a:r>
                        <a:rPr lang="en-US" sz="1400">
                          <a:effectLst/>
                        </a:rPr>
                        <a:t>2</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1</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006" marR="24006" marT="0" marB="0" anchor="b"/>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006" marR="24006" marT="0" marB="0" anchor="b"/>
                </a:tc>
                <a:tc>
                  <a:txBody>
                    <a:bodyPr/>
                    <a:lstStyle/>
                    <a:p>
                      <a:pPr algn="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006" marR="24006" marT="0" marB="0" anchor="b"/>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006" marR="24006" marT="0" marB="0" anchor="b"/>
                </a:tc>
                <a:extLst>
                  <a:ext uri="{0D108BD9-81ED-4DB2-BD59-A6C34878D82A}">
                    <a16:rowId xmlns:a16="http://schemas.microsoft.com/office/drawing/2014/main" val="10002"/>
                  </a:ext>
                </a:extLst>
              </a:tr>
              <a:tr h="176045">
                <a:tc>
                  <a:txBody>
                    <a:bodyPr/>
                    <a:lstStyle/>
                    <a:p>
                      <a:pPr algn="ctr">
                        <a:spcAft>
                          <a:spcPts val="0"/>
                        </a:spcAft>
                      </a:pPr>
                      <a:r>
                        <a:rPr lang="en-US" sz="1400">
                          <a:effectLst/>
                        </a:rPr>
                        <a:t>3</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1</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006" marR="24006" marT="0" marB="0" anchor="b"/>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006" marR="24006" marT="0" marB="0" anchor="b"/>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006" marR="24006" marT="0" marB="0" anchor="b"/>
                </a:tc>
                <a:tc>
                  <a:txBody>
                    <a:bodyPr/>
                    <a:lstStyle/>
                    <a:p>
                      <a:pPr algn="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006" marR="24006" marT="0" marB="0" anchor="b"/>
                </a:tc>
                <a:extLst>
                  <a:ext uri="{0D108BD9-81ED-4DB2-BD59-A6C34878D82A}">
                    <a16:rowId xmlns:a16="http://schemas.microsoft.com/office/drawing/2014/main" val="10003"/>
                  </a:ext>
                </a:extLst>
              </a:tr>
              <a:tr h="234727">
                <a:tc>
                  <a:txBody>
                    <a:bodyPr/>
                    <a:lstStyle/>
                    <a:p>
                      <a:pPr algn="ctr">
                        <a:spcAft>
                          <a:spcPts val="0"/>
                        </a:spcAft>
                      </a:pPr>
                      <a:r>
                        <a:rPr lang="en-US" sz="1400">
                          <a:effectLst/>
                        </a:rPr>
                        <a:t>4</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1</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1</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ctr">
                        <a:spcAft>
                          <a:spcPts val="0"/>
                        </a:spcAft>
                      </a:pPr>
                      <a:r>
                        <a:rPr lang="en-US" sz="1400">
                          <a:effectLst/>
                        </a:rPr>
                        <a:t>1</a:t>
                      </a:r>
                      <a:endParaRPr lang="en-IN" sz="1400">
                        <a:effectLst/>
                        <a:latin typeface="Times New Roman" panose="02020603050405020304" pitchFamily="18" charset="0"/>
                        <a:ea typeface="Times New Roman" panose="02020603050405020304" pitchFamily="18" charset="0"/>
                      </a:endParaRPr>
                    </a:p>
                  </a:txBody>
                  <a:tcPr marL="24006" marR="24006" marT="0" marB="0" anchor="ctr"/>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006" marR="24006" marT="0" marB="0" anchor="b"/>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006" marR="24006" marT="0" marB="0" anchor="b"/>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006" marR="24006" marT="0" marB="0" anchor="b"/>
                </a:tc>
                <a:tc>
                  <a:txBody>
                    <a:bodyPr/>
                    <a:lstStyle/>
                    <a:p>
                      <a:pPr algn="r">
                        <a:spcAft>
                          <a:spcPts val="0"/>
                        </a:spcAft>
                      </a:pPr>
                      <a:r>
                        <a:rPr lang="en-US" sz="1400" dirty="0">
                          <a:effectLst/>
                        </a:rPr>
                        <a:t>-0.5</a:t>
                      </a:r>
                      <a:endParaRPr lang="en-IN" sz="1400" dirty="0">
                        <a:effectLst/>
                        <a:latin typeface="Times New Roman" panose="02020603050405020304" pitchFamily="18" charset="0"/>
                        <a:ea typeface="Times New Roman" panose="02020603050405020304" pitchFamily="18" charset="0"/>
                      </a:endParaRPr>
                    </a:p>
                  </a:txBody>
                  <a:tcPr marL="24006" marR="24006" marT="0" marB="0" anchor="b"/>
                </a:tc>
                <a:extLst>
                  <a:ext uri="{0D108BD9-81ED-4DB2-BD59-A6C34878D82A}">
                    <a16:rowId xmlns:a16="http://schemas.microsoft.com/office/drawing/2014/main" val="10004"/>
                  </a:ext>
                </a:extLst>
              </a:tr>
            </a:tbl>
          </a:graphicData>
        </a:graphic>
      </p:graphicFrame>
      <p:grpSp>
        <p:nvGrpSpPr>
          <p:cNvPr id="3" name="Group 2"/>
          <p:cNvGrpSpPr/>
          <p:nvPr/>
        </p:nvGrpSpPr>
        <p:grpSpPr>
          <a:xfrm>
            <a:off x="2514600" y="666750"/>
            <a:ext cx="3613150" cy="855662"/>
            <a:chOff x="0" y="0"/>
            <a:chExt cx="3613317" cy="855267"/>
          </a:xfrm>
        </p:grpSpPr>
        <p:sp>
          <p:nvSpPr>
            <p:cNvPr id="4" name="object 4"/>
            <p:cNvSpPr/>
            <p:nvPr/>
          </p:nvSpPr>
          <p:spPr>
            <a:xfrm>
              <a:off x="828673" y="0"/>
              <a:ext cx="2146745" cy="399344"/>
            </a:xfrm>
            <a:prstGeom prst="rect">
              <a:avLst/>
            </a:prstGeom>
            <a:blipFill>
              <a:blip r:embed="rId2" cstate="print"/>
              <a:stretch>
                <a:fillRect/>
              </a:stretch>
            </a:blipFill>
          </p:spPr>
          <p:txBody>
            <a:bodyPr wrap="square" lIns="0" tIns="0" rIns="0" bIns="0"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a:solidFill>
                  <a:prstClr val="black"/>
                </a:solidFill>
              </a:endParaRPr>
            </a:p>
          </p:txBody>
        </p:sp>
        <p:sp>
          <p:nvSpPr>
            <p:cNvPr id="5" name="object 5"/>
            <p:cNvSpPr/>
            <p:nvPr/>
          </p:nvSpPr>
          <p:spPr>
            <a:xfrm>
              <a:off x="0" y="352694"/>
              <a:ext cx="3613317" cy="502573"/>
            </a:xfrm>
            <a:prstGeom prst="rect">
              <a:avLst/>
            </a:prstGeom>
            <a:blipFill>
              <a:blip r:embed="rId3" cstate="print"/>
              <a:stretch>
                <a:fillRect/>
              </a:stretch>
            </a:blipFill>
          </p:spPr>
          <p:txBody>
            <a:bodyPr wrap="square" lIns="0" tIns="0" rIns="0" bIns="0"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a:solidFill>
                  <a:prstClr val="black"/>
                </a:solidFill>
              </a:endParaRPr>
            </a:p>
          </p:txBody>
        </p:sp>
      </p:grpSp>
    </p:spTree>
    <p:extLst>
      <p:ext uri="{BB962C8B-B14F-4D97-AF65-F5344CB8AC3E}">
        <p14:creationId xmlns:p14="http://schemas.microsoft.com/office/powerpoint/2010/main" val="1012254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914400" y="666750"/>
            <a:ext cx="200997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 If </a:t>
            </a:r>
            <a:r>
              <a:rPr kumimoji="0" lang="en-US" sz="16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FedAvg</a:t>
            </a:r>
            <a:r>
              <a:rPr kumimoji="0" lang="en-US" sz="16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 is used?</a:t>
            </a:r>
            <a:endParaRPr kumimoji="0" lang="en-US" sz="2400" b="0" i="0" u="none" strike="noStrike" cap="none" normalizeH="0" baseline="0" dirty="0">
              <a:ln>
                <a:noFill/>
              </a:ln>
              <a:solidFill>
                <a:schemeClr val="tx1"/>
              </a:solidFill>
              <a:effectLst/>
              <a:latin typeface="Arial" panose="020B0604020202020204" pitchFamily="34" charset="0"/>
            </a:endParaRPr>
          </a:p>
        </p:txBody>
      </p:sp>
      <p:grpSp>
        <p:nvGrpSpPr>
          <p:cNvPr id="5" name="Group 4"/>
          <p:cNvGrpSpPr/>
          <p:nvPr/>
        </p:nvGrpSpPr>
        <p:grpSpPr>
          <a:xfrm>
            <a:off x="2896665" y="846490"/>
            <a:ext cx="2862262" cy="835025"/>
            <a:chOff x="0" y="0"/>
            <a:chExt cx="2861483" cy="834282"/>
          </a:xfrm>
        </p:grpSpPr>
        <p:sp>
          <p:nvSpPr>
            <p:cNvPr id="6" name="object 38"/>
            <p:cNvSpPr/>
            <p:nvPr/>
          </p:nvSpPr>
          <p:spPr>
            <a:xfrm>
              <a:off x="190547" y="0"/>
              <a:ext cx="2434776" cy="396975"/>
            </a:xfrm>
            <a:prstGeom prst="rect">
              <a:avLst/>
            </a:prstGeom>
            <a:blipFill>
              <a:blip r:embed="rId2" cstate="print"/>
              <a:stretch>
                <a:fillRect/>
              </a:stretch>
            </a:blipFill>
          </p:spPr>
          <p:txBody>
            <a:bodyPr wrap="square" lIns="0" tIns="0" rIns="0" bIns="0"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a:solidFill>
                  <a:prstClr val="black"/>
                </a:solidFill>
              </a:endParaRPr>
            </a:p>
          </p:txBody>
        </p:sp>
        <p:sp>
          <p:nvSpPr>
            <p:cNvPr id="7" name="object 39"/>
            <p:cNvSpPr/>
            <p:nvPr/>
          </p:nvSpPr>
          <p:spPr>
            <a:xfrm>
              <a:off x="0" y="418499"/>
              <a:ext cx="2861483" cy="415783"/>
            </a:xfrm>
            <a:prstGeom prst="rect">
              <a:avLst/>
            </a:prstGeom>
            <a:blipFill>
              <a:blip r:embed="rId3" cstate="print"/>
              <a:stretch>
                <a:fillRect/>
              </a:stretch>
            </a:blipFill>
          </p:spPr>
          <p:txBody>
            <a:bodyPr wrap="square" lIns="0" tIns="0" rIns="0" bIns="0"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a:solidFill>
                  <a:prstClr val="black"/>
                </a:solidFill>
              </a:endParaRPr>
            </a:p>
          </p:txBody>
        </p:sp>
      </p:grpSp>
      <p:sp>
        <p:nvSpPr>
          <p:cNvPr id="8" name="Rectangle 5"/>
          <p:cNvSpPr>
            <a:spLocks noChangeArrowheads="1"/>
          </p:cNvSpPr>
          <p:nvPr/>
        </p:nvSpPr>
        <p:spPr bwMode="auto">
          <a:xfrm>
            <a:off x="1370013" y="31892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9" name="Table 8"/>
          <p:cNvGraphicFramePr>
            <a:graphicFrameLocks noGrp="1"/>
          </p:cNvGraphicFramePr>
          <p:nvPr>
            <p:extLst>
              <p:ext uri="{D42A27DB-BD31-4B8C-83A1-F6EECF244321}">
                <p14:modId xmlns:p14="http://schemas.microsoft.com/office/powerpoint/2010/main" val="3026812939"/>
              </p:ext>
            </p:extLst>
          </p:nvPr>
        </p:nvGraphicFramePr>
        <p:xfrm>
          <a:off x="1219200" y="1780867"/>
          <a:ext cx="6629399" cy="1865621"/>
        </p:xfrm>
        <a:graphic>
          <a:graphicData uri="http://schemas.openxmlformats.org/drawingml/2006/table">
            <a:tbl>
              <a:tblPr firstRow="1" firstCol="1" bandRow="1">
                <a:tableStyleId>{5C22544A-7EE6-4342-B048-85BDC9FD1C3A}</a:tableStyleId>
              </a:tblPr>
              <a:tblGrid>
                <a:gridCol w="694953">
                  <a:extLst>
                    <a:ext uri="{9D8B030D-6E8A-4147-A177-3AD203B41FA5}">
                      <a16:colId xmlns:a16="http://schemas.microsoft.com/office/drawing/2014/main" val="20000"/>
                    </a:ext>
                  </a:extLst>
                </a:gridCol>
                <a:gridCol w="847778">
                  <a:extLst>
                    <a:ext uri="{9D8B030D-6E8A-4147-A177-3AD203B41FA5}">
                      <a16:colId xmlns:a16="http://schemas.microsoft.com/office/drawing/2014/main" val="20001"/>
                    </a:ext>
                  </a:extLst>
                </a:gridCol>
                <a:gridCol w="847778">
                  <a:extLst>
                    <a:ext uri="{9D8B030D-6E8A-4147-A177-3AD203B41FA5}">
                      <a16:colId xmlns:a16="http://schemas.microsoft.com/office/drawing/2014/main" val="20002"/>
                    </a:ext>
                  </a:extLst>
                </a:gridCol>
                <a:gridCol w="847778">
                  <a:extLst>
                    <a:ext uri="{9D8B030D-6E8A-4147-A177-3AD203B41FA5}">
                      <a16:colId xmlns:a16="http://schemas.microsoft.com/office/drawing/2014/main" val="20003"/>
                    </a:ext>
                  </a:extLst>
                </a:gridCol>
                <a:gridCol w="847778">
                  <a:extLst>
                    <a:ext uri="{9D8B030D-6E8A-4147-A177-3AD203B41FA5}">
                      <a16:colId xmlns:a16="http://schemas.microsoft.com/office/drawing/2014/main" val="20004"/>
                    </a:ext>
                  </a:extLst>
                </a:gridCol>
                <a:gridCol w="847778">
                  <a:extLst>
                    <a:ext uri="{9D8B030D-6E8A-4147-A177-3AD203B41FA5}">
                      <a16:colId xmlns:a16="http://schemas.microsoft.com/office/drawing/2014/main" val="20005"/>
                    </a:ext>
                  </a:extLst>
                </a:gridCol>
                <a:gridCol w="847778">
                  <a:extLst>
                    <a:ext uri="{9D8B030D-6E8A-4147-A177-3AD203B41FA5}">
                      <a16:colId xmlns:a16="http://schemas.microsoft.com/office/drawing/2014/main" val="20006"/>
                    </a:ext>
                  </a:extLst>
                </a:gridCol>
                <a:gridCol w="847778">
                  <a:extLst>
                    <a:ext uri="{9D8B030D-6E8A-4147-A177-3AD203B41FA5}">
                      <a16:colId xmlns:a16="http://schemas.microsoft.com/office/drawing/2014/main" val="20007"/>
                    </a:ext>
                  </a:extLst>
                </a:gridCol>
              </a:tblGrid>
              <a:tr h="984810">
                <a:tc>
                  <a:txBody>
                    <a:bodyPr/>
                    <a:lstStyle/>
                    <a:p>
                      <a:pPr algn="ctr">
                        <a:spcAft>
                          <a:spcPts val="0"/>
                        </a:spcAft>
                      </a:pPr>
                      <a:r>
                        <a:rPr lang="en-US" sz="1400" dirty="0">
                          <a:effectLst/>
                        </a:rPr>
                        <a:t>Data Instance #</a:t>
                      </a:r>
                      <a:endParaRPr lang="en-IN" sz="1400" dirty="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Input x1</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Input x2</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Target y</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Actual Output</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dL/dw0</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dL/dw1</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dL/dw2</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extLst>
                  <a:ext uri="{0D108BD9-81ED-4DB2-BD59-A6C34878D82A}">
                    <a16:rowId xmlns:a16="http://schemas.microsoft.com/office/drawing/2014/main" val="10000"/>
                  </a:ext>
                </a:extLst>
              </a:tr>
              <a:tr h="180549">
                <a:tc>
                  <a:txBody>
                    <a:bodyPr/>
                    <a:lstStyle/>
                    <a:p>
                      <a:pPr algn="ctr">
                        <a:spcAft>
                          <a:spcPts val="0"/>
                        </a:spcAft>
                      </a:pPr>
                      <a:r>
                        <a:rPr lang="en-US" sz="1400">
                          <a:effectLst/>
                        </a:rPr>
                        <a:t>1</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620" marR="24620" marT="0" marB="0" anchor="b"/>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620" marR="24620" marT="0" marB="0" anchor="b"/>
                </a:tc>
                <a:tc>
                  <a:txBody>
                    <a:bodyPr/>
                    <a:lstStyle/>
                    <a:p>
                      <a:pPr algn="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620" marR="24620" marT="0" marB="0" anchor="b"/>
                </a:tc>
                <a:tc>
                  <a:txBody>
                    <a:bodyPr/>
                    <a:lstStyle/>
                    <a:p>
                      <a:pPr algn="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620" marR="24620" marT="0" marB="0" anchor="b"/>
                </a:tc>
                <a:extLst>
                  <a:ext uri="{0D108BD9-81ED-4DB2-BD59-A6C34878D82A}">
                    <a16:rowId xmlns:a16="http://schemas.microsoft.com/office/drawing/2014/main" val="10001"/>
                  </a:ext>
                </a:extLst>
              </a:tr>
              <a:tr h="180549">
                <a:tc>
                  <a:txBody>
                    <a:bodyPr/>
                    <a:lstStyle/>
                    <a:p>
                      <a:pPr algn="ctr">
                        <a:spcAft>
                          <a:spcPts val="0"/>
                        </a:spcAft>
                      </a:pPr>
                      <a:r>
                        <a:rPr lang="en-US" sz="1400">
                          <a:effectLst/>
                        </a:rPr>
                        <a:t>2</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1</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620" marR="24620" marT="0" marB="0" anchor="b"/>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620" marR="24620" marT="0" marB="0" anchor="b"/>
                </a:tc>
                <a:tc>
                  <a:txBody>
                    <a:bodyPr/>
                    <a:lstStyle/>
                    <a:p>
                      <a:pPr algn="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620" marR="24620" marT="0" marB="0" anchor="b"/>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620" marR="24620" marT="0" marB="0" anchor="b"/>
                </a:tc>
                <a:extLst>
                  <a:ext uri="{0D108BD9-81ED-4DB2-BD59-A6C34878D82A}">
                    <a16:rowId xmlns:a16="http://schemas.microsoft.com/office/drawing/2014/main" val="10002"/>
                  </a:ext>
                </a:extLst>
              </a:tr>
              <a:tr h="180549">
                <a:tc>
                  <a:txBody>
                    <a:bodyPr/>
                    <a:lstStyle/>
                    <a:p>
                      <a:pPr algn="ctr">
                        <a:spcAft>
                          <a:spcPts val="0"/>
                        </a:spcAft>
                      </a:pPr>
                      <a:r>
                        <a:rPr lang="en-US" sz="1400">
                          <a:effectLst/>
                        </a:rPr>
                        <a:t>3</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1</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620" marR="24620" marT="0" marB="0" anchor="b"/>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620" marR="24620" marT="0" marB="0" anchor="b"/>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620" marR="24620" marT="0" marB="0" anchor="b"/>
                </a:tc>
                <a:tc>
                  <a:txBody>
                    <a:bodyPr/>
                    <a:lstStyle/>
                    <a:p>
                      <a:pPr algn="r">
                        <a:spcAft>
                          <a:spcPts val="0"/>
                        </a:spcAft>
                      </a:pPr>
                      <a:r>
                        <a:rPr lang="en-US" sz="1400">
                          <a:effectLst/>
                        </a:rPr>
                        <a:t>0</a:t>
                      </a:r>
                      <a:endParaRPr lang="en-IN" sz="1400">
                        <a:effectLst/>
                        <a:latin typeface="Times New Roman" panose="02020603050405020304" pitchFamily="18" charset="0"/>
                        <a:ea typeface="Times New Roman" panose="02020603050405020304" pitchFamily="18" charset="0"/>
                      </a:endParaRPr>
                    </a:p>
                  </a:txBody>
                  <a:tcPr marL="24620" marR="24620" marT="0" marB="0" anchor="b"/>
                </a:tc>
                <a:extLst>
                  <a:ext uri="{0D108BD9-81ED-4DB2-BD59-A6C34878D82A}">
                    <a16:rowId xmlns:a16="http://schemas.microsoft.com/office/drawing/2014/main" val="10003"/>
                  </a:ext>
                </a:extLst>
              </a:tr>
              <a:tr h="240731">
                <a:tc>
                  <a:txBody>
                    <a:bodyPr/>
                    <a:lstStyle/>
                    <a:p>
                      <a:pPr algn="ctr">
                        <a:spcAft>
                          <a:spcPts val="0"/>
                        </a:spcAft>
                      </a:pPr>
                      <a:r>
                        <a:rPr lang="en-US" sz="1400">
                          <a:effectLst/>
                        </a:rPr>
                        <a:t>4</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1</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1</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ctr">
                        <a:spcAft>
                          <a:spcPts val="0"/>
                        </a:spcAft>
                      </a:pPr>
                      <a:r>
                        <a:rPr lang="en-US" sz="1400">
                          <a:effectLst/>
                        </a:rPr>
                        <a:t>1</a:t>
                      </a:r>
                      <a:endParaRPr lang="en-IN" sz="1400">
                        <a:effectLst/>
                        <a:latin typeface="Times New Roman" panose="02020603050405020304" pitchFamily="18" charset="0"/>
                        <a:ea typeface="Times New Roman" panose="02020603050405020304" pitchFamily="18" charset="0"/>
                      </a:endParaRPr>
                    </a:p>
                  </a:txBody>
                  <a:tcPr marL="24620" marR="24620" marT="0" marB="0" anchor="ctr"/>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620" marR="24620" marT="0" marB="0" anchor="b"/>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620" marR="24620" marT="0" marB="0" anchor="b"/>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24620" marR="24620" marT="0" marB="0" anchor="b"/>
                </a:tc>
                <a:tc>
                  <a:txBody>
                    <a:bodyPr/>
                    <a:lstStyle/>
                    <a:p>
                      <a:pPr algn="r">
                        <a:spcAft>
                          <a:spcPts val="0"/>
                        </a:spcAft>
                      </a:pPr>
                      <a:r>
                        <a:rPr lang="en-US" sz="1400" dirty="0">
                          <a:effectLst/>
                        </a:rPr>
                        <a:t>-0.5</a:t>
                      </a:r>
                      <a:endParaRPr lang="en-IN" sz="1400" dirty="0">
                        <a:effectLst/>
                        <a:latin typeface="Times New Roman" panose="02020603050405020304" pitchFamily="18" charset="0"/>
                        <a:ea typeface="Times New Roman" panose="02020603050405020304" pitchFamily="18" charset="0"/>
                      </a:endParaRPr>
                    </a:p>
                  </a:txBody>
                  <a:tcPr marL="24620" marR="24620" marT="0" marB="0" anchor="b"/>
                </a:tc>
                <a:extLst>
                  <a:ext uri="{0D108BD9-81ED-4DB2-BD59-A6C34878D82A}">
                    <a16:rowId xmlns:a16="http://schemas.microsoft.com/office/drawing/2014/main" val="10004"/>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851418476"/>
              </p:ext>
            </p:extLst>
          </p:nvPr>
        </p:nvGraphicFramePr>
        <p:xfrm>
          <a:off x="1219201" y="3714750"/>
          <a:ext cx="6629398" cy="956310"/>
        </p:xfrm>
        <a:graphic>
          <a:graphicData uri="http://schemas.openxmlformats.org/drawingml/2006/table">
            <a:tbl>
              <a:tblPr firstRow="1" firstCol="1" bandRow="1">
                <a:tableStyleId>{5C22544A-7EE6-4342-B048-85BDC9FD1C3A}</a:tableStyleId>
              </a:tblPr>
              <a:tblGrid>
                <a:gridCol w="855090">
                  <a:extLst>
                    <a:ext uri="{9D8B030D-6E8A-4147-A177-3AD203B41FA5}">
                      <a16:colId xmlns:a16="http://schemas.microsoft.com/office/drawing/2014/main" val="20000"/>
                    </a:ext>
                  </a:extLst>
                </a:gridCol>
                <a:gridCol w="1105718">
                  <a:extLst>
                    <a:ext uri="{9D8B030D-6E8A-4147-A177-3AD203B41FA5}">
                      <a16:colId xmlns:a16="http://schemas.microsoft.com/office/drawing/2014/main" val="20001"/>
                    </a:ext>
                  </a:extLst>
                </a:gridCol>
                <a:gridCol w="1027090">
                  <a:extLst>
                    <a:ext uri="{9D8B030D-6E8A-4147-A177-3AD203B41FA5}">
                      <a16:colId xmlns:a16="http://schemas.microsoft.com/office/drawing/2014/main" val="20002"/>
                    </a:ext>
                  </a:extLst>
                </a:gridCol>
                <a:gridCol w="669701">
                  <a:extLst>
                    <a:ext uri="{9D8B030D-6E8A-4147-A177-3AD203B41FA5}">
                      <a16:colId xmlns:a16="http://schemas.microsoft.com/office/drawing/2014/main" val="20003"/>
                    </a:ext>
                  </a:extLst>
                </a:gridCol>
                <a:gridCol w="824248">
                  <a:extLst>
                    <a:ext uri="{9D8B030D-6E8A-4147-A177-3AD203B41FA5}">
                      <a16:colId xmlns:a16="http://schemas.microsoft.com/office/drawing/2014/main" val="20004"/>
                    </a:ext>
                  </a:extLst>
                </a:gridCol>
                <a:gridCol w="933718">
                  <a:extLst>
                    <a:ext uri="{9D8B030D-6E8A-4147-A177-3AD203B41FA5}">
                      <a16:colId xmlns:a16="http://schemas.microsoft.com/office/drawing/2014/main" val="20005"/>
                    </a:ext>
                  </a:extLst>
                </a:gridCol>
                <a:gridCol w="641153">
                  <a:extLst>
                    <a:ext uri="{9D8B030D-6E8A-4147-A177-3AD203B41FA5}">
                      <a16:colId xmlns:a16="http://schemas.microsoft.com/office/drawing/2014/main" val="20006"/>
                    </a:ext>
                  </a:extLst>
                </a:gridCol>
                <a:gridCol w="292565">
                  <a:extLst>
                    <a:ext uri="{9D8B030D-6E8A-4147-A177-3AD203B41FA5}">
                      <a16:colId xmlns:a16="http://schemas.microsoft.com/office/drawing/2014/main" val="20007"/>
                    </a:ext>
                  </a:extLst>
                </a:gridCol>
                <a:gridCol w="280115">
                  <a:extLst>
                    <a:ext uri="{9D8B030D-6E8A-4147-A177-3AD203B41FA5}">
                      <a16:colId xmlns:a16="http://schemas.microsoft.com/office/drawing/2014/main" val="20008"/>
                    </a:ext>
                  </a:extLst>
                </a:gridCol>
              </a:tblGrid>
              <a:tr h="746760">
                <a:tc>
                  <a:txBody>
                    <a:bodyPr/>
                    <a:lstStyle/>
                    <a:p>
                      <a:pPr algn="ctr">
                        <a:spcAft>
                          <a:spcPts val="0"/>
                        </a:spcAft>
                      </a:pPr>
                      <a:r>
                        <a:rPr lang="en-US" sz="1200" dirty="0">
                          <a:effectLst/>
                        </a:rPr>
                        <a:t>Node 1 Weight w0</a:t>
                      </a:r>
                      <a:endParaRPr lang="en-IN"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Node 1 Weight w1</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Node 1 Weight w1</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Node 2 Weight w0</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Node 2 Weight w1</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Node 2 Weight w2</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gridSpan="3">
                  <a:txBody>
                    <a:bodyPr/>
                    <a:lstStyle/>
                    <a:p>
                      <a:pPr>
                        <a:spcAft>
                          <a:spcPts val="0"/>
                        </a:spcAft>
                      </a:pPr>
                      <a:r>
                        <a:rPr lang="en-US" sz="1100" dirty="0">
                          <a:effectLst/>
                        </a:rPr>
                        <a:t>New Weights</a:t>
                      </a:r>
                      <a:endParaRPr lang="en-IN" sz="1200" dirty="0">
                        <a:effectLst/>
                        <a:latin typeface="Times New Roman" panose="02020603050405020304" pitchFamily="18" charset="0"/>
                        <a:ea typeface="Times New Roman" panose="02020603050405020304" pitchFamily="18" charset="0"/>
                      </a:endParaRPr>
                    </a:p>
                  </a:txBody>
                  <a:tcPr marL="68580" marR="68580" marT="0" marB="0" anchor="ctr"/>
                </a:tc>
                <a:tc hMerge="1">
                  <a:txBody>
                    <a:bodyPr/>
                    <a:lstStyle/>
                    <a:p>
                      <a:endParaRPr lang="en-IN"/>
                    </a:p>
                  </a:txBody>
                  <a:tcPr/>
                </a:tc>
                <a:tc hMerge="1">
                  <a:txBody>
                    <a:bodyPr/>
                    <a:lstStyle/>
                    <a:p>
                      <a:endParaRPr lang="en-IN" sz="1000" dirty="0">
                        <a:effectLst/>
                        <a:latin typeface="Times New Roman" panose="02020603050405020304" pitchFamily="18" charset="0"/>
                      </a:endParaRPr>
                    </a:p>
                  </a:txBody>
                  <a:tcPr marL="68580" marR="68580" marT="0" marB="0" anchor="b"/>
                </a:tc>
                <a:extLst>
                  <a:ext uri="{0D108BD9-81ED-4DB2-BD59-A6C34878D82A}">
                    <a16:rowId xmlns:a16="http://schemas.microsoft.com/office/drawing/2014/main" val="10000"/>
                  </a:ext>
                </a:extLst>
              </a:tr>
              <a:tr h="209550">
                <a:tc>
                  <a:txBody>
                    <a:bodyPr/>
                    <a:lstStyle/>
                    <a:p>
                      <a:pPr algn="r">
                        <a:spcAft>
                          <a:spcPts val="0"/>
                        </a:spcAft>
                      </a:pPr>
                      <a:r>
                        <a:rPr lang="en-US" sz="1100">
                          <a:effectLst/>
                        </a:rPr>
                        <a:t>0</a:t>
                      </a:r>
                      <a:endParaRPr lang="en-IN" sz="12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100">
                          <a:effectLst/>
                        </a:rPr>
                        <a:t>0.15</a:t>
                      </a:r>
                      <a:endParaRPr lang="en-IN" sz="12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100">
                          <a:effectLst/>
                        </a:rPr>
                        <a:t>0.15</a:t>
                      </a:r>
                      <a:endParaRPr lang="en-IN" sz="12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100">
                          <a:effectLst/>
                        </a:rPr>
                        <a:t>-0.3</a:t>
                      </a:r>
                      <a:endParaRPr lang="en-IN" sz="12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100">
                          <a:effectLst/>
                        </a:rPr>
                        <a:t>-0.15</a:t>
                      </a:r>
                      <a:endParaRPr lang="en-IN" sz="12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100">
                          <a:effectLst/>
                        </a:rPr>
                        <a:t>-0.15</a:t>
                      </a:r>
                      <a:endParaRPr lang="en-IN" sz="12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100">
                          <a:effectLst/>
                        </a:rPr>
                        <a:t>-0.15</a:t>
                      </a:r>
                      <a:endParaRPr lang="en-IN" sz="12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ctr">
                        <a:spcAft>
                          <a:spcPts val="0"/>
                        </a:spcAft>
                      </a:pPr>
                      <a:r>
                        <a:rPr lang="en-US" sz="1100" dirty="0">
                          <a:effectLst/>
                        </a:rPr>
                        <a:t>0</a:t>
                      </a:r>
                      <a:endParaRPr lang="en-IN" sz="12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100" dirty="0">
                          <a:effectLst/>
                        </a:rPr>
                        <a:t>0</a:t>
                      </a:r>
                      <a:endParaRPr lang="en-IN" sz="12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56110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295743"/>
            <a:ext cx="7772400" cy="2640723"/>
          </a:xfrm>
          <a:prstGeom prst="rect">
            <a:avLst/>
          </a:prstGeom>
        </p:spPr>
        <p:txBody>
          <a:bodyPr wrap="square">
            <a:spAutoFit/>
          </a:bodyPr>
          <a:lstStyle/>
          <a:p>
            <a:pPr marL="342900" lvl="0" indent="-342900" algn="just">
              <a:lnSpc>
                <a:spcPct val="115000"/>
              </a:lnSpc>
              <a:spcAft>
                <a:spcPts val="0"/>
              </a:spcAft>
              <a:buFont typeface="+mj-lt"/>
              <a:buAutoNum type="alphaUcPeriod"/>
            </a:pPr>
            <a:r>
              <a:rPr lang="en-US" dirty="0">
                <a:latin typeface="Calibri" panose="020F0502020204030204" pitchFamily="34" charset="0"/>
                <a:ea typeface="Calibri" panose="020F0502020204030204" pitchFamily="34" charset="0"/>
                <a:cs typeface="Calibri" panose="020F0502020204030204" pitchFamily="34" charset="0"/>
              </a:rPr>
              <a:t>Consider a logistic regression based classifier being trained with the usual log-loss function on the dataset shown below. At a particular iteration, all the parameters of the network have the value 0.5. </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mj-lt"/>
              <a:buAutoNum type="romanLcParenR"/>
            </a:pPr>
            <a:r>
              <a:rPr lang="en-US" dirty="0">
                <a:latin typeface="Calibri" panose="020F0502020204030204" pitchFamily="34" charset="0"/>
                <a:ea typeface="Calibri" panose="020F0502020204030204" pitchFamily="34" charset="0"/>
                <a:cs typeface="Calibri" panose="020F0502020204030204" pitchFamily="34" charset="0"/>
              </a:rPr>
              <a:t>If one-step untargeted Fast Gradient Sign Method is used, calculate the adversarial input sample. ϵ = 0.6.</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0"/>
              </a:spcAft>
              <a:buFont typeface="+mj-lt"/>
              <a:buAutoNum type="romanLcParenR"/>
            </a:pPr>
            <a:r>
              <a:rPr lang="en-US" dirty="0">
                <a:latin typeface="Calibri" panose="020F0502020204030204" pitchFamily="34" charset="0"/>
                <a:ea typeface="Calibri" panose="020F0502020204030204" pitchFamily="34" charset="0"/>
                <a:cs typeface="Calibri" panose="020F0502020204030204" pitchFamily="34" charset="0"/>
              </a:rPr>
              <a:t>If one-step targeted Fast Gradient Sign Method is used, calculate the adversarial input sample. Data Instance #1 is targeted, i.e., target y for instance #1 is set to 1. Rest of the true values are unchanged. ϵ = 0.6.</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2078773925"/>
              </p:ext>
            </p:extLst>
          </p:nvPr>
        </p:nvGraphicFramePr>
        <p:xfrm>
          <a:off x="1447800" y="3181350"/>
          <a:ext cx="6476999" cy="1676398"/>
        </p:xfrm>
        <a:graphic>
          <a:graphicData uri="http://schemas.openxmlformats.org/drawingml/2006/table">
            <a:tbl>
              <a:tblPr firstRow="1" firstCol="1" bandRow="1">
                <a:tableStyleId>{5C22544A-7EE6-4342-B048-85BDC9FD1C3A}</a:tableStyleId>
              </a:tblPr>
              <a:tblGrid>
                <a:gridCol w="1626333">
                  <a:extLst>
                    <a:ext uri="{9D8B030D-6E8A-4147-A177-3AD203B41FA5}">
                      <a16:colId xmlns:a16="http://schemas.microsoft.com/office/drawing/2014/main" val="20000"/>
                    </a:ext>
                  </a:extLst>
                </a:gridCol>
                <a:gridCol w="1626333">
                  <a:extLst>
                    <a:ext uri="{9D8B030D-6E8A-4147-A177-3AD203B41FA5}">
                      <a16:colId xmlns:a16="http://schemas.microsoft.com/office/drawing/2014/main" val="20001"/>
                    </a:ext>
                  </a:extLst>
                </a:gridCol>
                <a:gridCol w="1634125">
                  <a:extLst>
                    <a:ext uri="{9D8B030D-6E8A-4147-A177-3AD203B41FA5}">
                      <a16:colId xmlns:a16="http://schemas.microsoft.com/office/drawing/2014/main" val="20002"/>
                    </a:ext>
                  </a:extLst>
                </a:gridCol>
                <a:gridCol w="1590208">
                  <a:extLst>
                    <a:ext uri="{9D8B030D-6E8A-4147-A177-3AD203B41FA5}">
                      <a16:colId xmlns:a16="http://schemas.microsoft.com/office/drawing/2014/main" val="20003"/>
                    </a:ext>
                  </a:extLst>
                </a:gridCol>
              </a:tblGrid>
              <a:tr h="570270">
                <a:tc>
                  <a:txBody>
                    <a:bodyPr/>
                    <a:lstStyle/>
                    <a:p>
                      <a:pPr marL="457200" algn="ctr">
                        <a:lnSpc>
                          <a:spcPct val="115000"/>
                        </a:lnSpc>
                        <a:spcAft>
                          <a:spcPts val="0"/>
                        </a:spcAft>
                      </a:pPr>
                      <a:r>
                        <a:rPr lang="en-US" sz="1600" dirty="0">
                          <a:effectLst/>
                        </a:rPr>
                        <a:t>Data Instance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0"/>
                        </a:spcAft>
                      </a:pPr>
                      <a:r>
                        <a:rPr lang="en-US" sz="1600" dirty="0">
                          <a:effectLst/>
                        </a:rPr>
                        <a:t>Input x1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0"/>
                        </a:spcAft>
                      </a:pPr>
                      <a:r>
                        <a:rPr lang="en-US" sz="1600" dirty="0">
                          <a:effectLst/>
                        </a:rPr>
                        <a:t>Input x2</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457200" algn="ctr">
                        <a:lnSpc>
                          <a:spcPct val="115000"/>
                        </a:lnSpc>
                        <a:spcAft>
                          <a:spcPts val="0"/>
                        </a:spcAft>
                      </a:pPr>
                      <a:r>
                        <a:rPr lang="en-US" sz="1600" dirty="0">
                          <a:effectLst/>
                        </a:rPr>
                        <a:t>True y</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276532">
                <a:tc>
                  <a:txBody>
                    <a:bodyPr/>
                    <a:lstStyle/>
                    <a:p>
                      <a:pPr marL="457200" algn="ctr">
                        <a:lnSpc>
                          <a:spcPct val="115000"/>
                        </a:lnSpc>
                        <a:spcAft>
                          <a:spcPts val="0"/>
                        </a:spcAft>
                      </a:pPr>
                      <a:r>
                        <a:rPr lang="en-US" sz="1600">
                          <a:effectLst/>
                        </a:rPr>
                        <a:t>1</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0</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0</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0</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76532">
                <a:tc>
                  <a:txBody>
                    <a:bodyPr/>
                    <a:lstStyle/>
                    <a:p>
                      <a:pPr marL="457200" algn="ctr">
                        <a:lnSpc>
                          <a:spcPct val="115000"/>
                        </a:lnSpc>
                        <a:spcAft>
                          <a:spcPts val="0"/>
                        </a:spcAft>
                      </a:pPr>
                      <a:r>
                        <a:rPr lang="en-US" sz="1600">
                          <a:effectLst/>
                        </a:rPr>
                        <a:t>2</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0</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1</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0</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76532">
                <a:tc>
                  <a:txBody>
                    <a:bodyPr/>
                    <a:lstStyle/>
                    <a:p>
                      <a:pPr marL="457200" algn="ctr">
                        <a:lnSpc>
                          <a:spcPct val="115000"/>
                        </a:lnSpc>
                        <a:spcAft>
                          <a:spcPts val="0"/>
                        </a:spcAft>
                      </a:pPr>
                      <a:r>
                        <a:rPr lang="en-US" sz="1600">
                          <a:effectLst/>
                        </a:rPr>
                        <a:t>3</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1</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0</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0</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76532">
                <a:tc>
                  <a:txBody>
                    <a:bodyPr/>
                    <a:lstStyle/>
                    <a:p>
                      <a:pPr marL="457200" algn="ctr">
                        <a:lnSpc>
                          <a:spcPct val="115000"/>
                        </a:lnSpc>
                        <a:spcAft>
                          <a:spcPts val="0"/>
                        </a:spcAft>
                      </a:pPr>
                      <a:r>
                        <a:rPr lang="en-US" sz="1600">
                          <a:effectLst/>
                        </a:rPr>
                        <a:t>4</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1</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1</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dirty="0">
                          <a:effectLst/>
                        </a:rPr>
                        <a:t>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17564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2"/>
          <p:cNvSpPr/>
          <p:nvPr/>
        </p:nvSpPr>
        <p:spPr>
          <a:xfrm>
            <a:off x="5224463" y="11880850"/>
            <a:ext cx="3736975" cy="311150"/>
          </a:xfrm>
          <a:prstGeom prst="rect">
            <a:avLst/>
          </a:prstGeom>
          <a:blipFill>
            <a:blip r:embed="rId2" cstate="print"/>
            <a:stretch>
              <a:fillRect/>
            </a:stretch>
          </a:blipFill>
        </p:spPr>
        <p:txBody>
          <a:bodyPr wrap="square" lIns="0" tIns="0" rIns="0" bIns="0"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a:p>
        </p:txBody>
      </p:sp>
      <p:sp>
        <p:nvSpPr>
          <p:cNvPr id="4" name="object 32"/>
          <p:cNvSpPr/>
          <p:nvPr/>
        </p:nvSpPr>
        <p:spPr>
          <a:xfrm>
            <a:off x="1828800" y="9525000"/>
            <a:ext cx="3737227" cy="311433"/>
          </a:xfrm>
          <a:prstGeom prst="rect">
            <a:avLst/>
          </a:prstGeom>
          <a:blipFill>
            <a:blip r:embed="rId2" cstate="print"/>
            <a:stretch>
              <a:fillRect/>
            </a:stretch>
          </a:blipFill>
        </p:spPr>
        <p:txBody>
          <a:bodyPr wrap="square" lIns="0" tIns="0" rIns="0" bIns="0"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a:p>
        </p:txBody>
      </p:sp>
      <p:graphicFrame>
        <p:nvGraphicFramePr>
          <p:cNvPr id="5" name="Table 4"/>
          <p:cNvGraphicFramePr>
            <a:graphicFrameLocks noGrp="1"/>
          </p:cNvGraphicFramePr>
          <p:nvPr>
            <p:extLst>
              <p:ext uri="{D42A27DB-BD31-4B8C-83A1-F6EECF244321}">
                <p14:modId xmlns:p14="http://schemas.microsoft.com/office/powerpoint/2010/main" val="3017555882"/>
              </p:ext>
            </p:extLst>
          </p:nvPr>
        </p:nvGraphicFramePr>
        <p:xfrm>
          <a:off x="838198" y="1200150"/>
          <a:ext cx="7239002" cy="1584960"/>
        </p:xfrm>
        <a:graphic>
          <a:graphicData uri="http://schemas.openxmlformats.org/drawingml/2006/table">
            <a:tbl>
              <a:tblPr firstRow="1" firstCol="1" bandRow="1">
                <a:tableStyleId>{5C22544A-7EE6-4342-B048-85BDC9FD1C3A}</a:tableStyleId>
              </a:tblPr>
              <a:tblGrid>
                <a:gridCol w="685802">
                  <a:extLst>
                    <a:ext uri="{9D8B030D-6E8A-4147-A177-3AD203B41FA5}">
                      <a16:colId xmlns:a16="http://schemas.microsoft.com/office/drawing/2014/main" val="20000"/>
                    </a:ext>
                  </a:extLst>
                </a:gridCol>
                <a:gridCol w="601132">
                  <a:extLst>
                    <a:ext uri="{9D8B030D-6E8A-4147-A177-3AD203B41FA5}">
                      <a16:colId xmlns:a16="http://schemas.microsoft.com/office/drawing/2014/main" val="20001"/>
                    </a:ext>
                  </a:extLst>
                </a:gridCol>
                <a:gridCol w="643467">
                  <a:extLst>
                    <a:ext uri="{9D8B030D-6E8A-4147-A177-3AD203B41FA5}">
                      <a16:colId xmlns:a16="http://schemas.microsoft.com/office/drawing/2014/main" val="20002"/>
                    </a:ext>
                  </a:extLst>
                </a:gridCol>
                <a:gridCol w="643467">
                  <a:extLst>
                    <a:ext uri="{9D8B030D-6E8A-4147-A177-3AD203B41FA5}">
                      <a16:colId xmlns:a16="http://schemas.microsoft.com/office/drawing/2014/main" val="20003"/>
                    </a:ext>
                  </a:extLst>
                </a:gridCol>
                <a:gridCol w="643467">
                  <a:extLst>
                    <a:ext uri="{9D8B030D-6E8A-4147-A177-3AD203B41FA5}">
                      <a16:colId xmlns:a16="http://schemas.microsoft.com/office/drawing/2014/main" val="20004"/>
                    </a:ext>
                  </a:extLst>
                </a:gridCol>
                <a:gridCol w="1126067">
                  <a:extLst>
                    <a:ext uri="{9D8B030D-6E8A-4147-A177-3AD203B41FA5}">
                      <a16:colId xmlns:a16="http://schemas.microsoft.com/office/drawing/2014/main" val="20005"/>
                    </a:ext>
                  </a:extLst>
                </a:gridCol>
                <a:gridCol w="965200">
                  <a:extLst>
                    <a:ext uri="{9D8B030D-6E8A-4147-A177-3AD203B41FA5}">
                      <a16:colId xmlns:a16="http://schemas.microsoft.com/office/drawing/2014/main" val="20006"/>
                    </a:ext>
                  </a:extLst>
                </a:gridCol>
                <a:gridCol w="884767">
                  <a:extLst>
                    <a:ext uri="{9D8B030D-6E8A-4147-A177-3AD203B41FA5}">
                      <a16:colId xmlns:a16="http://schemas.microsoft.com/office/drawing/2014/main" val="20007"/>
                    </a:ext>
                  </a:extLst>
                </a:gridCol>
                <a:gridCol w="1045633">
                  <a:extLst>
                    <a:ext uri="{9D8B030D-6E8A-4147-A177-3AD203B41FA5}">
                      <a16:colId xmlns:a16="http://schemas.microsoft.com/office/drawing/2014/main" val="20008"/>
                    </a:ext>
                  </a:extLst>
                </a:gridCol>
              </a:tblGrid>
              <a:tr h="609600">
                <a:tc>
                  <a:txBody>
                    <a:bodyPr/>
                    <a:lstStyle/>
                    <a:p>
                      <a:pPr algn="ctr">
                        <a:spcAft>
                          <a:spcPts val="0"/>
                        </a:spcAft>
                      </a:pPr>
                      <a:r>
                        <a:rPr lang="en-US" sz="1200">
                          <a:effectLst/>
                        </a:rPr>
                        <a:t>Data Instance #</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Input x1</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Input x2</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True y</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Actual y</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dLoss/dw1</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dLoss/dw2</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x1_adv</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x2_adv</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209550">
                <a:tc>
                  <a:txBody>
                    <a:bodyPr/>
                    <a:lstStyle/>
                    <a:p>
                      <a:pPr algn="ctr">
                        <a:spcAft>
                          <a:spcPts val="0"/>
                        </a:spcAft>
                      </a:pPr>
                      <a:r>
                        <a:rPr lang="en-US" sz="1600" dirty="0">
                          <a:effectLst/>
                        </a:rPr>
                        <a:t>1</a:t>
                      </a:r>
                      <a:endParaRPr lang="en-IN"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dirty="0">
                          <a:effectLst/>
                        </a:rPr>
                        <a:t>0</a:t>
                      </a:r>
                      <a:endParaRPr lang="en-IN"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dirty="0">
                          <a:effectLst/>
                        </a:rPr>
                        <a:t>0</a:t>
                      </a:r>
                      <a:endParaRPr lang="en-IN"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dirty="0">
                          <a:effectLst/>
                        </a:rPr>
                        <a:t>0</a:t>
                      </a:r>
                      <a:endParaRPr lang="en-IN"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r">
                        <a:spcAft>
                          <a:spcPts val="0"/>
                        </a:spcAft>
                      </a:pPr>
                      <a:r>
                        <a:rPr lang="en-US" sz="1400" dirty="0">
                          <a:effectLst/>
                        </a:rPr>
                        <a:t>0.6224</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-0.31123</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-0.31123</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-0.6</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-0.6</a:t>
                      </a:r>
                      <a:endParaRPr lang="en-IN" sz="160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0001"/>
                  </a:ext>
                </a:extLst>
              </a:tr>
              <a:tr h="209550">
                <a:tc>
                  <a:txBody>
                    <a:bodyPr/>
                    <a:lstStyle/>
                    <a:p>
                      <a:pPr algn="ctr">
                        <a:spcAft>
                          <a:spcPts val="0"/>
                        </a:spcAft>
                      </a:pPr>
                      <a:r>
                        <a:rPr lang="en-US" sz="1600">
                          <a:effectLst/>
                        </a:rPr>
                        <a:t>2</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0</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dirty="0">
                          <a:effectLst/>
                        </a:rPr>
                        <a:t>0</a:t>
                      </a:r>
                      <a:endParaRPr lang="en-IN"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r">
                        <a:spcAft>
                          <a:spcPts val="0"/>
                        </a:spcAft>
                      </a:pPr>
                      <a:r>
                        <a:rPr lang="en-US" sz="1400" dirty="0">
                          <a:effectLst/>
                        </a:rPr>
                        <a:t>0.7310</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-0.36553</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-0.36553</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-0.6</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0.4</a:t>
                      </a:r>
                      <a:endParaRPr lang="en-IN" sz="160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0002"/>
                  </a:ext>
                </a:extLst>
              </a:tr>
              <a:tr h="209550">
                <a:tc>
                  <a:txBody>
                    <a:bodyPr/>
                    <a:lstStyle/>
                    <a:p>
                      <a:pPr algn="ctr">
                        <a:spcAft>
                          <a:spcPts val="0"/>
                        </a:spcAft>
                      </a:pPr>
                      <a:r>
                        <a:rPr lang="en-US" sz="1600">
                          <a:effectLst/>
                        </a:rPr>
                        <a:t>3</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0</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0</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r">
                        <a:spcAft>
                          <a:spcPts val="0"/>
                        </a:spcAft>
                      </a:pPr>
                      <a:r>
                        <a:rPr lang="en-US" sz="1400" dirty="0">
                          <a:effectLst/>
                        </a:rPr>
                        <a:t>0.7310</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-0.36553</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-0.36553</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0.4</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-0.6</a:t>
                      </a:r>
                      <a:endParaRPr lang="en-IN" sz="160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0003"/>
                  </a:ext>
                </a:extLst>
              </a:tr>
              <a:tr h="209550">
                <a:tc>
                  <a:txBody>
                    <a:bodyPr/>
                    <a:lstStyle/>
                    <a:p>
                      <a:pPr algn="ctr">
                        <a:spcAft>
                          <a:spcPts val="0"/>
                        </a:spcAft>
                      </a:pPr>
                      <a:r>
                        <a:rPr lang="en-US" sz="1600">
                          <a:effectLst/>
                        </a:rPr>
                        <a:t>4</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r">
                        <a:spcAft>
                          <a:spcPts val="0"/>
                        </a:spcAft>
                      </a:pPr>
                      <a:r>
                        <a:rPr lang="en-US" sz="1400" dirty="0">
                          <a:effectLst/>
                        </a:rPr>
                        <a:t>0.8175</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0.091213</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0.091213</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1.6</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1.6</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096469595"/>
              </p:ext>
            </p:extLst>
          </p:nvPr>
        </p:nvGraphicFramePr>
        <p:xfrm>
          <a:off x="2057400" y="3257550"/>
          <a:ext cx="5410200" cy="1143000"/>
        </p:xfrm>
        <a:graphic>
          <a:graphicData uri="http://schemas.openxmlformats.org/drawingml/2006/table">
            <a:tbl>
              <a:tblPr firstRow="1" firstCol="1" bandRow="1">
                <a:tableStyleId>{5C22544A-7EE6-4342-B048-85BDC9FD1C3A}</a:tableStyleId>
              </a:tblPr>
              <a:tblGrid>
                <a:gridCol w="39624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tblGrid>
              <a:tr h="190500">
                <a:tc gridSpan="2">
                  <a:txBody>
                    <a:bodyPr/>
                    <a:lstStyle/>
                    <a:p>
                      <a:pPr>
                        <a:spcAft>
                          <a:spcPts val="0"/>
                        </a:spcAft>
                      </a:pPr>
                      <a:r>
                        <a:rPr lang="en-US" sz="1800" b="0" dirty="0">
                          <a:solidFill>
                            <a:schemeClr val="tx1"/>
                          </a:solidFill>
                          <a:effectLst/>
                        </a:rPr>
                        <a:t>Loss= -True y *</a:t>
                      </a:r>
                      <a:r>
                        <a:rPr lang="en-US" sz="1800" b="0" dirty="0" err="1">
                          <a:solidFill>
                            <a:schemeClr val="tx1"/>
                          </a:solidFill>
                          <a:effectLst/>
                        </a:rPr>
                        <a:t>ln</a:t>
                      </a:r>
                      <a:r>
                        <a:rPr lang="en-US" sz="1800" b="0" dirty="0">
                          <a:solidFill>
                            <a:schemeClr val="tx1"/>
                          </a:solidFill>
                          <a:effectLst/>
                        </a:rPr>
                        <a:t>(actual y) - (1-True y)*</a:t>
                      </a:r>
                      <a:r>
                        <a:rPr lang="en-US" sz="1800" b="0" dirty="0" err="1">
                          <a:solidFill>
                            <a:schemeClr val="tx1"/>
                          </a:solidFill>
                          <a:effectLst/>
                        </a:rPr>
                        <a:t>ln</a:t>
                      </a:r>
                      <a:r>
                        <a:rPr lang="en-US" sz="1800" b="0" dirty="0">
                          <a:solidFill>
                            <a:schemeClr val="tx1"/>
                          </a:solidFill>
                          <a:effectLst/>
                        </a:rPr>
                        <a:t>(1-actual y)</a:t>
                      </a:r>
                      <a:endParaRPr lang="en-IN" sz="2000" b="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b">
                    <a:noFill/>
                  </a:tcPr>
                </a:tc>
                <a:tc hMerge="1">
                  <a:txBody>
                    <a:bodyPr/>
                    <a:lstStyle/>
                    <a:p>
                      <a:endParaRPr lang="en-IN"/>
                    </a:p>
                  </a:txBody>
                  <a:tcPr/>
                </a:tc>
                <a:extLst>
                  <a:ext uri="{0D108BD9-81ED-4DB2-BD59-A6C34878D82A}">
                    <a16:rowId xmlns:a16="http://schemas.microsoft.com/office/drawing/2014/main" val="10000"/>
                  </a:ext>
                </a:extLst>
              </a:tr>
              <a:tr h="441960">
                <a:tc>
                  <a:txBody>
                    <a:bodyPr/>
                    <a:lstStyle/>
                    <a:p>
                      <a:pPr>
                        <a:spcAft>
                          <a:spcPts val="0"/>
                        </a:spcAft>
                      </a:pPr>
                      <a:r>
                        <a:rPr lang="en-US" sz="1800" b="0" dirty="0" err="1">
                          <a:solidFill>
                            <a:schemeClr val="tx1"/>
                          </a:solidFill>
                          <a:effectLst/>
                        </a:rPr>
                        <a:t>dLoss</a:t>
                      </a:r>
                      <a:r>
                        <a:rPr lang="en-US" sz="1800" b="0" dirty="0">
                          <a:solidFill>
                            <a:schemeClr val="tx1"/>
                          </a:solidFill>
                          <a:effectLst/>
                        </a:rPr>
                        <a:t>/dx1=(true y - actual y)*w1</a:t>
                      </a:r>
                      <a:endParaRPr lang="en-IN" sz="2000" b="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b">
                    <a:noFill/>
                  </a:tcPr>
                </a:tc>
                <a:tc>
                  <a:txBody>
                    <a:bodyPr/>
                    <a:lstStyle/>
                    <a:p>
                      <a:endParaRPr lang="en-IN" dirty="0"/>
                    </a:p>
                  </a:txBody>
                  <a:tcPr marL="68580" marR="68580" marT="0" marB="0" anchor="b">
                    <a:noFill/>
                  </a:tcPr>
                </a:tc>
                <a:extLst>
                  <a:ext uri="{0D108BD9-81ED-4DB2-BD59-A6C34878D82A}">
                    <a16:rowId xmlns:a16="http://schemas.microsoft.com/office/drawing/2014/main" val="10001"/>
                  </a:ext>
                </a:extLst>
              </a:tr>
              <a:tr h="426720">
                <a:tc>
                  <a:txBody>
                    <a:bodyPr/>
                    <a:lstStyle/>
                    <a:p>
                      <a:pPr>
                        <a:spcAft>
                          <a:spcPts val="0"/>
                        </a:spcAft>
                      </a:pPr>
                      <a:r>
                        <a:rPr lang="en-US" sz="1800" b="0" dirty="0" err="1">
                          <a:solidFill>
                            <a:schemeClr val="tx1"/>
                          </a:solidFill>
                          <a:effectLst/>
                        </a:rPr>
                        <a:t>dLoss</a:t>
                      </a:r>
                      <a:r>
                        <a:rPr lang="en-US" sz="1800" b="0" dirty="0">
                          <a:solidFill>
                            <a:schemeClr val="tx1"/>
                          </a:solidFill>
                          <a:effectLst/>
                        </a:rPr>
                        <a:t>/dx2=(true y - actual y)*w2</a:t>
                      </a:r>
                      <a:endParaRPr lang="en-IN" sz="2000" b="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b">
                    <a:noFill/>
                  </a:tcPr>
                </a:tc>
                <a:tc>
                  <a:txBody>
                    <a:bodyPr/>
                    <a:lstStyle/>
                    <a:p>
                      <a:endParaRPr lang="en-IN" dirty="0"/>
                    </a:p>
                  </a:txBody>
                  <a:tcPr marL="68580" marR="68580" marT="0" marB="0" anchor="b">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738413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62000" y="361950"/>
            <a:ext cx="7162800" cy="1047979"/>
          </a:xfrm>
          <a:prstGeom prst="rect">
            <a:avLst/>
          </a:prstGeom>
        </p:spPr>
        <p:txBody>
          <a:bodyPr wrap="square">
            <a:spAutoFit/>
          </a:bodyPr>
          <a:lstStyle/>
          <a:p>
            <a:pPr lvl="0" algn="just">
              <a:lnSpc>
                <a:spcPct val="115000"/>
              </a:lnSpc>
              <a:spcAft>
                <a:spcPts val="0"/>
              </a:spcAft>
            </a:pPr>
            <a:r>
              <a:rPr lang="en-US" dirty="0">
                <a:latin typeface="Calibri" panose="020F0502020204030204" pitchFamily="34" charset="0"/>
                <a:ea typeface="Calibri" panose="020F0502020204030204" pitchFamily="34" charset="0"/>
                <a:cs typeface="Calibri" panose="020F0502020204030204" pitchFamily="34" charset="0"/>
              </a:rPr>
              <a:t>If one-step targeted Fast Gradient Sign Method is used, calculate the adversarial input sample. Data Instance #1 is targeted, i.e., target y for instance #1 is set to 1. Rest of the true values are unchanged. ϵ = 0.6.</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object 30"/>
          <p:cNvSpPr/>
          <p:nvPr/>
        </p:nvSpPr>
        <p:spPr>
          <a:xfrm>
            <a:off x="2647560" y="1409929"/>
            <a:ext cx="3391680" cy="294920"/>
          </a:xfrm>
          <a:prstGeom prst="rect">
            <a:avLst/>
          </a:prstGeom>
          <a:blipFill>
            <a:blip r:embed="rId2" cstate="print"/>
            <a:stretch>
              <a:fillRect/>
            </a:stretch>
          </a:blipFill>
        </p:spPr>
        <p:txBody>
          <a:bodyPr wrap="square" lIns="0" tIns="0" rIns="0" bIns="0"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a:p>
        </p:txBody>
      </p:sp>
      <p:graphicFrame>
        <p:nvGraphicFramePr>
          <p:cNvPr id="7" name="Table 6"/>
          <p:cNvGraphicFramePr>
            <a:graphicFrameLocks noGrp="1"/>
          </p:cNvGraphicFramePr>
          <p:nvPr>
            <p:extLst>
              <p:ext uri="{D42A27DB-BD31-4B8C-83A1-F6EECF244321}">
                <p14:modId xmlns:p14="http://schemas.microsoft.com/office/powerpoint/2010/main" val="2090917511"/>
              </p:ext>
            </p:extLst>
          </p:nvPr>
        </p:nvGraphicFramePr>
        <p:xfrm>
          <a:off x="1066800" y="2038350"/>
          <a:ext cx="6553200" cy="1584960"/>
        </p:xfrm>
        <a:graphic>
          <a:graphicData uri="http://schemas.openxmlformats.org/drawingml/2006/table">
            <a:tbl>
              <a:tblPr firstRow="1" firstCol="1" bandRow="1">
                <a:tableStyleId>{5C22544A-7EE6-4342-B048-85BDC9FD1C3A}</a:tableStyleId>
              </a:tblPr>
              <a:tblGrid>
                <a:gridCol w="6858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9906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838200">
                  <a:extLst>
                    <a:ext uri="{9D8B030D-6E8A-4147-A177-3AD203B41FA5}">
                      <a16:colId xmlns:a16="http://schemas.microsoft.com/office/drawing/2014/main" val="20008"/>
                    </a:ext>
                  </a:extLst>
                </a:gridCol>
              </a:tblGrid>
              <a:tr h="609600">
                <a:tc>
                  <a:txBody>
                    <a:bodyPr/>
                    <a:lstStyle/>
                    <a:p>
                      <a:pPr algn="ctr">
                        <a:spcAft>
                          <a:spcPts val="0"/>
                        </a:spcAft>
                      </a:pPr>
                      <a:r>
                        <a:rPr lang="en-US" sz="1200" dirty="0">
                          <a:effectLst/>
                        </a:rPr>
                        <a:t>Data Instance #</a:t>
                      </a:r>
                      <a:endParaRPr lang="en-IN"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Input x1</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Input x2</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Target y</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dirty="0">
                          <a:effectLst/>
                        </a:rPr>
                        <a:t>Actual y</a:t>
                      </a:r>
                      <a:endParaRPr lang="en-IN"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dirty="0" err="1">
                          <a:effectLst/>
                        </a:rPr>
                        <a:t>dLoss</a:t>
                      </a:r>
                      <a:r>
                        <a:rPr lang="en-US" sz="1200" dirty="0">
                          <a:effectLst/>
                        </a:rPr>
                        <a:t>/dw1</a:t>
                      </a:r>
                      <a:endParaRPr lang="en-IN" sz="12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dLoss/dw2</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x1_adv</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200">
                          <a:effectLst/>
                        </a:rPr>
                        <a:t>x2_adv</a:t>
                      </a:r>
                      <a:endParaRPr lang="en-IN" sz="12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209550">
                <a:tc>
                  <a:txBody>
                    <a:bodyPr/>
                    <a:lstStyle/>
                    <a:p>
                      <a:pPr algn="ctr">
                        <a:spcAft>
                          <a:spcPts val="0"/>
                        </a:spcAft>
                      </a:pPr>
                      <a:r>
                        <a:rPr lang="en-US" sz="1600" dirty="0">
                          <a:effectLst/>
                        </a:rPr>
                        <a:t>1</a:t>
                      </a:r>
                      <a:endParaRPr lang="en-IN"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dirty="0">
                          <a:effectLst/>
                        </a:rPr>
                        <a:t>0</a:t>
                      </a:r>
                      <a:endParaRPr lang="en-IN"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dirty="0">
                          <a:effectLst/>
                        </a:rPr>
                        <a:t>0</a:t>
                      </a:r>
                      <a:endParaRPr lang="en-IN"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r">
                        <a:spcAft>
                          <a:spcPts val="0"/>
                        </a:spcAft>
                      </a:pPr>
                      <a:r>
                        <a:rPr lang="en-US" sz="1400" dirty="0">
                          <a:effectLst/>
                        </a:rPr>
                        <a:t>0.62245</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0.18877</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0.18877</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-0.6</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-0.6</a:t>
                      </a:r>
                      <a:endParaRPr lang="en-IN" sz="160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0001"/>
                  </a:ext>
                </a:extLst>
              </a:tr>
              <a:tr h="209550">
                <a:tc>
                  <a:txBody>
                    <a:bodyPr/>
                    <a:lstStyle/>
                    <a:p>
                      <a:pPr algn="ctr">
                        <a:spcAft>
                          <a:spcPts val="0"/>
                        </a:spcAft>
                      </a:pPr>
                      <a:r>
                        <a:rPr lang="en-US" sz="1600">
                          <a:effectLst/>
                        </a:rPr>
                        <a:t>2</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0</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dirty="0">
                          <a:effectLst/>
                        </a:rPr>
                        <a:t>1</a:t>
                      </a:r>
                      <a:endParaRPr lang="en-IN"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dirty="0">
                          <a:effectLst/>
                        </a:rPr>
                        <a:t>0</a:t>
                      </a:r>
                      <a:endParaRPr lang="en-IN"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r">
                        <a:spcAft>
                          <a:spcPts val="0"/>
                        </a:spcAft>
                      </a:pPr>
                      <a:r>
                        <a:rPr lang="en-US" sz="1400" dirty="0">
                          <a:effectLst/>
                        </a:rPr>
                        <a:t>0.73105</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-0.36553</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-0.36553</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0.6</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1.6</a:t>
                      </a:r>
                      <a:endParaRPr lang="en-IN" sz="160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0002"/>
                  </a:ext>
                </a:extLst>
              </a:tr>
              <a:tr h="209550">
                <a:tc>
                  <a:txBody>
                    <a:bodyPr/>
                    <a:lstStyle/>
                    <a:p>
                      <a:pPr algn="ctr">
                        <a:spcAft>
                          <a:spcPts val="0"/>
                        </a:spcAft>
                      </a:pPr>
                      <a:r>
                        <a:rPr lang="en-US" sz="1600">
                          <a:effectLst/>
                        </a:rPr>
                        <a:t>3</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0</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0</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r">
                        <a:spcAft>
                          <a:spcPts val="0"/>
                        </a:spcAft>
                      </a:pPr>
                      <a:r>
                        <a:rPr lang="en-US" sz="1400" dirty="0">
                          <a:effectLst/>
                        </a:rPr>
                        <a:t>0.73105</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-0.36553</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-0.36553</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1.6</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0.6</a:t>
                      </a:r>
                      <a:endParaRPr lang="en-IN" sz="160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0003"/>
                  </a:ext>
                </a:extLst>
              </a:tr>
              <a:tr h="209550">
                <a:tc>
                  <a:txBody>
                    <a:bodyPr/>
                    <a:lstStyle/>
                    <a:p>
                      <a:pPr algn="ctr">
                        <a:spcAft>
                          <a:spcPts val="0"/>
                        </a:spcAft>
                      </a:pPr>
                      <a:r>
                        <a:rPr lang="en-US" sz="1600">
                          <a:effectLst/>
                        </a:rPr>
                        <a:t>4</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r">
                        <a:spcAft>
                          <a:spcPts val="0"/>
                        </a:spcAft>
                      </a:pPr>
                      <a:r>
                        <a:rPr lang="en-US" sz="1400" dirty="0">
                          <a:effectLst/>
                        </a:rPr>
                        <a:t>0.81757</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0.091213</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0.091213</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0.4</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0.4</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315485348"/>
              </p:ext>
            </p:extLst>
          </p:nvPr>
        </p:nvGraphicFramePr>
        <p:xfrm>
          <a:off x="1905000" y="3867150"/>
          <a:ext cx="5181600" cy="731520"/>
        </p:xfrm>
        <a:graphic>
          <a:graphicData uri="http://schemas.openxmlformats.org/drawingml/2006/table">
            <a:tbl>
              <a:tblPr firstRow="1" firstCol="1" bandRow="1">
                <a:tableStyleId>{5C22544A-7EE6-4342-B048-85BDC9FD1C3A}</a:tableStyleId>
              </a:tblPr>
              <a:tblGrid>
                <a:gridCol w="4572000">
                  <a:extLst>
                    <a:ext uri="{9D8B030D-6E8A-4147-A177-3AD203B41FA5}">
                      <a16:colId xmlns:a16="http://schemas.microsoft.com/office/drawing/2014/main" val="20000"/>
                    </a:ext>
                  </a:extLst>
                </a:gridCol>
                <a:gridCol w="304800">
                  <a:extLst>
                    <a:ext uri="{9D8B030D-6E8A-4147-A177-3AD203B41FA5}">
                      <a16:colId xmlns:a16="http://schemas.microsoft.com/office/drawing/2014/main" val="20001"/>
                    </a:ext>
                  </a:extLst>
                </a:gridCol>
                <a:gridCol w="304800">
                  <a:extLst>
                    <a:ext uri="{9D8B030D-6E8A-4147-A177-3AD203B41FA5}">
                      <a16:colId xmlns:a16="http://schemas.microsoft.com/office/drawing/2014/main" val="20002"/>
                    </a:ext>
                  </a:extLst>
                </a:gridCol>
              </a:tblGrid>
              <a:tr h="190500">
                <a:tc gridSpan="3">
                  <a:txBody>
                    <a:bodyPr/>
                    <a:lstStyle/>
                    <a:p>
                      <a:pPr>
                        <a:spcAft>
                          <a:spcPts val="0"/>
                        </a:spcAft>
                      </a:pPr>
                      <a:r>
                        <a:rPr lang="en-US" sz="1600" b="0" dirty="0">
                          <a:solidFill>
                            <a:schemeClr val="tx1"/>
                          </a:solidFill>
                          <a:effectLst/>
                        </a:rPr>
                        <a:t>Loss= -Target y *</a:t>
                      </a:r>
                      <a:r>
                        <a:rPr lang="en-US" sz="1600" b="0" dirty="0" err="1">
                          <a:solidFill>
                            <a:schemeClr val="tx1"/>
                          </a:solidFill>
                          <a:effectLst/>
                        </a:rPr>
                        <a:t>ln</a:t>
                      </a:r>
                      <a:r>
                        <a:rPr lang="en-US" sz="1600" b="0" dirty="0">
                          <a:solidFill>
                            <a:schemeClr val="tx1"/>
                          </a:solidFill>
                          <a:effectLst/>
                        </a:rPr>
                        <a:t>(actual) - (1-Target y)*</a:t>
                      </a:r>
                      <a:r>
                        <a:rPr lang="en-US" sz="1600" b="0" dirty="0" err="1">
                          <a:solidFill>
                            <a:schemeClr val="tx1"/>
                          </a:solidFill>
                          <a:effectLst/>
                        </a:rPr>
                        <a:t>ln</a:t>
                      </a:r>
                      <a:r>
                        <a:rPr lang="en-US" sz="1600" b="0" dirty="0">
                          <a:solidFill>
                            <a:schemeClr val="tx1"/>
                          </a:solidFill>
                          <a:effectLst/>
                        </a:rPr>
                        <a:t>(1-actual y)</a:t>
                      </a:r>
                      <a:endParaRPr lang="en-IN" sz="1800" b="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b">
                    <a:no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190500">
                <a:tc>
                  <a:txBody>
                    <a:bodyPr/>
                    <a:lstStyle/>
                    <a:p>
                      <a:pPr>
                        <a:spcAft>
                          <a:spcPts val="0"/>
                        </a:spcAft>
                      </a:pPr>
                      <a:r>
                        <a:rPr lang="en-US" sz="1600" b="0" dirty="0" err="1">
                          <a:solidFill>
                            <a:schemeClr val="tx1"/>
                          </a:solidFill>
                          <a:effectLst/>
                        </a:rPr>
                        <a:t>dLoss</a:t>
                      </a:r>
                      <a:r>
                        <a:rPr lang="en-US" sz="1600" b="0" dirty="0">
                          <a:solidFill>
                            <a:schemeClr val="tx1"/>
                          </a:solidFill>
                          <a:effectLst/>
                        </a:rPr>
                        <a:t>/dx1=(target y - actual y)*w1</a:t>
                      </a:r>
                      <a:endParaRPr lang="en-IN" sz="1800" b="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b">
                    <a:noFill/>
                  </a:tcPr>
                </a:tc>
                <a:tc>
                  <a:txBody>
                    <a:bodyPr/>
                    <a:lstStyle/>
                    <a:p>
                      <a:endParaRPr lang="en-IN" sz="1050" dirty="0">
                        <a:effectLst/>
                        <a:latin typeface="Times New Roman" panose="02020603050405020304" pitchFamily="18" charset="0"/>
                      </a:endParaRPr>
                    </a:p>
                  </a:txBody>
                  <a:tcPr marL="68580" marR="68580" marT="0" marB="0" anchor="b">
                    <a:noFill/>
                  </a:tcPr>
                </a:tc>
                <a:tc>
                  <a:txBody>
                    <a:bodyPr/>
                    <a:lstStyle/>
                    <a:p>
                      <a:endParaRPr lang="en-IN" sz="1050" dirty="0">
                        <a:effectLst/>
                        <a:latin typeface="Times New Roman" panose="02020603050405020304" pitchFamily="18" charset="0"/>
                      </a:endParaRPr>
                    </a:p>
                  </a:txBody>
                  <a:tcPr marL="68580" marR="68580" marT="0" marB="0" anchor="b">
                    <a:noFill/>
                  </a:tcPr>
                </a:tc>
                <a:extLst>
                  <a:ext uri="{0D108BD9-81ED-4DB2-BD59-A6C34878D82A}">
                    <a16:rowId xmlns:a16="http://schemas.microsoft.com/office/drawing/2014/main" val="10001"/>
                  </a:ext>
                </a:extLst>
              </a:tr>
              <a:tr h="190500">
                <a:tc>
                  <a:txBody>
                    <a:bodyPr/>
                    <a:lstStyle/>
                    <a:p>
                      <a:pPr>
                        <a:spcAft>
                          <a:spcPts val="0"/>
                        </a:spcAft>
                      </a:pPr>
                      <a:r>
                        <a:rPr lang="en-US" sz="1600" b="0" dirty="0" err="1">
                          <a:solidFill>
                            <a:schemeClr val="tx1"/>
                          </a:solidFill>
                          <a:effectLst/>
                        </a:rPr>
                        <a:t>dLoss</a:t>
                      </a:r>
                      <a:r>
                        <a:rPr lang="en-US" sz="1600" b="0" dirty="0">
                          <a:solidFill>
                            <a:schemeClr val="tx1"/>
                          </a:solidFill>
                          <a:effectLst/>
                        </a:rPr>
                        <a:t>/dx2=(target y - actual y)*w2</a:t>
                      </a:r>
                      <a:endParaRPr lang="en-IN" sz="1800" b="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b">
                    <a:noFill/>
                  </a:tcPr>
                </a:tc>
                <a:tc>
                  <a:txBody>
                    <a:bodyPr/>
                    <a:lstStyle/>
                    <a:p>
                      <a:endParaRPr lang="en-IN" sz="1050">
                        <a:effectLst/>
                        <a:latin typeface="Times New Roman" panose="02020603050405020304" pitchFamily="18" charset="0"/>
                      </a:endParaRPr>
                    </a:p>
                  </a:txBody>
                  <a:tcPr marL="68580" marR="68580" marT="0" marB="0" anchor="b">
                    <a:noFill/>
                  </a:tcPr>
                </a:tc>
                <a:tc>
                  <a:txBody>
                    <a:bodyPr/>
                    <a:lstStyle/>
                    <a:p>
                      <a:endParaRPr lang="en-IN" sz="1050" dirty="0">
                        <a:effectLst/>
                        <a:latin typeface="Times New Roman" panose="02020603050405020304" pitchFamily="18" charset="0"/>
                      </a:endParaRPr>
                    </a:p>
                  </a:txBody>
                  <a:tcPr marL="68580" marR="68580" marT="0" marB="0" anchor="b">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085137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25694204"/>
              </p:ext>
            </p:extLst>
          </p:nvPr>
        </p:nvGraphicFramePr>
        <p:xfrm>
          <a:off x="1516380" y="2114550"/>
          <a:ext cx="6263640" cy="1542417"/>
        </p:xfrm>
        <a:graphic>
          <a:graphicData uri="http://schemas.openxmlformats.org/drawingml/2006/table">
            <a:tbl>
              <a:tblPr firstRow="1" firstCol="1" bandRow="1">
                <a:tableStyleId>{5C22544A-7EE6-4342-B048-85BDC9FD1C3A}</a:tableStyleId>
              </a:tblPr>
              <a:tblGrid>
                <a:gridCol w="1565910">
                  <a:extLst>
                    <a:ext uri="{9D8B030D-6E8A-4147-A177-3AD203B41FA5}">
                      <a16:colId xmlns:a16="http://schemas.microsoft.com/office/drawing/2014/main" val="20000"/>
                    </a:ext>
                  </a:extLst>
                </a:gridCol>
                <a:gridCol w="1565910">
                  <a:extLst>
                    <a:ext uri="{9D8B030D-6E8A-4147-A177-3AD203B41FA5}">
                      <a16:colId xmlns:a16="http://schemas.microsoft.com/office/drawing/2014/main" val="20001"/>
                    </a:ext>
                  </a:extLst>
                </a:gridCol>
                <a:gridCol w="1565910">
                  <a:extLst>
                    <a:ext uri="{9D8B030D-6E8A-4147-A177-3AD203B41FA5}">
                      <a16:colId xmlns:a16="http://schemas.microsoft.com/office/drawing/2014/main" val="20002"/>
                    </a:ext>
                  </a:extLst>
                </a:gridCol>
                <a:gridCol w="1565910">
                  <a:extLst>
                    <a:ext uri="{9D8B030D-6E8A-4147-A177-3AD203B41FA5}">
                      <a16:colId xmlns:a16="http://schemas.microsoft.com/office/drawing/2014/main" val="20003"/>
                    </a:ext>
                  </a:extLst>
                </a:gridCol>
              </a:tblGrid>
              <a:tr h="0">
                <a:tc>
                  <a:txBody>
                    <a:bodyPr/>
                    <a:lstStyle/>
                    <a:p>
                      <a:pPr marL="457200" algn="ctr">
                        <a:lnSpc>
                          <a:spcPct val="115000"/>
                        </a:lnSpc>
                        <a:spcAft>
                          <a:spcPts val="0"/>
                        </a:spcAft>
                      </a:pPr>
                      <a:r>
                        <a:rPr lang="en-US" sz="1200" dirty="0">
                          <a:effectLst/>
                        </a:rPr>
                        <a:t>Instance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200" dirty="0">
                          <a:effectLst/>
                        </a:rPr>
                        <a:t>x1 (sq. ft.)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200" dirty="0">
                          <a:effectLst/>
                        </a:rPr>
                        <a:t>X2 (distance in km)</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200" dirty="0">
                          <a:effectLst/>
                        </a:rPr>
                        <a:t>Y (price in lakhs of rupees)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a:txBody>
                    <a:bodyPr/>
                    <a:lstStyle/>
                    <a:p>
                      <a:pPr marL="457200" algn="ctr">
                        <a:lnSpc>
                          <a:spcPct val="115000"/>
                        </a:lnSpc>
                        <a:spcAft>
                          <a:spcPts val="0"/>
                        </a:spcAft>
                      </a:pPr>
                      <a:r>
                        <a:rPr lang="en-US" sz="1400" dirty="0">
                          <a:effectLst/>
                        </a:rPr>
                        <a:t>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dirty="0">
                          <a:effectLst/>
                        </a:rPr>
                        <a:t>500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a:effectLst/>
                        </a:rPr>
                        <a:t>1</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a:effectLst/>
                        </a:rPr>
                        <a:t>25</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0">
                <a:tc>
                  <a:txBody>
                    <a:bodyPr/>
                    <a:lstStyle/>
                    <a:p>
                      <a:pPr marL="457200" algn="ctr">
                        <a:lnSpc>
                          <a:spcPct val="115000"/>
                        </a:lnSpc>
                        <a:spcAft>
                          <a:spcPts val="0"/>
                        </a:spcAft>
                      </a:pPr>
                      <a:r>
                        <a:rPr lang="en-US" sz="1400">
                          <a:effectLst/>
                        </a:rPr>
                        <a:t>2</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dirty="0">
                          <a:effectLst/>
                        </a:rPr>
                        <a:t>750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dirty="0">
                          <a:effectLst/>
                        </a:rPr>
                        <a:t>2</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a:effectLst/>
                        </a:rPr>
                        <a:t>35</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0">
                <a:tc>
                  <a:txBody>
                    <a:bodyPr/>
                    <a:lstStyle/>
                    <a:p>
                      <a:pPr marL="457200" algn="ctr">
                        <a:lnSpc>
                          <a:spcPct val="115000"/>
                        </a:lnSpc>
                        <a:spcAft>
                          <a:spcPts val="0"/>
                        </a:spcAft>
                      </a:pPr>
                      <a:r>
                        <a:rPr lang="en-US" sz="1400">
                          <a:effectLst/>
                        </a:rPr>
                        <a:t>3</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a:effectLst/>
                        </a:rPr>
                        <a:t>800</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dirty="0">
                          <a:effectLst/>
                        </a:rPr>
                        <a:t>3</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a:effectLst/>
                        </a:rPr>
                        <a:t>35</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0">
                <a:tc>
                  <a:txBody>
                    <a:bodyPr/>
                    <a:lstStyle/>
                    <a:p>
                      <a:pPr marL="457200" algn="ctr">
                        <a:lnSpc>
                          <a:spcPct val="115000"/>
                        </a:lnSpc>
                        <a:spcAft>
                          <a:spcPts val="0"/>
                        </a:spcAft>
                      </a:pPr>
                      <a:r>
                        <a:rPr lang="en-US" sz="1400">
                          <a:effectLst/>
                        </a:rPr>
                        <a:t>4</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a:effectLst/>
                        </a:rPr>
                        <a:t>1200</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a:effectLst/>
                        </a:rPr>
                        <a:t>5</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dirty="0">
                          <a:effectLst/>
                        </a:rPr>
                        <a:t>50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bl>
          </a:graphicData>
        </a:graphic>
      </p:graphicFrame>
      <p:sp>
        <p:nvSpPr>
          <p:cNvPr id="3" name="Rectangle 1"/>
          <p:cNvSpPr>
            <a:spLocks noChangeArrowheads="1"/>
          </p:cNvSpPr>
          <p:nvPr/>
        </p:nvSpPr>
        <p:spPr bwMode="auto">
          <a:xfrm>
            <a:off x="914400" y="590550"/>
            <a:ext cx="74676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Consider the following training dataset relating features x1 (sq. ft. of a flat) and x2 (distance of the flat from the city </a:t>
            </a:r>
            <a:r>
              <a:rPr kumimoji="0" lang="en-US" sz="14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centre</a:t>
            </a:r>
            <a:r>
              <a:rPr kumimoji="0" 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 and its price y. Linear regression model is used. No scaling is used.		</a:t>
            </a:r>
            <a:endParaRPr lang="en-US" sz="1400" dirty="0">
              <a:latin typeface="Arial" panose="020B060402020202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Calculate the standard Shapley values for a flat of 1000 </a:t>
            </a:r>
            <a:r>
              <a:rPr kumimoji="0" lang="en-US" sz="14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sq</a:t>
            </a:r>
            <a:r>
              <a:rPr kumimoji="0" 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 ft. and at a distance of 4 km. Show all steps including all the models obtained for different coalitions of features, marginal contributions clearly.</a:t>
            </a:r>
            <a:endParaRPr kumimoji="0" 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34579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438150"/>
            <a:ext cx="7848600" cy="4233467"/>
          </a:xfrm>
          <a:prstGeom prst="rect">
            <a:avLst/>
          </a:prstGeom>
        </p:spPr>
        <p:txBody>
          <a:bodyPr wrap="square">
            <a:spAutoFit/>
          </a:bodyPr>
          <a:lstStyle/>
          <a:p>
            <a:pPr marL="457200">
              <a:lnSpc>
                <a:spcPct val="115000"/>
              </a:lnSpc>
              <a:spcAft>
                <a:spcPts val="0"/>
              </a:spcAft>
            </a:pPr>
            <a:r>
              <a:rPr lang="en-US" dirty="0">
                <a:latin typeface="Calibri" panose="020F0502020204030204" pitchFamily="34" charset="0"/>
                <a:ea typeface="Calibri" panose="020F0502020204030204" pitchFamily="34" charset="0"/>
                <a:cs typeface="Calibri" panose="020F0502020204030204" pitchFamily="34" charset="0"/>
              </a:rPr>
              <a:t>Model(NULL) = (25+35+35+50)/4=36.25</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0"/>
              </a:spcAft>
            </a:pPr>
            <a:r>
              <a:rPr lang="en-US" dirty="0">
                <a:latin typeface="Calibri" panose="020F0502020204030204" pitchFamily="34" charset="0"/>
                <a:ea typeface="Calibri" panose="020F0502020204030204" pitchFamily="34" charset="0"/>
                <a:cs typeface="Calibri" panose="020F0502020204030204" pitchFamily="34" charset="0"/>
              </a:rPr>
              <a:t>Model(x1)= 7.419+0.0355x1</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0"/>
              </a:spcAft>
            </a:pPr>
            <a:r>
              <a:rPr lang="en-US" dirty="0">
                <a:latin typeface="Calibri" panose="020F0502020204030204" pitchFamily="34" charset="0"/>
                <a:ea typeface="Calibri" panose="020F0502020204030204" pitchFamily="34" charset="0"/>
                <a:cs typeface="Calibri" panose="020F0502020204030204" pitchFamily="34" charset="0"/>
              </a:rPr>
              <a:t>Model(x2)=20.143+5.857</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0"/>
              </a:spcAft>
            </a:pPr>
            <a:r>
              <a:rPr lang="en-US" dirty="0">
                <a:latin typeface="Calibri" panose="020F0502020204030204" pitchFamily="34" charset="0"/>
                <a:ea typeface="Calibri" panose="020F0502020204030204" pitchFamily="34" charset="0"/>
                <a:cs typeface="Calibri" panose="020F0502020204030204" pitchFamily="34" charset="0"/>
              </a:rPr>
              <a:t>Model(x1,x2)=2.5+0.05x1-2.5x2</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0"/>
              </a:spcAft>
            </a:pPr>
            <a:r>
              <a:rPr lang="en-US" dirty="0">
                <a:latin typeface="Calibri" panose="020F0502020204030204" pitchFamily="34" charset="0"/>
                <a:ea typeface="Calibri" panose="020F0502020204030204" pitchFamily="34" charset="0"/>
                <a:cs typeface="Calibri" panose="020F0502020204030204" pitchFamily="34"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0"/>
              </a:spcAft>
            </a:pPr>
            <a:r>
              <a:rPr lang="en-US" dirty="0">
                <a:latin typeface="Calibri" panose="020F0502020204030204" pitchFamily="34" charset="0"/>
                <a:ea typeface="Calibri" panose="020F0502020204030204" pitchFamily="34" charset="0"/>
                <a:cs typeface="Calibri" panose="020F0502020204030204" pitchFamily="34" charset="0"/>
              </a:rPr>
              <a:t>At (x1,x2)=(1000,4), prediction using </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0"/>
              </a:spcAft>
            </a:pPr>
            <a:r>
              <a:rPr lang="en-US" dirty="0">
                <a:latin typeface="Calibri" panose="020F0502020204030204" pitchFamily="34" charset="0"/>
                <a:ea typeface="Calibri" panose="020F0502020204030204" pitchFamily="34" charset="0"/>
                <a:cs typeface="Calibri" panose="020F0502020204030204" pitchFamily="34" charset="0"/>
              </a:rPr>
              <a:t>model(null)=36.25</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0"/>
              </a:spcAft>
            </a:pPr>
            <a:r>
              <a:rPr lang="en-US" dirty="0">
                <a:latin typeface="Calibri" panose="020F0502020204030204" pitchFamily="34" charset="0"/>
                <a:ea typeface="Calibri" panose="020F0502020204030204" pitchFamily="34" charset="0"/>
                <a:cs typeface="Calibri" panose="020F0502020204030204" pitchFamily="34" charset="0"/>
              </a:rPr>
              <a:t>model(x1)=7.419+0.0355*1000=42.919</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0"/>
              </a:spcAft>
            </a:pPr>
            <a:r>
              <a:rPr lang="en-US" dirty="0">
                <a:latin typeface="Calibri" panose="020F0502020204030204" pitchFamily="34" charset="0"/>
                <a:ea typeface="Calibri" panose="020F0502020204030204" pitchFamily="34" charset="0"/>
                <a:cs typeface="Calibri" panose="020F0502020204030204" pitchFamily="34" charset="0"/>
              </a:rPr>
              <a:t>model(x2)=20.143+5.857*4=43.571</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0"/>
              </a:spcAft>
            </a:pPr>
            <a:r>
              <a:rPr lang="en-US" dirty="0">
                <a:latin typeface="Calibri" panose="020F0502020204030204" pitchFamily="34" charset="0"/>
                <a:ea typeface="Calibri" panose="020F0502020204030204" pitchFamily="34" charset="0"/>
                <a:cs typeface="Calibri" panose="020F0502020204030204" pitchFamily="34" charset="0"/>
              </a:rPr>
              <a:t>model(x1,x2)=2.5+0.05*1000-2.5*4=42.5</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0"/>
              </a:spcAft>
            </a:pPr>
            <a:r>
              <a:rPr lang="en-US" dirty="0">
                <a:latin typeface="Calibri" panose="020F0502020204030204" pitchFamily="34" charset="0"/>
                <a:ea typeface="Calibri" panose="020F0502020204030204" pitchFamily="34" charset="0"/>
                <a:cs typeface="Calibri" panose="020F0502020204030204" pitchFamily="34"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0"/>
              </a:spcAft>
            </a:pPr>
            <a:r>
              <a:rPr lang="en-US" dirty="0">
                <a:latin typeface="Calibri" panose="020F0502020204030204" pitchFamily="34" charset="0"/>
                <a:ea typeface="Calibri" panose="020F0502020204030204" pitchFamily="34" charset="0"/>
                <a:cs typeface="Calibri" panose="020F0502020204030204" pitchFamily="34" charset="0"/>
              </a:rPr>
              <a:t>Contribution due to x1 = 0.5*(42.919-36.25+42.5-43.571) = 2.799</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0"/>
              </a:spcAft>
            </a:pPr>
            <a:r>
              <a:rPr lang="en-US" dirty="0">
                <a:latin typeface="Calibri" panose="020F0502020204030204" pitchFamily="34" charset="0"/>
                <a:ea typeface="Calibri" panose="020F0502020204030204" pitchFamily="34" charset="0"/>
                <a:cs typeface="Calibri" panose="020F0502020204030204" pitchFamily="34" charset="0"/>
              </a:rPr>
              <a:t>Contribution due to x2 = 0.5*(43.571-36.25+42.5-42.919) = 3.451</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64697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159205083"/>
              </p:ext>
            </p:extLst>
          </p:nvPr>
        </p:nvGraphicFramePr>
        <p:xfrm>
          <a:off x="609600" y="1581150"/>
          <a:ext cx="7848599" cy="2774882"/>
        </p:xfrm>
        <a:graphic>
          <a:graphicData uri="http://schemas.openxmlformats.org/drawingml/2006/table">
            <a:tbl>
              <a:tblPr firstRow="1" firstCol="1" bandRow="1">
                <a:tableStyleId>{5C22544A-7EE6-4342-B048-85BDC9FD1C3A}</a:tableStyleId>
              </a:tblPr>
              <a:tblGrid>
                <a:gridCol w="1347353">
                  <a:extLst>
                    <a:ext uri="{9D8B030D-6E8A-4147-A177-3AD203B41FA5}">
                      <a16:colId xmlns:a16="http://schemas.microsoft.com/office/drawing/2014/main" val="20000"/>
                    </a:ext>
                  </a:extLst>
                </a:gridCol>
                <a:gridCol w="866576">
                  <a:extLst>
                    <a:ext uri="{9D8B030D-6E8A-4147-A177-3AD203B41FA5}">
                      <a16:colId xmlns:a16="http://schemas.microsoft.com/office/drawing/2014/main" val="20001"/>
                    </a:ext>
                  </a:extLst>
                </a:gridCol>
                <a:gridCol w="1038424">
                  <a:extLst>
                    <a:ext uri="{9D8B030D-6E8A-4147-A177-3AD203B41FA5}">
                      <a16:colId xmlns:a16="http://schemas.microsoft.com/office/drawing/2014/main" val="20002"/>
                    </a:ext>
                  </a:extLst>
                </a:gridCol>
                <a:gridCol w="914402">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862444">
                  <a:extLst>
                    <a:ext uri="{9D8B030D-6E8A-4147-A177-3AD203B41FA5}">
                      <a16:colId xmlns:a16="http://schemas.microsoft.com/office/drawing/2014/main" val="20006"/>
                    </a:ext>
                  </a:extLst>
                </a:gridCol>
                <a:gridCol w="990600">
                  <a:extLst>
                    <a:ext uri="{9D8B030D-6E8A-4147-A177-3AD203B41FA5}">
                      <a16:colId xmlns:a16="http://schemas.microsoft.com/office/drawing/2014/main" val="20007"/>
                    </a:ext>
                  </a:extLst>
                </a:gridCol>
              </a:tblGrid>
              <a:tr h="771159">
                <a:tc>
                  <a:txBody>
                    <a:bodyPr/>
                    <a:lstStyle/>
                    <a:p>
                      <a:pPr marL="457200" algn="ctr">
                        <a:lnSpc>
                          <a:spcPct val="115000"/>
                        </a:lnSpc>
                        <a:spcAft>
                          <a:spcPts val="0"/>
                        </a:spcAft>
                      </a:pPr>
                      <a:r>
                        <a:rPr lang="en-US" sz="1200" dirty="0">
                          <a:effectLst/>
                        </a:rPr>
                        <a:t>Word</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l">
                        <a:lnSpc>
                          <a:spcPct val="115000"/>
                        </a:lnSpc>
                        <a:spcAft>
                          <a:spcPts val="0"/>
                        </a:spcAft>
                      </a:pPr>
                      <a:r>
                        <a:rPr lang="en-US" sz="1200" dirty="0">
                          <a:effectLst/>
                        </a:rPr>
                        <a:t>Male seed words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dirty="0">
                          <a:effectLst/>
                        </a:rPr>
                        <a:t>Female seed words</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dirty="0" err="1">
                          <a:effectLst/>
                        </a:rPr>
                        <a:t>w</a:t>
                      </a:r>
                      <a:r>
                        <a:rPr lang="en-US" sz="1200" baseline="-25000" dirty="0" err="1">
                          <a:effectLst/>
                        </a:rPr>
                        <a:t>g</a:t>
                      </a:r>
                      <a:r>
                        <a:rPr lang="en-US" sz="1200" baseline="-25000" dirty="0">
                          <a:effectLst/>
                        </a:rPr>
                        <a:t> </a:t>
                      </a:r>
                      <a:r>
                        <a:rPr lang="en-US" sz="1200" dirty="0">
                          <a:effectLst/>
                        </a:rPr>
                        <a:t>(1)</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dirty="0" err="1">
                          <a:effectLst/>
                        </a:rPr>
                        <a:t>w</a:t>
                      </a:r>
                      <a:r>
                        <a:rPr lang="en-US" sz="1200" baseline="-25000" dirty="0" err="1">
                          <a:effectLst/>
                        </a:rPr>
                        <a:t>g</a:t>
                      </a:r>
                      <a:r>
                        <a:rPr lang="en-US" sz="1200" baseline="-25000" dirty="0">
                          <a:effectLst/>
                        </a:rPr>
                        <a:t> </a:t>
                      </a:r>
                      <a:r>
                        <a:rPr lang="en-US" sz="1200" dirty="0">
                          <a:effectLst/>
                        </a:rPr>
                        <a:t>(2)</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w</a:t>
                      </a:r>
                      <a:r>
                        <a:rPr lang="en-US" sz="1200" baseline="-25000">
                          <a:effectLst/>
                        </a:rPr>
                        <a:t>g </a:t>
                      </a:r>
                      <a:r>
                        <a:rPr lang="en-US" sz="1200">
                          <a:effectLst/>
                        </a:rPr>
                        <a:t>(3)</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dirty="0" err="1">
                          <a:effectLst/>
                        </a:rPr>
                        <a:t>w</a:t>
                      </a:r>
                      <a:r>
                        <a:rPr lang="en-US" sz="1200" baseline="-25000" dirty="0" err="1">
                          <a:effectLst/>
                        </a:rPr>
                        <a:t>a</a:t>
                      </a:r>
                      <a:r>
                        <a:rPr lang="en-US" sz="1200" baseline="-25000" dirty="0">
                          <a:effectLst/>
                        </a:rPr>
                        <a:t> </a:t>
                      </a:r>
                      <a:r>
                        <a:rPr lang="en-US" sz="1200" dirty="0">
                          <a:effectLst/>
                        </a:rPr>
                        <a:t>(1)</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dirty="0" err="1">
                          <a:effectLst/>
                        </a:rPr>
                        <a:t>w</a:t>
                      </a:r>
                      <a:r>
                        <a:rPr lang="en-US" sz="1200" baseline="-25000" dirty="0" err="1">
                          <a:effectLst/>
                        </a:rPr>
                        <a:t>a</a:t>
                      </a:r>
                      <a:r>
                        <a:rPr lang="en-US" sz="1200" baseline="-25000" dirty="0">
                          <a:effectLst/>
                        </a:rPr>
                        <a:t> </a:t>
                      </a:r>
                      <a:r>
                        <a:rPr lang="en-US" sz="1200" dirty="0">
                          <a:effectLst/>
                        </a:rPr>
                        <a:t>(2)</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extLst>
                  <a:ext uri="{0D108BD9-81ED-4DB2-BD59-A6C34878D82A}">
                    <a16:rowId xmlns:a16="http://schemas.microsoft.com/office/drawing/2014/main" val="10000"/>
                  </a:ext>
                </a:extLst>
              </a:tr>
              <a:tr h="411285">
                <a:tc>
                  <a:txBody>
                    <a:bodyPr/>
                    <a:lstStyle/>
                    <a:p>
                      <a:pPr marL="457200" algn="ctr">
                        <a:lnSpc>
                          <a:spcPct val="115000"/>
                        </a:lnSpc>
                        <a:spcAft>
                          <a:spcPts val="0"/>
                        </a:spcAft>
                      </a:pPr>
                      <a:r>
                        <a:rPr lang="en-US" sz="1200" b="0" dirty="0">
                          <a:effectLst/>
                        </a:rPr>
                        <a:t>daughter</a:t>
                      </a:r>
                      <a:endParaRPr lang="en-IN"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 </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X</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0.3</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dirty="0">
                          <a:effectLst/>
                        </a:rPr>
                        <a:t>0.5</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dirty="0">
                          <a:effectLst/>
                        </a:rPr>
                        <a:t>0.6</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0.3</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0.6</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extLst>
                  <a:ext uri="{0D108BD9-81ED-4DB2-BD59-A6C34878D82A}">
                    <a16:rowId xmlns:a16="http://schemas.microsoft.com/office/drawing/2014/main" val="10001"/>
                  </a:ext>
                </a:extLst>
              </a:tr>
              <a:tr h="154232">
                <a:tc>
                  <a:txBody>
                    <a:bodyPr/>
                    <a:lstStyle/>
                    <a:p>
                      <a:pPr marL="457200" algn="ctr">
                        <a:lnSpc>
                          <a:spcPct val="115000"/>
                        </a:lnSpc>
                        <a:spcAft>
                          <a:spcPts val="0"/>
                        </a:spcAft>
                      </a:pPr>
                      <a:r>
                        <a:rPr lang="en-US" sz="1200" b="0" dirty="0">
                          <a:effectLst/>
                        </a:rPr>
                        <a:t>son</a:t>
                      </a:r>
                      <a:endParaRPr lang="en-IN"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X</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 </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.75</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0.6</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0.3</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0.6</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0.5</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extLst>
                  <a:ext uri="{0D108BD9-81ED-4DB2-BD59-A6C34878D82A}">
                    <a16:rowId xmlns:a16="http://schemas.microsoft.com/office/drawing/2014/main" val="10002"/>
                  </a:ext>
                </a:extLst>
              </a:tr>
              <a:tr h="257053">
                <a:tc>
                  <a:txBody>
                    <a:bodyPr/>
                    <a:lstStyle/>
                    <a:p>
                      <a:pPr marL="457200" algn="ctr">
                        <a:lnSpc>
                          <a:spcPct val="115000"/>
                        </a:lnSpc>
                        <a:spcAft>
                          <a:spcPts val="0"/>
                        </a:spcAft>
                      </a:pPr>
                      <a:r>
                        <a:rPr lang="en-US" sz="1200" b="0" dirty="0">
                          <a:effectLst/>
                        </a:rPr>
                        <a:t>prince</a:t>
                      </a:r>
                      <a:endParaRPr lang="en-IN"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X</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 </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0.75</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0.6</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0.3</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dirty="0">
                          <a:effectLst/>
                        </a:rPr>
                        <a:t>0.3</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0.5</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extLst>
                  <a:ext uri="{0D108BD9-81ED-4DB2-BD59-A6C34878D82A}">
                    <a16:rowId xmlns:a16="http://schemas.microsoft.com/office/drawing/2014/main" val="10003"/>
                  </a:ext>
                </a:extLst>
              </a:tr>
              <a:tr h="514106">
                <a:tc>
                  <a:txBody>
                    <a:bodyPr/>
                    <a:lstStyle/>
                    <a:p>
                      <a:pPr marL="457200" algn="ctr">
                        <a:lnSpc>
                          <a:spcPct val="115000"/>
                        </a:lnSpc>
                        <a:spcAft>
                          <a:spcPts val="0"/>
                        </a:spcAft>
                      </a:pPr>
                      <a:r>
                        <a:rPr lang="en-US" sz="1200" b="0" dirty="0">
                          <a:effectLst/>
                        </a:rPr>
                        <a:t>programmer</a:t>
                      </a:r>
                      <a:endParaRPr lang="en-IN"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 </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 </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0.3</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0.2</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0.6</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dirty="0">
                          <a:effectLst/>
                        </a:rPr>
                        <a:t>0.6</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0.2</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extLst>
                  <a:ext uri="{0D108BD9-81ED-4DB2-BD59-A6C34878D82A}">
                    <a16:rowId xmlns:a16="http://schemas.microsoft.com/office/drawing/2014/main" val="10004"/>
                  </a:ext>
                </a:extLst>
              </a:tr>
              <a:tr h="308463">
                <a:tc>
                  <a:txBody>
                    <a:bodyPr/>
                    <a:lstStyle/>
                    <a:p>
                      <a:pPr marL="457200" algn="ctr">
                        <a:lnSpc>
                          <a:spcPct val="115000"/>
                        </a:lnSpc>
                        <a:spcAft>
                          <a:spcPts val="0"/>
                        </a:spcAft>
                      </a:pPr>
                      <a:r>
                        <a:rPr lang="en-US" sz="1200" b="0" dirty="0">
                          <a:effectLst/>
                        </a:rPr>
                        <a:t>doctor</a:t>
                      </a:r>
                      <a:endParaRPr lang="en-IN"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 </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 </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0.4</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0.3</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0.8</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dirty="0">
                          <a:effectLst/>
                        </a:rPr>
                        <a:t>0.8</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dirty="0">
                          <a:effectLst/>
                        </a:rPr>
                        <a:t>0.1</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extLst>
                  <a:ext uri="{0D108BD9-81ED-4DB2-BD59-A6C34878D82A}">
                    <a16:rowId xmlns:a16="http://schemas.microsoft.com/office/drawing/2014/main" val="10005"/>
                  </a:ext>
                </a:extLst>
              </a:tr>
              <a:tr h="257053">
                <a:tc>
                  <a:txBody>
                    <a:bodyPr/>
                    <a:lstStyle/>
                    <a:p>
                      <a:pPr marL="457200" algn="ctr">
                        <a:lnSpc>
                          <a:spcPct val="115000"/>
                        </a:lnSpc>
                        <a:spcAft>
                          <a:spcPts val="0"/>
                        </a:spcAft>
                      </a:pPr>
                      <a:r>
                        <a:rPr lang="en-US" sz="1200" b="0" dirty="0">
                          <a:effectLst/>
                        </a:rPr>
                        <a:t>lawyer</a:t>
                      </a:r>
                      <a:endParaRPr lang="en-IN"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 </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 </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0.2</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0.1</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0.8</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a:effectLst/>
                        </a:rPr>
                        <a:t>0.4</a:t>
                      </a:r>
                      <a:endParaRPr lang="en-IN" sz="120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tc>
                  <a:txBody>
                    <a:bodyPr/>
                    <a:lstStyle/>
                    <a:p>
                      <a:pPr marL="457200" algn="just">
                        <a:lnSpc>
                          <a:spcPct val="115000"/>
                        </a:lnSpc>
                        <a:spcAft>
                          <a:spcPts val="0"/>
                        </a:spcAft>
                      </a:pPr>
                      <a:r>
                        <a:rPr lang="en-US" sz="1200" dirty="0">
                          <a:effectLst/>
                        </a:rPr>
                        <a:t>0.3</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6764" marR="16764" marT="0" marB="0"/>
                </a:tc>
                <a:extLst>
                  <a:ext uri="{0D108BD9-81ED-4DB2-BD59-A6C34878D82A}">
                    <a16:rowId xmlns:a16="http://schemas.microsoft.com/office/drawing/2014/main" val="10006"/>
                  </a:ext>
                </a:extLst>
              </a:tr>
            </a:tbl>
          </a:graphicData>
        </a:graphic>
      </p:graphicFrame>
      <p:sp>
        <p:nvSpPr>
          <p:cNvPr id="3" name="Rectangle 1"/>
          <p:cNvSpPr>
            <a:spLocks noChangeArrowheads="1"/>
          </p:cNvSpPr>
          <p:nvPr/>
        </p:nvSpPr>
        <p:spPr bwMode="auto">
          <a:xfrm>
            <a:off x="762000" y="514350"/>
            <a:ext cx="71628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Consider gender </a:t>
            </a:r>
            <a:r>
              <a:rPr kumimoji="0" lang="en-US"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debiasing</a:t>
            </a:r>
            <a:r>
              <a:rPr kumimoji="0" lang="en-US"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 regularization for word </a:t>
            </a:r>
            <a:r>
              <a:rPr kumimoji="0" lang="en-US"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embeddings</a:t>
            </a:r>
            <a:r>
              <a:rPr kumimoji="0" lang="en-US"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 The following are the word </a:t>
            </a:r>
            <a:r>
              <a:rPr kumimoji="0" lang="en-US"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embeddings</a:t>
            </a:r>
            <a:r>
              <a:rPr kumimoji="0" lang="en-US"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 </a:t>
            </a:r>
            <a:r>
              <a:rPr kumimoji="0" lang="en-US"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W</a:t>
            </a:r>
            <a:r>
              <a:rPr kumimoji="0" lang="en-US" b="0" i="0" u="none" strike="noStrike" cap="none" normalizeH="0" baseline="-30000" dirty="0" err="1">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g</a:t>
            </a:r>
            <a:r>
              <a:rPr kumimoji="0" lang="en-US" b="0" i="0" u="none" strike="noStrike" cap="none" normalizeH="0" baseline="-3000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 </a:t>
            </a:r>
            <a:r>
              <a:rPr kumimoji="0" lang="en-US"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 and </a:t>
            </a:r>
            <a:r>
              <a:rPr kumimoji="0" lang="en-US"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w</a:t>
            </a:r>
            <a:r>
              <a:rPr kumimoji="0" lang="en-US" b="0" i="0" u="none" strike="noStrike" cap="none" normalizeH="0" baseline="-30000" dirty="0" err="1">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a</a:t>
            </a:r>
            <a:r>
              <a:rPr kumimoji="0" lang="en-US" b="0" i="0" u="none" strike="noStrike" cap="none" normalizeH="0" baseline="-3000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 </a:t>
            </a:r>
            <a:r>
              <a:rPr kumimoji="0" lang="en-US"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 are the gender-related and gender-neutral parts.</a:t>
            </a:r>
            <a:endParaRPr kumimoji="0" lang="en-US" sz="105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57278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600200" y="775730"/>
            <a:ext cx="4991100" cy="723900"/>
            <a:chOff x="0" y="0"/>
            <a:chExt cx="37347" cy="5754"/>
          </a:xfrm>
        </p:grpSpPr>
        <p:grpSp>
          <p:nvGrpSpPr>
            <p:cNvPr id="3" name="object 16"/>
            <p:cNvGrpSpPr>
              <a:grpSpLocks/>
            </p:cNvGrpSpPr>
            <p:nvPr/>
          </p:nvGrpSpPr>
          <p:grpSpPr bwMode="auto">
            <a:xfrm>
              <a:off x="0" y="0"/>
              <a:ext cx="14594" cy="5150"/>
              <a:chOff x="0" y="0"/>
              <a:chExt cx="14594" cy="5150"/>
            </a:xfrm>
          </p:grpSpPr>
          <p:sp>
            <p:nvSpPr>
              <p:cNvPr id="12" name="object 17"/>
              <p:cNvSpPr>
                <a:spLocks noChangeArrowheads="1"/>
              </p:cNvSpPr>
              <p:nvPr/>
            </p:nvSpPr>
            <p:spPr bwMode="auto">
              <a:xfrm>
                <a:off x="0" y="1537"/>
                <a:ext cx="14594" cy="3613"/>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en-IN" sz="2000"/>
              </a:p>
            </p:txBody>
          </p:sp>
          <p:sp>
            <p:nvSpPr>
              <p:cNvPr id="13" name="object 18"/>
              <p:cNvSpPr>
                <a:spLocks/>
              </p:cNvSpPr>
              <p:nvPr/>
            </p:nvSpPr>
            <p:spPr bwMode="auto">
              <a:xfrm>
                <a:off x="581" y="0"/>
                <a:ext cx="915" cy="3276"/>
              </a:xfrm>
              <a:custGeom>
                <a:avLst/>
                <a:gdLst>
                  <a:gd name="T0" fmla="*/ 91074 w 91439"/>
                  <a:gd name="T1" fmla="*/ 327174 h 327660"/>
                  <a:gd name="T2" fmla="*/ 0 w 91439"/>
                  <a:gd name="T3" fmla="*/ 327174 h 327660"/>
                  <a:gd name="T4" fmla="*/ 0 w 91439"/>
                  <a:gd name="T5" fmla="*/ 0 h 327660"/>
                  <a:gd name="T6" fmla="*/ 91074 w 91439"/>
                  <a:gd name="T7" fmla="*/ 0 h 327660"/>
                  <a:gd name="T8" fmla="*/ 91074 w 91439"/>
                  <a:gd name="T9" fmla="*/ 327174 h 327660"/>
                </a:gdLst>
                <a:ahLst/>
                <a:cxnLst>
                  <a:cxn ang="0">
                    <a:pos x="T0" y="T1"/>
                  </a:cxn>
                  <a:cxn ang="0">
                    <a:pos x="T2" y="T3"/>
                  </a:cxn>
                  <a:cxn ang="0">
                    <a:pos x="T4" y="T5"/>
                  </a:cxn>
                  <a:cxn ang="0">
                    <a:pos x="T6" y="T7"/>
                  </a:cxn>
                  <a:cxn ang="0">
                    <a:pos x="T8" y="T9"/>
                  </a:cxn>
                </a:cxnLst>
                <a:rect l="0" t="0" r="r" b="b"/>
                <a:pathLst>
                  <a:path w="91439" h="327660">
                    <a:moveTo>
                      <a:pt x="91074" y="327174"/>
                    </a:moveTo>
                    <a:lnTo>
                      <a:pt x="0" y="327174"/>
                    </a:lnTo>
                    <a:lnTo>
                      <a:pt x="0" y="0"/>
                    </a:lnTo>
                    <a:lnTo>
                      <a:pt x="91074" y="0"/>
                    </a:lnTo>
                    <a:lnTo>
                      <a:pt x="91074" y="327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2000"/>
              </a:p>
            </p:txBody>
          </p:sp>
        </p:grpSp>
        <p:sp>
          <p:nvSpPr>
            <p:cNvPr id="4" name="object 19"/>
            <p:cNvSpPr>
              <a:spLocks noChangeArrowheads="1"/>
            </p:cNvSpPr>
            <p:nvPr/>
          </p:nvSpPr>
          <p:spPr bwMode="auto">
            <a:xfrm>
              <a:off x="15207" y="2998"/>
              <a:ext cx="886" cy="911"/>
            </a:xfrm>
            <a:prstGeom prst="rect">
              <a:avLst/>
            </a:pr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en-IN" sz="2000"/>
            </a:p>
          </p:txBody>
        </p:sp>
        <p:grpSp>
          <p:nvGrpSpPr>
            <p:cNvPr id="5" name="object 20"/>
            <p:cNvGrpSpPr>
              <a:grpSpLocks/>
            </p:cNvGrpSpPr>
            <p:nvPr/>
          </p:nvGrpSpPr>
          <p:grpSpPr bwMode="auto">
            <a:xfrm>
              <a:off x="16692" y="1468"/>
              <a:ext cx="20655" cy="4286"/>
              <a:chOff x="16692" y="1468"/>
              <a:chExt cx="20655" cy="4286"/>
            </a:xfrm>
          </p:grpSpPr>
          <p:sp>
            <p:nvSpPr>
              <p:cNvPr id="6" name="object 21"/>
              <p:cNvSpPr>
                <a:spLocks noChangeArrowheads="1"/>
              </p:cNvSpPr>
              <p:nvPr/>
            </p:nvSpPr>
            <p:spPr bwMode="auto">
              <a:xfrm>
                <a:off x="16692" y="1886"/>
                <a:ext cx="3533" cy="3237"/>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en-IN" sz="2000"/>
              </a:p>
            </p:txBody>
          </p:sp>
          <p:sp>
            <p:nvSpPr>
              <p:cNvPr id="7" name="object 22"/>
              <p:cNvSpPr>
                <a:spLocks noChangeArrowheads="1"/>
              </p:cNvSpPr>
              <p:nvPr/>
            </p:nvSpPr>
            <p:spPr bwMode="auto">
              <a:xfrm>
                <a:off x="20575" y="1701"/>
                <a:ext cx="9794" cy="3440"/>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en-IN" sz="2000"/>
              </a:p>
            </p:txBody>
          </p:sp>
          <p:sp>
            <p:nvSpPr>
              <p:cNvPr id="8" name="object 23"/>
              <p:cNvSpPr>
                <a:spLocks noChangeArrowheads="1"/>
              </p:cNvSpPr>
              <p:nvPr/>
            </p:nvSpPr>
            <p:spPr bwMode="auto">
              <a:xfrm>
                <a:off x="31675" y="1693"/>
                <a:ext cx="5672" cy="2631"/>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en-IN" sz="2000"/>
              </a:p>
            </p:txBody>
          </p:sp>
          <p:sp>
            <p:nvSpPr>
              <p:cNvPr id="9" name="object 24"/>
              <p:cNvSpPr>
                <a:spLocks noChangeArrowheads="1"/>
              </p:cNvSpPr>
              <p:nvPr/>
            </p:nvSpPr>
            <p:spPr bwMode="auto">
              <a:xfrm>
                <a:off x="30308" y="1468"/>
                <a:ext cx="1311" cy="4286"/>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en-IN" sz="2000"/>
              </a:p>
            </p:txBody>
          </p:sp>
          <p:sp>
            <p:nvSpPr>
              <p:cNvPr id="10" name="object 25"/>
              <p:cNvSpPr>
                <a:spLocks noChangeArrowheads="1"/>
              </p:cNvSpPr>
              <p:nvPr/>
            </p:nvSpPr>
            <p:spPr bwMode="auto">
              <a:xfrm>
                <a:off x="20384" y="2318"/>
                <a:ext cx="1020" cy="1449"/>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en-IN" sz="2000"/>
              </a:p>
            </p:txBody>
          </p:sp>
          <p:sp>
            <p:nvSpPr>
              <p:cNvPr id="11" name="object 26"/>
              <p:cNvSpPr>
                <a:spLocks noChangeArrowheads="1"/>
              </p:cNvSpPr>
              <p:nvPr/>
            </p:nvSpPr>
            <p:spPr bwMode="auto">
              <a:xfrm>
                <a:off x="31454" y="2344"/>
                <a:ext cx="1021" cy="1448"/>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en-IN" sz="2000"/>
              </a:p>
            </p:txBody>
          </p:sp>
        </p:grpSp>
      </p:grpSp>
      <p:sp>
        <p:nvSpPr>
          <p:cNvPr id="14" name="object 8"/>
          <p:cNvSpPr>
            <a:spLocks noChangeArrowheads="1"/>
          </p:cNvSpPr>
          <p:nvPr/>
        </p:nvSpPr>
        <p:spPr bwMode="auto">
          <a:xfrm>
            <a:off x="3311963" y="2758777"/>
            <a:ext cx="1882775" cy="530225"/>
          </a:xfrm>
          <a:prstGeom prst="rect">
            <a:avLst/>
          </a:prstGeom>
          <a:blipFill dpi="0" rotWithShape="1">
            <a:blip r:embed="rId9"/>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en-IN"/>
          </a:p>
        </p:txBody>
      </p:sp>
      <p:grpSp>
        <p:nvGrpSpPr>
          <p:cNvPr id="15" name="object 9"/>
          <p:cNvGrpSpPr>
            <a:grpSpLocks/>
          </p:cNvGrpSpPr>
          <p:nvPr/>
        </p:nvGrpSpPr>
        <p:grpSpPr bwMode="auto">
          <a:xfrm>
            <a:off x="3162075" y="3391751"/>
            <a:ext cx="2778125" cy="569913"/>
            <a:chOff x="0" y="0"/>
            <a:chExt cx="17851" cy="4051"/>
          </a:xfrm>
        </p:grpSpPr>
        <p:sp>
          <p:nvSpPr>
            <p:cNvPr id="16" name="object 10"/>
            <p:cNvSpPr>
              <a:spLocks noChangeArrowheads="1"/>
            </p:cNvSpPr>
            <p:nvPr/>
          </p:nvSpPr>
          <p:spPr bwMode="auto">
            <a:xfrm>
              <a:off x="0" y="0"/>
              <a:ext cx="17851" cy="3881"/>
            </a:xfrm>
            <a:prstGeom prst="rect">
              <a:avLst/>
            </a:prstGeom>
            <a:blipFill dpi="0" rotWithShape="1">
              <a:blip r:embed="rId10"/>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en-IN"/>
            </a:p>
          </p:txBody>
        </p:sp>
        <p:sp>
          <p:nvSpPr>
            <p:cNvPr id="17" name="object 11"/>
            <p:cNvSpPr>
              <a:spLocks noChangeArrowheads="1"/>
            </p:cNvSpPr>
            <p:nvPr/>
          </p:nvSpPr>
          <p:spPr bwMode="auto">
            <a:xfrm>
              <a:off x="9648" y="2600"/>
              <a:ext cx="3413" cy="1451"/>
            </a:xfrm>
            <a:prstGeom prst="rect">
              <a:avLst/>
            </a:prstGeom>
            <a:blipFill dpi="0" rotWithShape="1">
              <a:blip r:embed="rId11"/>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en-IN"/>
            </a:p>
          </p:txBody>
        </p:sp>
      </p:grpSp>
      <p:sp>
        <p:nvSpPr>
          <p:cNvPr id="18" name="Rectangle 17"/>
          <p:cNvSpPr>
            <a:spLocks noChangeArrowheads="1"/>
          </p:cNvSpPr>
          <p:nvPr/>
        </p:nvSpPr>
        <p:spPr bwMode="auto">
          <a:xfrm>
            <a:off x="914400" y="511374"/>
            <a:ext cx="5282215"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6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Calculate the gendered word regulating component J</a:t>
            </a:r>
            <a:r>
              <a:rPr kumimoji="0" lang="en-US" sz="1600" b="0" i="0" u="none" strike="noStrike" cap="none" normalizeH="0" baseline="-3000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D</a:t>
            </a:r>
            <a:r>
              <a:rPr kumimoji="0" lang="en-US" sz="16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 </a:t>
            </a:r>
            <a:endParaRPr kumimoji="0" lang="en-US" sz="1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19" name="Rectangle 18"/>
          <p:cNvSpPr>
            <a:spLocks noChangeArrowheads="1"/>
          </p:cNvSpPr>
          <p:nvPr/>
        </p:nvSpPr>
        <p:spPr bwMode="auto">
          <a:xfrm>
            <a:off x="1153505" y="4121142"/>
            <a:ext cx="679526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sz="1600" dirty="0"/>
              <a:t>	</a:t>
            </a:r>
            <a:endParaRPr lang="en-IN" sz="1600" dirty="0"/>
          </a:p>
          <a:p>
            <a:r>
              <a:rPr lang="en-US" sz="1600" dirty="0"/>
              <a:t>J</a:t>
            </a:r>
            <a:r>
              <a:rPr lang="en-US" sz="1600" baseline="-25000" dirty="0"/>
              <a:t>E</a:t>
            </a:r>
            <a:r>
              <a:rPr lang="en-US" sz="1600" dirty="0"/>
              <a:t> = ¼ *(-.8*.3 +0.1*0.4-0.4*0.3+0.3*0.4)=0.05</a:t>
            </a:r>
            <a:endParaRPr lang="en-IN" sz="16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    </a:t>
            </a:r>
            <a:endParaRPr kumimoji="0" lang="en-US" sz="1000" b="0" i="0" u="none" strike="noStrike" cap="none" normalizeH="0" baseline="0" dirty="0">
              <a:ln>
                <a:noFill/>
              </a:ln>
              <a:solidFill>
                <a:schemeClr val="tx1"/>
              </a:solidFill>
              <a:effectLst/>
              <a:latin typeface="Arial" panose="020B0604020202020204" pitchFamily="34" charset="0"/>
            </a:endParaRPr>
          </a:p>
        </p:txBody>
      </p:sp>
      <p:sp>
        <p:nvSpPr>
          <p:cNvPr id="22" name="Rectangle 21"/>
          <p:cNvSpPr/>
          <p:nvPr/>
        </p:nvSpPr>
        <p:spPr>
          <a:xfrm>
            <a:off x="992626" y="2357099"/>
            <a:ext cx="6521450" cy="369332"/>
          </a:xfrm>
          <a:prstGeom prst="rect">
            <a:avLst/>
          </a:prstGeom>
        </p:spPr>
        <p:txBody>
          <a:bodyPr wrap="square">
            <a:spAutoFit/>
          </a:bodyPr>
          <a:lstStyle/>
          <a:p>
            <a:pPr lvl="0" eaLnBrk="0" fontAlgn="base" hangingPunct="0">
              <a:spcBef>
                <a:spcPct val="0"/>
              </a:spcBef>
              <a:spcAft>
                <a:spcPct val="0"/>
              </a:spcAft>
              <a:buFontTx/>
              <a:buChar char="•"/>
            </a:pPr>
            <a:r>
              <a:rPr lang="en-US" dirty="0">
                <a:latin typeface="Arial" panose="020B0604020202020204" pitchFamily="34" charset="0"/>
                <a:ea typeface="Calibri" panose="020F0502020204030204" pitchFamily="34" charset="0"/>
                <a:cs typeface="Calibri" panose="020F0502020204030204" pitchFamily="34" charset="0"/>
              </a:rPr>
              <a:t>Calculate the gender-neutral word regulating component J</a:t>
            </a:r>
            <a:r>
              <a:rPr lang="en-US" baseline="-30000" dirty="0">
                <a:latin typeface="Arial" panose="020B0604020202020204" pitchFamily="34" charset="0"/>
                <a:ea typeface="Calibri" panose="020F0502020204030204" pitchFamily="34" charset="0"/>
                <a:cs typeface="Calibri" panose="020F0502020204030204" pitchFamily="34" charset="0"/>
              </a:rPr>
              <a:t>E</a:t>
            </a:r>
            <a:r>
              <a:rPr lang="en-US" dirty="0">
                <a:latin typeface="Arial" panose="020B0604020202020204" pitchFamily="34" charset="0"/>
                <a:ea typeface="Calibri" panose="020F0502020204030204" pitchFamily="34" charset="0"/>
                <a:cs typeface="Calibri" panose="020F0502020204030204" pitchFamily="34" charset="0"/>
              </a:rPr>
              <a:t>. </a:t>
            </a:r>
            <a:endParaRPr lang="en-US" sz="1050" dirty="0">
              <a:latin typeface="Arial" panose="020B0604020202020204" pitchFamily="34" charset="0"/>
            </a:endParaRPr>
          </a:p>
        </p:txBody>
      </p:sp>
      <p:sp>
        <p:nvSpPr>
          <p:cNvPr id="23" name="Rectangle 22"/>
          <p:cNvSpPr/>
          <p:nvPr/>
        </p:nvSpPr>
        <p:spPr>
          <a:xfrm>
            <a:off x="1509509" y="1552081"/>
            <a:ext cx="7370460" cy="923330"/>
          </a:xfrm>
          <a:prstGeom prst="rect">
            <a:avLst/>
          </a:prstGeom>
        </p:spPr>
        <p:txBody>
          <a:bodyPr wrap="square">
            <a:spAutoFit/>
          </a:bodyPr>
          <a:lstStyle/>
          <a:p>
            <a:pPr lvl="0" eaLnBrk="0" fontAlgn="base" hangingPunct="0">
              <a:spcBef>
                <a:spcPct val="0"/>
              </a:spcBef>
              <a:spcAft>
                <a:spcPct val="0"/>
              </a:spcAft>
            </a:pPr>
            <a:r>
              <a:rPr lang="en-US" dirty="0">
                <a:latin typeface="Arial" panose="020B0604020202020204" pitchFamily="34" charset="0"/>
                <a:ea typeface="Calibri" panose="020F0502020204030204" pitchFamily="34" charset="0"/>
                <a:cs typeface="Calibri" panose="020F0502020204030204" pitchFamily="34" charset="0"/>
              </a:rPr>
              <a:t>J</a:t>
            </a:r>
            <a:r>
              <a:rPr lang="en-US" baseline="-30000" dirty="0">
                <a:latin typeface="Arial" panose="020B0604020202020204" pitchFamily="34" charset="0"/>
                <a:ea typeface="Calibri" panose="020F0502020204030204" pitchFamily="34" charset="0"/>
                <a:cs typeface="Calibri" panose="020F0502020204030204" pitchFamily="34" charset="0"/>
              </a:rPr>
              <a:t>D</a:t>
            </a:r>
            <a:r>
              <a:rPr lang="en-US" dirty="0">
                <a:latin typeface="Arial" panose="020B0604020202020204" pitchFamily="34" charset="0"/>
                <a:ea typeface="Calibri" panose="020F0502020204030204" pitchFamily="34" charset="0"/>
                <a:cs typeface="Calibri" panose="020F0502020204030204" pitchFamily="34" charset="0"/>
              </a:rPr>
              <a:t> = -|| [.75*2  0.6*2  0.3*2] – [0.3 0.5  0.6] ||</a:t>
            </a:r>
            <a:r>
              <a:rPr lang="en-US" baseline="-30000" dirty="0">
                <a:latin typeface="Arial" panose="020B0604020202020204" pitchFamily="34" charset="0"/>
                <a:ea typeface="Calibri" panose="020F0502020204030204" pitchFamily="34" charset="0"/>
                <a:cs typeface="Calibri" panose="020F0502020204030204" pitchFamily="34" charset="0"/>
              </a:rPr>
              <a:t>1 </a:t>
            </a:r>
            <a:endParaRPr lang="en-US" sz="1050" dirty="0">
              <a:latin typeface="Arial" panose="020B0604020202020204" pitchFamily="34" charset="0"/>
            </a:endParaRPr>
          </a:p>
          <a:p>
            <a:pPr lvl="0"/>
            <a:r>
              <a:rPr lang="en-US" dirty="0">
                <a:latin typeface="Arial" panose="020B0604020202020204" pitchFamily="34" charset="0"/>
                <a:ea typeface="Calibri" panose="020F0502020204030204" pitchFamily="34" charset="0"/>
                <a:cs typeface="Calibri" panose="020F0502020204030204" pitchFamily="34" charset="0"/>
              </a:rPr>
              <a:t>	+ 2||[1-0.75  1 -0.6  1-0.3]||</a:t>
            </a:r>
            <a:r>
              <a:rPr lang="en-US" baseline="-30000" dirty="0">
                <a:latin typeface="Arial" panose="020B0604020202020204" pitchFamily="34" charset="0"/>
                <a:ea typeface="Calibri" panose="020F0502020204030204" pitchFamily="34" charset="0"/>
                <a:cs typeface="Calibri" panose="020F0502020204030204" pitchFamily="34" charset="0"/>
              </a:rPr>
              <a:t>2</a:t>
            </a:r>
            <a:r>
              <a:rPr lang="en-US" baseline="30000" dirty="0">
                <a:latin typeface="Arial" panose="020B0604020202020204" pitchFamily="34" charset="0"/>
                <a:ea typeface="Calibri" panose="020F0502020204030204" pitchFamily="34" charset="0"/>
                <a:cs typeface="Calibri" panose="020F0502020204030204" pitchFamily="34" charset="0"/>
              </a:rPr>
              <a:t>2</a:t>
            </a:r>
            <a:r>
              <a:rPr lang="en-US" baseline="-30000" dirty="0">
                <a:latin typeface="Arial" panose="020B0604020202020204" pitchFamily="34" charset="0"/>
                <a:ea typeface="Calibri" panose="020F0502020204030204" pitchFamily="34" charset="0"/>
                <a:cs typeface="Calibri" panose="020F0502020204030204" pitchFamily="34" charset="0"/>
              </a:rPr>
              <a:t> </a:t>
            </a:r>
            <a:r>
              <a:rPr lang="en-US" dirty="0">
                <a:latin typeface="Arial" panose="020B0604020202020204" pitchFamily="34" charset="0"/>
                <a:ea typeface="Calibri" panose="020F0502020204030204" pitchFamily="34" charset="0"/>
                <a:cs typeface="Calibri" panose="020F0502020204030204" pitchFamily="34" charset="0"/>
              </a:rPr>
              <a:t>+ ||[-1-0.3  -1-0.5  -1-0.6]||</a:t>
            </a:r>
            <a:r>
              <a:rPr lang="en-US" baseline="-30000" dirty="0">
                <a:latin typeface="Arial" panose="020B0604020202020204" pitchFamily="34" charset="0"/>
                <a:ea typeface="Calibri" panose="020F0502020204030204" pitchFamily="34" charset="0"/>
                <a:cs typeface="Calibri" panose="020F0502020204030204" pitchFamily="34" charset="0"/>
              </a:rPr>
              <a:t>2</a:t>
            </a:r>
            <a:r>
              <a:rPr lang="en-US" baseline="30000" dirty="0">
                <a:latin typeface="Arial" panose="020B0604020202020204" pitchFamily="34" charset="0"/>
                <a:ea typeface="Calibri" panose="020F0502020204030204" pitchFamily="34" charset="0"/>
                <a:cs typeface="Calibri" panose="020F0502020204030204" pitchFamily="34" charset="0"/>
              </a:rPr>
              <a:t>2 </a:t>
            </a:r>
            <a:r>
              <a:rPr lang="en-US" dirty="0"/>
              <a:t>		  </a:t>
            </a:r>
            <a:endParaRPr lang="en-IN" dirty="0"/>
          </a:p>
        </p:txBody>
      </p:sp>
      <p:sp>
        <p:nvSpPr>
          <p:cNvPr id="24" name="Rectangle 23"/>
          <p:cNvSpPr/>
          <p:nvPr/>
        </p:nvSpPr>
        <p:spPr>
          <a:xfrm>
            <a:off x="1177750" y="3961664"/>
            <a:ext cx="4607352" cy="369332"/>
          </a:xfrm>
          <a:prstGeom prst="rect">
            <a:avLst/>
          </a:prstGeom>
        </p:spPr>
        <p:txBody>
          <a:bodyPr wrap="none">
            <a:spAutoFit/>
          </a:bodyPr>
          <a:lstStyle/>
          <a:p>
            <a:r>
              <a:rPr lang="en-US" dirty="0"/>
              <a:t>v</a:t>
            </a:r>
            <a:r>
              <a:rPr lang="en-US" baseline="-25000" dirty="0"/>
              <a:t> g</a:t>
            </a:r>
            <a:r>
              <a:rPr lang="en-US" dirty="0"/>
              <a:t> =  1/2 *([0.6 0.5]-[.3 .6]   +   [0.3 0.5] - [.3 .6] </a:t>
            </a:r>
            <a:endParaRPr lang="en-IN" dirty="0"/>
          </a:p>
        </p:txBody>
      </p:sp>
    </p:spTree>
    <p:extLst>
      <p:ext uri="{BB962C8B-B14F-4D97-AF65-F5344CB8AC3E}">
        <p14:creationId xmlns:p14="http://schemas.microsoft.com/office/powerpoint/2010/main" val="2925251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48DA6204-4183-4D19-B963-BE9E28B62952}"/>
              </a:ext>
            </a:extLst>
          </p:cNvPr>
          <p:cNvSpPr>
            <a:spLocks noChangeArrowheads="1"/>
          </p:cNvSpPr>
          <p:nvPr/>
        </p:nvSpPr>
        <p:spPr bwMode="auto">
          <a:xfrm>
            <a:off x="604368" y="820638"/>
            <a:ext cx="793526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Consider DP-SGD is being used to train the following neural network. All biases are initialized to 0 and weights w1 and w2 are initialized as shown. Sigmoid activation function is used. Mini-batch size is chosen to be 2, and gradient norm bound is chosen to be 0.6. What will be the expected value of gradient vector after first iteration? Usual binary cross-entropy is used as the loss function.</a:t>
            </a:r>
            <a:endParaRPr kumimoji="0" lang="en-US" altLang="en-US" sz="9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438E88BD-CB07-4FDF-941D-29CE0CB43104}"/>
              </a:ext>
            </a:extLst>
          </p:cNvPr>
          <p:cNvSpPr>
            <a:spLocks noChangeArrowheads="1"/>
          </p:cNvSpPr>
          <p:nvPr/>
        </p:nvSpPr>
        <p:spPr bwMode="auto">
          <a:xfrm>
            <a:off x="2132013" y="43465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8" name="Table 7">
            <a:extLst>
              <a:ext uri="{FF2B5EF4-FFF2-40B4-BE49-F238E27FC236}">
                <a16:creationId xmlns:a16="http://schemas.microsoft.com/office/drawing/2014/main" id="{A9A46D9C-889A-4672-88E1-0279B08C2FD1}"/>
              </a:ext>
            </a:extLst>
          </p:cNvPr>
          <p:cNvGraphicFramePr>
            <a:graphicFrameLocks noGrp="1"/>
          </p:cNvGraphicFramePr>
          <p:nvPr>
            <p:extLst>
              <p:ext uri="{D42A27DB-BD31-4B8C-83A1-F6EECF244321}">
                <p14:modId xmlns:p14="http://schemas.microsoft.com/office/powerpoint/2010/main" val="1535342772"/>
              </p:ext>
            </p:extLst>
          </p:nvPr>
        </p:nvGraphicFramePr>
        <p:xfrm>
          <a:off x="762000" y="2724150"/>
          <a:ext cx="4719167" cy="1340358"/>
        </p:xfrm>
        <a:graphic>
          <a:graphicData uri="http://schemas.openxmlformats.org/drawingml/2006/table">
            <a:tbl>
              <a:tblPr firstRow="1" firstCol="1" bandRow="1">
                <a:tableStyleId>{5C22544A-7EE6-4342-B048-85BDC9FD1C3A}</a:tableStyleId>
              </a:tblPr>
              <a:tblGrid>
                <a:gridCol w="1606525">
                  <a:extLst>
                    <a:ext uri="{9D8B030D-6E8A-4147-A177-3AD203B41FA5}">
                      <a16:colId xmlns:a16="http://schemas.microsoft.com/office/drawing/2014/main" val="3842629294"/>
                    </a:ext>
                  </a:extLst>
                </a:gridCol>
                <a:gridCol w="1807341">
                  <a:extLst>
                    <a:ext uri="{9D8B030D-6E8A-4147-A177-3AD203B41FA5}">
                      <a16:colId xmlns:a16="http://schemas.microsoft.com/office/drawing/2014/main" val="3293471422"/>
                    </a:ext>
                  </a:extLst>
                </a:gridCol>
                <a:gridCol w="1305301">
                  <a:extLst>
                    <a:ext uri="{9D8B030D-6E8A-4147-A177-3AD203B41FA5}">
                      <a16:colId xmlns:a16="http://schemas.microsoft.com/office/drawing/2014/main" val="3769511482"/>
                    </a:ext>
                  </a:extLst>
                </a:gridCol>
              </a:tblGrid>
              <a:tr h="0">
                <a:tc>
                  <a:txBody>
                    <a:bodyPr/>
                    <a:lstStyle/>
                    <a:p>
                      <a:pPr marL="457200" algn="ctr">
                        <a:lnSpc>
                          <a:spcPct val="115000"/>
                        </a:lnSpc>
                        <a:spcAft>
                          <a:spcPts val="0"/>
                        </a:spcAft>
                      </a:pPr>
                      <a:r>
                        <a:rPr lang="en-US" sz="2000" dirty="0">
                          <a:effectLst/>
                        </a:rPr>
                        <a:t> Instance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2000" dirty="0">
                          <a:effectLst/>
                        </a:rPr>
                        <a:t>Input x</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l">
                        <a:lnSpc>
                          <a:spcPct val="115000"/>
                        </a:lnSpc>
                        <a:spcAft>
                          <a:spcPts val="0"/>
                        </a:spcAft>
                      </a:pPr>
                      <a:r>
                        <a:rPr lang="en-US" sz="2000" dirty="0">
                          <a:effectLst/>
                        </a:rPr>
                        <a:t>Target 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78538713"/>
                  </a:ext>
                </a:extLst>
              </a:tr>
              <a:tr h="0">
                <a:tc>
                  <a:txBody>
                    <a:bodyPr/>
                    <a:lstStyle/>
                    <a:p>
                      <a:pPr marL="457200" algn="ctr">
                        <a:lnSpc>
                          <a:spcPct val="115000"/>
                        </a:lnSpc>
                        <a:spcAft>
                          <a:spcPts val="0"/>
                        </a:spcAft>
                      </a:pPr>
                      <a:r>
                        <a:rPr lang="en-US" sz="2000">
                          <a:effectLst/>
                        </a:rPr>
                        <a:t>1</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2000">
                          <a:effectLst/>
                        </a:rPr>
                        <a:t>0</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2000">
                          <a:effectLst/>
                        </a:rPr>
                        <a:t>1</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80617697"/>
                  </a:ext>
                </a:extLst>
              </a:tr>
              <a:tr h="0">
                <a:tc>
                  <a:txBody>
                    <a:bodyPr/>
                    <a:lstStyle/>
                    <a:p>
                      <a:pPr marL="457200" algn="ctr">
                        <a:lnSpc>
                          <a:spcPct val="115000"/>
                        </a:lnSpc>
                        <a:spcAft>
                          <a:spcPts val="0"/>
                        </a:spcAft>
                      </a:pPr>
                      <a:r>
                        <a:rPr lang="en-US" sz="2000">
                          <a:effectLst/>
                        </a:rPr>
                        <a:t>2</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2000">
                          <a:effectLst/>
                        </a:rPr>
                        <a:t>1</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2000" dirty="0">
                          <a:effectLst/>
                        </a:rPr>
                        <a:t>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66505530"/>
                  </a:ext>
                </a:extLst>
              </a:tr>
            </a:tbl>
          </a:graphicData>
        </a:graphic>
      </p:graphicFrame>
      <p:pic>
        <p:nvPicPr>
          <p:cNvPr id="9" name="Picture 1">
            <a:extLst>
              <a:ext uri="{FF2B5EF4-FFF2-40B4-BE49-F238E27FC236}">
                <a16:creationId xmlns:a16="http://schemas.microsoft.com/office/drawing/2014/main" id="{D926C94D-78AB-40DD-A0E2-5BE7797632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2419350"/>
            <a:ext cx="1066800" cy="25350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4925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437521F-8303-423E-A8BA-807DDFF0DE74}"/>
              </a:ext>
            </a:extLst>
          </p:cNvPr>
          <p:cNvGraphicFramePr>
            <a:graphicFrameLocks noGrp="1"/>
          </p:cNvGraphicFramePr>
          <p:nvPr>
            <p:extLst>
              <p:ext uri="{D42A27DB-BD31-4B8C-83A1-F6EECF244321}">
                <p14:modId xmlns:p14="http://schemas.microsoft.com/office/powerpoint/2010/main" val="3840483256"/>
              </p:ext>
            </p:extLst>
          </p:nvPr>
        </p:nvGraphicFramePr>
        <p:xfrm>
          <a:off x="2819400" y="666750"/>
          <a:ext cx="3380808" cy="1217714"/>
        </p:xfrm>
        <a:graphic>
          <a:graphicData uri="http://schemas.openxmlformats.org/drawingml/2006/table">
            <a:tbl>
              <a:tblPr firstRow="1" firstCol="1" bandRow="1">
                <a:tableStyleId>{5C22544A-7EE6-4342-B048-85BDC9FD1C3A}</a:tableStyleId>
              </a:tblPr>
              <a:tblGrid>
                <a:gridCol w="778649">
                  <a:extLst>
                    <a:ext uri="{9D8B030D-6E8A-4147-A177-3AD203B41FA5}">
                      <a16:colId xmlns:a16="http://schemas.microsoft.com/office/drawing/2014/main" val="3484112258"/>
                    </a:ext>
                  </a:extLst>
                </a:gridCol>
                <a:gridCol w="778649">
                  <a:extLst>
                    <a:ext uri="{9D8B030D-6E8A-4147-A177-3AD203B41FA5}">
                      <a16:colId xmlns:a16="http://schemas.microsoft.com/office/drawing/2014/main" val="653345822"/>
                    </a:ext>
                  </a:extLst>
                </a:gridCol>
                <a:gridCol w="917693">
                  <a:extLst>
                    <a:ext uri="{9D8B030D-6E8A-4147-A177-3AD203B41FA5}">
                      <a16:colId xmlns:a16="http://schemas.microsoft.com/office/drawing/2014/main" val="4198009413"/>
                    </a:ext>
                  </a:extLst>
                </a:gridCol>
                <a:gridCol w="905817">
                  <a:extLst>
                    <a:ext uri="{9D8B030D-6E8A-4147-A177-3AD203B41FA5}">
                      <a16:colId xmlns:a16="http://schemas.microsoft.com/office/drawing/2014/main" val="75638584"/>
                    </a:ext>
                  </a:extLst>
                </a:gridCol>
              </a:tblGrid>
              <a:tr h="587368">
                <a:tc>
                  <a:txBody>
                    <a:bodyPr/>
                    <a:lstStyle/>
                    <a:p>
                      <a:pPr algn="ctr">
                        <a:spcAft>
                          <a:spcPts val="0"/>
                        </a:spcAft>
                      </a:pPr>
                      <a:r>
                        <a:rPr lang="en-US" sz="1600">
                          <a:effectLst/>
                        </a:rPr>
                        <a:t>Input x</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Target y</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400" dirty="0">
                          <a:effectLst/>
                        </a:rPr>
                        <a:t>Hidden O</a:t>
                      </a:r>
                    </a:p>
                    <a:p>
                      <a:pPr algn="ctr">
                        <a:spcAft>
                          <a:spcPts val="0"/>
                        </a:spcAft>
                      </a:pP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ctr">
                        <a:spcAft>
                          <a:spcPts val="0"/>
                        </a:spcAft>
                      </a:pPr>
                      <a:r>
                        <a:rPr lang="en-US" sz="1400" dirty="0">
                          <a:effectLst/>
                        </a:rPr>
                        <a:t>Actual O</a:t>
                      </a:r>
                    </a:p>
                    <a:p>
                      <a:pPr algn="ctr">
                        <a:spcAft>
                          <a:spcPts val="0"/>
                        </a:spcAft>
                      </a:pP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2231884209"/>
                  </a:ext>
                </a:extLst>
              </a:tr>
              <a:tr h="315173">
                <a:tc>
                  <a:txBody>
                    <a:bodyPr/>
                    <a:lstStyle/>
                    <a:p>
                      <a:pPr algn="ctr">
                        <a:spcAft>
                          <a:spcPts val="0"/>
                        </a:spcAft>
                      </a:pPr>
                      <a:r>
                        <a:rPr lang="en-US" sz="1600" b="0" dirty="0">
                          <a:effectLst/>
                        </a:rPr>
                        <a:t>0</a:t>
                      </a:r>
                      <a:endParaRPr lang="en-IN" sz="1600" b="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1</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r">
                        <a:spcAft>
                          <a:spcPts val="0"/>
                        </a:spcAft>
                      </a:pPr>
                      <a:r>
                        <a:rPr lang="en-US" sz="1400">
                          <a:effectLst/>
                        </a:rPr>
                        <a:t>0.5</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0.622459</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3962760951"/>
                  </a:ext>
                </a:extLst>
              </a:tr>
              <a:tr h="315173">
                <a:tc>
                  <a:txBody>
                    <a:bodyPr/>
                    <a:lstStyle/>
                    <a:p>
                      <a:pPr algn="ctr">
                        <a:spcAft>
                          <a:spcPts val="0"/>
                        </a:spcAft>
                      </a:pPr>
                      <a:r>
                        <a:rPr lang="en-US" sz="1600" b="0" dirty="0">
                          <a:effectLst/>
                        </a:rPr>
                        <a:t>1</a:t>
                      </a:r>
                      <a:endParaRPr lang="en-IN" sz="1600" b="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dirty="0">
                          <a:effectLst/>
                        </a:rPr>
                        <a:t>0</a:t>
                      </a:r>
                      <a:endParaRPr lang="en-IN" sz="16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r">
                        <a:spcAft>
                          <a:spcPts val="0"/>
                        </a:spcAft>
                      </a:pPr>
                      <a:r>
                        <a:rPr lang="en-US" sz="1400">
                          <a:effectLst/>
                        </a:rPr>
                        <a:t>0.475021</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0.616571</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4028843561"/>
                  </a:ext>
                </a:extLst>
              </a:tr>
            </a:tbl>
          </a:graphicData>
        </a:graphic>
      </p:graphicFrame>
      <p:graphicFrame>
        <p:nvGraphicFramePr>
          <p:cNvPr id="4" name="Table 3">
            <a:extLst>
              <a:ext uri="{FF2B5EF4-FFF2-40B4-BE49-F238E27FC236}">
                <a16:creationId xmlns:a16="http://schemas.microsoft.com/office/drawing/2014/main" id="{29ABFCCC-AF94-40D0-9B18-C8D27AADAD06}"/>
              </a:ext>
            </a:extLst>
          </p:cNvPr>
          <p:cNvGraphicFramePr>
            <a:graphicFrameLocks noGrp="1"/>
          </p:cNvGraphicFramePr>
          <p:nvPr>
            <p:extLst>
              <p:ext uri="{D42A27DB-BD31-4B8C-83A1-F6EECF244321}">
                <p14:modId xmlns:p14="http://schemas.microsoft.com/office/powerpoint/2010/main" val="514447556"/>
              </p:ext>
            </p:extLst>
          </p:nvPr>
        </p:nvGraphicFramePr>
        <p:xfrm>
          <a:off x="1447800" y="2266950"/>
          <a:ext cx="7010400" cy="1981200"/>
        </p:xfrm>
        <a:graphic>
          <a:graphicData uri="http://schemas.openxmlformats.org/drawingml/2006/table">
            <a:tbl>
              <a:tblPr firstRow="1" firstCol="1" bandRow="1">
                <a:tableStyleId>{5C22544A-7EE6-4342-B048-85BDC9FD1C3A}</a:tableStyleId>
              </a:tblPr>
              <a:tblGrid>
                <a:gridCol w="914400">
                  <a:extLst>
                    <a:ext uri="{9D8B030D-6E8A-4147-A177-3AD203B41FA5}">
                      <a16:colId xmlns:a16="http://schemas.microsoft.com/office/drawing/2014/main" val="94903080"/>
                    </a:ext>
                  </a:extLst>
                </a:gridCol>
                <a:gridCol w="990600">
                  <a:extLst>
                    <a:ext uri="{9D8B030D-6E8A-4147-A177-3AD203B41FA5}">
                      <a16:colId xmlns:a16="http://schemas.microsoft.com/office/drawing/2014/main" val="1948146137"/>
                    </a:ext>
                  </a:extLst>
                </a:gridCol>
                <a:gridCol w="990600">
                  <a:extLst>
                    <a:ext uri="{9D8B030D-6E8A-4147-A177-3AD203B41FA5}">
                      <a16:colId xmlns:a16="http://schemas.microsoft.com/office/drawing/2014/main" val="1744989899"/>
                    </a:ext>
                  </a:extLst>
                </a:gridCol>
                <a:gridCol w="914400">
                  <a:extLst>
                    <a:ext uri="{9D8B030D-6E8A-4147-A177-3AD203B41FA5}">
                      <a16:colId xmlns:a16="http://schemas.microsoft.com/office/drawing/2014/main" val="1753033519"/>
                    </a:ext>
                  </a:extLst>
                </a:gridCol>
                <a:gridCol w="914400">
                  <a:extLst>
                    <a:ext uri="{9D8B030D-6E8A-4147-A177-3AD203B41FA5}">
                      <a16:colId xmlns:a16="http://schemas.microsoft.com/office/drawing/2014/main" val="2297021217"/>
                    </a:ext>
                  </a:extLst>
                </a:gridCol>
                <a:gridCol w="1066800">
                  <a:extLst>
                    <a:ext uri="{9D8B030D-6E8A-4147-A177-3AD203B41FA5}">
                      <a16:colId xmlns:a16="http://schemas.microsoft.com/office/drawing/2014/main" val="3826478780"/>
                    </a:ext>
                  </a:extLst>
                </a:gridCol>
                <a:gridCol w="1219200">
                  <a:extLst>
                    <a:ext uri="{9D8B030D-6E8A-4147-A177-3AD203B41FA5}">
                      <a16:colId xmlns:a16="http://schemas.microsoft.com/office/drawing/2014/main" val="87805478"/>
                    </a:ext>
                  </a:extLst>
                </a:gridCol>
              </a:tblGrid>
              <a:tr h="1001612">
                <a:tc>
                  <a:txBody>
                    <a:bodyPr/>
                    <a:lstStyle/>
                    <a:p>
                      <a:pPr algn="ctr">
                        <a:spcAft>
                          <a:spcPts val="0"/>
                        </a:spcAft>
                      </a:pPr>
                      <a:r>
                        <a:rPr lang="en-US" sz="1600" dirty="0">
                          <a:effectLst/>
                        </a:rPr>
                        <a:t>gradient b2</a:t>
                      </a:r>
                    </a:p>
                    <a:p>
                      <a:pPr algn="ctr">
                        <a:spcAft>
                          <a:spcPts val="0"/>
                        </a:spcAft>
                      </a:pPr>
                      <a:endParaRPr lang="en-IN" sz="18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ctr">
                        <a:spcAft>
                          <a:spcPts val="0"/>
                        </a:spcAft>
                      </a:pPr>
                      <a:r>
                        <a:rPr lang="en-US" sz="1600" dirty="0">
                          <a:effectLst/>
                        </a:rPr>
                        <a:t>gradient w2</a:t>
                      </a:r>
                    </a:p>
                    <a:p>
                      <a:pPr algn="ctr">
                        <a:spcAft>
                          <a:spcPts val="0"/>
                        </a:spcAft>
                      </a:pPr>
                      <a:endParaRPr lang="en-IN" sz="18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ctr">
                        <a:spcAft>
                          <a:spcPts val="0"/>
                        </a:spcAft>
                      </a:pPr>
                      <a:r>
                        <a:rPr lang="en-US" sz="1600" dirty="0">
                          <a:effectLst/>
                        </a:rPr>
                        <a:t>gradient b1</a:t>
                      </a:r>
                    </a:p>
                    <a:p>
                      <a:pPr algn="ctr">
                        <a:spcAft>
                          <a:spcPts val="0"/>
                        </a:spcAft>
                      </a:pPr>
                      <a:endParaRPr lang="en-US" sz="18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ctr">
                        <a:spcAft>
                          <a:spcPts val="0"/>
                        </a:spcAft>
                      </a:pPr>
                      <a:r>
                        <a:rPr lang="en-US" sz="1600" dirty="0">
                          <a:effectLst/>
                        </a:rPr>
                        <a:t>gradient w1</a:t>
                      </a:r>
                    </a:p>
                    <a:p>
                      <a:pPr algn="ctr">
                        <a:spcAft>
                          <a:spcPts val="0"/>
                        </a:spcAft>
                      </a:pPr>
                      <a:endParaRPr lang="en-IN" sz="18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ctr">
                        <a:spcAft>
                          <a:spcPts val="0"/>
                        </a:spcAft>
                      </a:pPr>
                      <a:endParaRPr lang="en-US" sz="1600" dirty="0">
                        <a:effectLst/>
                      </a:endParaRPr>
                    </a:p>
                    <a:p>
                      <a:pPr algn="ctr">
                        <a:spcAft>
                          <a:spcPts val="0"/>
                        </a:spcAft>
                      </a:pPr>
                      <a:endParaRPr lang="en-US" sz="1600" dirty="0">
                        <a:effectLst/>
                      </a:endParaRPr>
                    </a:p>
                    <a:p>
                      <a:pPr algn="ctr">
                        <a:spcAft>
                          <a:spcPts val="0"/>
                        </a:spcAft>
                      </a:pPr>
                      <a:r>
                        <a:rPr lang="en-US" sz="1600" dirty="0">
                          <a:effectLst/>
                        </a:rPr>
                        <a:t>L2 Norm</a:t>
                      </a:r>
                    </a:p>
                    <a:p>
                      <a:pPr algn="ctr">
                        <a:spcAft>
                          <a:spcPts val="0"/>
                        </a:spcAft>
                      </a:pPr>
                      <a:endParaRPr lang="en-IN" sz="18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ctr">
                        <a:spcAft>
                          <a:spcPts val="0"/>
                        </a:spcAft>
                      </a:pPr>
                      <a:r>
                        <a:rPr lang="en-US" sz="1600" dirty="0">
                          <a:effectLst/>
                        </a:rPr>
                        <a:t>Clipped Gradient</a:t>
                      </a:r>
                    </a:p>
                    <a:p>
                      <a:pPr algn="ctr">
                        <a:spcAft>
                          <a:spcPts val="0"/>
                        </a:spcAft>
                      </a:pPr>
                      <a:endParaRPr lang="en-IN" sz="18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endParaRPr lang="en-IN" sz="1200" dirty="0">
                        <a:effectLst/>
                        <a:latin typeface="Times New Roman" panose="02020603050405020304" pitchFamily="18" charset="0"/>
                      </a:endParaRPr>
                    </a:p>
                  </a:txBody>
                  <a:tcPr marL="68580" marR="68580" marT="0" marB="0" anchor="b"/>
                </a:tc>
                <a:extLst>
                  <a:ext uri="{0D108BD9-81ED-4DB2-BD59-A6C34878D82A}">
                    <a16:rowId xmlns:a16="http://schemas.microsoft.com/office/drawing/2014/main" val="3666641521"/>
                  </a:ext>
                </a:extLst>
              </a:tr>
              <a:tr h="209550">
                <a:tc>
                  <a:txBody>
                    <a:bodyPr/>
                    <a:lstStyle/>
                    <a:p>
                      <a:pPr algn="r">
                        <a:spcAft>
                          <a:spcPts val="0"/>
                        </a:spcAft>
                      </a:pPr>
                      <a:r>
                        <a:rPr lang="en-US" sz="1400" b="0" dirty="0">
                          <a:effectLst/>
                        </a:rPr>
                        <a:t>-0.37754</a:t>
                      </a:r>
                      <a:endParaRPr lang="en-IN" sz="1600" b="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600">
                          <a:effectLst/>
                        </a:rPr>
                        <a:t>-0.18877</a:t>
                      </a:r>
                      <a:endParaRPr lang="en-IN" sz="18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600">
                          <a:effectLst/>
                        </a:rPr>
                        <a:t>-0.09439</a:t>
                      </a:r>
                      <a:endParaRPr lang="en-IN" sz="18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600">
                          <a:effectLst/>
                        </a:rPr>
                        <a:t>0</a:t>
                      </a:r>
                      <a:endParaRPr lang="en-IN" sz="18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600">
                          <a:effectLst/>
                        </a:rPr>
                        <a:t>0.432527</a:t>
                      </a:r>
                      <a:endParaRPr lang="en-IN" sz="18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600">
                          <a:effectLst/>
                        </a:rPr>
                        <a:t>0.432527</a:t>
                      </a:r>
                      <a:endParaRPr lang="en-IN" sz="18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endParaRPr lang="en-IN" sz="1200" dirty="0">
                        <a:effectLst/>
                        <a:latin typeface="Times New Roman" panose="02020603050405020304" pitchFamily="18" charset="0"/>
                      </a:endParaRPr>
                    </a:p>
                  </a:txBody>
                  <a:tcPr marL="68580" marR="68580" marT="0" marB="0" anchor="b"/>
                </a:tc>
                <a:extLst>
                  <a:ext uri="{0D108BD9-81ED-4DB2-BD59-A6C34878D82A}">
                    <a16:rowId xmlns:a16="http://schemas.microsoft.com/office/drawing/2014/main" val="4265259265"/>
                  </a:ext>
                </a:extLst>
              </a:tr>
              <a:tr h="209550">
                <a:tc>
                  <a:txBody>
                    <a:bodyPr/>
                    <a:lstStyle/>
                    <a:p>
                      <a:pPr algn="r">
                        <a:spcAft>
                          <a:spcPts val="0"/>
                        </a:spcAft>
                      </a:pPr>
                      <a:r>
                        <a:rPr lang="en-US" sz="1400" b="0" dirty="0">
                          <a:effectLst/>
                        </a:rPr>
                        <a:t>0.616571</a:t>
                      </a:r>
                      <a:endParaRPr lang="en-IN" sz="1600" b="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600">
                          <a:effectLst/>
                        </a:rPr>
                        <a:t>0.292884</a:t>
                      </a:r>
                      <a:endParaRPr lang="en-IN" sz="18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600">
                          <a:effectLst/>
                        </a:rPr>
                        <a:t>0.153758</a:t>
                      </a:r>
                      <a:endParaRPr lang="en-IN" sz="18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600">
                          <a:effectLst/>
                        </a:rPr>
                        <a:t>0.153758</a:t>
                      </a:r>
                      <a:endParaRPr lang="en-IN" sz="18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600">
                          <a:effectLst/>
                        </a:rPr>
                        <a:t>0.716397</a:t>
                      </a:r>
                      <a:endParaRPr lang="en-IN" sz="18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600">
                          <a:effectLst/>
                        </a:rPr>
                        <a:t>0.6</a:t>
                      </a:r>
                      <a:endParaRPr lang="en-IN" sz="18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endParaRPr lang="en-IN" sz="1200" dirty="0">
                        <a:effectLst/>
                        <a:latin typeface="Times New Roman" panose="02020603050405020304" pitchFamily="18" charset="0"/>
                      </a:endParaRPr>
                    </a:p>
                  </a:txBody>
                  <a:tcPr marL="68580" marR="68580" marT="0" marB="0" anchor="b"/>
                </a:tc>
                <a:extLst>
                  <a:ext uri="{0D108BD9-81ED-4DB2-BD59-A6C34878D82A}">
                    <a16:rowId xmlns:a16="http://schemas.microsoft.com/office/drawing/2014/main" val="2725650550"/>
                  </a:ext>
                </a:extLst>
              </a:tr>
              <a:tr h="190500">
                <a:tc>
                  <a:txBody>
                    <a:bodyPr/>
                    <a:lstStyle/>
                    <a:p>
                      <a:endParaRPr lang="en-IN" sz="1000">
                        <a:effectLst/>
                        <a:latin typeface="Times New Roman" panose="02020603050405020304" pitchFamily="18" charset="0"/>
                      </a:endParaRPr>
                    </a:p>
                  </a:txBody>
                  <a:tcPr marL="68580" marR="68580" marT="0" marB="0" anchor="b"/>
                </a:tc>
                <a:tc>
                  <a:txBody>
                    <a:bodyPr/>
                    <a:lstStyle/>
                    <a:p>
                      <a:endParaRPr lang="en-IN" sz="1200">
                        <a:effectLst/>
                        <a:latin typeface="Times New Roman" panose="02020603050405020304" pitchFamily="18" charset="0"/>
                      </a:endParaRPr>
                    </a:p>
                  </a:txBody>
                  <a:tcPr marL="68580" marR="68580" marT="0" marB="0" anchor="b"/>
                </a:tc>
                <a:tc>
                  <a:txBody>
                    <a:bodyPr/>
                    <a:lstStyle/>
                    <a:p>
                      <a:endParaRPr lang="en-IN" sz="1200">
                        <a:effectLst/>
                        <a:latin typeface="Times New Roman" panose="02020603050405020304" pitchFamily="18" charset="0"/>
                      </a:endParaRPr>
                    </a:p>
                  </a:txBody>
                  <a:tcPr marL="68580" marR="68580" marT="0" marB="0" anchor="b"/>
                </a:tc>
                <a:tc>
                  <a:txBody>
                    <a:bodyPr/>
                    <a:lstStyle/>
                    <a:p>
                      <a:endParaRPr lang="en-IN" sz="1200">
                        <a:effectLst/>
                        <a:latin typeface="Times New Roman" panose="02020603050405020304" pitchFamily="18" charset="0"/>
                      </a:endParaRPr>
                    </a:p>
                  </a:txBody>
                  <a:tcPr marL="68580" marR="68580" marT="0" marB="0" anchor="b"/>
                </a:tc>
                <a:tc>
                  <a:txBody>
                    <a:bodyPr/>
                    <a:lstStyle/>
                    <a:p>
                      <a:endParaRPr lang="en-IN" sz="1200" dirty="0">
                        <a:effectLst/>
                        <a:latin typeface="Times New Roman" panose="02020603050405020304" pitchFamily="18" charset="0"/>
                      </a:endParaRPr>
                    </a:p>
                  </a:txBody>
                  <a:tcPr marL="68580" marR="68580" marT="0" marB="0" anchor="b"/>
                </a:tc>
                <a:tc>
                  <a:txBody>
                    <a:bodyPr/>
                    <a:lstStyle/>
                    <a:p>
                      <a:pPr algn="r">
                        <a:spcAft>
                          <a:spcPts val="0"/>
                        </a:spcAft>
                      </a:pPr>
                      <a:r>
                        <a:rPr lang="en-US" sz="1600">
                          <a:effectLst/>
                        </a:rPr>
                        <a:t>0.516264</a:t>
                      </a:r>
                      <a:endParaRPr lang="en-IN" sz="18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spcAft>
                          <a:spcPts val="0"/>
                        </a:spcAft>
                      </a:pPr>
                      <a:r>
                        <a:rPr lang="en-US" sz="1600" dirty="0">
                          <a:effectLst/>
                        </a:rPr>
                        <a:t>Average Gradient</a:t>
                      </a:r>
                      <a:endParaRPr lang="en-IN" sz="18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1710556533"/>
                  </a:ext>
                </a:extLst>
              </a:tr>
            </a:tbl>
          </a:graphicData>
        </a:graphic>
      </p:graphicFrame>
      <p:sp>
        <p:nvSpPr>
          <p:cNvPr id="6" name="Rectangle 3">
            <a:extLst>
              <a:ext uri="{FF2B5EF4-FFF2-40B4-BE49-F238E27FC236}">
                <a16:creationId xmlns:a16="http://schemas.microsoft.com/office/drawing/2014/main" id="{438E88BD-CB07-4FDF-941D-29CE0CB43104}"/>
              </a:ext>
            </a:extLst>
          </p:cNvPr>
          <p:cNvSpPr>
            <a:spLocks noChangeArrowheads="1"/>
          </p:cNvSpPr>
          <p:nvPr/>
        </p:nvSpPr>
        <p:spPr bwMode="auto">
          <a:xfrm>
            <a:off x="2132013" y="43465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836300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8932F8F-797F-487B-A5C1-1E81D67CF6E9}"/>
              </a:ext>
            </a:extLst>
          </p:cNvPr>
          <p:cNvGraphicFramePr>
            <a:graphicFrameLocks noGrp="1"/>
          </p:cNvGraphicFramePr>
          <p:nvPr>
            <p:extLst>
              <p:ext uri="{D42A27DB-BD31-4B8C-83A1-F6EECF244321}">
                <p14:modId xmlns:p14="http://schemas.microsoft.com/office/powerpoint/2010/main" val="2239715363"/>
              </p:ext>
            </p:extLst>
          </p:nvPr>
        </p:nvGraphicFramePr>
        <p:xfrm>
          <a:off x="685800" y="2724150"/>
          <a:ext cx="5814017" cy="1463929"/>
        </p:xfrm>
        <a:graphic>
          <a:graphicData uri="http://schemas.openxmlformats.org/drawingml/2006/table">
            <a:tbl>
              <a:tblPr firstRow="1" firstCol="1" bandRow="1">
                <a:tableStyleId>{5C22544A-7EE6-4342-B048-85BDC9FD1C3A}</a:tableStyleId>
              </a:tblPr>
              <a:tblGrid>
                <a:gridCol w="1465537">
                  <a:extLst>
                    <a:ext uri="{9D8B030D-6E8A-4147-A177-3AD203B41FA5}">
                      <a16:colId xmlns:a16="http://schemas.microsoft.com/office/drawing/2014/main" val="1917895371"/>
                    </a:ext>
                  </a:extLst>
                </a:gridCol>
                <a:gridCol w="1457960">
                  <a:extLst>
                    <a:ext uri="{9D8B030D-6E8A-4147-A177-3AD203B41FA5}">
                      <a16:colId xmlns:a16="http://schemas.microsoft.com/office/drawing/2014/main" val="2925453261"/>
                    </a:ext>
                  </a:extLst>
                </a:gridCol>
                <a:gridCol w="1464945">
                  <a:extLst>
                    <a:ext uri="{9D8B030D-6E8A-4147-A177-3AD203B41FA5}">
                      <a16:colId xmlns:a16="http://schemas.microsoft.com/office/drawing/2014/main" val="462767071"/>
                    </a:ext>
                  </a:extLst>
                </a:gridCol>
                <a:gridCol w="1425575">
                  <a:extLst>
                    <a:ext uri="{9D8B030D-6E8A-4147-A177-3AD203B41FA5}">
                      <a16:colId xmlns:a16="http://schemas.microsoft.com/office/drawing/2014/main" val="1622167564"/>
                    </a:ext>
                  </a:extLst>
                </a:gridCol>
              </a:tblGrid>
              <a:tr h="0">
                <a:tc>
                  <a:txBody>
                    <a:bodyPr/>
                    <a:lstStyle/>
                    <a:p>
                      <a:pPr marL="457200" algn="ctr">
                        <a:lnSpc>
                          <a:spcPct val="115000"/>
                        </a:lnSpc>
                        <a:spcAft>
                          <a:spcPts val="0"/>
                        </a:spcAft>
                      </a:pPr>
                      <a:r>
                        <a:rPr lang="en-US" sz="1200" dirty="0">
                          <a:effectLst/>
                        </a:rPr>
                        <a:t>Data Instance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200" dirty="0">
                          <a:effectLst/>
                        </a:rPr>
                        <a:t>Input x1</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200">
                          <a:effectLst/>
                        </a:rPr>
                        <a:t>Input x2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200" dirty="0">
                          <a:effectLst/>
                        </a:rPr>
                        <a:t>True y</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7460347"/>
                  </a:ext>
                </a:extLst>
              </a:tr>
              <a:tr h="0">
                <a:tc>
                  <a:txBody>
                    <a:bodyPr/>
                    <a:lstStyle/>
                    <a:p>
                      <a:pPr marL="457200" algn="ctr">
                        <a:lnSpc>
                          <a:spcPct val="115000"/>
                        </a:lnSpc>
                        <a:spcAft>
                          <a:spcPts val="0"/>
                        </a:spcAft>
                      </a:pPr>
                      <a:r>
                        <a:rPr lang="en-US" sz="1400" b="0" dirty="0">
                          <a:effectLst/>
                        </a:rPr>
                        <a:t>1</a:t>
                      </a:r>
                      <a:endParaRPr lang="en-IN"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dirty="0">
                          <a:effectLst/>
                        </a:rPr>
                        <a:t>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0</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0</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18627730"/>
                  </a:ext>
                </a:extLst>
              </a:tr>
              <a:tr h="0">
                <a:tc>
                  <a:txBody>
                    <a:bodyPr/>
                    <a:lstStyle/>
                    <a:p>
                      <a:pPr marL="457200" algn="ctr">
                        <a:lnSpc>
                          <a:spcPct val="115000"/>
                        </a:lnSpc>
                        <a:spcAft>
                          <a:spcPts val="0"/>
                        </a:spcAft>
                      </a:pPr>
                      <a:r>
                        <a:rPr lang="en-US" sz="1400" b="0" dirty="0">
                          <a:effectLst/>
                        </a:rPr>
                        <a:t>2</a:t>
                      </a:r>
                      <a:endParaRPr lang="en-IN"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dirty="0">
                          <a:effectLst/>
                        </a:rPr>
                        <a:t>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dirty="0">
                          <a:effectLst/>
                        </a:rPr>
                        <a:t>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dirty="0">
                          <a:effectLst/>
                        </a:rPr>
                        <a:t>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9043832"/>
                  </a:ext>
                </a:extLst>
              </a:tr>
              <a:tr h="0">
                <a:tc>
                  <a:txBody>
                    <a:bodyPr/>
                    <a:lstStyle/>
                    <a:p>
                      <a:pPr marL="457200" algn="ctr">
                        <a:lnSpc>
                          <a:spcPct val="115000"/>
                        </a:lnSpc>
                        <a:spcAft>
                          <a:spcPts val="0"/>
                        </a:spcAft>
                      </a:pPr>
                      <a:r>
                        <a:rPr lang="en-US" sz="1400" b="0" dirty="0">
                          <a:effectLst/>
                        </a:rPr>
                        <a:t>3</a:t>
                      </a:r>
                      <a:endParaRPr lang="en-IN"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1</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dirty="0">
                          <a:effectLst/>
                        </a:rPr>
                        <a:t>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0</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13296284"/>
                  </a:ext>
                </a:extLst>
              </a:tr>
              <a:tr h="0">
                <a:tc>
                  <a:txBody>
                    <a:bodyPr/>
                    <a:lstStyle/>
                    <a:p>
                      <a:pPr marL="457200" algn="ctr">
                        <a:lnSpc>
                          <a:spcPct val="115000"/>
                        </a:lnSpc>
                        <a:spcAft>
                          <a:spcPts val="0"/>
                        </a:spcAft>
                      </a:pPr>
                      <a:r>
                        <a:rPr lang="en-US" sz="1400" b="0" dirty="0">
                          <a:effectLst/>
                        </a:rPr>
                        <a:t>4</a:t>
                      </a:r>
                      <a:endParaRPr lang="en-IN" sz="12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1</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1</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dirty="0">
                          <a:effectLst/>
                        </a:rPr>
                        <a:t>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15345567"/>
                  </a:ext>
                </a:extLst>
              </a:tr>
            </a:tbl>
          </a:graphicData>
        </a:graphic>
      </p:graphicFrame>
      <p:sp>
        <p:nvSpPr>
          <p:cNvPr id="4" name="Rectangle 2">
            <a:extLst>
              <a:ext uri="{FF2B5EF4-FFF2-40B4-BE49-F238E27FC236}">
                <a16:creationId xmlns:a16="http://schemas.microsoft.com/office/drawing/2014/main" id="{75059742-CBFB-424B-BBD8-F29ED260C3FF}"/>
              </a:ext>
            </a:extLst>
          </p:cNvPr>
          <p:cNvSpPr>
            <a:spLocks noChangeArrowheads="1"/>
          </p:cNvSpPr>
          <p:nvPr/>
        </p:nvSpPr>
        <p:spPr bwMode="auto">
          <a:xfrm>
            <a:off x="762000" y="860074"/>
            <a:ext cx="7620000"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Calculate the saliency values for the input nodes for data instance #2 and #4 </a:t>
            </a:r>
            <a:r>
              <a:rPr kumimoji="0" lang="en-US" altLang="en-US" sz="20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w.r.t.</a:t>
            </a:r>
            <a:r>
              <a:rPr kumimoji="0" lang="en-US" alt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 the actual output for the trained neural network shown below. All biases are 0, </a:t>
            </a:r>
            <a:r>
              <a:rPr kumimoji="0" lang="en-US" altLang="en-US" sz="2000" b="0" i="0" u="none" strike="noStrike" cap="none" normalizeH="0" baseline="0" dirty="0" err="1">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ReLU</a:t>
            </a:r>
            <a:r>
              <a:rPr kumimoji="0" lang="en-US" alt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 activation is used the hidden node and sigmoid at the output node.</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rgbClr val="FFC000"/>
                </a:solidFill>
                <a:effectLst/>
                <a:latin typeface="Arial" panose="020B0604020202020204" pitchFamily="34" charset="0"/>
                <a:ea typeface="Calibri" panose="020F0502020204030204" pitchFamily="34" charset="0"/>
                <a:cs typeface="Calibri" panose="020F0502020204030204" pitchFamily="34" charset="0"/>
              </a:rPr>
              <a:t>Assume derivative of </a:t>
            </a:r>
            <a:r>
              <a:rPr kumimoji="0" lang="en-US" altLang="en-US" sz="1400" b="0" i="0" u="none" strike="noStrike" cap="none" normalizeH="0" baseline="0" dirty="0" err="1">
                <a:ln>
                  <a:noFill/>
                </a:ln>
                <a:solidFill>
                  <a:srgbClr val="FFC000"/>
                </a:solidFill>
                <a:effectLst/>
                <a:latin typeface="Arial" panose="020B0604020202020204" pitchFamily="34" charset="0"/>
                <a:ea typeface="Calibri" panose="020F0502020204030204" pitchFamily="34" charset="0"/>
                <a:cs typeface="Calibri" panose="020F0502020204030204" pitchFamily="34" charset="0"/>
              </a:rPr>
              <a:t>ReLU</a:t>
            </a:r>
            <a:r>
              <a:rPr kumimoji="0" lang="en-US" altLang="en-US" sz="1400" b="0" i="0" u="none" strike="noStrike" cap="none" normalizeH="0" baseline="0" dirty="0">
                <a:ln>
                  <a:noFill/>
                </a:ln>
                <a:solidFill>
                  <a:srgbClr val="FFC000"/>
                </a:solidFill>
                <a:effectLst/>
                <a:latin typeface="Arial" panose="020B0604020202020204" pitchFamily="34" charset="0"/>
                <a:ea typeface="Calibri" panose="020F0502020204030204" pitchFamily="34" charset="0"/>
                <a:cs typeface="Calibri" panose="020F0502020204030204" pitchFamily="34" charset="0"/>
              </a:rPr>
              <a:t>(x) at x=0 is 1, if needed.</a:t>
            </a:r>
            <a:endParaRPr kumimoji="0" lang="en-US" altLang="en-US" sz="700" b="0" i="0" u="none" strike="noStrike" cap="none" normalizeH="0" baseline="0" dirty="0">
              <a:ln>
                <a:noFill/>
              </a:ln>
              <a:solidFill>
                <a:srgbClr val="FFC000"/>
              </a:solidFill>
              <a:effectLst/>
              <a:latin typeface="Arial" panose="020B0604020202020204" pitchFamily="34" charset="0"/>
            </a:endParaRPr>
          </a:p>
        </p:txBody>
      </p:sp>
      <p:pic>
        <p:nvPicPr>
          <p:cNvPr id="2049" name="Picture 1">
            <a:extLst>
              <a:ext uri="{FF2B5EF4-FFF2-40B4-BE49-F238E27FC236}">
                <a16:creationId xmlns:a16="http://schemas.microsoft.com/office/drawing/2014/main" id="{5E0F1383-E2BD-476A-A9FE-EBB4899FFD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814328"/>
            <a:ext cx="2057400" cy="3176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4941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127E85B-405D-40F7-BCAF-2F239ADE41A4}"/>
              </a:ext>
            </a:extLst>
          </p:cNvPr>
          <p:cNvGraphicFramePr>
            <a:graphicFrameLocks noGrp="1"/>
          </p:cNvGraphicFramePr>
          <p:nvPr>
            <p:extLst>
              <p:ext uri="{D42A27DB-BD31-4B8C-83A1-F6EECF244321}">
                <p14:modId xmlns:p14="http://schemas.microsoft.com/office/powerpoint/2010/main" val="3194762721"/>
              </p:ext>
            </p:extLst>
          </p:nvPr>
        </p:nvGraphicFramePr>
        <p:xfrm>
          <a:off x="1676400" y="2266950"/>
          <a:ext cx="5638801" cy="1880980"/>
        </p:xfrm>
        <a:graphic>
          <a:graphicData uri="http://schemas.openxmlformats.org/drawingml/2006/table">
            <a:tbl>
              <a:tblPr firstRow="1" firstCol="1" bandRow="1">
                <a:tableStyleId>{5C22544A-7EE6-4342-B048-85BDC9FD1C3A}</a:tableStyleId>
              </a:tblPr>
              <a:tblGrid>
                <a:gridCol w="805543">
                  <a:extLst>
                    <a:ext uri="{9D8B030D-6E8A-4147-A177-3AD203B41FA5}">
                      <a16:colId xmlns:a16="http://schemas.microsoft.com/office/drawing/2014/main" val="3464483886"/>
                    </a:ext>
                  </a:extLst>
                </a:gridCol>
                <a:gridCol w="805543">
                  <a:extLst>
                    <a:ext uri="{9D8B030D-6E8A-4147-A177-3AD203B41FA5}">
                      <a16:colId xmlns:a16="http://schemas.microsoft.com/office/drawing/2014/main" val="2804580369"/>
                    </a:ext>
                  </a:extLst>
                </a:gridCol>
                <a:gridCol w="805543">
                  <a:extLst>
                    <a:ext uri="{9D8B030D-6E8A-4147-A177-3AD203B41FA5}">
                      <a16:colId xmlns:a16="http://schemas.microsoft.com/office/drawing/2014/main" val="2065549863"/>
                    </a:ext>
                  </a:extLst>
                </a:gridCol>
                <a:gridCol w="805543">
                  <a:extLst>
                    <a:ext uri="{9D8B030D-6E8A-4147-A177-3AD203B41FA5}">
                      <a16:colId xmlns:a16="http://schemas.microsoft.com/office/drawing/2014/main" val="3173857177"/>
                    </a:ext>
                  </a:extLst>
                </a:gridCol>
                <a:gridCol w="892628">
                  <a:extLst>
                    <a:ext uri="{9D8B030D-6E8A-4147-A177-3AD203B41FA5}">
                      <a16:colId xmlns:a16="http://schemas.microsoft.com/office/drawing/2014/main" val="778478980"/>
                    </a:ext>
                  </a:extLst>
                </a:gridCol>
                <a:gridCol w="718458">
                  <a:extLst>
                    <a:ext uri="{9D8B030D-6E8A-4147-A177-3AD203B41FA5}">
                      <a16:colId xmlns:a16="http://schemas.microsoft.com/office/drawing/2014/main" val="2908144376"/>
                    </a:ext>
                  </a:extLst>
                </a:gridCol>
                <a:gridCol w="805543">
                  <a:extLst>
                    <a:ext uri="{9D8B030D-6E8A-4147-A177-3AD203B41FA5}">
                      <a16:colId xmlns:a16="http://schemas.microsoft.com/office/drawing/2014/main" val="257886415"/>
                    </a:ext>
                  </a:extLst>
                </a:gridCol>
              </a:tblGrid>
              <a:tr h="801254">
                <a:tc>
                  <a:txBody>
                    <a:bodyPr/>
                    <a:lstStyle/>
                    <a:p>
                      <a:pPr algn="ctr">
                        <a:spcAft>
                          <a:spcPts val="0"/>
                        </a:spcAft>
                      </a:pPr>
                      <a:r>
                        <a:rPr lang="en-US" sz="1600">
                          <a:effectLst/>
                        </a:rPr>
                        <a:t>Input x1</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600">
                          <a:effectLst/>
                        </a:rPr>
                        <a:t>Input x2</a:t>
                      </a:r>
                      <a:endParaRPr lang="en-IN" sz="16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spcAft>
                          <a:spcPts val="0"/>
                        </a:spcAft>
                      </a:pPr>
                      <a:r>
                        <a:rPr lang="en-US" sz="1400" dirty="0">
                          <a:effectLst/>
                        </a:rPr>
                        <a:t>Left hidden output h1</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spcAft>
                          <a:spcPts val="0"/>
                        </a:spcAft>
                      </a:pPr>
                      <a:r>
                        <a:rPr lang="en-US" sz="1400">
                          <a:effectLst/>
                        </a:rPr>
                        <a:t>Right hidden output h2</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spcAft>
                          <a:spcPts val="0"/>
                        </a:spcAft>
                      </a:pPr>
                      <a:r>
                        <a:rPr lang="en-US" sz="1400" dirty="0">
                          <a:effectLst/>
                        </a:rPr>
                        <a:t>Actual y</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spcAft>
                          <a:spcPts val="0"/>
                        </a:spcAft>
                      </a:pPr>
                      <a:r>
                        <a:rPr lang="en-US" sz="1400">
                          <a:effectLst/>
                        </a:rPr>
                        <a:t>dy/dx1</a:t>
                      </a:r>
                      <a:endParaRPr lang="en-IN" sz="16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spcAft>
                          <a:spcPts val="0"/>
                        </a:spcAft>
                      </a:pPr>
                      <a:r>
                        <a:rPr lang="en-US" sz="1400" dirty="0" err="1">
                          <a:effectLst/>
                        </a:rPr>
                        <a:t>dy</a:t>
                      </a:r>
                      <a:r>
                        <a:rPr lang="en-US" sz="1400" dirty="0">
                          <a:effectLst/>
                        </a:rPr>
                        <a:t>/dx2</a:t>
                      </a:r>
                      <a:endParaRPr lang="en-IN" sz="16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4084095763"/>
                  </a:ext>
                </a:extLst>
              </a:tr>
              <a:tr h="513770">
                <a:tc>
                  <a:txBody>
                    <a:bodyPr/>
                    <a:lstStyle/>
                    <a:p>
                      <a:pPr algn="ctr">
                        <a:spcAft>
                          <a:spcPts val="0"/>
                        </a:spcAft>
                      </a:pPr>
                      <a:r>
                        <a:rPr lang="en-US" sz="1400" dirty="0">
                          <a:effectLst/>
                        </a:rPr>
                        <a:t>0</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400" dirty="0">
                          <a:effectLst/>
                        </a:rPr>
                        <a:t>1</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r">
                        <a:spcAft>
                          <a:spcPts val="0"/>
                        </a:spcAft>
                      </a:pPr>
                      <a:r>
                        <a:rPr lang="en-US" sz="1400" dirty="0">
                          <a:effectLst/>
                        </a:rPr>
                        <a:t>2</a:t>
                      </a:r>
                      <a:endParaRPr lang="en-IN" sz="14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a:effectLst/>
                        </a:rPr>
                        <a:t>0.5</a:t>
                      </a:r>
                      <a:endParaRPr lang="en-IN" sz="140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0.817574</a:t>
                      </a:r>
                      <a:endParaRPr lang="en-IN" sz="14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a:t>
                      </a:r>
                      <a:endParaRPr lang="en-IN" sz="14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0.22372</a:t>
                      </a:r>
                      <a:endParaRPr lang="en-IN" sz="14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2806158928"/>
                  </a:ext>
                </a:extLst>
              </a:tr>
              <a:tr h="513770">
                <a:tc>
                  <a:txBody>
                    <a:bodyPr/>
                    <a:lstStyle/>
                    <a:p>
                      <a:pPr algn="ctr">
                        <a:spcAft>
                          <a:spcPts val="0"/>
                        </a:spcAft>
                      </a:pPr>
                      <a:r>
                        <a:rPr lang="en-US" sz="1400">
                          <a:effectLst/>
                        </a:rPr>
                        <a:t>1</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spcAft>
                          <a:spcPts val="0"/>
                        </a:spcAft>
                      </a:pPr>
                      <a:r>
                        <a:rPr lang="en-US" sz="1400">
                          <a:effectLst/>
                        </a:rPr>
                        <a:t>1</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r">
                        <a:spcAft>
                          <a:spcPts val="0"/>
                        </a:spcAft>
                      </a:pPr>
                      <a:r>
                        <a:rPr lang="en-US" sz="1400" dirty="0">
                          <a:effectLst/>
                        </a:rPr>
                        <a:t>3</a:t>
                      </a:r>
                      <a:endParaRPr lang="en-IN" sz="14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1.5</a:t>
                      </a:r>
                      <a:endParaRPr lang="en-IN" sz="14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0.817574</a:t>
                      </a:r>
                      <a:endParaRPr lang="en-IN" sz="14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a:t>
                      </a:r>
                      <a:endParaRPr lang="en-IN" sz="1400" dirty="0">
                        <a:effectLst/>
                        <a:latin typeface="Times New Roman" panose="02020603050405020304" pitchFamily="18" charset="0"/>
                        <a:ea typeface="Times New Roman" panose="02020603050405020304" pitchFamily="18" charset="0"/>
                      </a:endParaRPr>
                    </a:p>
                  </a:txBody>
                  <a:tcPr marL="68580" marR="68580" marT="0" marB="0" anchor="b"/>
                </a:tc>
                <a:tc>
                  <a:txBody>
                    <a:bodyPr/>
                    <a:lstStyle/>
                    <a:p>
                      <a:pPr algn="r">
                        <a:spcAft>
                          <a:spcPts val="0"/>
                        </a:spcAft>
                      </a:pPr>
                      <a:r>
                        <a:rPr lang="en-US" sz="1400" dirty="0">
                          <a:effectLst/>
                        </a:rPr>
                        <a:t>0.22372</a:t>
                      </a:r>
                      <a:endParaRPr lang="en-IN" sz="1400" dirty="0">
                        <a:effectLst/>
                        <a:latin typeface="Times New Roman" panose="02020603050405020304" pitchFamily="18" charset="0"/>
                        <a:ea typeface="Times New Roman" panose="02020603050405020304" pitchFamily="18" charset="0"/>
                      </a:endParaRPr>
                    </a:p>
                  </a:txBody>
                  <a:tcPr marL="68580" marR="68580" marT="0" marB="0" anchor="b"/>
                </a:tc>
                <a:extLst>
                  <a:ext uri="{0D108BD9-81ED-4DB2-BD59-A6C34878D82A}">
                    <a16:rowId xmlns:a16="http://schemas.microsoft.com/office/drawing/2014/main" val="3222625115"/>
                  </a:ext>
                </a:extLst>
              </a:tr>
            </a:tbl>
          </a:graphicData>
        </a:graphic>
      </p:graphicFrame>
      <p:sp>
        <p:nvSpPr>
          <p:cNvPr id="5" name="Rectangle 3">
            <a:extLst>
              <a:ext uri="{FF2B5EF4-FFF2-40B4-BE49-F238E27FC236}">
                <a16:creationId xmlns:a16="http://schemas.microsoft.com/office/drawing/2014/main" id="{2383E170-19F5-40BF-82FF-59E549D2D69A}"/>
              </a:ext>
            </a:extLst>
          </p:cNvPr>
          <p:cNvSpPr>
            <a:spLocks noChangeArrowheads="1"/>
          </p:cNvSpPr>
          <p:nvPr/>
        </p:nvSpPr>
        <p:spPr bwMode="auto">
          <a:xfrm>
            <a:off x="990600" y="590550"/>
            <a:ext cx="7391400"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Note: 	derivative of </a:t>
            </a:r>
            <a:r>
              <a:rPr kumimoji="0" lang="en-US" altLang="en-US"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ReLU</a:t>
            </a: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is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derivative of sigmoid function f(x) </a:t>
            </a:r>
            <a:r>
              <a:rPr kumimoji="0" lang="en-US" altLang="en-US"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w.r.t.</a:t>
            </a: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x is f(x)(1-f(x))</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dy</a:t>
            </a: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/dx1 = y(1-y)*(1*1-1*1)</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dy</a:t>
            </a:r>
            <a:r>
              <a:rPr kumimoji="0" lang="en-US" altLang="en-US"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/dx2 =y(1-y)*(1*2-1*0.5)</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14984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FF1A19B-B389-4845-AFCC-86DF7D400CE8}"/>
              </a:ext>
            </a:extLst>
          </p:cNvPr>
          <p:cNvGraphicFramePr>
            <a:graphicFrameLocks noGrp="1"/>
          </p:cNvGraphicFramePr>
          <p:nvPr>
            <p:extLst>
              <p:ext uri="{D42A27DB-BD31-4B8C-83A1-F6EECF244321}">
                <p14:modId xmlns:p14="http://schemas.microsoft.com/office/powerpoint/2010/main" val="1191577927"/>
              </p:ext>
            </p:extLst>
          </p:nvPr>
        </p:nvGraphicFramePr>
        <p:xfrm>
          <a:off x="1905000" y="1945943"/>
          <a:ext cx="3352800" cy="2619657"/>
        </p:xfrm>
        <a:graphic>
          <a:graphicData uri="http://schemas.openxmlformats.org/drawingml/2006/table">
            <a:tbl>
              <a:tblPr firstRow="1" firstCol="1" bandRow="1">
                <a:tableStyleId>{5C22544A-7EE6-4342-B048-85BDC9FD1C3A}</a:tableStyleId>
              </a:tblPr>
              <a:tblGrid>
                <a:gridCol w="1345304">
                  <a:extLst>
                    <a:ext uri="{9D8B030D-6E8A-4147-A177-3AD203B41FA5}">
                      <a16:colId xmlns:a16="http://schemas.microsoft.com/office/drawing/2014/main" val="1481004543"/>
                    </a:ext>
                  </a:extLst>
                </a:gridCol>
                <a:gridCol w="1105169">
                  <a:extLst>
                    <a:ext uri="{9D8B030D-6E8A-4147-A177-3AD203B41FA5}">
                      <a16:colId xmlns:a16="http://schemas.microsoft.com/office/drawing/2014/main" val="1056159827"/>
                    </a:ext>
                  </a:extLst>
                </a:gridCol>
                <a:gridCol w="902327">
                  <a:extLst>
                    <a:ext uri="{9D8B030D-6E8A-4147-A177-3AD203B41FA5}">
                      <a16:colId xmlns:a16="http://schemas.microsoft.com/office/drawing/2014/main" val="562504385"/>
                    </a:ext>
                  </a:extLst>
                </a:gridCol>
              </a:tblGrid>
              <a:tr h="244249">
                <a:tc>
                  <a:txBody>
                    <a:bodyPr/>
                    <a:lstStyle/>
                    <a:p>
                      <a:pPr marL="457200" algn="ctr">
                        <a:lnSpc>
                          <a:spcPct val="115000"/>
                        </a:lnSpc>
                        <a:spcAft>
                          <a:spcPts val="0"/>
                        </a:spcAft>
                      </a:pPr>
                      <a:r>
                        <a:rPr lang="en-US" sz="1200">
                          <a:effectLst/>
                        </a:rPr>
                        <a:t>Gender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200" dirty="0">
                          <a:effectLst/>
                        </a:rPr>
                        <a:t>P</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200">
                          <a:effectLst/>
                        </a:rPr>
                        <a:t>C</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33224586"/>
                  </a:ext>
                </a:extLst>
              </a:tr>
              <a:tr h="244249">
                <a:tc>
                  <a:txBody>
                    <a:bodyPr/>
                    <a:lstStyle/>
                    <a:p>
                      <a:pPr marL="457200" algn="ctr">
                        <a:lnSpc>
                          <a:spcPct val="115000"/>
                        </a:lnSpc>
                        <a:spcAft>
                          <a:spcPts val="0"/>
                        </a:spcAft>
                      </a:pPr>
                      <a:r>
                        <a:rPr lang="en-US" sz="1800" dirty="0">
                          <a:effectLst/>
                        </a:rPr>
                        <a:t>F</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6</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b="1" dirty="0">
                          <a:effectLst/>
                        </a:rPr>
                        <a:t>-</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82797640"/>
                  </a:ext>
                </a:extLst>
              </a:tr>
              <a:tr h="244249">
                <a:tc>
                  <a:txBody>
                    <a:bodyPr/>
                    <a:lstStyle/>
                    <a:p>
                      <a:pPr marL="457200" algn="ctr">
                        <a:lnSpc>
                          <a:spcPct val="115000"/>
                        </a:lnSpc>
                        <a:spcAft>
                          <a:spcPts val="0"/>
                        </a:spcAft>
                      </a:pPr>
                      <a:r>
                        <a:rPr lang="en-US" sz="1800" dirty="0">
                          <a:effectLst/>
                        </a:rPr>
                        <a:t>F</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8</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b="1" dirty="0">
                          <a:effectLst/>
                        </a:rPr>
                        <a:t>-</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0097862"/>
                  </a:ext>
                </a:extLst>
              </a:tr>
              <a:tr h="244249">
                <a:tc>
                  <a:txBody>
                    <a:bodyPr/>
                    <a:lstStyle/>
                    <a:p>
                      <a:pPr marL="457200" algn="ctr">
                        <a:lnSpc>
                          <a:spcPct val="115000"/>
                        </a:lnSpc>
                        <a:spcAft>
                          <a:spcPts val="0"/>
                        </a:spcAft>
                      </a:pPr>
                      <a:r>
                        <a:rPr lang="en-US" sz="1800">
                          <a:effectLst/>
                        </a:rPr>
                        <a:t>F</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10</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b="1" dirty="0">
                          <a:effectLst/>
                        </a:rPr>
                        <a:t>-</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11097205"/>
                  </a:ext>
                </a:extLst>
              </a:tr>
              <a:tr h="244249">
                <a:tc>
                  <a:txBody>
                    <a:bodyPr/>
                    <a:lstStyle/>
                    <a:p>
                      <a:pPr marL="457200" algn="ctr">
                        <a:lnSpc>
                          <a:spcPct val="115000"/>
                        </a:lnSpc>
                        <a:spcAft>
                          <a:spcPts val="0"/>
                        </a:spcAft>
                      </a:pPr>
                      <a:r>
                        <a:rPr lang="en-US" sz="1800">
                          <a:effectLst/>
                        </a:rPr>
                        <a:t>F</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11</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b="1" dirty="0">
                          <a:effectLst/>
                        </a:rPr>
                        <a:t>+</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0406970"/>
                  </a:ext>
                </a:extLst>
              </a:tr>
              <a:tr h="244249">
                <a:tc>
                  <a:txBody>
                    <a:bodyPr/>
                    <a:lstStyle/>
                    <a:p>
                      <a:pPr marL="457200" algn="ctr">
                        <a:lnSpc>
                          <a:spcPct val="115000"/>
                        </a:lnSpc>
                        <a:spcAft>
                          <a:spcPts val="0"/>
                        </a:spcAft>
                      </a:pPr>
                      <a:r>
                        <a:rPr lang="en-US" sz="1800">
                          <a:effectLst/>
                        </a:rPr>
                        <a:t>M</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9.5</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b="1" dirty="0">
                          <a:effectLst/>
                        </a:rPr>
                        <a:t>-</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84946366"/>
                  </a:ext>
                </a:extLst>
              </a:tr>
              <a:tr h="244249">
                <a:tc>
                  <a:txBody>
                    <a:bodyPr/>
                    <a:lstStyle/>
                    <a:p>
                      <a:pPr marL="457200" algn="ctr">
                        <a:lnSpc>
                          <a:spcPct val="115000"/>
                        </a:lnSpc>
                        <a:spcAft>
                          <a:spcPts val="0"/>
                        </a:spcAft>
                      </a:pPr>
                      <a:r>
                        <a:rPr lang="en-US" sz="1800">
                          <a:effectLst/>
                        </a:rPr>
                        <a:t>M</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dirty="0">
                          <a:effectLst/>
                        </a:rPr>
                        <a:t>10.5</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b="1" dirty="0">
                          <a:effectLst/>
                        </a:rPr>
                        <a:t>+</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85092358"/>
                  </a:ext>
                </a:extLst>
              </a:tr>
              <a:tr h="244249">
                <a:tc>
                  <a:txBody>
                    <a:bodyPr/>
                    <a:lstStyle/>
                    <a:p>
                      <a:pPr marL="457200" algn="ctr">
                        <a:lnSpc>
                          <a:spcPct val="115000"/>
                        </a:lnSpc>
                        <a:spcAft>
                          <a:spcPts val="0"/>
                        </a:spcAft>
                      </a:pPr>
                      <a:r>
                        <a:rPr lang="en-US" sz="1800">
                          <a:effectLst/>
                        </a:rPr>
                        <a:t>M</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12</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b="1" dirty="0">
                          <a:effectLst/>
                        </a:rPr>
                        <a:t>+</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91505675"/>
                  </a:ext>
                </a:extLst>
              </a:tr>
              <a:tr h="244249">
                <a:tc>
                  <a:txBody>
                    <a:bodyPr/>
                    <a:lstStyle/>
                    <a:p>
                      <a:pPr marL="457200" algn="ctr">
                        <a:lnSpc>
                          <a:spcPct val="115000"/>
                        </a:lnSpc>
                        <a:spcAft>
                          <a:spcPts val="0"/>
                        </a:spcAft>
                      </a:pPr>
                      <a:r>
                        <a:rPr lang="en-US" sz="1800">
                          <a:effectLst/>
                        </a:rPr>
                        <a:t>M</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a:effectLst/>
                        </a:rPr>
                        <a:t>13</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800" b="1" dirty="0">
                          <a:effectLst/>
                        </a:rPr>
                        <a:t>+</a:t>
                      </a:r>
                      <a:endParaRPr lang="en-IN" sz="16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78627488"/>
                  </a:ext>
                </a:extLst>
              </a:tr>
            </a:tbl>
          </a:graphicData>
        </a:graphic>
      </p:graphicFrame>
      <p:sp>
        <p:nvSpPr>
          <p:cNvPr id="4" name="Rectangle 2">
            <a:extLst>
              <a:ext uri="{FF2B5EF4-FFF2-40B4-BE49-F238E27FC236}">
                <a16:creationId xmlns:a16="http://schemas.microsoft.com/office/drawing/2014/main" id="{EAF1E298-E7B1-484D-B090-511C2734F997}"/>
              </a:ext>
            </a:extLst>
          </p:cNvPr>
          <p:cNvSpPr>
            <a:spLocks noChangeArrowheads="1"/>
          </p:cNvSpPr>
          <p:nvPr/>
        </p:nvSpPr>
        <p:spPr bwMode="auto">
          <a:xfrm>
            <a:off x="533400" y="409078"/>
            <a:ext cx="840345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Apply preferential sampling to create the training data from the following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dataset. Gender is the protected attribute, P is the predictor and C is the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target class. The following neural net based ranker is used.  Hidden bias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Calibri" panose="020F0502020204030204" pitchFamily="34" charset="0"/>
              </a:rPr>
              <a:t>is 1 and output bias is 0, sigmoid activation is used.</a:t>
            </a: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pic>
        <p:nvPicPr>
          <p:cNvPr id="4097" name="Picture 1">
            <a:extLst>
              <a:ext uri="{FF2B5EF4-FFF2-40B4-BE49-F238E27FC236}">
                <a16:creationId xmlns:a16="http://schemas.microsoft.com/office/drawing/2014/main" id="{1C79B08C-A9FB-4D28-9BB7-AF7D1EA072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809750"/>
            <a:ext cx="838200" cy="280301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C50883AE-F262-4D6E-B9F4-A404B6843B3D}"/>
              </a:ext>
            </a:extLst>
          </p:cNvPr>
          <p:cNvSpPr>
            <a:spLocks noChangeArrowheads="1"/>
          </p:cNvSpPr>
          <p:nvPr/>
        </p:nvSpPr>
        <p:spPr bwMode="auto">
          <a:xfrm>
            <a:off x="2806700" y="420211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051771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432EE-DB40-4C2B-81EA-3A6980515101}"/>
              </a:ext>
            </a:extLst>
          </p:cNvPr>
          <p:cNvPicPr>
            <a:picLocks noChangeAspect="1"/>
          </p:cNvPicPr>
          <p:nvPr/>
        </p:nvPicPr>
        <p:blipFill>
          <a:blip r:embed="rId2"/>
          <a:stretch>
            <a:fillRect/>
          </a:stretch>
        </p:blipFill>
        <p:spPr>
          <a:xfrm>
            <a:off x="342158" y="711239"/>
            <a:ext cx="8344642" cy="3917911"/>
          </a:xfrm>
          <a:prstGeom prst="rect">
            <a:avLst/>
          </a:prstGeom>
        </p:spPr>
      </p:pic>
    </p:spTree>
    <p:extLst>
      <p:ext uri="{BB962C8B-B14F-4D97-AF65-F5344CB8AC3E}">
        <p14:creationId xmlns:p14="http://schemas.microsoft.com/office/powerpoint/2010/main" val="1046794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35A9C38-F16B-4E7A-9DDB-809F343FAFED}"/>
              </a:ext>
            </a:extLst>
          </p:cNvPr>
          <p:cNvGraphicFramePr>
            <a:graphicFrameLocks noGrp="1"/>
          </p:cNvGraphicFramePr>
          <p:nvPr>
            <p:extLst>
              <p:ext uri="{D42A27DB-BD31-4B8C-83A1-F6EECF244321}">
                <p14:modId xmlns:p14="http://schemas.microsoft.com/office/powerpoint/2010/main" val="3443264367"/>
              </p:ext>
            </p:extLst>
          </p:nvPr>
        </p:nvGraphicFramePr>
        <p:xfrm>
          <a:off x="2133600" y="664209"/>
          <a:ext cx="5105400" cy="3733801"/>
        </p:xfrm>
        <a:graphic>
          <a:graphicData uri="http://schemas.openxmlformats.org/drawingml/2006/table">
            <a:tbl>
              <a:tblPr firstRow="1" firstCol="1" bandRow="1">
                <a:tableStyleId>{5C22544A-7EE6-4342-B048-85BDC9FD1C3A}</a:tableStyleId>
              </a:tblPr>
              <a:tblGrid>
                <a:gridCol w="685800">
                  <a:extLst>
                    <a:ext uri="{9D8B030D-6E8A-4147-A177-3AD203B41FA5}">
                      <a16:colId xmlns:a16="http://schemas.microsoft.com/office/drawing/2014/main" val="3531038127"/>
                    </a:ext>
                  </a:extLst>
                </a:gridCol>
                <a:gridCol w="685800">
                  <a:extLst>
                    <a:ext uri="{9D8B030D-6E8A-4147-A177-3AD203B41FA5}">
                      <a16:colId xmlns:a16="http://schemas.microsoft.com/office/drawing/2014/main" val="3028570302"/>
                    </a:ext>
                  </a:extLst>
                </a:gridCol>
                <a:gridCol w="685800">
                  <a:extLst>
                    <a:ext uri="{9D8B030D-6E8A-4147-A177-3AD203B41FA5}">
                      <a16:colId xmlns:a16="http://schemas.microsoft.com/office/drawing/2014/main" val="932238593"/>
                    </a:ext>
                  </a:extLst>
                </a:gridCol>
                <a:gridCol w="838200">
                  <a:extLst>
                    <a:ext uri="{9D8B030D-6E8A-4147-A177-3AD203B41FA5}">
                      <a16:colId xmlns:a16="http://schemas.microsoft.com/office/drawing/2014/main" val="4094805411"/>
                    </a:ext>
                  </a:extLst>
                </a:gridCol>
                <a:gridCol w="838200">
                  <a:extLst>
                    <a:ext uri="{9D8B030D-6E8A-4147-A177-3AD203B41FA5}">
                      <a16:colId xmlns:a16="http://schemas.microsoft.com/office/drawing/2014/main" val="3477551009"/>
                    </a:ext>
                  </a:extLst>
                </a:gridCol>
                <a:gridCol w="1371600">
                  <a:extLst>
                    <a:ext uri="{9D8B030D-6E8A-4147-A177-3AD203B41FA5}">
                      <a16:colId xmlns:a16="http://schemas.microsoft.com/office/drawing/2014/main" val="3177202593"/>
                    </a:ext>
                  </a:extLst>
                </a:gridCol>
              </a:tblGrid>
              <a:tr h="889001">
                <a:tc>
                  <a:txBody>
                    <a:bodyPr/>
                    <a:lstStyle/>
                    <a:p>
                      <a:pPr algn="ctr">
                        <a:spcAft>
                          <a:spcPts val="0"/>
                        </a:spcAft>
                      </a:pPr>
                      <a:r>
                        <a:rPr lang="en-US" sz="1000" dirty="0">
                          <a:effectLst/>
                        </a:rPr>
                        <a:t>P</a:t>
                      </a:r>
                      <a:endParaRPr lang="en-IN" sz="1000" dirty="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ctr">
                        <a:spcAft>
                          <a:spcPts val="0"/>
                        </a:spcAft>
                      </a:pPr>
                      <a:r>
                        <a:rPr lang="en-US" sz="1000" dirty="0">
                          <a:effectLst/>
                        </a:rPr>
                        <a:t>C</a:t>
                      </a:r>
                      <a:endParaRPr lang="en-IN" sz="1000" dirty="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ctr">
                        <a:spcAft>
                          <a:spcPts val="0"/>
                        </a:spcAft>
                      </a:pPr>
                      <a:r>
                        <a:rPr lang="en-US" sz="1400" dirty="0">
                          <a:effectLst/>
                        </a:rPr>
                        <a:t>hidden input</a:t>
                      </a:r>
                      <a:endParaRPr lang="en-IN" sz="1600" dirty="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ctr">
                        <a:spcAft>
                          <a:spcPts val="0"/>
                        </a:spcAft>
                      </a:pPr>
                      <a:r>
                        <a:rPr lang="en-US" sz="1400" dirty="0">
                          <a:effectLst/>
                        </a:rPr>
                        <a:t>hidden output</a:t>
                      </a:r>
                      <a:endParaRPr lang="en-IN" sz="1600" dirty="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ctr">
                        <a:spcAft>
                          <a:spcPts val="0"/>
                        </a:spcAft>
                      </a:pPr>
                      <a:r>
                        <a:rPr lang="en-US" sz="1400" dirty="0">
                          <a:effectLst/>
                        </a:rPr>
                        <a:t>final output / ranker output</a:t>
                      </a:r>
                      <a:endParaRPr lang="en-IN" sz="1600" dirty="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ctr">
                        <a:spcAft>
                          <a:spcPts val="0"/>
                        </a:spcAft>
                      </a:pPr>
                      <a:r>
                        <a:rPr lang="en-US" sz="1400" dirty="0">
                          <a:effectLst/>
                        </a:rPr>
                        <a:t>Action</a:t>
                      </a:r>
                      <a:endParaRPr lang="en-IN" sz="1600" dirty="0">
                        <a:effectLst/>
                        <a:latin typeface="Times New Roman" panose="02020603050405020304" pitchFamily="18" charset="0"/>
                        <a:ea typeface="Times New Roman" panose="02020603050405020304" pitchFamily="18" charset="0"/>
                      </a:endParaRPr>
                    </a:p>
                  </a:txBody>
                  <a:tcPr marL="54682" marR="54682" marT="0" marB="0" anchor="b"/>
                </a:tc>
                <a:extLst>
                  <a:ext uri="{0D108BD9-81ED-4DB2-BD59-A6C34878D82A}">
                    <a16:rowId xmlns:a16="http://schemas.microsoft.com/office/drawing/2014/main" val="3461029026"/>
                  </a:ext>
                </a:extLst>
              </a:tr>
              <a:tr h="355600">
                <a:tc>
                  <a:txBody>
                    <a:bodyPr/>
                    <a:lstStyle/>
                    <a:p>
                      <a:pPr algn="ctr">
                        <a:spcAft>
                          <a:spcPts val="0"/>
                        </a:spcAft>
                      </a:pPr>
                      <a:r>
                        <a:rPr lang="en-US" sz="1400" b="0" dirty="0">
                          <a:effectLst/>
                        </a:rPr>
                        <a:t>6</a:t>
                      </a:r>
                      <a:endParaRPr lang="en-IN" sz="1400" b="0" dirty="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ctr">
                        <a:spcAft>
                          <a:spcPts val="0"/>
                        </a:spcAft>
                      </a:pPr>
                      <a:r>
                        <a:rPr lang="en-US" sz="1600" dirty="0">
                          <a:effectLst/>
                        </a:rPr>
                        <a:t>-</a:t>
                      </a:r>
                      <a:endParaRPr lang="en-IN" sz="1600" dirty="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r">
                        <a:spcAft>
                          <a:spcPts val="0"/>
                        </a:spcAft>
                      </a:pPr>
                      <a:r>
                        <a:rPr lang="en-US" sz="1400" dirty="0">
                          <a:effectLst/>
                        </a:rPr>
                        <a:t>0.4</a:t>
                      </a:r>
                      <a:endParaRPr lang="en-IN" sz="1600" dirty="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r">
                        <a:spcAft>
                          <a:spcPts val="0"/>
                        </a:spcAft>
                      </a:pPr>
                      <a:r>
                        <a:rPr lang="en-US" sz="1400">
                          <a:effectLst/>
                        </a:rPr>
                        <a:t>0.598688</a:t>
                      </a:r>
                      <a:endParaRPr lang="en-IN" sz="160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r">
                        <a:spcAft>
                          <a:spcPts val="0"/>
                        </a:spcAft>
                      </a:pPr>
                      <a:r>
                        <a:rPr lang="en-US" sz="1400">
                          <a:effectLst/>
                        </a:rPr>
                        <a:t>0.645356</a:t>
                      </a:r>
                      <a:endParaRPr lang="en-IN" sz="160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ctr">
                        <a:spcAft>
                          <a:spcPts val="0"/>
                        </a:spcAft>
                      </a:pPr>
                      <a:r>
                        <a:rPr lang="en-US" sz="1600" dirty="0">
                          <a:effectLst/>
                        </a:rPr>
                        <a:t>Remove</a:t>
                      </a:r>
                      <a:endParaRPr lang="en-IN" sz="1800" dirty="0">
                        <a:effectLst/>
                        <a:latin typeface="Times New Roman" panose="02020603050405020304" pitchFamily="18" charset="0"/>
                        <a:ea typeface="Times New Roman" panose="02020603050405020304" pitchFamily="18" charset="0"/>
                      </a:endParaRPr>
                    </a:p>
                  </a:txBody>
                  <a:tcPr marL="54682" marR="54682" marT="0" marB="0" anchor="b"/>
                </a:tc>
                <a:extLst>
                  <a:ext uri="{0D108BD9-81ED-4DB2-BD59-A6C34878D82A}">
                    <a16:rowId xmlns:a16="http://schemas.microsoft.com/office/drawing/2014/main" val="2521372743"/>
                  </a:ext>
                </a:extLst>
              </a:tr>
              <a:tr h="355600">
                <a:tc>
                  <a:txBody>
                    <a:bodyPr/>
                    <a:lstStyle/>
                    <a:p>
                      <a:pPr algn="ctr">
                        <a:spcAft>
                          <a:spcPts val="0"/>
                        </a:spcAft>
                      </a:pPr>
                      <a:r>
                        <a:rPr lang="en-US" sz="1400" b="0" dirty="0">
                          <a:effectLst/>
                        </a:rPr>
                        <a:t>8</a:t>
                      </a:r>
                      <a:endParaRPr lang="en-IN" sz="1400" b="0" dirty="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ctr">
                        <a:spcAft>
                          <a:spcPts val="0"/>
                        </a:spcAft>
                      </a:pPr>
                      <a:r>
                        <a:rPr lang="en-US" sz="1600">
                          <a:effectLst/>
                        </a:rPr>
                        <a:t>-</a:t>
                      </a:r>
                      <a:endParaRPr lang="en-IN" sz="160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r">
                        <a:spcAft>
                          <a:spcPts val="0"/>
                        </a:spcAft>
                      </a:pPr>
                      <a:r>
                        <a:rPr lang="en-US" sz="1400" dirty="0">
                          <a:effectLst/>
                        </a:rPr>
                        <a:t>0.2</a:t>
                      </a:r>
                      <a:endParaRPr lang="en-IN" sz="1600" dirty="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r">
                        <a:spcAft>
                          <a:spcPts val="0"/>
                        </a:spcAft>
                      </a:pPr>
                      <a:r>
                        <a:rPr lang="en-US" sz="1400" dirty="0">
                          <a:effectLst/>
                        </a:rPr>
                        <a:t>0.549834</a:t>
                      </a:r>
                      <a:endParaRPr lang="en-IN" sz="1600" dirty="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r">
                        <a:spcAft>
                          <a:spcPts val="0"/>
                        </a:spcAft>
                      </a:pPr>
                      <a:r>
                        <a:rPr lang="en-US" sz="1400">
                          <a:effectLst/>
                        </a:rPr>
                        <a:t>0.634097</a:t>
                      </a:r>
                      <a:endParaRPr lang="en-IN" sz="160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ctr">
                        <a:spcAft>
                          <a:spcPts val="0"/>
                        </a:spcAft>
                      </a:pPr>
                      <a:r>
                        <a:rPr lang="en-US" sz="1600" dirty="0">
                          <a:effectLst/>
                        </a:rPr>
                        <a:t>Keep</a:t>
                      </a:r>
                      <a:endParaRPr lang="en-IN" sz="1800" dirty="0">
                        <a:effectLst/>
                        <a:latin typeface="Times New Roman" panose="02020603050405020304" pitchFamily="18" charset="0"/>
                        <a:ea typeface="Times New Roman" panose="02020603050405020304" pitchFamily="18" charset="0"/>
                      </a:endParaRPr>
                    </a:p>
                  </a:txBody>
                  <a:tcPr marL="54682" marR="54682" marT="0" marB="0" anchor="b"/>
                </a:tc>
                <a:extLst>
                  <a:ext uri="{0D108BD9-81ED-4DB2-BD59-A6C34878D82A}">
                    <a16:rowId xmlns:a16="http://schemas.microsoft.com/office/drawing/2014/main" val="2746007065"/>
                  </a:ext>
                </a:extLst>
              </a:tr>
              <a:tr h="355600">
                <a:tc>
                  <a:txBody>
                    <a:bodyPr/>
                    <a:lstStyle/>
                    <a:p>
                      <a:pPr algn="ctr">
                        <a:spcAft>
                          <a:spcPts val="0"/>
                        </a:spcAft>
                      </a:pPr>
                      <a:r>
                        <a:rPr lang="en-US" sz="1400" b="0" dirty="0">
                          <a:effectLst/>
                        </a:rPr>
                        <a:t>10</a:t>
                      </a:r>
                      <a:endParaRPr lang="en-IN" sz="1400" b="0" dirty="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ctr">
                        <a:spcAft>
                          <a:spcPts val="0"/>
                        </a:spcAft>
                      </a:pPr>
                      <a:r>
                        <a:rPr lang="en-US" sz="1600">
                          <a:effectLst/>
                        </a:rPr>
                        <a:t>-</a:t>
                      </a:r>
                      <a:endParaRPr lang="en-IN" sz="160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r">
                        <a:spcAft>
                          <a:spcPts val="0"/>
                        </a:spcAft>
                      </a:pPr>
                      <a:r>
                        <a:rPr lang="en-US" sz="1400">
                          <a:effectLst/>
                        </a:rPr>
                        <a:t>0</a:t>
                      </a:r>
                      <a:endParaRPr lang="en-IN" sz="160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r">
                        <a:spcAft>
                          <a:spcPts val="0"/>
                        </a:spcAft>
                      </a:pPr>
                      <a:r>
                        <a:rPr lang="en-US" sz="1400" dirty="0">
                          <a:effectLst/>
                        </a:rPr>
                        <a:t>0.5</a:t>
                      </a:r>
                      <a:endParaRPr lang="en-IN" sz="1600" dirty="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r">
                        <a:spcAft>
                          <a:spcPts val="0"/>
                        </a:spcAft>
                      </a:pPr>
                      <a:r>
                        <a:rPr lang="en-US" sz="1400">
                          <a:effectLst/>
                        </a:rPr>
                        <a:t>0.622459</a:t>
                      </a:r>
                      <a:endParaRPr lang="en-IN" sz="160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ctr">
                        <a:spcAft>
                          <a:spcPts val="0"/>
                        </a:spcAft>
                      </a:pPr>
                      <a:r>
                        <a:rPr lang="en-US" sz="1600" dirty="0">
                          <a:effectLst/>
                        </a:rPr>
                        <a:t>Keep</a:t>
                      </a:r>
                      <a:endParaRPr lang="en-IN" sz="1800" dirty="0">
                        <a:effectLst/>
                        <a:latin typeface="Times New Roman" panose="02020603050405020304" pitchFamily="18" charset="0"/>
                        <a:ea typeface="Times New Roman" panose="02020603050405020304" pitchFamily="18" charset="0"/>
                      </a:endParaRPr>
                    </a:p>
                  </a:txBody>
                  <a:tcPr marL="54682" marR="54682" marT="0" marB="0" anchor="b"/>
                </a:tc>
                <a:extLst>
                  <a:ext uri="{0D108BD9-81ED-4DB2-BD59-A6C34878D82A}">
                    <a16:rowId xmlns:a16="http://schemas.microsoft.com/office/drawing/2014/main" val="2947244310"/>
                  </a:ext>
                </a:extLst>
              </a:tr>
              <a:tr h="355600">
                <a:tc>
                  <a:txBody>
                    <a:bodyPr/>
                    <a:lstStyle/>
                    <a:p>
                      <a:pPr algn="ctr">
                        <a:spcAft>
                          <a:spcPts val="0"/>
                        </a:spcAft>
                      </a:pPr>
                      <a:r>
                        <a:rPr lang="en-US" sz="1400" b="0" dirty="0">
                          <a:effectLst/>
                        </a:rPr>
                        <a:t>11</a:t>
                      </a:r>
                      <a:endParaRPr lang="en-IN" sz="1400" b="0" dirty="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ctr">
                        <a:spcAft>
                          <a:spcPts val="0"/>
                        </a:spcAft>
                      </a:pPr>
                      <a:r>
                        <a:rPr lang="en-US" sz="1600">
                          <a:effectLst/>
                        </a:rPr>
                        <a:t>+</a:t>
                      </a:r>
                      <a:endParaRPr lang="en-IN" sz="160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r">
                        <a:spcAft>
                          <a:spcPts val="0"/>
                        </a:spcAft>
                      </a:pPr>
                      <a:r>
                        <a:rPr lang="en-US" sz="1400">
                          <a:effectLst/>
                        </a:rPr>
                        <a:t>-0.1</a:t>
                      </a:r>
                      <a:endParaRPr lang="en-IN" sz="160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r">
                        <a:spcAft>
                          <a:spcPts val="0"/>
                        </a:spcAft>
                      </a:pPr>
                      <a:r>
                        <a:rPr lang="en-US" sz="1400" dirty="0">
                          <a:effectLst/>
                        </a:rPr>
                        <a:t>0.475021</a:t>
                      </a:r>
                      <a:endParaRPr lang="en-IN" sz="1600" dirty="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r">
                        <a:spcAft>
                          <a:spcPts val="0"/>
                        </a:spcAft>
                      </a:pPr>
                      <a:r>
                        <a:rPr lang="en-US" sz="1400" dirty="0">
                          <a:effectLst/>
                        </a:rPr>
                        <a:t>0.616571</a:t>
                      </a:r>
                      <a:endParaRPr lang="en-IN" sz="1600" dirty="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ctr">
                        <a:spcAft>
                          <a:spcPts val="0"/>
                        </a:spcAft>
                      </a:pPr>
                      <a:r>
                        <a:rPr lang="en-US" sz="1600" dirty="0">
                          <a:effectLst/>
                        </a:rPr>
                        <a:t>Duplicate</a:t>
                      </a:r>
                      <a:endParaRPr lang="en-IN" sz="1800" dirty="0">
                        <a:effectLst/>
                        <a:latin typeface="Times New Roman" panose="02020603050405020304" pitchFamily="18" charset="0"/>
                        <a:ea typeface="Times New Roman" panose="02020603050405020304" pitchFamily="18" charset="0"/>
                      </a:endParaRPr>
                    </a:p>
                  </a:txBody>
                  <a:tcPr marL="54682" marR="54682" marT="0" marB="0" anchor="b"/>
                </a:tc>
                <a:extLst>
                  <a:ext uri="{0D108BD9-81ED-4DB2-BD59-A6C34878D82A}">
                    <a16:rowId xmlns:a16="http://schemas.microsoft.com/office/drawing/2014/main" val="566228410"/>
                  </a:ext>
                </a:extLst>
              </a:tr>
              <a:tr h="355600">
                <a:tc>
                  <a:txBody>
                    <a:bodyPr/>
                    <a:lstStyle/>
                    <a:p>
                      <a:pPr algn="ctr">
                        <a:spcAft>
                          <a:spcPts val="0"/>
                        </a:spcAft>
                      </a:pPr>
                      <a:r>
                        <a:rPr lang="en-US" sz="1400" b="0" dirty="0">
                          <a:effectLst/>
                        </a:rPr>
                        <a:t>9.5</a:t>
                      </a:r>
                      <a:endParaRPr lang="en-IN" sz="1400" b="0" dirty="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ctr">
                        <a:spcAft>
                          <a:spcPts val="0"/>
                        </a:spcAft>
                      </a:pPr>
                      <a:r>
                        <a:rPr lang="en-US" sz="1600">
                          <a:effectLst/>
                        </a:rPr>
                        <a:t>-</a:t>
                      </a:r>
                      <a:endParaRPr lang="en-IN" sz="160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r">
                        <a:spcAft>
                          <a:spcPts val="0"/>
                        </a:spcAft>
                      </a:pPr>
                      <a:r>
                        <a:rPr lang="en-US" sz="1400">
                          <a:effectLst/>
                        </a:rPr>
                        <a:t>0.05</a:t>
                      </a:r>
                      <a:endParaRPr lang="en-IN" sz="160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r">
                        <a:spcAft>
                          <a:spcPts val="0"/>
                        </a:spcAft>
                      </a:pPr>
                      <a:r>
                        <a:rPr lang="en-US" sz="1400" dirty="0">
                          <a:effectLst/>
                        </a:rPr>
                        <a:t>0.512497</a:t>
                      </a:r>
                      <a:endParaRPr lang="en-IN" sz="1600" dirty="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r">
                        <a:spcAft>
                          <a:spcPts val="0"/>
                        </a:spcAft>
                      </a:pPr>
                      <a:r>
                        <a:rPr lang="en-US" sz="1400" dirty="0">
                          <a:effectLst/>
                        </a:rPr>
                        <a:t>0.625392</a:t>
                      </a:r>
                      <a:endParaRPr lang="en-IN" sz="1600" dirty="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ctr">
                        <a:spcAft>
                          <a:spcPts val="0"/>
                        </a:spcAft>
                      </a:pPr>
                      <a:r>
                        <a:rPr lang="en-US" sz="1600" dirty="0">
                          <a:effectLst/>
                        </a:rPr>
                        <a:t>Duplicate</a:t>
                      </a:r>
                      <a:endParaRPr lang="en-IN" sz="1800" dirty="0">
                        <a:effectLst/>
                        <a:latin typeface="Times New Roman" panose="02020603050405020304" pitchFamily="18" charset="0"/>
                        <a:ea typeface="Times New Roman" panose="02020603050405020304" pitchFamily="18" charset="0"/>
                      </a:endParaRPr>
                    </a:p>
                  </a:txBody>
                  <a:tcPr marL="54682" marR="54682" marT="0" marB="0" anchor="b"/>
                </a:tc>
                <a:extLst>
                  <a:ext uri="{0D108BD9-81ED-4DB2-BD59-A6C34878D82A}">
                    <a16:rowId xmlns:a16="http://schemas.microsoft.com/office/drawing/2014/main" val="2281003262"/>
                  </a:ext>
                </a:extLst>
              </a:tr>
              <a:tr h="355600">
                <a:tc>
                  <a:txBody>
                    <a:bodyPr/>
                    <a:lstStyle/>
                    <a:p>
                      <a:pPr algn="ctr">
                        <a:spcAft>
                          <a:spcPts val="0"/>
                        </a:spcAft>
                      </a:pPr>
                      <a:r>
                        <a:rPr lang="en-US" sz="1400" b="0" dirty="0">
                          <a:effectLst/>
                        </a:rPr>
                        <a:t>10.5</a:t>
                      </a:r>
                      <a:endParaRPr lang="en-IN" sz="1400" b="0" dirty="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ctr">
                        <a:spcAft>
                          <a:spcPts val="0"/>
                        </a:spcAft>
                      </a:pPr>
                      <a:r>
                        <a:rPr lang="en-US" sz="1600">
                          <a:effectLst/>
                        </a:rPr>
                        <a:t>+</a:t>
                      </a:r>
                      <a:endParaRPr lang="en-IN" sz="160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r">
                        <a:spcAft>
                          <a:spcPts val="0"/>
                        </a:spcAft>
                      </a:pPr>
                      <a:r>
                        <a:rPr lang="en-US" sz="1400">
                          <a:effectLst/>
                        </a:rPr>
                        <a:t>-0.05</a:t>
                      </a:r>
                      <a:endParaRPr lang="en-IN" sz="160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r">
                        <a:spcAft>
                          <a:spcPts val="0"/>
                        </a:spcAft>
                      </a:pPr>
                      <a:r>
                        <a:rPr lang="en-US" sz="1400" dirty="0">
                          <a:effectLst/>
                        </a:rPr>
                        <a:t>0.487503</a:t>
                      </a:r>
                      <a:endParaRPr lang="en-IN" sz="1600" dirty="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r">
                        <a:spcAft>
                          <a:spcPts val="0"/>
                        </a:spcAft>
                      </a:pPr>
                      <a:r>
                        <a:rPr lang="en-US" sz="1400" dirty="0">
                          <a:effectLst/>
                        </a:rPr>
                        <a:t>0.619518</a:t>
                      </a:r>
                      <a:endParaRPr lang="en-IN" sz="1600" dirty="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ctr">
                        <a:spcAft>
                          <a:spcPts val="0"/>
                        </a:spcAft>
                      </a:pPr>
                      <a:r>
                        <a:rPr lang="en-US" sz="1600" dirty="0">
                          <a:effectLst/>
                        </a:rPr>
                        <a:t>Keep</a:t>
                      </a:r>
                      <a:endParaRPr lang="en-IN" sz="1800" dirty="0">
                        <a:effectLst/>
                        <a:latin typeface="Times New Roman" panose="02020603050405020304" pitchFamily="18" charset="0"/>
                        <a:ea typeface="Times New Roman" panose="02020603050405020304" pitchFamily="18" charset="0"/>
                      </a:endParaRPr>
                    </a:p>
                  </a:txBody>
                  <a:tcPr marL="54682" marR="54682" marT="0" marB="0" anchor="b"/>
                </a:tc>
                <a:extLst>
                  <a:ext uri="{0D108BD9-81ED-4DB2-BD59-A6C34878D82A}">
                    <a16:rowId xmlns:a16="http://schemas.microsoft.com/office/drawing/2014/main" val="173591179"/>
                  </a:ext>
                </a:extLst>
              </a:tr>
              <a:tr h="355600">
                <a:tc>
                  <a:txBody>
                    <a:bodyPr/>
                    <a:lstStyle/>
                    <a:p>
                      <a:pPr algn="ctr">
                        <a:spcAft>
                          <a:spcPts val="0"/>
                        </a:spcAft>
                      </a:pPr>
                      <a:r>
                        <a:rPr lang="en-US" sz="1400" b="0" dirty="0">
                          <a:effectLst/>
                        </a:rPr>
                        <a:t>12</a:t>
                      </a:r>
                      <a:endParaRPr lang="en-IN" sz="1400" b="0" dirty="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ctr">
                        <a:spcAft>
                          <a:spcPts val="0"/>
                        </a:spcAft>
                      </a:pPr>
                      <a:r>
                        <a:rPr lang="en-US" sz="1600">
                          <a:effectLst/>
                        </a:rPr>
                        <a:t>+</a:t>
                      </a:r>
                      <a:endParaRPr lang="en-IN" sz="160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r">
                        <a:spcAft>
                          <a:spcPts val="0"/>
                        </a:spcAft>
                      </a:pPr>
                      <a:r>
                        <a:rPr lang="en-US" sz="1400">
                          <a:effectLst/>
                        </a:rPr>
                        <a:t>-0.2</a:t>
                      </a:r>
                      <a:endParaRPr lang="en-IN" sz="160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r">
                        <a:spcAft>
                          <a:spcPts val="0"/>
                        </a:spcAft>
                      </a:pPr>
                      <a:r>
                        <a:rPr lang="en-US" sz="1400">
                          <a:effectLst/>
                        </a:rPr>
                        <a:t>0.450166</a:t>
                      </a:r>
                      <a:endParaRPr lang="en-IN" sz="160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r">
                        <a:spcAft>
                          <a:spcPts val="0"/>
                        </a:spcAft>
                      </a:pPr>
                      <a:r>
                        <a:rPr lang="en-US" sz="1400" dirty="0">
                          <a:effectLst/>
                        </a:rPr>
                        <a:t>0.610679</a:t>
                      </a:r>
                      <a:endParaRPr lang="en-IN" sz="1600" dirty="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ctr">
                        <a:spcAft>
                          <a:spcPts val="0"/>
                        </a:spcAft>
                      </a:pPr>
                      <a:r>
                        <a:rPr lang="en-US" sz="1600" dirty="0">
                          <a:effectLst/>
                        </a:rPr>
                        <a:t>Keep</a:t>
                      </a:r>
                      <a:endParaRPr lang="en-IN" sz="1800" dirty="0">
                        <a:effectLst/>
                        <a:latin typeface="Times New Roman" panose="02020603050405020304" pitchFamily="18" charset="0"/>
                        <a:ea typeface="Times New Roman" panose="02020603050405020304" pitchFamily="18" charset="0"/>
                      </a:endParaRPr>
                    </a:p>
                  </a:txBody>
                  <a:tcPr marL="54682" marR="54682" marT="0" marB="0" anchor="b"/>
                </a:tc>
                <a:extLst>
                  <a:ext uri="{0D108BD9-81ED-4DB2-BD59-A6C34878D82A}">
                    <a16:rowId xmlns:a16="http://schemas.microsoft.com/office/drawing/2014/main" val="2852682903"/>
                  </a:ext>
                </a:extLst>
              </a:tr>
              <a:tr h="355600">
                <a:tc>
                  <a:txBody>
                    <a:bodyPr/>
                    <a:lstStyle/>
                    <a:p>
                      <a:pPr algn="ctr">
                        <a:spcAft>
                          <a:spcPts val="0"/>
                        </a:spcAft>
                      </a:pPr>
                      <a:r>
                        <a:rPr lang="en-US" sz="1400" b="0" dirty="0">
                          <a:effectLst/>
                        </a:rPr>
                        <a:t>13</a:t>
                      </a:r>
                      <a:endParaRPr lang="en-IN" sz="1400" b="0" dirty="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ctr">
                        <a:spcAft>
                          <a:spcPts val="0"/>
                        </a:spcAft>
                      </a:pPr>
                      <a:r>
                        <a:rPr lang="en-US" sz="1600">
                          <a:effectLst/>
                        </a:rPr>
                        <a:t>+</a:t>
                      </a:r>
                      <a:endParaRPr lang="en-IN" sz="1600">
                        <a:effectLst/>
                        <a:latin typeface="Times New Roman" panose="02020603050405020304" pitchFamily="18" charset="0"/>
                        <a:ea typeface="Times New Roman" panose="02020603050405020304" pitchFamily="18" charset="0"/>
                      </a:endParaRPr>
                    </a:p>
                  </a:txBody>
                  <a:tcPr marL="54682" marR="54682" marT="0" marB="0" anchor="ctr"/>
                </a:tc>
                <a:tc>
                  <a:txBody>
                    <a:bodyPr/>
                    <a:lstStyle/>
                    <a:p>
                      <a:pPr algn="r">
                        <a:spcAft>
                          <a:spcPts val="0"/>
                        </a:spcAft>
                      </a:pPr>
                      <a:r>
                        <a:rPr lang="en-US" sz="1400">
                          <a:effectLst/>
                        </a:rPr>
                        <a:t>-0.3</a:t>
                      </a:r>
                      <a:endParaRPr lang="en-IN" sz="160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r">
                        <a:spcAft>
                          <a:spcPts val="0"/>
                        </a:spcAft>
                      </a:pPr>
                      <a:r>
                        <a:rPr lang="en-US" sz="1400">
                          <a:effectLst/>
                        </a:rPr>
                        <a:t>0.425557</a:t>
                      </a:r>
                      <a:endParaRPr lang="en-IN" sz="160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r">
                        <a:spcAft>
                          <a:spcPts val="0"/>
                        </a:spcAft>
                      </a:pPr>
                      <a:r>
                        <a:rPr lang="en-US" sz="1400" dirty="0">
                          <a:effectLst/>
                        </a:rPr>
                        <a:t>0.604812</a:t>
                      </a:r>
                      <a:endParaRPr lang="en-IN" sz="1600" dirty="0">
                        <a:effectLst/>
                        <a:latin typeface="Times New Roman" panose="02020603050405020304" pitchFamily="18" charset="0"/>
                        <a:ea typeface="Times New Roman" panose="02020603050405020304" pitchFamily="18" charset="0"/>
                      </a:endParaRPr>
                    </a:p>
                  </a:txBody>
                  <a:tcPr marL="54682" marR="54682" marT="0" marB="0" anchor="b"/>
                </a:tc>
                <a:tc>
                  <a:txBody>
                    <a:bodyPr/>
                    <a:lstStyle/>
                    <a:p>
                      <a:pPr algn="ctr">
                        <a:spcAft>
                          <a:spcPts val="0"/>
                        </a:spcAft>
                      </a:pPr>
                      <a:r>
                        <a:rPr lang="en-US" sz="1600" dirty="0">
                          <a:effectLst/>
                        </a:rPr>
                        <a:t>Remove</a:t>
                      </a:r>
                      <a:endParaRPr lang="en-IN" sz="1800" dirty="0">
                        <a:effectLst/>
                        <a:latin typeface="Times New Roman" panose="02020603050405020304" pitchFamily="18" charset="0"/>
                        <a:ea typeface="Times New Roman" panose="02020603050405020304" pitchFamily="18" charset="0"/>
                      </a:endParaRPr>
                    </a:p>
                  </a:txBody>
                  <a:tcPr marL="54682" marR="54682" marT="0" marB="0" anchor="b"/>
                </a:tc>
                <a:extLst>
                  <a:ext uri="{0D108BD9-81ED-4DB2-BD59-A6C34878D82A}">
                    <a16:rowId xmlns:a16="http://schemas.microsoft.com/office/drawing/2014/main" val="3711217655"/>
                  </a:ext>
                </a:extLst>
              </a:tr>
            </a:tbl>
          </a:graphicData>
        </a:graphic>
      </p:graphicFrame>
      <p:sp>
        <p:nvSpPr>
          <p:cNvPr id="5" name="Rectangle 3">
            <a:extLst>
              <a:ext uri="{FF2B5EF4-FFF2-40B4-BE49-F238E27FC236}">
                <a16:creationId xmlns:a16="http://schemas.microsoft.com/office/drawing/2014/main" id="{C50883AE-F262-4D6E-B9F4-A404B6843B3D}"/>
              </a:ext>
            </a:extLst>
          </p:cNvPr>
          <p:cNvSpPr>
            <a:spLocks noChangeArrowheads="1"/>
          </p:cNvSpPr>
          <p:nvPr/>
        </p:nvSpPr>
        <p:spPr bwMode="auto">
          <a:xfrm>
            <a:off x="2806700" y="4202113"/>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7346362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4077</TotalTime>
  <Words>1811</Words>
  <Application>Microsoft Office PowerPoint</Application>
  <PresentationFormat>On-screen Show (16:9)</PresentationFormat>
  <Paragraphs>605</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Robustness and Evasion  Attacks</dc:title>
  <dc:creator>bits</dc:creator>
  <cp:lastModifiedBy>BITS</cp:lastModifiedBy>
  <cp:revision>49</cp:revision>
  <dcterms:created xsi:type="dcterms:W3CDTF">2023-09-20T07:15:08Z</dcterms:created>
  <dcterms:modified xsi:type="dcterms:W3CDTF">2025-08-29T02:43:09Z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LastSaved">
    <vt:filetime>2023-09-20T00:00:00Z</vt:filetime>
  </property>
</Properties>
</file>