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9"/>
  </p:notesMasterIdLst>
  <p:sldIdLst>
    <p:sldId id="266" r:id="rId2"/>
    <p:sldId id="284" r:id="rId3"/>
    <p:sldId id="285" r:id="rId4"/>
    <p:sldId id="286" r:id="rId5"/>
    <p:sldId id="287" r:id="rId6"/>
    <p:sldId id="288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Leakage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181600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Largely adapted from Machine Learning Engineering</a:t>
            </a:r>
          </a:p>
          <a:p>
            <a:r>
              <a:rPr lang="en-US" dirty="0"/>
              <a:t>By </a:t>
            </a:r>
            <a:r>
              <a:rPr lang="en-US" dirty="0" err="1"/>
              <a:t>Andriy</a:t>
            </a:r>
            <a:r>
              <a:rPr lang="en-US" dirty="0"/>
              <a:t> </a:t>
            </a:r>
            <a:r>
              <a:rPr lang="en-US" dirty="0" err="1"/>
              <a:t>Burkov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Leakage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5690553" cy="4648199"/>
          </a:xfrm>
        </p:spPr>
        <p:txBody>
          <a:bodyPr/>
          <a:lstStyle/>
          <a:p>
            <a:r>
              <a:rPr lang="en-US" dirty="0"/>
              <a:t>Data leakage, also called target leakage,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problem affecting several stages of the </a:t>
            </a:r>
          </a:p>
          <a:p>
            <a:pPr marL="457200" lvl="1" indent="0">
              <a:buNone/>
            </a:pPr>
            <a:r>
              <a:rPr lang="en-US" dirty="0"/>
              <a:t>machine learning life cycle, from data </a:t>
            </a:r>
          </a:p>
          <a:p>
            <a:pPr marL="457200" lvl="1" indent="0">
              <a:buNone/>
            </a:pPr>
            <a:r>
              <a:rPr lang="en-US" dirty="0"/>
              <a:t>collection to model evaluation</a:t>
            </a:r>
          </a:p>
          <a:p>
            <a:endParaRPr lang="en-US" dirty="0"/>
          </a:p>
          <a:p>
            <a:r>
              <a:rPr lang="en-US" dirty="0"/>
              <a:t>Data leakage in supervised learning is the </a:t>
            </a:r>
          </a:p>
          <a:p>
            <a:pPr marL="0" indent="0">
              <a:buNone/>
            </a:pPr>
            <a:r>
              <a:rPr lang="en-US" dirty="0"/>
              <a:t>unintentional introduction of information about the </a:t>
            </a:r>
          </a:p>
          <a:p>
            <a:pPr marL="0" indent="0">
              <a:buNone/>
            </a:pPr>
            <a:r>
              <a:rPr lang="en-US" dirty="0"/>
              <a:t>target that should not be made available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also called as “contamination”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Training on contaminated data leads to overly </a:t>
            </a:r>
          </a:p>
          <a:p>
            <a:pPr marL="457200" lvl="1" indent="0">
              <a:buNone/>
            </a:pPr>
            <a:r>
              <a:rPr lang="en-US" dirty="0"/>
              <a:t>optimistic expectations about the model performance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438400"/>
            <a:ext cx="51816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Causes of Data Leakage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Three most frequent causes of data leakage that can happen during data collection and preparation: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target being a function of a feature,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feature hiding the target,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feature coming from the future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being a function of a feature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7062153" cy="5029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Let goal be to predict a country’s GDP based on various attributes: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area, population, geographic region, and so 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Gross Domestic Product (GDP) is defined as the monetary measure of all </a:t>
            </a:r>
          </a:p>
          <a:p>
            <a:pPr marL="457200" lvl="1" indent="0">
              <a:buNone/>
            </a:pPr>
            <a:r>
              <a:rPr lang="en-US" dirty="0"/>
              <a:t>finished goods and services in a country within a specific period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you don’t do a careful analysis of each attribute and its relation to GDP, you </a:t>
            </a:r>
          </a:p>
          <a:p>
            <a:pPr marL="457200" lvl="1" indent="0">
              <a:buNone/>
            </a:pPr>
            <a:r>
              <a:rPr lang="en-US" dirty="0"/>
              <a:t>might let a leakage happen: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two columns, Population and GDP per capita, multiplied, equal GDP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model will perfectly predict GDP by looking at these two columns only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fact that GDP be one of the features, though in a slightly modified form </a:t>
            </a:r>
          </a:p>
          <a:p>
            <a:pPr marL="457200" lvl="1" indent="0">
              <a:buNone/>
            </a:pPr>
            <a:r>
              <a:rPr lang="en-US" dirty="0"/>
              <a:t>(devised by the population), constitutes contamination and, therefore, leads to </a:t>
            </a:r>
          </a:p>
          <a:p>
            <a:pPr marL="457200" lvl="1" indent="0">
              <a:buNone/>
            </a:pPr>
            <a:r>
              <a:rPr lang="en-US" dirty="0"/>
              <a:t>data leakage</a:t>
            </a:r>
          </a:p>
          <a:p>
            <a:endParaRPr lang="en-US" dirty="0"/>
          </a:p>
          <a:p>
            <a:r>
              <a:rPr lang="en-US" dirty="0"/>
              <a:t>Imagine training a model to predict the yearly salary, given the attributes of an </a:t>
            </a:r>
          </a:p>
          <a:p>
            <a:pPr marL="0" indent="0">
              <a:buNone/>
            </a:pPr>
            <a:r>
              <a:rPr lang="en-US" dirty="0"/>
              <a:t>employee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training data is a table that contains both monthly and yearly salary, </a:t>
            </a:r>
          </a:p>
          <a:p>
            <a:pPr marL="457200" lvl="1" indent="0">
              <a:buNone/>
            </a:pPr>
            <a:r>
              <a:rPr lang="en-US" dirty="0"/>
              <a:t>among many other attributes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monthly salary is not removed from the list of features, that attribute alone </a:t>
            </a:r>
          </a:p>
          <a:p>
            <a:pPr marL="457200" lvl="1" indent="0">
              <a:buNone/>
            </a:pPr>
            <a:r>
              <a:rPr lang="en-US" dirty="0"/>
              <a:t>will perfectly predict the yearly salary,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making believe that model is perfect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Once the model is put in production, it will likely stop receiving information </a:t>
            </a:r>
          </a:p>
          <a:p>
            <a:pPr marL="457200" lvl="1" indent="0">
              <a:buNone/>
            </a:pPr>
            <a:r>
              <a:rPr lang="en-US" dirty="0"/>
              <a:t>about a person’s monthly salary: otherwise, the modeling would not be needed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225" y="2667000"/>
            <a:ext cx="505777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hiding the target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6528753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Sometimes the target is not a function of one or more </a:t>
            </a:r>
          </a:p>
          <a:p>
            <a:pPr marL="0" indent="0">
              <a:buNone/>
            </a:pPr>
            <a:r>
              <a:rPr lang="en-US" dirty="0"/>
              <a:t>features, but rather is “hidden” in one of the features. </a:t>
            </a:r>
          </a:p>
          <a:p>
            <a:endParaRPr lang="en-US" dirty="0"/>
          </a:p>
          <a:p>
            <a:r>
              <a:rPr lang="en-US" dirty="0"/>
              <a:t>Using customer data to predict their gender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Look at the column Group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you closely investigate the data in the column Group, </a:t>
            </a:r>
          </a:p>
          <a:p>
            <a:pPr marL="457200" lvl="1" indent="0">
              <a:buNone/>
            </a:pPr>
            <a:r>
              <a:rPr lang="en-US" dirty="0"/>
              <a:t>represents a demographic value to which each existing    </a:t>
            </a:r>
          </a:p>
          <a:p>
            <a:pPr marL="457200" lvl="1" indent="0">
              <a:buNone/>
            </a:pPr>
            <a:r>
              <a:rPr lang="en-US" dirty="0"/>
              <a:t>customer was related in the past.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the data about a customer’s gender and age is factual, then </a:t>
            </a:r>
          </a:p>
          <a:p>
            <a:pPr marL="457200" lvl="1" indent="0">
              <a:buNone/>
            </a:pPr>
            <a:r>
              <a:rPr lang="en-US" dirty="0"/>
              <a:t> the column Group constitutes a form of data leakage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the value want to predict is “hidden” in the value of a feature</a:t>
            </a:r>
          </a:p>
          <a:p>
            <a:endParaRPr lang="en-US" dirty="0"/>
          </a:p>
          <a:p>
            <a:r>
              <a:rPr lang="en-US" dirty="0"/>
              <a:t>On the other hand, if the Group values are predictions provided by another, possibly less accurate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then it can be used to build a potentially stronger model - model stacking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847975"/>
            <a:ext cx="503872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Feature coming from the future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6223953" cy="464819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Feature from the future is a kind of data leakage that is hard to catch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don’t have a clear understanding of the business goal</a:t>
            </a:r>
          </a:p>
          <a:p>
            <a:endParaRPr lang="en-US" dirty="0"/>
          </a:p>
          <a:p>
            <a:r>
              <a:rPr lang="en-US" dirty="0"/>
              <a:t>Imagine a client asked to train a model that predicts whether a borrower will </a:t>
            </a:r>
          </a:p>
          <a:p>
            <a:pPr marL="0" indent="0">
              <a:buNone/>
            </a:pPr>
            <a:r>
              <a:rPr lang="en-US" dirty="0"/>
              <a:t>pay back the loan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based on attributes such as age, gender, education, salary, marital status, and so 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might decide to use all available attributes to predict the value in the column Will Pay </a:t>
            </a:r>
          </a:p>
          <a:p>
            <a:pPr marL="457200" lvl="1" indent="0">
              <a:buNone/>
            </a:pPr>
            <a:r>
              <a:rPr lang="en-US" dirty="0"/>
              <a:t>Loan, including the data from the column Late Payment Reminders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Model will look accurate at testing time and model doesn’t work well in the </a:t>
            </a:r>
          </a:p>
          <a:p>
            <a:pPr marL="0" indent="0">
              <a:buNone/>
            </a:pPr>
            <a:r>
              <a:rPr lang="en-US" dirty="0"/>
              <a:t>production environment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 the production environment, the value of Late Payment Reminders is always zero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makes sense because the client uses model before the borrower gets the credit, so no </a:t>
            </a:r>
          </a:p>
          <a:p>
            <a:pPr marL="457200" lvl="1" indent="0">
              <a:buNone/>
            </a:pPr>
            <a:r>
              <a:rPr lang="en-US" dirty="0"/>
              <a:t>reminders have yet been made! </a:t>
            </a:r>
          </a:p>
          <a:p>
            <a:endParaRPr lang="en-US" dirty="0"/>
          </a:p>
          <a:p>
            <a:r>
              <a:rPr lang="en-US" dirty="0"/>
              <a:t>However, model most likely learned to make the “No” prediction when </a:t>
            </a:r>
          </a:p>
          <a:p>
            <a:pPr marL="0" indent="0">
              <a:buNone/>
            </a:pPr>
            <a:r>
              <a:rPr lang="en-US" dirty="0"/>
              <a:t>Late Payment Reminders is 1 or more and pays less attention to the other </a:t>
            </a:r>
          </a:p>
          <a:p>
            <a:pPr marL="0" indent="0">
              <a:buNone/>
            </a:pPr>
            <a:r>
              <a:rPr lang="en-US" dirty="0"/>
              <a:t>features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Understanding the business context in which the model will be used is, thus, crucial to </a:t>
            </a:r>
          </a:p>
          <a:p>
            <a:pPr marL="457200" lvl="1" indent="0">
              <a:buNone/>
            </a:pPr>
            <a:r>
              <a:rPr lang="en-US" dirty="0"/>
              <a:t>avoid data leakage.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954" y="2667000"/>
            <a:ext cx="51816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3183</TotalTime>
  <Words>691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Data Leakage</vt:lpstr>
      <vt:lpstr>Data Leakage</vt:lpstr>
      <vt:lpstr>Causes of Data Leakage</vt:lpstr>
      <vt:lpstr>Target being a function of a feature</vt:lpstr>
      <vt:lpstr>Feature hiding the target</vt:lpstr>
      <vt:lpstr> Feature coming from the future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238</cp:revision>
  <dcterms:created xsi:type="dcterms:W3CDTF">2018-10-16T06:13:57Z</dcterms:created>
  <dcterms:modified xsi:type="dcterms:W3CDTF">2024-01-13T01:59:13Z</dcterms:modified>
</cp:coreProperties>
</file>