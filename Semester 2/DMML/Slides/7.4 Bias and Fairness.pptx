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notesMasterIdLst>
    <p:notesMasterId r:id="rId16"/>
  </p:notesMasterIdLst>
  <p:sldIdLst>
    <p:sldId id="266" r:id="rId2"/>
    <p:sldId id="284" r:id="rId3"/>
    <p:sldId id="285" r:id="rId4"/>
    <p:sldId id="286" r:id="rId5"/>
    <p:sldId id="287" r:id="rId6"/>
    <p:sldId id="288" r:id="rId7"/>
    <p:sldId id="289" r:id="rId8"/>
    <p:sldId id="290" r:id="rId9"/>
    <p:sldId id="291" r:id="rId10"/>
    <p:sldId id="292" r:id="rId11"/>
    <p:sldId id="293" r:id="rId12"/>
    <p:sldId id="294" r:id="rId13"/>
    <p:sldId id="295" r:id="rId14"/>
    <p:sldId id="26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0860"/>
    <a:srgbClr val="1C1573"/>
    <a:srgbClr val="283E84"/>
    <a:srgbClr val="211D71"/>
    <a:srgbClr val="000099"/>
    <a:srgbClr val="1E2F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305" autoAdjust="0"/>
  </p:normalViewPr>
  <p:slideViewPr>
    <p:cSldViewPr>
      <p:cViewPr varScale="1">
        <p:scale>
          <a:sx n="67" d="100"/>
          <a:sy n="67" d="100"/>
        </p:scale>
        <p:origin x="834" y="72"/>
      </p:cViewPr>
      <p:guideLst>
        <p:guide orient="horz" pos="2208"/>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2EAAB2-9271-4BDD-97AF-EBC135F5D5A0}" type="datetimeFigureOut">
              <a:rPr lang="en-US" smtClean="0"/>
              <a:t>1/13/2024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B1DED4-035E-4548-AB9E-F9B1FE638F58}" type="slidenum">
              <a:rPr lang="en-US" smtClean="0"/>
              <a:t>‹#›</a:t>
            </a:fld>
            <a:endParaRPr lang="en-US"/>
          </a:p>
        </p:txBody>
      </p:sp>
    </p:spTree>
    <p:extLst>
      <p:ext uri="{BB962C8B-B14F-4D97-AF65-F5344CB8AC3E}">
        <p14:creationId xmlns:p14="http://schemas.microsoft.com/office/powerpoint/2010/main" val="6308022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a:grayscl/>
            <a:extLst>
              <a:ext uri="{28A0092B-C50C-407E-A947-70E740481C1C}">
                <a14:useLocalDpi xmlns:a14="http://schemas.microsoft.com/office/drawing/2010/main" val="0"/>
              </a:ext>
            </a:extLst>
          </a:blip>
          <a:srcRect t="3186" b="1180"/>
          <a:stretch/>
        </p:blipFill>
        <p:spPr>
          <a:xfrm>
            <a:off x="1" y="0"/>
            <a:ext cx="12192000" cy="6858000"/>
          </a:xfrm>
          <a:prstGeom prst="rect">
            <a:avLst/>
          </a:prstGeom>
          <a:ln>
            <a:noFill/>
          </a:ln>
        </p:spPr>
        <p:style>
          <a:lnRef idx="2">
            <a:schemeClr val="dk1"/>
          </a:lnRef>
          <a:fillRef idx="1">
            <a:schemeClr val="lt1"/>
          </a:fillRef>
          <a:effectRef idx="0">
            <a:schemeClr val="dk1"/>
          </a:effectRef>
          <a:fontRef idx="minor">
            <a:schemeClr val="dk1"/>
          </a:fontRef>
        </p:style>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9144441" cy="6858331"/>
          </a:xfrm>
          <a:prstGeom prst="rect">
            <a:avLst/>
          </a:prstGeom>
          <a:noFill/>
          <a:ln>
            <a:noFill/>
          </a:ln>
        </p:spPr>
      </p:pic>
      <p:pic>
        <p:nvPicPr>
          <p:cNvPr id="9" name="Picture 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514600" y="2550646"/>
            <a:ext cx="9680189" cy="1792754"/>
          </a:xfrm>
          <a:prstGeom prst="rect">
            <a:avLst/>
          </a:prstGeom>
        </p:spPr>
      </p:pic>
      <p:pic>
        <p:nvPicPr>
          <p:cNvPr id="10" name="Picture 9"/>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 y="-447353"/>
            <a:ext cx="10744203" cy="8058153"/>
          </a:xfrm>
          <a:prstGeom prst="rect">
            <a:avLst/>
          </a:prstGeom>
          <a:noFill/>
          <a:ln>
            <a:noFill/>
          </a:ln>
        </p:spPr>
      </p:pic>
      <p:sp>
        <p:nvSpPr>
          <p:cNvPr id="2" name="Title 1"/>
          <p:cNvSpPr>
            <a:spLocks noGrp="1"/>
          </p:cNvSpPr>
          <p:nvPr>
            <p:ph type="ctrTitle" hasCustomPrompt="1"/>
          </p:nvPr>
        </p:nvSpPr>
        <p:spPr>
          <a:xfrm>
            <a:off x="4572000" y="2549769"/>
            <a:ext cx="7330831" cy="1600725"/>
          </a:xfrm>
        </p:spPr>
        <p:txBody>
          <a:bodyPr anchor="ctr">
            <a:normAutofit/>
          </a:bodyPr>
          <a:lstStyle>
            <a:lvl1pPr algn="r">
              <a:defRPr sz="3200" b="1">
                <a:solidFill>
                  <a:schemeClr val="bg1"/>
                </a:solidFill>
                <a:latin typeface="Helvetica" panose="020B0604020202030204" pitchFamily="34" charset="0"/>
              </a:defRPr>
            </a:lvl1pPr>
          </a:lstStyle>
          <a:p>
            <a:r>
              <a:rPr lang="en-US" dirty="0"/>
              <a:t>Click to edit Course title</a:t>
            </a:r>
          </a:p>
        </p:txBody>
      </p:sp>
      <p:sp>
        <p:nvSpPr>
          <p:cNvPr id="3" name="Subtitle 2"/>
          <p:cNvSpPr>
            <a:spLocks noGrp="1"/>
          </p:cNvSpPr>
          <p:nvPr>
            <p:ph type="subTitle" idx="1" hasCustomPrompt="1"/>
          </p:nvPr>
        </p:nvSpPr>
        <p:spPr>
          <a:xfrm>
            <a:off x="5908431" y="4452630"/>
            <a:ext cx="5994400" cy="343327"/>
          </a:xfrm>
        </p:spPr>
        <p:txBody>
          <a:bodyPr anchor="ctr">
            <a:normAutofit/>
          </a:bodyPr>
          <a:lstStyle>
            <a:lvl1pPr marL="0" indent="0" algn="r">
              <a:buNone/>
              <a:defRPr sz="1700" b="1">
                <a:solidFill>
                  <a:srgbClr val="1C1573"/>
                </a:solidFill>
                <a:latin typeface="Helvetica" panose="020B0604020202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SME’s name</a:t>
            </a:r>
          </a:p>
        </p:txBody>
      </p:sp>
      <p:pic>
        <p:nvPicPr>
          <p:cNvPr id="11" name="Picture 10"/>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523299" y="896875"/>
            <a:ext cx="3096631" cy="1084325"/>
          </a:xfrm>
          <a:prstGeom prst="rect">
            <a:avLst/>
          </a:prstGeom>
          <a:noFill/>
          <a:ln>
            <a:noFill/>
          </a:ln>
        </p:spPr>
      </p:pic>
      <p:pic>
        <p:nvPicPr>
          <p:cNvPr id="12" name="Picture 11"/>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6778116" y="4800600"/>
            <a:ext cx="5124715" cy="21336"/>
          </a:xfrm>
          <a:prstGeom prst="rect">
            <a:avLst/>
          </a:prstGeom>
        </p:spPr>
      </p:pic>
      <p:sp>
        <p:nvSpPr>
          <p:cNvPr id="22" name="Text Placeholder 21"/>
          <p:cNvSpPr>
            <a:spLocks noGrp="1"/>
          </p:cNvSpPr>
          <p:nvPr>
            <p:ph type="body" sz="quarter" idx="14"/>
          </p:nvPr>
        </p:nvSpPr>
        <p:spPr>
          <a:xfrm>
            <a:off x="5189412" y="4826977"/>
            <a:ext cx="6713419" cy="1108563"/>
          </a:xfrm>
        </p:spPr>
        <p:txBody>
          <a:bodyPr>
            <a:normAutofit/>
          </a:bodyPr>
          <a:lstStyle>
            <a:lvl1pPr marL="0" indent="0" algn="r">
              <a:spcBef>
                <a:spcPts val="0"/>
              </a:spcBef>
              <a:buNone/>
              <a:defRPr sz="1700">
                <a:solidFill>
                  <a:srgbClr val="1C1573"/>
                </a:solidFill>
                <a:latin typeface="Helvetica" panose="020B0604020202030204" pitchFamily="34" charset="0"/>
              </a:defRPr>
            </a:lvl1pPr>
          </a:lstStyle>
          <a:p>
            <a:pPr lvl="0"/>
            <a:r>
              <a:rPr lang="en-US" dirty="0"/>
              <a:t>Click to edit </a:t>
            </a:r>
          </a:p>
          <a:p>
            <a:pPr lvl="0"/>
            <a:r>
              <a:rPr lang="en-US" dirty="0"/>
              <a:t>text</a:t>
            </a:r>
          </a:p>
        </p:txBody>
      </p:sp>
    </p:spTree>
    <p:extLst>
      <p:ext uri="{BB962C8B-B14F-4D97-AF65-F5344CB8AC3E}">
        <p14:creationId xmlns:p14="http://schemas.microsoft.com/office/powerpoint/2010/main" val="1661812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1200"/>
                                        <p:tgtEl>
                                          <p:spTgt spid="8"/>
                                        </p:tgtEl>
                                      </p:cBhvr>
                                    </p:animEffect>
                                  </p:childTnLst>
                                </p:cTn>
                              </p:par>
                            </p:childTnLst>
                          </p:cTn>
                        </p:par>
                        <p:par>
                          <p:cTn id="8" fill="hold">
                            <p:stCondLst>
                              <p:cond delay="1200"/>
                            </p:stCondLst>
                            <p:childTnLst>
                              <p:par>
                                <p:cTn id="9" presetID="20"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edge">
                                      <p:cBhvr>
                                        <p:cTn id="11" dur="1300"/>
                                        <p:tgtEl>
                                          <p:spTgt spid="10"/>
                                        </p:tgtEl>
                                      </p:cBhvr>
                                    </p:animEffect>
                                  </p:childTnLst>
                                </p:cTn>
                              </p:par>
                            </p:childTnLst>
                          </p:cTn>
                        </p:par>
                        <p:par>
                          <p:cTn id="12" fill="hold">
                            <p:stCondLst>
                              <p:cond delay="2500"/>
                            </p:stCondLst>
                            <p:childTnLst>
                              <p:par>
                                <p:cTn id="13" presetID="10" presetClass="entr" presetSubtype="0"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par>
                          <p:cTn id="16" fill="hold">
                            <p:stCondLst>
                              <p:cond delay="3000"/>
                            </p:stCondLst>
                            <p:childTnLst>
                              <p:par>
                                <p:cTn id="17" presetID="22" presetClass="entr" presetSubtype="8" fill="hold"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fade">
                                      <p:cBhvr>
                                        <p:cTn id="26" dur="500"/>
                                        <p:tgtEl>
                                          <p:spTgt spid="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0" end="0"/>
                                            </p:txEl>
                                          </p:spTgt>
                                        </p:tgtEl>
                                        <p:attrNameLst>
                                          <p:attrName>style.visibility</p:attrName>
                                        </p:attrNameLst>
                                      </p:cBhvr>
                                      <p:to>
                                        <p:strVal val="visible"/>
                                      </p:to>
                                    </p:set>
                                    <p:animEffect transition="in" filter="fade">
                                      <p:cBhvr>
                                        <p:cTn id="29" dur="500"/>
                                        <p:tgtEl>
                                          <p:spTgt spid="3">
                                            <p:txEl>
                                              <p:pRg st="0" end="0"/>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2">
                                            <p:txEl>
                                              <p:pRg st="0" end="0"/>
                                            </p:txEl>
                                          </p:spTgt>
                                        </p:tgtEl>
                                        <p:attrNameLst>
                                          <p:attrName>style.visibility</p:attrName>
                                        </p:attrNameLst>
                                      </p:cBhvr>
                                      <p:to>
                                        <p:strVal val="visible"/>
                                      </p:to>
                                    </p:set>
                                    <p:animEffect transition="in" filter="fade">
                                      <p:cBhvr>
                                        <p:cTn id="32" dur="500"/>
                                        <p:tgtEl>
                                          <p:spTgt spid="22">
                                            <p:txEl>
                                              <p:pRg st="0" end="0"/>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2">
                                            <p:txEl>
                                              <p:pRg st="1" end="1"/>
                                            </p:txEl>
                                          </p:spTgt>
                                        </p:tgtEl>
                                        <p:attrNameLst>
                                          <p:attrName>style.visibility</p:attrName>
                                        </p:attrNameLst>
                                      </p:cBhvr>
                                      <p:to>
                                        <p:strVal val="visible"/>
                                      </p:to>
                                    </p:set>
                                    <p:animEffect transition="in" filter="fade">
                                      <p:cBhvr>
                                        <p:cTn id="35" dur="500"/>
                                        <p:tgtEl>
                                          <p:spTgt spid="2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P spid="22" grpId="0" build="p">
        <p:tmplLst>
          <p:tmpl lvl="1">
            <p:tnLst>
              <p:par>
                <p:cTn presetID="10" presetClass="entr" presetSubtype="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fade">
                      <p:cBhvr>
                        <p:cTn dur="500"/>
                        <p:tgtEl>
                          <p:spTgt spid="22"/>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743335" y="2482116"/>
            <a:ext cx="8848465" cy="2130566"/>
          </a:xfrm>
          <a:prstGeom prst="rect">
            <a:avLst/>
          </a:prstGeom>
        </p:spPr>
      </p:pic>
      <p:sp>
        <p:nvSpPr>
          <p:cNvPr id="7" name="Title 1"/>
          <p:cNvSpPr txBox="1">
            <a:spLocks/>
          </p:cNvSpPr>
          <p:nvPr userDrawn="1"/>
        </p:nvSpPr>
        <p:spPr>
          <a:xfrm>
            <a:off x="1831508" y="2575123"/>
            <a:ext cx="8666988" cy="1936878"/>
          </a:xfrm>
          <a:prstGeom prst="rect">
            <a:avLst/>
          </a:prstGeom>
        </p:spPr>
        <p:txBody>
          <a:bodyPr vert="horz" lIns="91440" tIns="45720" rIns="91440" bIns="45720" rtlCol="0" anchor="ctr">
            <a:normAutofit/>
          </a:bodyPr>
          <a:lstStyle>
            <a:lvl1pPr algn="r" defTabSz="685800" rtl="0" eaLnBrk="1" latinLnBrk="0" hangingPunct="1">
              <a:lnSpc>
                <a:spcPct val="90000"/>
              </a:lnSpc>
              <a:spcBef>
                <a:spcPct val="0"/>
              </a:spcBef>
              <a:buNone/>
              <a:defRPr sz="3200" b="1" kern="1200">
                <a:solidFill>
                  <a:schemeClr val="bg1"/>
                </a:solidFill>
                <a:latin typeface="Helvetica" panose="020B0604020202030204" pitchFamily="34" charset="0"/>
                <a:ea typeface="+mj-ea"/>
                <a:cs typeface="+mj-cs"/>
              </a:defRPr>
            </a:lvl1pPr>
          </a:lstStyle>
          <a:p>
            <a:pPr algn="ctr"/>
            <a:r>
              <a:rPr lang="en-US" sz="3600" dirty="0"/>
              <a:t>Click to edit Session title</a:t>
            </a:r>
          </a:p>
        </p:txBody>
      </p:sp>
    </p:spTree>
    <p:extLst>
      <p:ext uri="{BB962C8B-B14F-4D97-AF65-F5344CB8AC3E}">
        <p14:creationId xmlns:p14="http://schemas.microsoft.com/office/powerpoint/2010/main" val="1461970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60569"/>
            <a:ext cx="10668000" cy="764364"/>
          </a:xfrm>
          <a:prstGeom prst="rect">
            <a:avLst/>
          </a:prstGeom>
        </p:spPr>
      </p:pic>
      <p:sp>
        <p:nvSpPr>
          <p:cNvPr id="2" name="Title 1"/>
          <p:cNvSpPr>
            <a:spLocks noGrp="1"/>
          </p:cNvSpPr>
          <p:nvPr>
            <p:ph type="title"/>
          </p:nvPr>
        </p:nvSpPr>
        <p:spPr>
          <a:xfrm>
            <a:off x="838200" y="160569"/>
            <a:ext cx="9321800" cy="764364"/>
          </a:xfrm>
        </p:spPr>
        <p:txBody>
          <a:bodyPr>
            <a:normAutofit/>
          </a:bodyPr>
          <a:lstStyle>
            <a:lvl1pPr>
              <a:defRPr sz="32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857739" y="1600201"/>
            <a:ext cx="10160000" cy="2728913"/>
          </a:xfrm>
        </p:spPr>
        <p:txBody>
          <a:bodyPr/>
          <a:lstStyle>
            <a:lvl1pPr>
              <a:defRPr sz="1800">
                <a:latin typeface="Helvetica" panose="020B0604020202030204" pitchFamily="34" charset="0"/>
              </a:defRPr>
            </a:lvl1pPr>
            <a:lvl2pPr>
              <a:defRPr sz="1600">
                <a:latin typeface="Helvetica" panose="020B0604020202030204" pitchFamily="34" charset="0"/>
              </a:defRPr>
            </a:lvl2pPr>
            <a:lvl3pPr>
              <a:defRPr sz="1400">
                <a:latin typeface="Helvetica" panose="020B0604020202030204" pitchFamily="34" charset="0"/>
              </a:defRPr>
            </a:lvl3pPr>
            <a:lvl4pPr>
              <a:defRPr sz="1200">
                <a:latin typeface="Helvetica" panose="020B0604020202030204" pitchFamily="34" charset="0"/>
              </a:defRPr>
            </a:lvl4pPr>
            <a:lvl5pPr>
              <a:defRPr sz="1200">
                <a:latin typeface="Helvetica" panose="020B0604020202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14"/>
          </p:nvPr>
        </p:nvSpPr>
        <p:spPr>
          <a:xfrm>
            <a:off x="329247" y="1143001"/>
            <a:ext cx="11196956" cy="395287"/>
          </a:xfrm>
        </p:spPr>
        <p:txBody>
          <a:bodyPr>
            <a:normAutofit/>
          </a:bodyPr>
          <a:lstStyle>
            <a:lvl1pPr marL="0" indent="0">
              <a:buNone/>
              <a:defRPr sz="20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dirty="0"/>
              <a:t>Click to edit Master text styles</a:t>
            </a:r>
          </a:p>
        </p:txBody>
      </p:sp>
    </p:spTree>
    <p:extLst>
      <p:ext uri="{BB962C8B-B14F-4D97-AF65-F5344CB8AC3E}">
        <p14:creationId xmlns:p14="http://schemas.microsoft.com/office/powerpoint/2010/main" val="13615429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sp>
        <p:nvSpPr>
          <p:cNvPr id="2" name="Title 1"/>
          <p:cNvSpPr>
            <a:spLocks noGrp="1"/>
          </p:cNvSpPr>
          <p:nvPr>
            <p:ph type="title"/>
          </p:nvPr>
        </p:nvSpPr>
        <p:spPr>
          <a:xfrm>
            <a:off x="831850" y="1709738"/>
            <a:ext cx="10515600" cy="2852737"/>
          </a:xfrm>
        </p:spPr>
        <p:txBody>
          <a:bodyPr anchor="b">
            <a:normAutofit/>
          </a:bodyPr>
          <a:lstStyle>
            <a:lvl1pPr algn="r">
              <a:defRPr sz="5400" b="1">
                <a:solidFill>
                  <a:srgbClr val="150860"/>
                </a:solidFill>
                <a:latin typeface="Helvetica"/>
                <a:cs typeface="Helvetica"/>
              </a:defRPr>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lgn="r">
              <a:buNone/>
              <a:defRPr sz="2400" b="0" i="0">
                <a:solidFill>
                  <a:schemeClr val="tx1">
                    <a:tint val="75000"/>
                  </a:schemeClr>
                </a:solidFill>
                <a:latin typeface="Helvetica Light"/>
                <a:cs typeface="Helvetica Ligh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spTree>
    <p:extLst>
      <p:ext uri="{BB962C8B-B14F-4D97-AF65-F5344CB8AC3E}">
        <p14:creationId xmlns:p14="http://schemas.microsoft.com/office/powerpoint/2010/main" val="375068714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46184519"/>
      </p:ext>
    </p:extLst>
  </p:cSld>
  <p:clrMap bg1="lt1" tx1="dk1" bg2="lt2" tx2="dk2" accent1="accent1" accent2="accent2" accent3="accent3" accent4="accent4" accent5="accent5" accent6="accent6" hlink="hlink" folHlink="folHlink"/>
  <p:sldLayoutIdLst>
    <p:sldLayoutId id="2147483738" r:id="rId1"/>
    <p:sldLayoutId id="2147483729" r:id="rId2"/>
    <p:sldLayoutId id="2147483739" r:id="rId3"/>
    <p:sldLayoutId id="2147483740"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a:t>Bias and Fairness</a:t>
            </a:r>
            <a:endParaRPr lang="en-US" dirty="0"/>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
        <p:nvSpPr>
          <p:cNvPr id="2" name="TextBox 1"/>
          <p:cNvSpPr txBox="1"/>
          <p:nvPr/>
        </p:nvSpPr>
        <p:spPr>
          <a:xfrm>
            <a:off x="7086600" y="6324600"/>
            <a:ext cx="4816231" cy="369332"/>
          </a:xfrm>
          <a:prstGeom prst="rect">
            <a:avLst/>
          </a:prstGeom>
          <a:noFill/>
        </p:spPr>
        <p:txBody>
          <a:bodyPr wrap="square" rtlCol="0">
            <a:spAutoFit/>
          </a:bodyPr>
          <a:lstStyle/>
          <a:p>
            <a:r>
              <a:rPr lang="en-US" dirty="0"/>
              <a:t>Adapted from Google Machine Learning Course</a:t>
            </a:r>
          </a:p>
        </p:txBody>
      </p:sp>
    </p:spTree>
    <p:extLst>
      <p:ext uri="{BB962C8B-B14F-4D97-AF65-F5344CB8AC3E}">
        <p14:creationId xmlns:p14="http://schemas.microsoft.com/office/powerpoint/2010/main" val="3797254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Fairness</a:t>
            </a:r>
          </a:p>
        </p:txBody>
      </p:sp>
      <p:sp>
        <p:nvSpPr>
          <p:cNvPr id="3" name="Text Placeholder 2"/>
          <p:cNvSpPr>
            <a:spLocks noGrp="1"/>
          </p:cNvSpPr>
          <p:nvPr>
            <p:ph type="body" sz="quarter" idx="13"/>
          </p:nvPr>
        </p:nvSpPr>
        <p:spPr>
          <a:xfrm>
            <a:off x="857739" y="1600201"/>
            <a:ext cx="10160000" cy="3886199"/>
          </a:xfrm>
        </p:spPr>
        <p:txBody>
          <a:bodyPr>
            <a:normAutofit/>
          </a:bodyPr>
          <a:lstStyle/>
          <a:p>
            <a:r>
              <a:rPr lang="en-US" dirty="0"/>
              <a:t>Evaluating a machine learning model responsibly requires doing more than just calculating loss metrics</a:t>
            </a:r>
          </a:p>
          <a:p>
            <a:pPr lvl="1">
              <a:buFont typeface="Courier New" panose="02070309020205020404" pitchFamily="49" charset="0"/>
              <a:buChar char="o"/>
            </a:pPr>
            <a:r>
              <a:rPr lang="en-US" dirty="0"/>
              <a:t>critical to audit training data and evaluate predictions for bias</a:t>
            </a:r>
          </a:p>
          <a:p>
            <a:pPr lvl="1">
              <a:buFont typeface="Courier New" panose="02070309020205020404" pitchFamily="49" charset="0"/>
              <a:buChar char="o"/>
            </a:pPr>
            <a:endParaRPr lang="en-US" dirty="0"/>
          </a:p>
          <a:p>
            <a:r>
              <a:rPr lang="en-US" dirty="0"/>
              <a:t>Machine learning models are not inherently objective</a:t>
            </a:r>
          </a:p>
          <a:p>
            <a:pPr lvl="1">
              <a:buFont typeface="Courier New" panose="02070309020205020404" pitchFamily="49" charset="0"/>
              <a:buChar char="o"/>
            </a:pPr>
            <a:r>
              <a:rPr lang="en-US" dirty="0"/>
              <a:t>Engineers train models by feeding them a data set of training examples</a:t>
            </a:r>
          </a:p>
          <a:p>
            <a:pPr lvl="1">
              <a:buFont typeface="Courier New" panose="02070309020205020404" pitchFamily="49" charset="0"/>
              <a:buChar char="o"/>
            </a:pPr>
            <a:r>
              <a:rPr lang="en-US" dirty="0"/>
              <a:t>This human involvement in the provision and curation of this data can make a model's predictions susceptible to bias.</a:t>
            </a:r>
          </a:p>
          <a:p>
            <a:pPr marL="457200" lvl="1" indent="0">
              <a:buNone/>
            </a:pPr>
            <a:endParaRPr lang="en-US" dirty="0"/>
          </a:p>
          <a:p>
            <a:r>
              <a:rPr lang="en-US" dirty="0"/>
              <a:t>Important to be aware of common human biases that can manifest in data</a:t>
            </a:r>
          </a:p>
          <a:p>
            <a:pPr lvl="1">
              <a:buFont typeface="Courier New" panose="02070309020205020404" pitchFamily="49" charset="0"/>
              <a:buChar char="o"/>
            </a:pPr>
            <a:r>
              <a:rPr lang="en-US" dirty="0"/>
              <a:t>proactive steps can be taken to mitigate their effects</a:t>
            </a:r>
            <a:endParaRPr lang="en-IN" dirty="0"/>
          </a:p>
        </p:txBody>
      </p:sp>
      <p:sp>
        <p:nvSpPr>
          <p:cNvPr id="4" name="Text Placeholder 3"/>
          <p:cNvSpPr>
            <a:spLocks noGrp="1"/>
          </p:cNvSpPr>
          <p:nvPr>
            <p:ph type="body" sz="quarter" idx="14"/>
          </p:nvPr>
        </p:nvSpPr>
        <p:spPr/>
        <p:txBody>
          <a:bodyPr/>
          <a:lstStyle/>
          <a:p>
            <a:endParaRPr lang="en-IN"/>
          </a:p>
        </p:txBody>
      </p:sp>
    </p:spTree>
    <p:extLst>
      <p:ext uri="{BB962C8B-B14F-4D97-AF65-F5344CB8AC3E}">
        <p14:creationId xmlns:p14="http://schemas.microsoft.com/office/powerpoint/2010/main" val="18474810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Types of Bias</a:t>
            </a:r>
          </a:p>
        </p:txBody>
      </p:sp>
      <p:sp>
        <p:nvSpPr>
          <p:cNvPr id="3" name="Text Placeholder 2"/>
          <p:cNvSpPr>
            <a:spLocks noGrp="1"/>
          </p:cNvSpPr>
          <p:nvPr>
            <p:ph type="body" sz="quarter" idx="13"/>
          </p:nvPr>
        </p:nvSpPr>
        <p:spPr>
          <a:xfrm>
            <a:off x="857739" y="1600201"/>
            <a:ext cx="10160000" cy="4114799"/>
          </a:xfrm>
        </p:spPr>
        <p:txBody>
          <a:bodyPr/>
          <a:lstStyle/>
          <a:p>
            <a:r>
              <a:rPr lang="en-US" dirty="0"/>
              <a:t>Occurs when the frequency of events, properties, and/or outcomes captured in a data set does not accurately reflect their real-world frequency</a:t>
            </a:r>
          </a:p>
          <a:p>
            <a:r>
              <a:rPr lang="en-US" dirty="0"/>
              <a:t>Can arise because people tend to focus on documenting circumstances that are unusual or especially memorable</a:t>
            </a:r>
          </a:p>
          <a:p>
            <a:endParaRPr lang="en-US" dirty="0"/>
          </a:p>
          <a:p>
            <a:r>
              <a:rPr lang="en-US" dirty="0"/>
              <a:t>EXAMPLE: </a:t>
            </a:r>
          </a:p>
          <a:p>
            <a:r>
              <a:rPr lang="en-US" dirty="0"/>
              <a:t>A sentiment-analysis model is trained to predict whether book reviews are positive or negative based on a corpus of user submissions to a popular website. The majority of reviews in the training data set reflect extreme opinions (reviewers who either loved or hated a book), because people were less likely to submit a review of a book if they did not respond to it strongly. As a result, the model is less able to correctly predict sentiment of reviews that use more subtle language to describe a book.</a:t>
            </a:r>
            <a:endParaRPr lang="en-IN" dirty="0"/>
          </a:p>
        </p:txBody>
      </p:sp>
      <p:sp>
        <p:nvSpPr>
          <p:cNvPr id="4" name="Text Placeholder 3"/>
          <p:cNvSpPr>
            <a:spLocks noGrp="1"/>
          </p:cNvSpPr>
          <p:nvPr>
            <p:ph type="body" sz="quarter" idx="14"/>
          </p:nvPr>
        </p:nvSpPr>
        <p:spPr/>
        <p:txBody>
          <a:bodyPr/>
          <a:lstStyle/>
          <a:p>
            <a:r>
              <a:rPr lang="en-IN" dirty="0"/>
              <a:t>Reporting Bias</a:t>
            </a:r>
          </a:p>
        </p:txBody>
      </p:sp>
    </p:spTree>
    <p:extLst>
      <p:ext uri="{BB962C8B-B14F-4D97-AF65-F5344CB8AC3E}">
        <p14:creationId xmlns:p14="http://schemas.microsoft.com/office/powerpoint/2010/main" val="24061411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Types of Bias</a:t>
            </a:r>
          </a:p>
        </p:txBody>
      </p:sp>
      <p:sp>
        <p:nvSpPr>
          <p:cNvPr id="3" name="Text Placeholder 2"/>
          <p:cNvSpPr>
            <a:spLocks noGrp="1"/>
          </p:cNvSpPr>
          <p:nvPr>
            <p:ph type="body" sz="quarter" idx="13"/>
          </p:nvPr>
        </p:nvSpPr>
        <p:spPr>
          <a:xfrm>
            <a:off x="857739" y="1600201"/>
            <a:ext cx="10160000" cy="4571999"/>
          </a:xfrm>
        </p:spPr>
        <p:txBody>
          <a:bodyPr/>
          <a:lstStyle/>
          <a:p>
            <a:r>
              <a:rPr lang="en-US" dirty="0"/>
              <a:t>Tendency to favor results generated by automated systems over those generated by non-automated systems, irrespective of the error rates of each</a:t>
            </a:r>
          </a:p>
          <a:p>
            <a:endParaRPr lang="en-US" dirty="0"/>
          </a:p>
          <a:p>
            <a:r>
              <a:rPr lang="en-US" dirty="0"/>
              <a:t>EXAMPLE: </a:t>
            </a:r>
          </a:p>
          <a:p>
            <a:r>
              <a:rPr lang="en-US" dirty="0"/>
              <a:t>Software engineers working for a sprocket manufacturer were eager to deploy the new "groundbreaking" model they trained to identify tooth defects, until the factory supervisor pointed out that the model's precision and recall rates were both 15% lower than those of human inspectors.</a:t>
            </a:r>
            <a:endParaRPr lang="en-IN" dirty="0"/>
          </a:p>
        </p:txBody>
      </p:sp>
      <p:sp>
        <p:nvSpPr>
          <p:cNvPr id="4" name="Text Placeholder 3"/>
          <p:cNvSpPr>
            <a:spLocks noGrp="1"/>
          </p:cNvSpPr>
          <p:nvPr>
            <p:ph type="body" sz="quarter" idx="14"/>
          </p:nvPr>
        </p:nvSpPr>
        <p:spPr/>
        <p:txBody>
          <a:bodyPr/>
          <a:lstStyle/>
          <a:p>
            <a:r>
              <a:rPr lang="en-IN" dirty="0"/>
              <a:t>Automation Bias</a:t>
            </a:r>
          </a:p>
        </p:txBody>
      </p:sp>
    </p:spTree>
    <p:extLst>
      <p:ext uri="{BB962C8B-B14F-4D97-AF65-F5344CB8AC3E}">
        <p14:creationId xmlns:p14="http://schemas.microsoft.com/office/powerpoint/2010/main" val="16479159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Types of Bias</a:t>
            </a:r>
          </a:p>
        </p:txBody>
      </p:sp>
      <p:sp>
        <p:nvSpPr>
          <p:cNvPr id="3" name="Text Placeholder 2"/>
          <p:cNvSpPr>
            <a:spLocks noGrp="1"/>
          </p:cNvSpPr>
          <p:nvPr>
            <p:ph type="body" sz="quarter" idx="13"/>
          </p:nvPr>
        </p:nvSpPr>
        <p:spPr>
          <a:xfrm>
            <a:off x="857738" y="1600201"/>
            <a:ext cx="10800861" cy="5105399"/>
          </a:xfrm>
        </p:spPr>
        <p:txBody>
          <a:bodyPr>
            <a:normAutofit fontScale="85000" lnSpcReduction="10000"/>
          </a:bodyPr>
          <a:lstStyle/>
          <a:p>
            <a:r>
              <a:rPr lang="en-US" dirty="0"/>
              <a:t>Selection bias occurs if a data set's examples are chosen in a way that is not reflective of their real-world distribution</a:t>
            </a:r>
          </a:p>
          <a:p>
            <a:endParaRPr lang="en-US" dirty="0"/>
          </a:p>
          <a:p>
            <a:r>
              <a:rPr lang="en-US" dirty="0"/>
              <a:t>Coverage bias: Data is not selected in a representative fashion.</a:t>
            </a:r>
          </a:p>
          <a:p>
            <a:pPr lvl="1">
              <a:buFont typeface="Courier New" panose="02070309020205020404" pitchFamily="49" charset="0"/>
              <a:buChar char="o"/>
            </a:pPr>
            <a:r>
              <a:rPr lang="en-US" dirty="0"/>
              <a:t>EXAMPLE: A model is trained to predict future sales of a new product based on phone surveys conducted </a:t>
            </a:r>
          </a:p>
          <a:p>
            <a:pPr marL="457200" lvl="1" indent="0">
              <a:buNone/>
            </a:pPr>
            <a:r>
              <a:rPr lang="en-US" dirty="0"/>
              <a:t>with a sample of consumers who bought the product. Consumers who instead opted to buy a competing product </a:t>
            </a:r>
          </a:p>
          <a:p>
            <a:pPr marL="457200" lvl="1" indent="0">
              <a:buNone/>
            </a:pPr>
            <a:r>
              <a:rPr lang="en-US" dirty="0"/>
              <a:t>were not surveyed, and as a result, this group of people was not represented in the training data.</a:t>
            </a:r>
          </a:p>
          <a:p>
            <a:endParaRPr lang="en-US" dirty="0"/>
          </a:p>
          <a:p>
            <a:r>
              <a:rPr lang="en-US" dirty="0"/>
              <a:t>Non-response bias (or participation bias): Data ends up being unrepresentative due to participation gaps in the </a:t>
            </a:r>
          </a:p>
          <a:p>
            <a:pPr marL="0" indent="0">
              <a:buNone/>
            </a:pPr>
            <a:r>
              <a:rPr lang="en-US" dirty="0"/>
              <a:t>data-collection process.</a:t>
            </a:r>
          </a:p>
          <a:p>
            <a:pPr lvl="1">
              <a:buFont typeface="Courier New" panose="02070309020205020404" pitchFamily="49" charset="0"/>
              <a:buChar char="o"/>
            </a:pPr>
            <a:r>
              <a:rPr lang="en-US" dirty="0"/>
              <a:t>EXAMPLE: A model is trained to predict future sales of a new product based on phone surveys conducted </a:t>
            </a:r>
          </a:p>
          <a:p>
            <a:pPr marL="457200" lvl="1" indent="0">
              <a:buNone/>
            </a:pPr>
            <a:r>
              <a:rPr lang="en-US" dirty="0"/>
              <a:t>with a sample of consumers who bought the product and with a sample of consumers who bought a competing </a:t>
            </a:r>
          </a:p>
          <a:p>
            <a:pPr marL="457200" lvl="1" indent="0">
              <a:buNone/>
            </a:pPr>
            <a:r>
              <a:rPr lang="en-US" dirty="0"/>
              <a:t>product. Consumers who bought the competing product were 80% more likely to refuse to complete the survey, and </a:t>
            </a:r>
          </a:p>
          <a:p>
            <a:pPr marL="457200" lvl="1" indent="0">
              <a:buNone/>
            </a:pPr>
            <a:r>
              <a:rPr lang="en-US" dirty="0"/>
              <a:t>their data was underrepresented in the sample.</a:t>
            </a:r>
          </a:p>
          <a:p>
            <a:endParaRPr lang="en-US" dirty="0"/>
          </a:p>
          <a:p>
            <a:r>
              <a:rPr lang="en-US" dirty="0"/>
              <a:t>Sampling bias: Proper randomization is not used during data collection.</a:t>
            </a:r>
          </a:p>
          <a:p>
            <a:pPr lvl="1">
              <a:buFont typeface="Courier New" panose="02070309020205020404" pitchFamily="49" charset="0"/>
              <a:buChar char="o"/>
            </a:pPr>
            <a:r>
              <a:rPr lang="en-US" dirty="0"/>
              <a:t>EXAMPLE: A model is trained to predict future sales of a new product based on phone surveys conducted with a </a:t>
            </a:r>
          </a:p>
          <a:p>
            <a:pPr marL="457200" lvl="1" indent="0">
              <a:buNone/>
            </a:pPr>
            <a:r>
              <a:rPr lang="en-US" dirty="0"/>
              <a:t>sample of consumers who bought the product and with a sample of consumers who bought a competing product. </a:t>
            </a:r>
          </a:p>
          <a:p>
            <a:pPr marL="457200" lvl="1" indent="0">
              <a:buNone/>
            </a:pPr>
            <a:r>
              <a:rPr lang="en-US" dirty="0"/>
              <a:t>Instead of randomly targeting consumers, the </a:t>
            </a:r>
            <a:r>
              <a:rPr lang="en-US" dirty="0" err="1"/>
              <a:t>surveyer</a:t>
            </a:r>
            <a:r>
              <a:rPr lang="en-US" dirty="0"/>
              <a:t> chose the first 200 consumers that responded to an email, who </a:t>
            </a:r>
          </a:p>
          <a:p>
            <a:pPr marL="457200" lvl="1" indent="0">
              <a:buNone/>
            </a:pPr>
            <a:r>
              <a:rPr lang="en-US" dirty="0"/>
              <a:t>might have been more enthusiastic about the product than average purchasers.</a:t>
            </a:r>
            <a:endParaRPr lang="en-IN" dirty="0"/>
          </a:p>
        </p:txBody>
      </p:sp>
      <p:sp>
        <p:nvSpPr>
          <p:cNvPr id="4" name="Text Placeholder 3"/>
          <p:cNvSpPr>
            <a:spLocks noGrp="1"/>
          </p:cNvSpPr>
          <p:nvPr>
            <p:ph type="body" sz="quarter" idx="14"/>
          </p:nvPr>
        </p:nvSpPr>
        <p:spPr/>
        <p:txBody>
          <a:bodyPr/>
          <a:lstStyle/>
          <a:p>
            <a:r>
              <a:rPr lang="en-US" dirty="0"/>
              <a:t>Selection Bias</a:t>
            </a:r>
          </a:p>
          <a:p>
            <a:endParaRPr lang="en-IN" dirty="0"/>
          </a:p>
        </p:txBody>
      </p:sp>
    </p:spTree>
    <p:extLst>
      <p:ext uri="{BB962C8B-B14F-4D97-AF65-F5344CB8AC3E}">
        <p14:creationId xmlns:p14="http://schemas.microsoft.com/office/powerpoint/2010/main" val="22050541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Types of Bias</a:t>
            </a:r>
          </a:p>
        </p:txBody>
      </p:sp>
      <p:sp>
        <p:nvSpPr>
          <p:cNvPr id="3" name="Text Placeholder 2"/>
          <p:cNvSpPr>
            <a:spLocks noGrp="1"/>
          </p:cNvSpPr>
          <p:nvPr>
            <p:ph type="body" sz="quarter" idx="13"/>
          </p:nvPr>
        </p:nvSpPr>
        <p:spPr>
          <a:xfrm>
            <a:off x="329247" y="1600201"/>
            <a:ext cx="10688492" cy="4571999"/>
          </a:xfrm>
        </p:spPr>
        <p:txBody>
          <a:bodyPr>
            <a:normAutofit lnSpcReduction="10000"/>
          </a:bodyPr>
          <a:lstStyle/>
          <a:p>
            <a:r>
              <a:rPr lang="en-US" dirty="0"/>
              <a:t>Tendency to generalize what is true of individuals to an entire group to which they belong</a:t>
            </a:r>
          </a:p>
          <a:p>
            <a:endParaRPr lang="en-US" dirty="0"/>
          </a:p>
          <a:p>
            <a:r>
              <a:rPr lang="en-US" dirty="0"/>
              <a:t>Two key manifestations are:</a:t>
            </a:r>
          </a:p>
          <a:p>
            <a:r>
              <a:rPr lang="en-US" dirty="0"/>
              <a:t>In-group bias</a:t>
            </a:r>
          </a:p>
          <a:p>
            <a:pPr lvl="1">
              <a:buFont typeface="Courier New" panose="02070309020205020404" pitchFamily="49" charset="0"/>
              <a:buChar char="o"/>
            </a:pPr>
            <a:r>
              <a:rPr lang="en-US" dirty="0"/>
              <a:t>A preference for members of a group to which you also belong, or for characteristics that you also share.</a:t>
            </a:r>
          </a:p>
          <a:p>
            <a:pPr lvl="1">
              <a:buFont typeface="Courier New" panose="02070309020205020404" pitchFamily="49" charset="0"/>
              <a:buChar char="o"/>
            </a:pPr>
            <a:r>
              <a:rPr lang="en-US" dirty="0"/>
              <a:t>EXAMPLE: Two engineers training a résumé-screening model for software developers are predisposed to </a:t>
            </a:r>
          </a:p>
          <a:p>
            <a:pPr marL="457200" lvl="1" indent="0">
              <a:buNone/>
            </a:pPr>
            <a:r>
              <a:rPr lang="en-US" dirty="0"/>
              <a:t>believe that applicants who attended the same computer-science academy as they both did are more qualified for the role.</a:t>
            </a:r>
          </a:p>
          <a:p>
            <a:endParaRPr lang="en-US" dirty="0"/>
          </a:p>
          <a:p>
            <a:r>
              <a:rPr lang="en-US" dirty="0"/>
              <a:t>Out-group homogeneity bias</a:t>
            </a:r>
          </a:p>
          <a:p>
            <a:pPr lvl="1">
              <a:buFont typeface="Courier New" panose="02070309020205020404" pitchFamily="49" charset="0"/>
              <a:buChar char="o"/>
            </a:pPr>
            <a:r>
              <a:rPr lang="en-US" dirty="0"/>
              <a:t>A tendency to stereotype individual members of a group to which you do not belong, or to see their characteristics as more uniform.</a:t>
            </a:r>
          </a:p>
          <a:p>
            <a:pPr lvl="1">
              <a:buFont typeface="Courier New" panose="02070309020205020404" pitchFamily="49" charset="0"/>
              <a:buChar char="o"/>
            </a:pPr>
            <a:r>
              <a:rPr lang="en-US" dirty="0"/>
              <a:t>EXAMPLE: Two engineers training a résumé-screening model for software developers are predisposed to </a:t>
            </a:r>
          </a:p>
          <a:p>
            <a:pPr marL="457200" lvl="1" indent="0">
              <a:buNone/>
            </a:pPr>
            <a:r>
              <a:rPr lang="en-US" dirty="0"/>
              <a:t>believe that all applicants who did not attend a computer-science academy do not have sufficient expertise </a:t>
            </a:r>
          </a:p>
          <a:p>
            <a:pPr marL="457200" lvl="1" indent="0">
              <a:buNone/>
            </a:pPr>
            <a:r>
              <a:rPr lang="en-US" dirty="0"/>
              <a:t>for the role.</a:t>
            </a:r>
            <a:endParaRPr lang="en-IN" dirty="0"/>
          </a:p>
        </p:txBody>
      </p:sp>
      <p:sp>
        <p:nvSpPr>
          <p:cNvPr id="4" name="Text Placeholder 3"/>
          <p:cNvSpPr>
            <a:spLocks noGrp="1"/>
          </p:cNvSpPr>
          <p:nvPr>
            <p:ph type="body" sz="quarter" idx="14"/>
          </p:nvPr>
        </p:nvSpPr>
        <p:spPr/>
        <p:txBody>
          <a:bodyPr/>
          <a:lstStyle/>
          <a:p>
            <a:r>
              <a:rPr lang="en-US" dirty="0"/>
              <a:t>Group Attribution Bias</a:t>
            </a:r>
          </a:p>
          <a:p>
            <a:endParaRPr lang="en-IN" dirty="0"/>
          </a:p>
        </p:txBody>
      </p:sp>
    </p:spTree>
    <p:extLst>
      <p:ext uri="{BB962C8B-B14F-4D97-AF65-F5344CB8AC3E}">
        <p14:creationId xmlns:p14="http://schemas.microsoft.com/office/powerpoint/2010/main" val="30234229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Types of Bias</a:t>
            </a:r>
          </a:p>
        </p:txBody>
      </p:sp>
      <p:sp>
        <p:nvSpPr>
          <p:cNvPr id="3" name="Text Placeholder 2"/>
          <p:cNvSpPr>
            <a:spLocks noGrp="1"/>
          </p:cNvSpPr>
          <p:nvPr>
            <p:ph type="body" sz="quarter" idx="13"/>
          </p:nvPr>
        </p:nvSpPr>
        <p:spPr>
          <a:xfrm>
            <a:off x="329247" y="1600201"/>
            <a:ext cx="11196956" cy="5029199"/>
          </a:xfrm>
        </p:spPr>
        <p:txBody>
          <a:bodyPr>
            <a:normAutofit fontScale="92500" lnSpcReduction="20000"/>
          </a:bodyPr>
          <a:lstStyle/>
          <a:p>
            <a:r>
              <a:rPr lang="en-US" dirty="0"/>
              <a:t>Occurs when assumptions are made based on one's own mental models and personal experiences that do </a:t>
            </a:r>
          </a:p>
          <a:p>
            <a:pPr marL="0" indent="0">
              <a:buNone/>
            </a:pPr>
            <a:r>
              <a:rPr lang="en-US" dirty="0"/>
              <a:t>not necessarily apply more generally</a:t>
            </a:r>
          </a:p>
          <a:p>
            <a:r>
              <a:rPr lang="en-US" dirty="0"/>
              <a:t>EXAMPLE:</a:t>
            </a:r>
          </a:p>
          <a:p>
            <a:pPr lvl="1">
              <a:buFont typeface="Courier New" panose="02070309020205020404" pitchFamily="49" charset="0"/>
              <a:buChar char="o"/>
            </a:pPr>
            <a:r>
              <a:rPr lang="en-US" dirty="0"/>
              <a:t>An engineer training a gesture-recognition model uses a head shake as a feature to indicate a person is communicating </a:t>
            </a:r>
          </a:p>
          <a:p>
            <a:pPr marL="457200" lvl="1" indent="0">
              <a:buNone/>
            </a:pPr>
            <a:r>
              <a:rPr lang="en-US" dirty="0"/>
              <a:t>the word "no." However, in some regions of the world, a head shake actually signifies "yes."</a:t>
            </a:r>
          </a:p>
          <a:p>
            <a:endParaRPr lang="en-US" dirty="0"/>
          </a:p>
          <a:p>
            <a:r>
              <a:rPr lang="en-US" dirty="0"/>
              <a:t>Confirmation bias</a:t>
            </a:r>
          </a:p>
          <a:p>
            <a:pPr lvl="1">
              <a:buFont typeface="Courier New" panose="02070309020205020404" pitchFamily="49" charset="0"/>
              <a:buChar char="o"/>
            </a:pPr>
            <a:r>
              <a:rPr lang="en-US" dirty="0"/>
              <a:t>Model builders unconsciously process data in ways that affirm preexisting beliefs and hypotheses</a:t>
            </a:r>
          </a:p>
          <a:p>
            <a:endParaRPr lang="en-US" dirty="0"/>
          </a:p>
          <a:p>
            <a:r>
              <a:rPr lang="en-US" dirty="0"/>
              <a:t>Experimenter's bias</a:t>
            </a:r>
          </a:p>
          <a:p>
            <a:pPr lvl="1">
              <a:buFont typeface="Courier New" panose="02070309020205020404" pitchFamily="49" charset="0"/>
              <a:buChar char="o"/>
            </a:pPr>
            <a:r>
              <a:rPr lang="en-US" dirty="0"/>
              <a:t>In some cases, a model builder may actually keep training a model until it produces a result that aligns with their original </a:t>
            </a:r>
          </a:p>
          <a:p>
            <a:pPr marL="457200" lvl="1" indent="0">
              <a:buNone/>
            </a:pPr>
            <a:r>
              <a:rPr lang="en-US" dirty="0"/>
              <a:t>hypothesis</a:t>
            </a:r>
          </a:p>
          <a:p>
            <a:endParaRPr lang="en-US" dirty="0"/>
          </a:p>
          <a:p>
            <a:r>
              <a:rPr lang="en-US" dirty="0"/>
              <a:t>EXAMPLE:</a:t>
            </a:r>
          </a:p>
          <a:p>
            <a:pPr lvl="1">
              <a:buFont typeface="Courier New" panose="02070309020205020404" pitchFamily="49" charset="0"/>
              <a:buChar char="o"/>
            </a:pPr>
            <a:r>
              <a:rPr lang="en-US" dirty="0"/>
              <a:t>An engineer is building a model that predicts aggressiveness in dogs based on a variety of features (height, weight, breed, </a:t>
            </a:r>
          </a:p>
          <a:p>
            <a:pPr marL="457200" lvl="1" indent="0">
              <a:buNone/>
            </a:pPr>
            <a:r>
              <a:rPr lang="en-US" dirty="0"/>
              <a:t>environment). The engineer had an unpleasant encounter with a hyperactive toy poodle as a child, and ever since has </a:t>
            </a:r>
          </a:p>
          <a:p>
            <a:pPr marL="457200" lvl="1" indent="0">
              <a:buNone/>
            </a:pPr>
            <a:r>
              <a:rPr lang="en-US" dirty="0"/>
              <a:t>associated the breed with aggression. When the trained model predicted most toy poodles to be relatively docile, the </a:t>
            </a:r>
          </a:p>
          <a:p>
            <a:pPr marL="457200" lvl="1" indent="0">
              <a:buNone/>
            </a:pPr>
            <a:r>
              <a:rPr lang="en-US" dirty="0"/>
              <a:t>engineer retrained the model several more times until it produced a result showing smaller poodles to be more violent.</a:t>
            </a:r>
            <a:endParaRPr lang="en-IN" dirty="0"/>
          </a:p>
        </p:txBody>
      </p:sp>
      <p:sp>
        <p:nvSpPr>
          <p:cNvPr id="4" name="Text Placeholder 3"/>
          <p:cNvSpPr>
            <a:spLocks noGrp="1"/>
          </p:cNvSpPr>
          <p:nvPr>
            <p:ph type="body" sz="quarter" idx="14"/>
          </p:nvPr>
        </p:nvSpPr>
        <p:spPr/>
        <p:txBody>
          <a:bodyPr/>
          <a:lstStyle/>
          <a:p>
            <a:r>
              <a:rPr lang="en-US" dirty="0"/>
              <a:t>Implicit Bias</a:t>
            </a:r>
          </a:p>
          <a:p>
            <a:endParaRPr lang="en-IN" dirty="0"/>
          </a:p>
        </p:txBody>
      </p:sp>
    </p:spTree>
    <p:extLst>
      <p:ext uri="{BB962C8B-B14F-4D97-AF65-F5344CB8AC3E}">
        <p14:creationId xmlns:p14="http://schemas.microsoft.com/office/powerpoint/2010/main" val="35032919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t>Fairness: Identifying Bias</a:t>
            </a:r>
            <a:br>
              <a:rPr lang="en-US" dirty="0"/>
            </a:br>
            <a:endParaRPr lang="en-US" dirty="0"/>
          </a:p>
        </p:txBody>
      </p:sp>
      <p:sp>
        <p:nvSpPr>
          <p:cNvPr id="3" name="Text Placeholder 2"/>
          <p:cNvSpPr>
            <a:spLocks noGrp="1"/>
          </p:cNvSpPr>
          <p:nvPr>
            <p:ph type="body" sz="quarter" idx="13"/>
          </p:nvPr>
        </p:nvSpPr>
        <p:spPr>
          <a:xfrm>
            <a:off x="152401" y="1600201"/>
            <a:ext cx="6400799" cy="4800599"/>
          </a:xfrm>
        </p:spPr>
        <p:txBody>
          <a:bodyPr>
            <a:normAutofit fontScale="85000" lnSpcReduction="20000"/>
          </a:bodyPr>
          <a:lstStyle/>
          <a:p>
            <a:r>
              <a:rPr lang="en-US" dirty="0"/>
              <a:t>If your data set has one or more features that have </a:t>
            </a:r>
          </a:p>
          <a:p>
            <a:pPr marL="0" indent="0">
              <a:buNone/>
            </a:pPr>
            <a:r>
              <a:rPr lang="en-US" dirty="0"/>
              <a:t>missing values for a large number of examples, that could be </a:t>
            </a:r>
          </a:p>
          <a:p>
            <a:pPr marL="0" indent="0">
              <a:buNone/>
            </a:pPr>
            <a:r>
              <a:rPr lang="en-US" dirty="0"/>
              <a:t>an indicator that certain key characteristics of your data set are </a:t>
            </a:r>
          </a:p>
          <a:p>
            <a:pPr marL="0" indent="0">
              <a:buNone/>
            </a:pPr>
            <a:r>
              <a:rPr lang="en-US" dirty="0"/>
              <a:t>under-represented.</a:t>
            </a:r>
          </a:p>
          <a:p>
            <a:r>
              <a:rPr lang="en-US" dirty="0"/>
              <a:t>For example, the table below shows a summary of key stats for </a:t>
            </a:r>
          </a:p>
          <a:p>
            <a:pPr marL="0" indent="0">
              <a:buNone/>
            </a:pPr>
            <a:r>
              <a:rPr lang="en-US" dirty="0"/>
              <a:t>a subset of features in the California Housing dataset</a:t>
            </a:r>
          </a:p>
          <a:p>
            <a:r>
              <a:rPr lang="en-US" dirty="0"/>
              <a:t>Suppose instead that three features (population, households, </a:t>
            </a:r>
          </a:p>
          <a:p>
            <a:pPr marL="0" indent="0">
              <a:buNone/>
            </a:pPr>
            <a:r>
              <a:rPr lang="en-US" dirty="0"/>
              <a:t>and </a:t>
            </a:r>
            <a:r>
              <a:rPr lang="en-US" dirty="0" err="1"/>
              <a:t>median_income</a:t>
            </a:r>
            <a:r>
              <a:rPr lang="en-US" dirty="0"/>
              <a:t>) only had a count of 3000—in other words, </a:t>
            </a:r>
          </a:p>
          <a:p>
            <a:pPr marL="0" indent="0">
              <a:buNone/>
            </a:pPr>
            <a:r>
              <a:rPr lang="en-US" dirty="0"/>
              <a:t>that there were 14,000 missing values for each feature.</a:t>
            </a:r>
          </a:p>
          <a:p>
            <a:r>
              <a:rPr lang="en-US" dirty="0"/>
              <a:t>These 14,000 missing values would make it much more difficult </a:t>
            </a:r>
          </a:p>
          <a:p>
            <a:pPr marL="0" indent="0">
              <a:buNone/>
            </a:pPr>
            <a:r>
              <a:rPr lang="en-US" dirty="0"/>
              <a:t>to accurately correlate average income of households with median </a:t>
            </a:r>
          </a:p>
          <a:p>
            <a:pPr marL="0" indent="0">
              <a:buNone/>
            </a:pPr>
            <a:r>
              <a:rPr lang="en-US" dirty="0"/>
              <a:t>house prices</a:t>
            </a:r>
          </a:p>
          <a:p>
            <a:r>
              <a:rPr lang="en-US" dirty="0"/>
              <a:t>Before training a model on this data, it would be prudent to </a:t>
            </a:r>
          </a:p>
          <a:p>
            <a:pPr marL="0" indent="0">
              <a:buNone/>
            </a:pPr>
            <a:r>
              <a:rPr lang="en-US" dirty="0"/>
              <a:t>investigate the cause of these missing values to ensure that there </a:t>
            </a:r>
          </a:p>
          <a:p>
            <a:pPr marL="0" indent="0">
              <a:buNone/>
            </a:pPr>
            <a:r>
              <a:rPr lang="en-US" dirty="0"/>
              <a:t>are no latent biases responsible for missing income and </a:t>
            </a:r>
          </a:p>
          <a:p>
            <a:pPr marL="0" indent="0">
              <a:buNone/>
            </a:pPr>
            <a:r>
              <a:rPr lang="en-US" dirty="0"/>
              <a:t>population data.</a:t>
            </a:r>
          </a:p>
        </p:txBody>
      </p:sp>
      <p:sp>
        <p:nvSpPr>
          <p:cNvPr id="4" name="Text Placeholder 3"/>
          <p:cNvSpPr>
            <a:spLocks noGrp="1"/>
          </p:cNvSpPr>
          <p:nvPr>
            <p:ph type="body" sz="quarter" idx="14"/>
          </p:nvPr>
        </p:nvSpPr>
        <p:spPr/>
        <p:txBody>
          <a:bodyPr/>
          <a:lstStyle/>
          <a:p>
            <a:r>
              <a:rPr lang="en-US" dirty="0"/>
              <a:t>Missing Feature Values</a:t>
            </a:r>
          </a:p>
        </p:txBody>
      </p:sp>
      <p:pic>
        <p:nvPicPr>
          <p:cNvPr id="5" name="Picture 4"/>
          <p:cNvPicPr>
            <a:picLocks noChangeAspect="1"/>
          </p:cNvPicPr>
          <p:nvPr/>
        </p:nvPicPr>
        <p:blipFill>
          <a:blip r:embed="rId2"/>
          <a:stretch>
            <a:fillRect/>
          </a:stretch>
        </p:blipFill>
        <p:spPr>
          <a:xfrm>
            <a:off x="6678185" y="2209800"/>
            <a:ext cx="5483835" cy="2815644"/>
          </a:xfrm>
          <a:prstGeom prst="rect">
            <a:avLst/>
          </a:prstGeom>
        </p:spPr>
      </p:pic>
    </p:spTree>
    <p:extLst>
      <p:ext uri="{BB962C8B-B14F-4D97-AF65-F5344CB8AC3E}">
        <p14:creationId xmlns:p14="http://schemas.microsoft.com/office/powerpoint/2010/main" val="10336088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t>Fairness: Identifying Bias</a:t>
            </a:r>
            <a:br>
              <a:rPr lang="en-US" dirty="0"/>
            </a:br>
            <a:endParaRPr lang="en-US" dirty="0"/>
          </a:p>
        </p:txBody>
      </p:sp>
      <p:sp>
        <p:nvSpPr>
          <p:cNvPr id="3" name="Text Placeholder 2"/>
          <p:cNvSpPr>
            <a:spLocks noGrp="1"/>
          </p:cNvSpPr>
          <p:nvPr>
            <p:ph type="body" sz="quarter" idx="13"/>
          </p:nvPr>
        </p:nvSpPr>
        <p:spPr>
          <a:xfrm>
            <a:off x="329247" y="1600201"/>
            <a:ext cx="4166553" cy="4571999"/>
          </a:xfrm>
        </p:spPr>
        <p:txBody>
          <a:bodyPr/>
          <a:lstStyle/>
          <a:p>
            <a:r>
              <a:rPr lang="en-US" dirty="0"/>
              <a:t>When exploring data, you should </a:t>
            </a:r>
          </a:p>
          <a:p>
            <a:pPr marL="0" indent="0">
              <a:buNone/>
            </a:pPr>
            <a:r>
              <a:rPr lang="en-US" dirty="0"/>
              <a:t>also look for examples that contain </a:t>
            </a:r>
          </a:p>
          <a:p>
            <a:pPr marL="0" indent="0">
              <a:buNone/>
            </a:pPr>
            <a:r>
              <a:rPr lang="en-US" dirty="0"/>
              <a:t>feature values that stand out as </a:t>
            </a:r>
          </a:p>
          <a:p>
            <a:pPr marL="0" indent="0">
              <a:buNone/>
            </a:pPr>
            <a:r>
              <a:rPr lang="en-US" dirty="0"/>
              <a:t>especially uncharacteristic or unusual</a:t>
            </a:r>
          </a:p>
          <a:p>
            <a:r>
              <a:rPr lang="en-US" dirty="0"/>
              <a:t>These unexpected feature values </a:t>
            </a:r>
          </a:p>
          <a:p>
            <a:pPr marL="0" indent="0">
              <a:buNone/>
            </a:pPr>
            <a:r>
              <a:rPr lang="en-US" dirty="0"/>
              <a:t>could indicate problems that occurred </a:t>
            </a:r>
          </a:p>
          <a:p>
            <a:pPr marL="0" indent="0">
              <a:buNone/>
            </a:pPr>
            <a:r>
              <a:rPr lang="en-US" dirty="0"/>
              <a:t>during data collection or other </a:t>
            </a:r>
          </a:p>
          <a:p>
            <a:pPr marL="0" indent="0">
              <a:buNone/>
            </a:pPr>
            <a:r>
              <a:rPr lang="en-US" dirty="0"/>
              <a:t>inaccuracies that could introduce bias.</a:t>
            </a:r>
          </a:p>
          <a:p>
            <a:r>
              <a:rPr lang="en-US" dirty="0"/>
              <a:t>Can you pinpoint any unexpected </a:t>
            </a:r>
          </a:p>
          <a:p>
            <a:pPr marL="0" indent="0">
              <a:buNone/>
            </a:pPr>
            <a:r>
              <a:rPr lang="en-US" dirty="0"/>
              <a:t>feature values?</a:t>
            </a:r>
          </a:p>
          <a:p>
            <a:endParaRPr lang="en-US" dirty="0"/>
          </a:p>
        </p:txBody>
      </p:sp>
      <p:sp>
        <p:nvSpPr>
          <p:cNvPr id="4" name="Text Placeholder 3"/>
          <p:cNvSpPr>
            <a:spLocks noGrp="1"/>
          </p:cNvSpPr>
          <p:nvPr>
            <p:ph type="body" sz="quarter" idx="14"/>
          </p:nvPr>
        </p:nvSpPr>
        <p:spPr/>
        <p:txBody>
          <a:bodyPr/>
          <a:lstStyle/>
          <a:p>
            <a:r>
              <a:rPr lang="en-US" dirty="0"/>
              <a:t>Unexpected Feature Values</a:t>
            </a:r>
          </a:p>
        </p:txBody>
      </p:sp>
      <p:pic>
        <p:nvPicPr>
          <p:cNvPr id="5" name="Picture 4"/>
          <p:cNvPicPr>
            <a:picLocks noChangeAspect="1"/>
          </p:cNvPicPr>
          <p:nvPr/>
        </p:nvPicPr>
        <p:blipFill>
          <a:blip r:embed="rId2"/>
          <a:stretch>
            <a:fillRect/>
          </a:stretch>
        </p:blipFill>
        <p:spPr>
          <a:xfrm>
            <a:off x="4267200" y="1756356"/>
            <a:ext cx="7736024" cy="3100315"/>
          </a:xfrm>
          <a:prstGeom prst="rect">
            <a:avLst/>
          </a:prstGeom>
        </p:spPr>
      </p:pic>
    </p:spTree>
    <p:extLst>
      <p:ext uri="{BB962C8B-B14F-4D97-AF65-F5344CB8AC3E}">
        <p14:creationId xmlns:p14="http://schemas.microsoft.com/office/powerpoint/2010/main" val="581587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t>Fairness: Identifying Bias</a:t>
            </a:r>
            <a:br>
              <a:rPr lang="en-US" dirty="0"/>
            </a:br>
            <a:endParaRPr lang="en-US" dirty="0"/>
          </a:p>
        </p:txBody>
      </p:sp>
      <p:sp>
        <p:nvSpPr>
          <p:cNvPr id="3" name="Text Placeholder 2"/>
          <p:cNvSpPr>
            <a:spLocks noGrp="1"/>
          </p:cNvSpPr>
          <p:nvPr>
            <p:ph type="body" sz="quarter" idx="13"/>
          </p:nvPr>
        </p:nvSpPr>
        <p:spPr>
          <a:xfrm>
            <a:off x="857739" y="1600201"/>
            <a:ext cx="7295661" cy="4571999"/>
          </a:xfrm>
        </p:spPr>
        <p:txBody>
          <a:bodyPr>
            <a:normAutofit/>
          </a:bodyPr>
          <a:lstStyle/>
          <a:p>
            <a:r>
              <a:rPr lang="en-US" dirty="0"/>
              <a:t>Any sort of skew in your data, where certain groups or </a:t>
            </a:r>
          </a:p>
          <a:p>
            <a:pPr marL="0" indent="0">
              <a:buNone/>
            </a:pPr>
            <a:r>
              <a:rPr lang="en-US" dirty="0"/>
              <a:t>characteristics may be under- or over-represented </a:t>
            </a:r>
          </a:p>
          <a:p>
            <a:pPr marL="0" indent="0">
              <a:buNone/>
            </a:pPr>
            <a:r>
              <a:rPr lang="en-US" dirty="0"/>
              <a:t>relative to their real-world prevalence, can introduce bias </a:t>
            </a:r>
          </a:p>
          <a:p>
            <a:pPr marL="0" indent="0">
              <a:buNone/>
            </a:pPr>
            <a:r>
              <a:rPr lang="en-US" dirty="0"/>
              <a:t>into your model.</a:t>
            </a:r>
          </a:p>
          <a:p>
            <a:endParaRPr lang="en-US" dirty="0"/>
          </a:p>
          <a:p>
            <a:r>
              <a:rPr lang="en-US" dirty="0"/>
              <a:t>Figure visualizes a subset of data drawn from the full housing data </a:t>
            </a:r>
          </a:p>
          <a:p>
            <a:pPr marL="0" indent="0">
              <a:buNone/>
            </a:pPr>
            <a:r>
              <a:rPr lang="en-US" dirty="0"/>
              <a:t>set that exclusively represents the northwest region of California</a:t>
            </a:r>
          </a:p>
          <a:p>
            <a:r>
              <a:rPr lang="en-US" dirty="0"/>
              <a:t>If this unrepresentative sample were used to train a model to predict </a:t>
            </a:r>
          </a:p>
          <a:p>
            <a:pPr marL="0" indent="0">
              <a:buNone/>
            </a:pPr>
            <a:r>
              <a:rPr lang="en-US" dirty="0"/>
              <a:t>California housing prices statewide, the lack of housing data from </a:t>
            </a:r>
          </a:p>
          <a:p>
            <a:pPr marL="0" indent="0">
              <a:buNone/>
            </a:pPr>
            <a:r>
              <a:rPr lang="en-US" dirty="0"/>
              <a:t>southern portions of California would be problematic</a:t>
            </a:r>
          </a:p>
          <a:p>
            <a:r>
              <a:rPr lang="en-US" dirty="0"/>
              <a:t>The geographical bias encoded in the model might adversely affect </a:t>
            </a:r>
          </a:p>
          <a:p>
            <a:pPr marL="0" indent="0">
              <a:buNone/>
            </a:pPr>
            <a:r>
              <a:rPr lang="en-US" dirty="0"/>
              <a:t>homebuyers in unrepresented communities</a:t>
            </a:r>
          </a:p>
        </p:txBody>
      </p:sp>
      <p:sp>
        <p:nvSpPr>
          <p:cNvPr id="4" name="Text Placeholder 3"/>
          <p:cNvSpPr>
            <a:spLocks noGrp="1"/>
          </p:cNvSpPr>
          <p:nvPr>
            <p:ph type="body" sz="quarter" idx="14"/>
          </p:nvPr>
        </p:nvSpPr>
        <p:spPr/>
        <p:txBody>
          <a:bodyPr/>
          <a:lstStyle/>
          <a:p>
            <a:r>
              <a:rPr lang="en-US" dirty="0"/>
              <a:t>Data Skew</a:t>
            </a:r>
          </a:p>
        </p:txBody>
      </p:sp>
      <p:pic>
        <p:nvPicPr>
          <p:cNvPr id="6" name="Picture 5"/>
          <p:cNvPicPr>
            <a:picLocks noChangeAspect="1"/>
          </p:cNvPicPr>
          <p:nvPr/>
        </p:nvPicPr>
        <p:blipFill>
          <a:blip r:embed="rId2"/>
          <a:stretch>
            <a:fillRect/>
          </a:stretch>
        </p:blipFill>
        <p:spPr>
          <a:xfrm>
            <a:off x="8153400" y="1756356"/>
            <a:ext cx="3724275" cy="4067175"/>
          </a:xfrm>
          <a:prstGeom prst="rect">
            <a:avLst/>
          </a:prstGeom>
        </p:spPr>
      </p:pic>
    </p:spTree>
    <p:extLst>
      <p:ext uri="{BB962C8B-B14F-4D97-AF65-F5344CB8AC3E}">
        <p14:creationId xmlns:p14="http://schemas.microsoft.com/office/powerpoint/2010/main" val="3575307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Fairness: Evaluating for Bias</a:t>
            </a:r>
          </a:p>
        </p:txBody>
      </p:sp>
      <p:sp>
        <p:nvSpPr>
          <p:cNvPr id="3" name="Text Placeholder 2"/>
          <p:cNvSpPr>
            <a:spLocks noGrp="1"/>
          </p:cNvSpPr>
          <p:nvPr>
            <p:ph type="body" sz="quarter" idx="13"/>
          </p:nvPr>
        </p:nvSpPr>
        <p:spPr>
          <a:xfrm>
            <a:off x="857739" y="1600201"/>
            <a:ext cx="10160000" cy="4571999"/>
          </a:xfrm>
        </p:spPr>
        <p:txBody>
          <a:bodyPr/>
          <a:lstStyle/>
          <a:p>
            <a:endParaRPr lang="en-US" dirty="0"/>
          </a:p>
        </p:txBody>
      </p:sp>
      <p:sp>
        <p:nvSpPr>
          <p:cNvPr id="4" name="Text Placeholder 3"/>
          <p:cNvSpPr>
            <a:spLocks noGrp="1"/>
          </p:cNvSpPr>
          <p:nvPr>
            <p:ph type="body" sz="quarter" idx="14"/>
          </p:nvPr>
        </p:nvSpPr>
        <p:spPr/>
        <p:txBody>
          <a:bodyPr/>
          <a:lstStyle/>
          <a:p>
            <a:r>
              <a:rPr lang="en-US" dirty="0"/>
              <a:t>Example</a:t>
            </a:r>
          </a:p>
        </p:txBody>
      </p:sp>
      <p:pic>
        <p:nvPicPr>
          <p:cNvPr id="6" name="Picture 5"/>
          <p:cNvPicPr>
            <a:picLocks noChangeAspect="1"/>
          </p:cNvPicPr>
          <p:nvPr/>
        </p:nvPicPr>
        <p:blipFill>
          <a:blip r:embed="rId2"/>
          <a:stretch>
            <a:fillRect/>
          </a:stretch>
        </p:blipFill>
        <p:spPr>
          <a:xfrm>
            <a:off x="1828800" y="1600201"/>
            <a:ext cx="7791450" cy="4048125"/>
          </a:xfrm>
          <a:prstGeom prst="rect">
            <a:avLst/>
          </a:prstGeom>
        </p:spPr>
      </p:pic>
    </p:spTree>
    <p:extLst>
      <p:ext uri="{BB962C8B-B14F-4D97-AF65-F5344CB8AC3E}">
        <p14:creationId xmlns:p14="http://schemas.microsoft.com/office/powerpoint/2010/main" val="25690303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Fairness: Evaluating for Bias(2)</a:t>
            </a:r>
          </a:p>
        </p:txBody>
      </p:sp>
      <p:sp>
        <p:nvSpPr>
          <p:cNvPr id="3" name="Text Placeholder 2"/>
          <p:cNvSpPr>
            <a:spLocks noGrp="1"/>
          </p:cNvSpPr>
          <p:nvPr>
            <p:ph type="body" sz="quarter" idx="13"/>
          </p:nvPr>
        </p:nvSpPr>
        <p:spPr>
          <a:xfrm>
            <a:off x="857739" y="1600201"/>
            <a:ext cx="10160000" cy="4876799"/>
          </a:xfrm>
        </p:spPr>
        <p:txBody>
          <a:bodyPr/>
          <a:lstStyle/>
          <a:p>
            <a:endParaRPr lang="en-US" dirty="0"/>
          </a:p>
        </p:txBody>
      </p:sp>
      <p:sp>
        <p:nvSpPr>
          <p:cNvPr id="4" name="Text Placeholder 3"/>
          <p:cNvSpPr>
            <a:spLocks noGrp="1"/>
          </p:cNvSpPr>
          <p:nvPr>
            <p:ph type="body" sz="quarter" idx="14"/>
          </p:nvPr>
        </p:nvSpPr>
        <p:spPr/>
        <p:txBody>
          <a:bodyPr/>
          <a:lstStyle/>
          <a:p>
            <a:r>
              <a:rPr lang="en-US" dirty="0"/>
              <a:t>Example Continued</a:t>
            </a:r>
          </a:p>
        </p:txBody>
      </p:sp>
      <p:pic>
        <p:nvPicPr>
          <p:cNvPr id="5" name="Picture 4"/>
          <p:cNvPicPr>
            <a:picLocks noChangeAspect="1"/>
          </p:cNvPicPr>
          <p:nvPr/>
        </p:nvPicPr>
        <p:blipFill>
          <a:blip r:embed="rId2"/>
          <a:stretch>
            <a:fillRect/>
          </a:stretch>
        </p:blipFill>
        <p:spPr>
          <a:xfrm>
            <a:off x="1560512" y="1616123"/>
            <a:ext cx="7877175" cy="4533900"/>
          </a:xfrm>
          <a:prstGeom prst="rect">
            <a:avLst/>
          </a:prstGeom>
        </p:spPr>
      </p:pic>
    </p:spTree>
    <p:extLst>
      <p:ext uri="{BB962C8B-B14F-4D97-AF65-F5344CB8AC3E}">
        <p14:creationId xmlns:p14="http://schemas.microsoft.com/office/powerpoint/2010/main" val="19938687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Fairness: Evaluating for Bias(3)</a:t>
            </a:r>
          </a:p>
        </p:txBody>
      </p:sp>
      <p:sp>
        <p:nvSpPr>
          <p:cNvPr id="3" name="Text Placeholder 2"/>
          <p:cNvSpPr>
            <a:spLocks noGrp="1"/>
          </p:cNvSpPr>
          <p:nvPr>
            <p:ph type="body" sz="quarter" idx="13"/>
          </p:nvPr>
        </p:nvSpPr>
        <p:spPr>
          <a:xfrm>
            <a:off x="857739" y="1600201"/>
            <a:ext cx="10160000" cy="4648199"/>
          </a:xfrm>
        </p:spPr>
        <p:txBody>
          <a:bodyPr/>
          <a:lstStyle/>
          <a:p>
            <a:endParaRPr lang="en-US" dirty="0"/>
          </a:p>
        </p:txBody>
      </p:sp>
      <p:sp>
        <p:nvSpPr>
          <p:cNvPr id="4" name="Text Placeholder 3"/>
          <p:cNvSpPr>
            <a:spLocks noGrp="1"/>
          </p:cNvSpPr>
          <p:nvPr>
            <p:ph type="body" sz="quarter" idx="14"/>
          </p:nvPr>
        </p:nvSpPr>
        <p:spPr/>
        <p:txBody>
          <a:bodyPr/>
          <a:lstStyle/>
          <a:p>
            <a:r>
              <a:rPr lang="en-US" dirty="0"/>
              <a:t>Example Continued</a:t>
            </a:r>
          </a:p>
          <a:p>
            <a:endParaRPr lang="en-US" dirty="0"/>
          </a:p>
        </p:txBody>
      </p:sp>
      <p:pic>
        <p:nvPicPr>
          <p:cNvPr id="5" name="Picture 4"/>
          <p:cNvPicPr>
            <a:picLocks noChangeAspect="1"/>
          </p:cNvPicPr>
          <p:nvPr/>
        </p:nvPicPr>
        <p:blipFill>
          <a:blip r:embed="rId2"/>
          <a:stretch>
            <a:fillRect/>
          </a:stretch>
        </p:blipFill>
        <p:spPr>
          <a:xfrm>
            <a:off x="2136775" y="1905000"/>
            <a:ext cx="7581900" cy="4038600"/>
          </a:xfrm>
          <a:prstGeom prst="rect">
            <a:avLst/>
          </a:prstGeom>
        </p:spPr>
      </p:pic>
    </p:spTree>
    <p:extLst>
      <p:ext uri="{BB962C8B-B14F-4D97-AF65-F5344CB8AC3E}">
        <p14:creationId xmlns:p14="http://schemas.microsoft.com/office/powerpoint/2010/main" val="32466961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3657600"/>
            <a:ext cx="10515600" cy="904875"/>
          </a:xfrm>
        </p:spPr>
        <p:txBody>
          <a:bodyPr/>
          <a:lstStyle/>
          <a:p>
            <a:r>
              <a:rPr lang="en-US" dirty="0"/>
              <a:t>Thank You!</a:t>
            </a:r>
          </a:p>
        </p:txBody>
      </p:sp>
      <p:sp>
        <p:nvSpPr>
          <p:cNvPr id="3" name="Text Placeholder 2"/>
          <p:cNvSpPr>
            <a:spLocks noGrp="1"/>
          </p:cNvSpPr>
          <p:nvPr>
            <p:ph type="body" idx="1"/>
          </p:nvPr>
        </p:nvSpPr>
        <p:spPr>
          <a:xfrm>
            <a:off x="831850" y="5205413"/>
            <a:ext cx="10515600" cy="1500187"/>
          </a:xfrm>
        </p:spPr>
        <p:txBody>
          <a:bodyPr/>
          <a:lstStyle/>
          <a:p>
            <a:r>
              <a:rPr lang="en-US" dirty="0"/>
              <a:t>In our next session:</a:t>
            </a:r>
          </a:p>
        </p:txBody>
      </p:sp>
    </p:spTree>
    <p:extLst>
      <p:ext uri="{BB962C8B-B14F-4D97-AF65-F5344CB8AC3E}">
        <p14:creationId xmlns:p14="http://schemas.microsoft.com/office/powerpoint/2010/main" val="419579829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3209</TotalTime>
  <Words>1286</Words>
  <Application>Microsoft Office PowerPoint</Application>
  <PresentationFormat>Widescreen</PresentationFormat>
  <Paragraphs>134</Paragraphs>
  <Slides>14</Slides>
  <Notes>0</Notes>
  <HiddenSlides>3</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Calibri Light</vt:lpstr>
      <vt:lpstr>Courier New</vt:lpstr>
      <vt:lpstr>Helvetica</vt:lpstr>
      <vt:lpstr>Helvetica Light</vt:lpstr>
      <vt:lpstr>Office Theme</vt:lpstr>
      <vt:lpstr>Bias and Fairness</vt:lpstr>
      <vt:lpstr>Fairness</vt:lpstr>
      <vt:lpstr>Types of Bias</vt:lpstr>
      <vt:lpstr>Types of Bias</vt:lpstr>
      <vt:lpstr>Types of Bias</vt:lpstr>
      <vt:lpstr>Types of Bias</vt:lpstr>
      <vt:lpstr>Types of Bias</vt:lpstr>
      <vt:lpstr> Fairness: Identifying Bias </vt:lpstr>
      <vt:lpstr> Fairness: Identifying Bias </vt:lpstr>
      <vt:lpstr> Fairness: Identifying Bias </vt:lpstr>
      <vt:lpstr>Fairness: Evaluating for Bias</vt:lpstr>
      <vt:lpstr>Fairness: Evaluating for Bias(2)</vt:lpstr>
      <vt:lpstr>Fairness: Evaluating for Bias(3)</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BITS</cp:lastModifiedBy>
  <cp:revision>237</cp:revision>
  <dcterms:created xsi:type="dcterms:W3CDTF">2018-10-16T06:13:57Z</dcterms:created>
  <dcterms:modified xsi:type="dcterms:W3CDTF">2024-01-13T01:57:01Z</dcterms:modified>
</cp:coreProperties>
</file>