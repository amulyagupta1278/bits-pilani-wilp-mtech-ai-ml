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8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4" d="100"/>
          <a:sy n="64" d="100"/>
        </p:scale>
        <p:origin x="738" y="60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6/24/2023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SME’s name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 smtClean="0"/>
              <a:t>Click to edit </a:t>
            </a:r>
          </a:p>
          <a:p>
            <a:pPr lvl="0"/>
            <a:r>
              <a:rPr lang="en-US" dirty="0" smtClean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 smtClean="0"/>
              <a:t>Click to edit Session title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Storage Infrastructure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 smtClean="0">
                <a:solidFill>
                  <a:srgbClr val="211D71"/>
                </a:solidFill>
              </a:rPr>
              <a:t>Pravin Y Pawar</a:t>
            </a:r>
            <a:endParaRPr lang="en-US" sz="1800" dirty="0">
              <a:solidFill>
                <a:srgbClr val="211D7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8000" y="5029200"/>
            <a:ext cx="5044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Adapted from </a:t>
            </a:r>
          </a:p>
          <a:p>
            <a:r>
              <a:rPr lang="en-US" dirty="0" smtClean="0"/>
              <a:t>Fundamentals of Data Engineering </a:t>
            </a:r>
          </a:p>
          <a:p>
            <a:r>
              <a:rPr lang="en-US" dirty="0" smtClean="0"/>
              <a:t>By Joe Reis and Matt Housley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Storage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IN" dirty="0" smtClean="0"/>
              <a:t>Cornerstone in the data engineering life cycle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 smtClean="0"/>
              <a:t>Underlies major stages – ingestion, transformation and serving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 smtClean="0"/>
              <a:t>Get stored many times when it moved though lifecycle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819400"/>
            <a:ext cx="6076190" cy="3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Storage Layering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429" y="1340644"/>
            <a:ext cx="3883342" cy="530149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8667261" cy="30479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Ingredients of Data Storage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725" y="1733871"/>
            <a:ext cx="4923809" cy="4266667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4781061" cy="4648199"/>
          </a:xfrm>
        </p:spPr>
        <p:txBody>
          <a:bodyPr/>
          <a:lstStyle/>
          <a:p>
            <a:r>
              <a:rPr lang="en-US" dirty="0" smtClean="0"/>
              <a:t>Hardware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Magnetic </a:t>
            </a:r>
            <a:r>
              <a:rPr lang="en-US" dirty="0"/>
              <a:t>Disk Drive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Solid-State Drive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Random Access </a:t>
            </a:r>
            <a:r>
              <a:rPr lang="en-US" dirty="0" smtClean="0"/>
              <a:t>Memory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Networking and CPU</a:t>
            </a:r>
          </a:p>
          <a:p>
            <a:endParaRPr lang="en-US" dirty="0"/>
          </a:p>
          <a:p>
            <a:r>
              <a:rPr lang="en-US" dirty="0" smtClean="0"/>
              <a:t>Associated features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Serialization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Compression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Caching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600201"/>
            <a:ext cx="10591799" cy="4648199"/>
          </a:xfrm>
        </p:spPr>
        <p:txBody>
          <a:bodyPr>
            <a:normAutofit/>
          </a:bodyPr>
          <a:lstStyle/>
          <a:p>
            <a:r>
              <a:rPr lang="en-US" dirty="0"/>
              <a:t>As data storage and access patterns become more complex and outgrow the usefulness of a single server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distributing data to more than one server becomes necessary</a:t>
            </a:r>
          </a:p>
          <a:p>
            <a:r>
              <a:rPr lang="en-US" dirty="0">
                <a:solidFill>
                  <a:srgbClr val="FF0000"/>
                </a:solidFill>
              </a:rPr>
              <a:t>Data can be stored on multiple servers, known as distributed storage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with purpose is to store data in a distributed fashion</a:t>
            </a:r>
          </a:p>
          <a:p>
            <a:endParaRPr lang="en-US" dirty="0"/>
          </a:p>
          <a:p>
            <a:r>
              <a:rPr lang="en-US" dirty="0"/>
              <a:t>Distributed storage coordinates the activities of multiple servers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 store, retrieve, and process data faster and at a larger scale, all while providing redundancy in case a server becomes unavailable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provides built-in redundancy and scalability for large amounts of data</a:t>
            </a:r>
          </a:p>
          <a:p>
            <a:endParaRPr lang="en-US" dirty="0"/>
          </a:p>
          <a:p>
            <a:r>
              <a:rPr lang="en-US" dirty="0"/>
              <a:t>Examples, </a:t>
            </a:r>
            <a:r>
              <a:rPr lang="en-US" dirty="0">
                <a:solidFill>
                  <a:srgbClr val="FF0000"/>
                </a:solidFill>
              </a:rPr>
              <a:t>object storage, Apache Spark, and cloud data warehouses </a:t>
            </a:r>
            <a:r>
              <a:rPr lang="en-US" dirty="0"/>
              <a:t>rely on distributed storage architectures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Single Machine Versus Distributed Storage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5562600"/>
            <a:ext cx="5714286" cy="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</a:t>
            </a:r>
            <a:r>
              <a:rPr lang="en-IN" dirty="0" smtClean="0"/>
              <a:t>Systems(2)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A file is a data entity with specific read, write, and reference characteristics used by software and operating </a:t>
            </a:r>
            <a:r>
              <a:rPr lang="en-US" dirty="0" smtClean="0">
                <a:solidFill>
                  <a:srgbClr val="FF0000"/>
                </a:solidFill>
              </a:rPr>
              <a:t>systems</a:t>
            </a:r>
          </a:p>
          <a:p>
            <a:endParaRPr lang="en-US" dirty="0"/>
          </a:p>
          <a:p>
            <a:r>
              <a:rPr lang="en-US" dirty="0"/>
              <a:t>A file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has finite length - stream of bytes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supports append operations - append bytes to the files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supports random access - read from any location in the file or write updates to any location</a:t>
            </a:r>
          </a:p>
          <a:p>
            <a:endParaRPr lang="en-US" dirty="0"/>
          </a:p>
          <a:p>
            <a:r>
              <a:rPr lang="en-US" dirty="0"/>
              <a:t>File storage systems organize files into a directory tree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/Users/Pravin/file.txt</a:t>
            </a:r>
          </a:p>
          <a:p>
            <a:endParaRPr lang="en-US" dirty="0"/>
          </a:p>
          <a:p>
            <a:r>
              <a:rPr lang="en-US" dirty="0"/>
              <a:t>The filesystem stores each directory as metadata about the files and directories that it contains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consists of the name of each entity, relevant permission details, and a pointer to the actual entity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 find a file on disk, the operating system looks at the metadata at each hierarchy level and follows the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pointer </a:t>
            </a:r>
            <a:r>
              <a:rPr lang="en-US" dirty="0"/>
              <a:t>to the next subdirectory entity until finally reaching the file itself.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File Storage</a:t>
            </a:r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</a:t>
            </a:r>
            <a:r>
              <a:rPr lang="en-IN" dirty="0" smtClean="0"/>
              <a:t>Systems(3)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6" y="1600201"/>
            <a:ext cx="11024553" cy="49529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Local disk storage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most familiar type of file storage is an operating system–managed filesystem on a local disk partition of SSD or magnetic </a:t>
            </a:r>
            <a:r>
              <a:rPr lang="en-US" dirty="0" smtClean="0"/>
              <a:t>disc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New Technology File System (NTFS) and ext4 are popular filesystems on Windows and Linux respectively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OS handles the details of storing directory entities, files, and metadata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designed to write data to allow for easy recovery in the event of power loss during a write, though any unwritten data will still be lost.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support full read after write consistency; reading immediately after a write will return the written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employs various locking strategies to manage concurrent writing attempts to a file</a:t>
            </a:r>
          </a:p>
          <a:p>
            <a:endParaRPr lang="en-US" dirty="0"/>
          </a:p>
          <a:p>
            <a:r>
              <a:rPr lang="en-US" dirty="0"/>
              <a:t>Network-attached storage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provide a file storage system to clients over a network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prevalent solution for servers; they quite often ship with built-in dedicated NAS interface hardware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has performance penalties to accessing the filesystem over a network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significant advantages </a:t>
            </a:r>
            <a:r>
              <a:rPr lang="en-US" dirty="0" smtClean="0"/>
              <a:t>includes </a:t>
            </a:r>
            <a:r>
              <a:rPr lang="en-US" dirty="0"/>
              <a:t>redundancy and reliability, fine-grained control of resources and file sharing across multiple machines</a:t>
            </a:r>
          </a:p>
          <a:p>
            <a:endParaRPr lang="en-US" dirty="0"/>
          </a:p>
          <a:p>
            <a:r>
              <a:rPr lang="en-US" dirty="0"/>
              <a:t>Cloud filesystem services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provide a fully managed filesystem for use with multiple cloud VMs and applications, potentially including clients outside the </a:t>
            </a:r>
            <a:r>
              <a:rPr lang="en-US" dirty="0" smtClean="0"/>
              <a:t>cloud environment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should not be confused with standard storage attached to VMs—generally, block storage with a filesystem managed by the VM operating </a:t>
            </a:r>
            <a:r>
              <a:rPr lang="en-US" dirty="0" smtClean="0"/>
              <a:t>system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behave much like NAS solutions, but the details of networking, managing disk clusters, failures, and configuration are fully handled by the cloud vendor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Amazon Elastic File System (EFS) is an extremely popular example of a cloud filesystem service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File </a:t>
            </a:r>
            <a:r>
              <a:rPr lang="en-IN" dirty="0" smtClean="0"/>
              <a:t>Storage - Types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</a:t>
            </a:r>
            <a:r>
              <a:rPr lang="en-IN" dirty="0" smtClean="0"/>
              <a:t>Systems(4)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668000" cy="464819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Fundamentally type of </a:t>
            </a:r>
            <a:r>
              <a:rPr lang="en-US" dirty="0">
                <a:solidFill>
                  <a:srgbClr val="FF0000"/>
                </a:solidFill>
              </a:rPr>
              <a:t>raw storage provided by SSDs and magnetic </a:t>
            </a:r>
            <a:r>
              <a:rPr lang="en-US" dirty="0" smtClean="0">
                <a:solidFill>
                  <a:srgbClr val="FF0000"/>
                </a:solidFill>
              </a:rPr>
              <a:t>disks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In the cloud, virtualized block storage is the </a:t>
            </a:r>
            <a:r>
              <a:rPr lang="en-US" dirty="0">
                <a:solidFill>
                  <a:srgbClr val="FF0000"/>
                </a:solidFill>
              </a:rPr>
              <a:t>standard for VMs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 fine control of storage size, scalability, and data durability beyond that offered by raw disks.</a:t>
            </a:r>
          </a:p>
          <a:p>
            <a:endParaRPr lang="en-US" dirty="0"/>
          </a:p>
          <a:p>
            <a:r>
              <a:rPr lang="en-US" dirty="0"/>
              <a:t>A block is the smallest addressable unit of data supported by a disk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was often </a:t>
            </a:r>
            <a:r>
              <a:rPr lang="en-US" dirty="0">
                <a:solidFill>
                  <a:srgbClr val="FF0000"/>
                </a:solidFill>
              </a:rPr>
              <a:t>512 bytes</a:t>
            </a:r>
            <a:r>
              <a:rPr lang="en-US" dirty="0"/>
              <a:t> of usable data on older disks, but it has now grown to </a:t>
            </a:r>
            <a:r>
              <a:rPr lang="en-US" dirty="0">
                <a:solidFill>
                  <a:srgbClr val="FF0000"/>
                </a:solidFill>
              </a:rPr>
              <a:t>4,096 bytes </a:t>
            </a:r>
            <a:r>
              <a:rPr lang="en-US" dirty="0"/>
              <a:t>for most current </a:t>
            </a:r>
            <a:r>
              <a:rPr lang="en-US" dirty="0" smtClean="0"/>
              <a:t>disks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also </a:t>
            </a:r>
            <a:r>
              <a:rPr lang="en-US" dirty="0"/>
              <a:t>contain </a:t>
            </a:r>
            <a:r>
              <a:rPr lang="en-US" dirty="0">
                <a:solidFill>
                  <a:srgbClr val="FF0000"/>
                </a:solidFill>
              </a:rPr>
              <a:t>extra bits for error detection/correction and other metadata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Blocks on magnetic disks are geometrically arranged on a physical platter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Two blocks on the same track can be read without moving the head, while reading two blocks on separate tracks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requires </a:t>
            </a:r>
            <a:r>
              <a:rPr lang="en-US" dirty="0"/>
              <a:t>a seek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Seek time can occur between blocks on an SSD, but this is infinitesimal compared to the seek time for magnetic disk </a:t>
            </a:r>
            <a:r>
              <a:rPr lang="en-US" dirty="0" smtClean="0"/>
              <a:t>tracks</a:t>
            </a:r>
            <a:endParaRPr lang="en-US" dirty="0"/>
          </a:p>
          <a:p>
            <a:endParaRPr lang="en-US" dirty="0"/>
          </a:p>
          <a:p>
            <a:r>
              <a:rPr lang="en-US" dirty="0"/>
              <a:t>Block storage applications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Transactional database systems generally access disks at a block level to lay out data for optimal performance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Operating system boot disks on cloud VMs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Block Storage</a:t>
            </a:r>
          </a:p>
        </p:txBody>
      </p:sp>
    </p:spTree>
    <p:extLst>
      <p:ext uri="{BB962C8B-B14F-4D97-AF65-F5344CB8AC3E}">
        <p14:creationId xmlns:p14="http://schemas.microsoft.com/office/powerpoint/2010/main" val="14659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</a:t>
            </a:r>
            <a:r>
              <a:rPr lang="en-IN" dirty="0" smtClean="0"/>
              <a:t>Systems(5)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RAID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redundant array of independent </a:t>
            </a:r>
            <a:r>
              <a:rPr lang="en-US" dirty="0" smtClean="0"/>
              <a:t>disks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simultaneously controls multiple disks </a:t>
            </a:r>
            <a:r>
              <a:rPr lang="en-US" dirty="0" smtClean="0"/>
              <a:t>to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smtClean="0"/>
              <a:t>improve </a:t>
            </a:r>
            <a:r>
              <a:rPr lang="en-US" dirty="0"/>
              <a:t>data </a:t>
            </a:r>
            <a:r>
              <a:rPr lang="en-US" dirty="0" smtClean="0"/>
              <a:t>durability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smtClean="0"/>
              <a:t>enhance performance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smtClean="0"/>
              <a:t>combine </a:t>
            </a:r>
            <a:r>
              <a:rPr lang="en-US" dirty="0"/>
              <a:t>capacity from multiple drives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 array can appear to the operating system as a single block device</a:t>
            </a:r>
          </a:p>
          <a:p>
            <a:endParaRPr lang="en-US" dirty="0"/>
          </a:p>
          <a:p>
            <a:r>
              <a:rPr lang="en-US" dirty="0"/>
              <a:t>Storage area </a:t>
            </a:r>
            <a:r>
              <a:rPr lang="en-US" dirty="0" smtClean="0"/>
              <a:t>network (SAN)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provide virtualized block storage devices over a network, typically from a storage pool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 fine-grained storage scaling and enhance performance, availability, and durability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common with on-premises storage systems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Block </a:t>
            </a:r>
            <a:r>
              <a:rPr lang="en-IN" dirty="0" smtClean="0"/>
              <a:t>Storage - Types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9140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</a:t>
            </a:r>
            <a:r>
              <a:rPr lang="en-IN" dirty="0" smtClean="0"/>
              <a:t>Systems(6)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4648199"/>
          </a:xfrm>
        </p:spPr>
        <p:txBody>
          <a:bodyPr>
            <a:normAutofit/>
          </a:bodyPr>
          <a:lstStyle/>
          <a:p>
            <a:r>
              <a:rPr lang="en-US" dirty="0"/>
              <a:t>Cloud virtualized block storage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similar to SAN but free engineers from dealing with SAN clusters and networking details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Example, </a:t>
            </a:r>
            <a:r>
              <a:rPr lang="en-US" dirty="0">
                <a:solidFill>
                  <a:srgbClr val="FF0000"/>
                </a:solidFill>
              </a:rPr>
              <a:t>Amazon Elastic Block Store (EBS) </a:t>
            </a:r>
            <a:r>
              <a:rPr lang="en-US" dirty="0"/>
              <a:t>- default storage for Amazon EC2 virtual machines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store data separate from the instance host server but in the same zone to support high performance and low </a:t>
            </a:r>
            <a:r>
              <a:rPr lang="en-US" dirty="0" smtClean="0"/>
              <a:t>latency </a:t>
            </a: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allows EBS volumes to persist when an EC2 instance shuts down, when a host server fails, or even when </a:t>
            </a:r>
            <a:r>
              <a:rPr lang="en-US" dirty="0" smtClean="0"/>
              <a:t>the </a:t>
            </a:r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instance </a:t>
            </a:r>
            <a:r>
              <a:rPr lang="en-US" dirty="0"/>
              <a:t>is deleted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suitable for applications such as databases, where data durability is a high priority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replicates all data to at least two separate host machines, protecting data if a disk fails</a:t>
            </a:r>
          </a:p>
          <a:p>
            <a:endParaRPr lang="en-US" dirty="0"/>
          </a:p>
          <a:p>
            <a:r>
              <a:rPr lang="en-US" dirty="0"/>
              <a:t>Local instance volumes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Cloud providers also offer block storage volumes that are physically attached to the host server running a virtual machine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generally very low cost (included with the price of the VM in the case of </a:t>
            </a:r>
            <a:r>
              <a:rPr lang="en-US" dirty="0">
                <a:solidFill>
                  <a:srgbClr val="FF0000"/>
                </a:solidFill>
              </a:rPr>
              <a:t>Amazon’s EC2 instance store</a:t>
            </a:r>
            <a:r>
              <a:rPr lang="en-US" dirty="0"/>
              <a:t>) and provide low latency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when a VM shuts down or is deleted, the contents of the locally attached disk are lost, whether or not this event was caused by intentional user action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ensures that a new virtual machine cannot read disk contents belonging to a different customer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Block Storage - Types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83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</a:t>
            </a:r>
            <a:r>
              <a:rPr lang="en-IN" dirty="0" smtClean="0"/>
              <a:t>Systems(7)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Object Storage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contains objects of all shapes and sizes - a specialized file-like construct —TXT, CSV, JSON, images, videos, or audio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have grown in importance and popularity with the rise of big data and the cloud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Amazon S3, Azure Blob Storage, and Google Cloud Storage (GCS) are widely used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many cloud data warehouses (and a growing number of databases) utilize object storage as their storage layer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cloud data lakes generally sit on object stores</a:t>
            </a:r>
          </a:p>
          <a:p>
            <a:endParaRPr lang="en-US" dirty="0"/>
          </a:p>
          <a:p>
            <a:r>
              <a:rPr lang="en-US" dirty="0"/>
              <a:t>Object storage was arguably one of the first “</a:t>
            </a:r>
            <a:r>
              <a:rPr lang="en-US" dirty="0" err="1"/>
              <a:t>serverless</a:t>
            </a:r>
            <a:r>
              <a:rPr lang="en-US" dirty="0"/>
              <a:t>” services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engineers don’t need to consider the characteristics of underlying server clusters or disks</a:t>
            </a:r>
          </a:p>
          <a:p>
            <a:endParaRPr lang="en-US" dirty="0"/>
          </a:p>
          <a:p>
            <a:r>
              <a:rPr lang="en-US" dirty="0"/>
              <a:t>An object store is a key-value store for immutable data objects.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don’t support random writes or append operations; instead, they are written once as a stream of bytes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After this initial write, objects become immutable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 change data in an object or append data to it, must rewrite the full </a:t>
            </a:r>
            <a:r>
              <a:rPr lang="en-US" dirty="0" smtClean="0"/>
              <a:t>object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Object Storage</a:t>
            </a:r>
          </a:p>
        </p:txBody>
      </p:sp>
    </p:spTree>
    <p:extLst>
      <p:ext uri="{BB962C8B-B14F-4D97-AF65-F5344CB8AC3E}">
        <p14:creationId xmlns:p14="http://schemas.microsoft.com/office/powerpoint/2010/main" val="13429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</a:t>
            </a:r>
            <a:r>
              <a:rPr lang="en-IN" dirty="0" smtClean="0"/>
              <a:t>Systems(8)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RAM offers excellent latency and transfer speeds but extremely vulnerable to data loss </a:t>
            </a:r>
          </a:p>
          <a:p>
            <a:endParaRPr lang="en-US" dirty="0"/>
          </a:p>
          <a:p>
            <a:r>
              <a:rPr lang="en-US" dirty="0"/>
              <a:t>RAM-based storage systems are generally focused on caching applications, presenting data for quick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access </a:t>
            </a:r>
            <a:r>
              <a:rPr lang="en-US" dirty="0"/>
              <a:t>and high bandwidth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should generally be written to a more durable medium for retention purposes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These ultra-fast cache systems are useful when data engineers need to serve data with ultra-fast retrieval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latency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Memcached</a:t>
            </a:r>
            <a:r>
              <a:rPr lang="en-US" dirty="0"/>
              <a:t> and lightweight object caching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key-value store designed for caching database query results, API call responses, and more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uses simple data structures, supporting either string or integer types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deliver results with very low latency while also taking the load off backend systems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Redis, memory caching with optional persistence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key-value store, but it supports somewhat more complex data types (such as lists or sets)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with a typical configuration, Redis writes data roughly every two seconds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Redis is thus suitable for extremely high-performance applications but can tolerate a small amount of data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loss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Cache and Memory-Based Storage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82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</a:t>
            </a:r>
            <a:r>
              <a:rPr lang="en-IN" dirty="0" smtClean="0"/>
              <a:t>Systems(9)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972800" cy="4648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HDFS 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based on Google File System (GFS) and was initially engineered to process data with the MapReduce programming </a:t>
            </a:r>
            <a:r>
              <a:rPr lang="en-US" dirty="0" smtClean="0"/>
              <a:t>model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similar to object storage but with a key difference: Hadoop combines compute and storage on the same nodes, </a:t>
            </a:r>
            <a:r>
              <a:rPr lang="en-US" dirty="0" smtClean="0"/>
              <a:t>where object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stores </a:t>
            </a:r>
            <a:r>
              <a:rPr lang="en-US" dirty="0"/>
              <a:t>typically have limited support for internal processing</a:t>
            </a:r>
          </a:p>
          <a:p>
            <a:endParaRPr lang="en-US" dirty="0"/>
          </a:p>
          <a:p>
            <a:r>
              <a:rPr lang="en-US" dirty="0"/>
              <a:t>Management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breaks large files into blocks, chunks of data less than a few hundred megabytes in size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managed by the </a:t>
            </a:r>
            <a:r>
              <a:rPr lang="en-US" dirty="0" err="1"/>
              <a:t>NameNode</a:t>
            </a:r>
            <a:r>
              <a:rPr lang="en-US" dirty="0"/>
              <a:t>, which maintains directories, file metadata, and a detailed catalog describing the location of file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blocks </a:t>
            </a:r>
            <a:r>
              <a:rPr lang="en-US" dirty="0"/>
              <a:t>in the cluster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each block of data is replicated to three nodes - increases both the durability and availability of data</a:t>
            </a:r>
          </a:p>
          <a:p>
            <a:endParaRPr lang="en-US" dirty="0"/>
          </a:p>
          <a:p>
            <a:r>
              <a:rPr lang="en-US" dirty="0"/>
              <a:t>Claims that Hadoop is dead! This is only partially true!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 longer a hot, bleeding-edge technology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Many Hadoop ecosystem tools such as Apache Pig are now on life support and primarily used to run legacy jobs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pure MapReduce programming model has fallen by the wayside</a:t>
            </a:r>
          </a:p>
          <a:p>
            <a:endParaRPr lang="en-US" dirty="0"/>
          </a:p>
          <a:p>
            <a:r>
              <a:rPr lang="en-US" dirty="0"/>
              <a:t>but HDFS remains widely used in various applications and organizations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HDFS is a key ingredient of many current big data engines, such as Amazon EMR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 fact, Apache Spark is still commonly run on HDFS clusters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Hadoop Distributed File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54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</a:t>
            </a:r>
            <a:r>
              <a:rPr lang="en-IN" dirty="0" smtClean="0"/>
              <a:t>Systems(10)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4648199"/>
          </a:xfrm>
        </p:spPr>
        <p:txBody>
          <a:bodyPr>
            <a:normAutofit/>
          </a:bodyPr>
          <a:lstStyle/>
          <a:p>
            <a:r>
              <a:rPr lang="en-US" dirty="0"/>
              <a:t>Streaming data has different storage requirements than nonstreaming data - </a:t>
            </a:r>
            <a:r>
              <a:rPr lang="en-US" dirty="0">
                <a:solidFill>
                  <a:srgbClr val="FF0000"/>
                </a:solidFill>
              </a:rPr>
              <a:t>retention, replay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Retention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 the case of message queues, stored data is temporal and expected to disappear after a certain </a:t>
            </a:r>
            <a:r>
              <a:rPr lang="en-US" dirty="0" smtClean="0"/>
              <a:t>duration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Distributed, scalable streaming frameworks like Apache Kafka now allow extremely long-duration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streaming </a:t>
            </a:r>
            <a:r>
              <a:rPr lang="en-US" dirty="0"/>
              <a:t>data retention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Kafka competitors (including Amazon Kinesis, Apache Pulsar, and Google Cloud Pub/Sub) also support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long </a:t>
            </a:r>
            <a:r>
              <a:rPr lang="en-US" dirty="0"/>
              <a:t>data retention</a:t>
            </a:r>
          </a:p>
          <a:p>
            <a:endParaRPr lang="en-US" dirty="0"/>
          </a:p>
          <a:p>
            <a:r>
              <a:rPr lang="en-US" dirty="0"/>
              <a:t>Replay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allows a streaming system to return a range of historical stored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standard data-retrieval mechanism for streaming storage systems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be used to run batch queries over a time range or to reprocess data in a streaming pipeline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Streaming Storage</a:t>
            </a:r>
          </a:p>
        </p:txBody>
      </p:sp>
    </p:spTree>
    <p:extLst>
      <p:ext uri="{BB962C8B-B14F-4D97-AF65-F5344CB8AC3E}">
        <p14:creationId xmlns:p14="http://schemas.microsoft.com/office/powerpoint/2010/main" val="118492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 </a:t>
            </a:r>
            <a:r>
              <a:rPr lang="en-IN" dirty="0" smtClean="0"/>
              <a:t>Abstractions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Data engineering storage abstractions are </a:t>
            </a:r>
            <a:r>
              <a:rPr lang="en-US" dirty="0">
                <a:solidFill>
                  <a:srgbClr val="FF0000"/>
                </a:solidFill>
              </a:rPr>
              <a:t>data organization and query patterns </a:t>
            </a:r>
            <a:r>
              <a:rPr lang="en-US" dirty="0"/>
              <a:t>that sit at the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heart </a:t>
            </a:r>
            <a:r>
              <a:rPr lang="en-US" dirty="0"/>
              <a:t>of the data engineering lifecycle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are built atop the data storage systems</a:t>
            </a:r>
          </a:p>
          <a:p>
            <a:endParaRPr lang="en-US" dirty="0"/>
          </a:p>
          <a:p>
            <a:r>
              <a:rPr lang="en-US" dirty="0"/>
              <a:t>The main types of abstractions are those that support </a:t>
            </a:r>
            <a:r>
              <a:rPr lang="en-US" dirty="0">
                <a:solidFill>
                  <a:srgbClr val="FF0000"/>
                </a:solidFill>
              </a:rPr>
              <a:t>data science, analytics, and reporting </a:t>
            </a:r>
            <a:r>
              <a:rPr lang="en-US" dirty="0"/>
              <a:t>use cases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warehouse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lake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</a:t>
            </a:r>
            <a:r>
              <a:rPr lang="en-US" dirty="0" err="1"/>
              <a:t>lakehouse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Data </a:t>
            </a:r>
            <a:r>
              <a:rPr lang="en-US" smtClean="0"/>
              <a:t>platforms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81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 smtClean="0"/>
              <a:t>In our next session: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3245</TotalTime>
  <Words>1800</Words>
  <Application>Microsoft Office PowerPoint</Application>
  <PresentationFormat>Widescreen</PresentationFormat>
  <Paragraphs>203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Data Storage Infrastructure</vt:lpstr>
      <vt:lpstr>Storage</vt:lpstr>
      <vt:lpstr>Storage Layering</vt:lpstr>
      <vt:lpstr>Raw Ingredients of Data Storage</vt:lpstr>
      <vt:lpstr>Data Storage Systems</vt:lpstr>
      <vt:lpstr>Data Storage Systems(2)</vt:lpstr>
      <vt:lpstr>Data Storage Systems(3)</vt:lpstr>
      <vt:lpstr>Data Storage Systems(4)</vt:lpstr>
      <vt:lpstr>Data Storage Systems(5)</vt:lpstr>
      <vt:lpstr>Data Storage Systems(6)</vt:lpstr>
      <vt:lpstr>Data Storage Systems(7)</vt:lpstr>
      <vt:lpstr>Data Storage Systems(8)</vt:lpstr>
      <vt:lpstr>Data Storage Systems(9)</vt:lpstr>
      <vt:lpstr>Data Storage Systems(10)</vt:lpstr>
      <vt:lpstr>Data Storage Abstractions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pravin pawar</cp:lastModifiedBy>
  <cp:revision>263</cp:revision>
  <dcterms:created xsi:type="dcterms:W3CDTF">2018-10-16T06:13:57Z</dcterms:created>
  <dcterms:modified xsi:type="dcterms:W3CDTF">2023-06-24T00:42:15Z</dcterms:modified>
</cp:coreProperties>
</file>