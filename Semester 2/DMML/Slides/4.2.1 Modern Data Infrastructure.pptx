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3"/>
  </p:notesMasterIdLst>
  <p:sldIdLst>
    <p:sldId id="266" r:id="rId2"/>
    <p:sldId id="284" r:id="rId3"/>
    <p:sldId id="285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05" autoAdjust="0"/>
  </p:normalViewPr>
  <p:slideViewPr>
    <p:cSldViewPr>
      <p:cViewPr varScale="1">
        <p:scale>
          <a:sx n="64" d="100"/>
          <a:sy n="64" d="100"/>
        </p:scale>
        <p:origin x="738" y="60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6/24/2023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 smtClean="0"/>
              <a:t>Click to edit Course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smtClean="0"/>
              <a:t>Click to edit SME’s name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 smtClean="0"/>
              <a:t>Click to edit </a:t>
            </a:r>
          </a:p>
          <a:p>
            <a:pPr lvl="0"/>
            <a:r>
              <a:rPr lang="en-US" dirty="0" smtClean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 smtClean="0"/>
              <a:t>Click to edit Session title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 dirty="0"/>
              <a:t>Modern Data Infrastructure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 smtClean="0">
                <a:solidFill>
                  <a:srgbClr val="211D71"/>
                </a:solidFill>
              </a:rPr>
              <a:t>Pravin Y Pawar</a:t>
            </a:r>
            <a:endParaRPr lang="en-US" sz="1800" dirty="0">
              <a:solidFill>
                <a:srgbClr val="211D7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002264" y="5029200"/>
            <a:ext cx="51210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Adapted from </a:t>
            </a:r>
          </a:p>
          <a:p>
            <a:r>
              <a:rPr lang="en-US" dirty="0" smtClean="0"/>
              <a:t>Data Pipelines Pocket Reference</a:t>
            </a:r>
          </a:p>
          <a:p>
            <a:r>
              <a:rPr lang="en-US" dirty="0" smtClean="0"/>
              <a:t>By James </a:t>
            </a:r>
            <a:r>
              <a:rPr lang="en-US" dirty="0" err="1" smtClean="0"/>
              <a:t>Densmore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 of modern data infrastructure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No single right way to design analytics ecosystem or choose products and vendors</a:t>
            </a:r>
          </a:p>
          <a:p>
            <a:r>
              <a:rPr lang="en-US" dirty="0"/>
              <a:t>Before deciding on products and design for building data pipelines,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it’s worth understanding what makes up a modern data infrastructure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12" y="2819400"/>
            <a:ext cx="4067175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Diversity of Data Sources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600201"/>
            <a:ext cx="7239000" cy="48767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majority of organizations have </a:t>
            </a:r>
            <a:r>
              <a:rPr lang="en-US" dirty="0">
                <a:solidFill>
                  <a:srgbClr val="FF0000"/>
                </a:solidFill>
              </a:rPr>
              <a:t>dozens</a:t>
            </a:r>
            <a:r>
              <a:rPr lang="en-US" dirty="0"/>
              <a:t>, if not hundreds, of </a:t>
            </a:r>
            <a:r>
              <a:rPr lang="en-US" dirty="0">
                <a:solidFill>
                  <a:srgbClr val="FF0000"/>
                </a:solidFill>
              </a:rPr>
              <a:t>data sources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that feed their analytics endeavors</a:t>
            </a:r>
          </a:p>
          <a:p>
            <a:endParaRPr lang="en-US" dirty="0"/>
          </a:p>
          <a:p>
            <a:r>
              <a:rPr lang="en-US" dirty="0"/>
              <a:t>Typical for an analytics team to ingest data from source systems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that are </a:t>
            </a:r>
            <a:r>
              <a:rPr lang="en-US" dirty="0">
                <a:solidFill>
                  <a:srgbClr val="FF0000"/>
                </a:solidFill>
              </a:rPr>
              <a:t>built and owned by the organization </a:t>
            </a:r>
            <a:r>
              <a:rPr lang="en-US" dirty="0"/>
              <a:t>as well </a:t>
            </a:r>
            <a:r>
              <a:rPr lang="en-US" dirty="0" smtClean="0"/>
              <a:t>as from </a:t>
            </a:r>
            <a:r>
              <a:rPr lang="en-US" dirty="0">
                <a:solidFill>
                  <a:srgbClr val="FF0000"/>
                </a:solidFill>
              </a:rPr>
              <a:t>third-party tools and vendors</a:t>
            </a:r>
          </a:p>
          <a:p>
            <a:endParaRPr lang="en-US" dirty="0"/>
          </a:p>
          <a:p>
            <a:r>
              <a:rPr lang="en-US" dirty="0"/>
              <a:t>For example, an </a:t>
            </a:r>
            <a:r>
              <a:rPr lang="en-US" dirty="0">
                <a:solidFill>
                  <a:srgbClr val="FF0000"/>
                </a:solidFill>
              </a:rPr>
              <a:t>ecommerce company </a:t>
            </a:r>
            <a:r>
              <a:rPr lang="en-US" dirty="0"/>
              <a:t>might </a:t>
            </a:r>
          </a:p>
          <a:p>
            <a:pPr lvl="1"/>
            <a:r>
              <a:rPr lang="en-US" dirty="0"/>
              <a:t>store data from their shopping cart in a </a:t>
            </a:r>
            <a:r>
              <a:rPr lang="en-US" dirty="0" smtClean="0">
                <a:solidFill>
                  <a:srgbClr val="FF0000"/>
                </a:solidFill>
              </a:rPr>
              <a:t>PostgreSQL </a:t>
            </a:r>
            <a:r>
              <a:rPr lang="en-US" dirty="0">
                <a:solidFill>
                  <a:srgbClr val="FF0000"/>
                </a:solidFill>
              </a:rPr>
              <a:t>database </a:t>
            </a:r>
            <a:r>
              <a:rPr lang="en-US" dirty="0"/>
              <a:t>behind their web app</a:t>
            </a:r>
          </a:p>
          <a:p>
            <a:pPr lvl="1"/>
            <a:r>
              <a:rPr lang="en-US" dirty="0"/>
              <a:t>also use a third-party web analytics tool such as </a:t>
            </a:r>
            <a:r>
              <a:rPr lang="en-US" dirty="0">
                <a:solidFill>
                  <a:srgbClr val="FF0000"/>
                </a:solidFill>
              </a:rPr>
              <a:t>Google Analytics </a:t>
            </a:r>
            <a:r>
              <a:rPr lang="en-US" dirty="0"/>
              <a:t>to track usage on their website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combination</a:t>
            </a:r>
            <a:r>
              <a:rPr lang="en-US" dirty="0"/>
              <a:t> of the two data sources is required to get a </a:t>
            </a:r>
            <a:r>
              <a:rPr lang="en-US" dirty="0">
                <a:solidFill>
                  <a:srgbClr val="FF0000"/>
                </a:solidFill>
              </a:rPr>
              <a:t>full understanding of customer behavior leading up to a purchase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A data pipeline that ends with an analysis of such behavior starts with the ingestion of data from both sources.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Source </a:t>
            </a:r>
            <a:r>
              <a:rPr lang="en-IN" dirty="0" smtClean="0"/>
              <a:t>Systems 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4473" y="2438400"/>
            <a:ext cx="3943350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533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Ingestion Interface and Data Structure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50291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When building a new data ingestion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Essential to know how to get data in and in what form </a:t>
            </a:r>
          </a:p>
          <a:p>
            <a:pPr lvl="1"/>
            <a:endParaRPr lang="en-US" dirty="0"/>
          </a:p>
          <a:p>
            <a:r>
              <a:rPr lang="en-US" dirty="0"/>
              <a:t>First, what is the </a:t>
            </a:r>
            <a:r>
              <a:rPr lang="en-US" dirty="0">
                <a:solidFill>
                  <a:srgbClr val="FF0000"/>
                </a:solidFill>
              </a:rPr>
              <a:t>interface to the data</a:t>
            </a:r>
            <a:r>
              <a:rPr lang="en-US" dirty="0"/>
              <a:t>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database behind an application, such as a Postgres or MySQL database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layer of abstraction on top of a system such as a REST API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stream processing platform such as Apache Kafka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shared network file system or cloud storage bucket containing logs, comma-separated value (CSV) files, and other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flat </a:t>
            </a:r>
            <a:r>
              <a:rPr lang="en-US" dirty="0"/>
              <a:t>files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data warehouse or data lake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in HDFS or </a:t>
            </a:r>
            <a:r>
              <a:rPr lang="en-US" dirty="0" err="1"/>
              <a:t>HBase</a:t>
            </a:r>
            <a:r>
              <a:rPr lang="en-US" dirty="0"/>
              <a:t> database</a:t>
            </a:r>
          </a:p>
          <a:p>
            <a:endParaRPr lang="en-US" dirty="0"/>
          </a:p>
          <a:p>
            <a:r>
              <a:rPr lang="en-US" dirty="0"/>
              <a:t>In addition to the interface, </a:t>
            </a:r>
            <a:r>
              <a:rPr lang="en-US" dirty="0">
                <a:solidFill>
                  <a:srgbClr val="FF0000"/>
                </a:solidFill>
              </a:rPr>
              <a:t>the structure of the data </a:t>
            </a:r>
            <a:r>
              <a:rPr lang="en-US" dirty="0"/>
              <a:t>will vary.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JSON from a REST API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Well-structured data from a MySQL database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JSON within columns of a MySQL database table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Semi-structured </a:t>
            </a:r>
            <a:r>
              <a:rPr lang="en-US" dirty="0"/>
              <a:t>log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CSV, fixed-width format (FWF), and other flat file formats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JSON in flat files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Stream output from </a:t>
            </a:r>
            <a:r>
              <a:rPr lang="en-US" dirty="0" smtClean="0"/>
              <a:t>Kafka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 smtClean="0"/>
          </a:p>
          <a:p>
            <a:r>
              <a:rPr lang="en-US" dirty="0">
                <a:solidFill>
                  <a:srgbClr val="FF0000"/>
                </a:solidFill>
              </a:rPr>
              <a:t>Each interface and data structure presents its own </a:t>
            </a:r>
            <a:r>
              <a:rPr lang="en-US" dirty="0" smtClean="0">
                <a:solidFill>
                  <a:srgbClr val="FF0000"/>
                </a:solidFill>
              </a:rPr>
              <a:t>challenges and </a:t>
            </a:r>
            <a:r>
              <a:rPr lang="en-US" dirty="0">
                <a:solidFill>
                  <a:srgbClr val="FF0000"/>
                </a:solidFill>
              </a:rPr>
              <a:t>opportunities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smtClean="0"/>
              <a:t>Data Ingestion - </a:t>
            </a:r>
            <a:r>
              <a:rPr lang="en-US" dirty="0"/>
              <a:t>extracting data from one source and loading it into another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78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Data Warehouses and Data Lakes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11196956" cy="4648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Three things transformed the landscape of analytics and data warehousing over the last 10 years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All </a:t>
            </a:r>
            <a:r>
              <a:rPr lang="en-US" dirty="0"/>
              <a:t>related to the </a:t>
            </a:r>
            <a:r>
              <a:rPr lang="en-US" dirty="0">
                <a:solidFill>
                  <a:srgbClr val="FF0000"/>
                </a:solidFill>
              </a:rPr>
              <a:t>emergence of the major public cloud providers </a:t>
            </a:r>
            <a:r>
              <a:rPr lang="en-US" dirty="0"/>
              <a:t>(Amazon, Google, and Microsoft</a:t>
            </a:r>
            <a:r>
              <a:rPr lang="en-US" dirty="0" smtClean="0"/>
              <a:t>)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ease of building and deploying</a:t>
            </a:r>
            <a:r>
              <a:rPr lang="en-US" dirty="0"/>
              <a:t> data pipelines, data lakes, warehouses, and analytics processing in the cloud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Continued </a:t>
            </a:r>
            <a:r>
              <a:rPr lang="en-US" dirty="0">
                <a:solidFill>
                  <a:srgbClr val="FF0000"/>
                </a:solidFill>
              </a:rPr>
              <a:t>drop-in storage costs </a:t>
            </a:r>
            <a:r>
              <a:rPr lang="en-US" dirty="0"/>
              <a:t>in the cloud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emergence of highly scalable, columnar databases</a:t>
            </a:r>
            <a:r>
              <a:rPr lang="en-US" dirty="0"/>
              <a:t>, such as Amazon Redshift, Snowflake, and Google Big Query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These changes breathed new life into data warehouses and introduced the concept of a data </a:t>
            </a:r>
            <a:r>
              <a:rPr lang="en-US" dirty="0" smtClean="0">
                <a:solidFill>
                  <a:srgbClr val="FF0000"/>
                </a:solidFill>
              </a:rPr>
              <a:t>lake!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data warehouse is a database where data from different systems is stored and modeled to support analysis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and </a:t>
            </a:r>
            <a:r>
              <a:rPr lang="en-US" dirty="0"/>
              <a:t>other activities related to answering questions with it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in a data warehouse is structured and optimized for reporting and analysis queries</a:t>
            </a:r>
          </a:p>
          <a:p>
            <a:r>
              <a:rPr lang="en-US" dirty="0"/>
              <a:t>A data lake is where data is stored, but without the structure or query optimization of a data warehouse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likely contain a high volume of data as well as a variety of data types</a:t>
            </a:r>
          </a:p>
          <a:p>
            <a:endParaRPr lang="en-US" dirty="0"/>
          </a:p>
          <a:p>
            <a:r>
              <a:rPr lang="en-US" dirty="0" smtClean="0">
                <a:solidFill>
                  <a:srgbClr val="FF0000"/>
                </a:solidFill>
              </a:rPr>
              <a:t>There </a:t>
            </a:r>
            <a:r>
              <a:rPr lang="en-US" dirty="0">
                <a:solidFill>
                  <a:srgbClr val="FF0000"/>
                </a:solidFill>
              </a:rPr>
              <a:t>is a place for both data warehouses and data lakes in the same data ecosystem, and data pipelines often 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  move </a:t>
            </a:r>
            <a:r>
              <a:rPr lang="en-US" dirty="0">
                <a:solidFill>
                  <a:srgbClr val="FF0000"/>
                </a:solidFill>
              </a:rPr>
              <a:t>data between both.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334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Ingestion Tools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need to </a:t>
            </a:r>
            <a:r>
              <a:rPr lang="en-US" dirty="0">
                <a:solidFill>
                  <a:srgbClr val="FF0000"/>
                </a:solidFill>
              </a:rPr>
              <a:t>ingest data from one system to another </a:t>
            </a:r>
            <a:r>
              <a:rPr lang="en-US" dirty="0"/>
              <a:t>is common to nearly all data pipelines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teams must contend with a diversity of data sources from which to ingest data from</a:t>
            </a:r>
          </a:p>
          <a:p>
            <a:endParaRPr lang="en-US" dirty="0"/>
          </a:p>
          <a:p>
            <a:r>
              <a:rPr lang="en-US" dirty="0"/>
              <a:t>A number of commercial and open source tools are available in a modern data infrastructure.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Singer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Stitch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Fivetran</a:t>
            </a:r>
            <a:endParaRPr lang="en-US" dirty="0"/>
          </a:p>
          <a:p>
            <a:endParaRPr lang="en-US" dirty="0"/>
          </a:p>
          <a:p>
            <a:r>
              <a:rPr lang="en-US" dirty="0"/>
              <a:t>Despite the prevalence of these tools,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some teams decide to </a:t>
            </a:r>
            <a:r>
              <a:rPr lang="en-US" dirty="0">
                <a:solidFill>
                  <a:srgbClr val="FF0000"/>
                </a:solidFill>
              </a:rPr>
              <a:t>build custom code </a:t>
            </a:r>
            <a:r>
              <a:rPr lang="en-US" dirty="0"/>
              <a:t>to ingest data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Some even develop their </a:t>
            </a:r>
            <a:r>
              <a:rPr lang="en-US" dirty="0">
                <a:solidFill>
                  <a:srgbClr val="FF0000"/>
                </a:solidFill>
              </a:rPr>
              <a:t>own </a:t>
            </a:r>
            <a:r>
              <a:rPr lang="en-US" dirty="0" smtClean="0">
                <a:solidFill>
                  <a:srgbClr val="FF0000"/>
                </a:solidFill>
              </a:rPr>
              <a:t>frameworks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Reasons vary by organization but are often related to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cost, a culture of building over buying, and concerns about the legal and security risks of trusting an external vendo</a:t>
            </a:r>
            <a:r>
              <a:rPr lang="en-US" dirty="0"/>
              <a:t>r.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</a:t>
            </a:r>
            <a:r>
              <a:rPr lang="en-US" dirty="0" smtClean="0"/>
              <a:t>eed to assess the </a:t>
            </a:r>
            <a:r>
              <a:rPr lang="en-US" dirty="0"/>
              <a:t>value of a commercial solution is to </a:t>
            </a:r>
            <a:r>
              <a:rPr lang="en-US" dirty="0">
                <a:solidFill>
                  <a:srgbClr val="FF0000"/>
                </a:solidFill>
              </a:rPr>
              <a:t>make it easier for data engineers to build data ingestions </a:t>
            </a:r>
            <a:endParaRPr lang="en-US" dirty="0" smtClean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dirty="0" smtClean="0"/>
              <a:t>   into their </a:t>
            </a:r>
            <a:r>
              <a:rPr lang="en-US" dirty="0"/>
              <a:t>pipelines or to </a:t>
            </a:r>
            <a:r>
              <a:rPr lang="en-US" dirty="0">
                <a:solidFill>
                  <a:srgbClr val="FF0000"/>
                </a:solidFill>
              </a:rPr>
              <a:t>enable </a:t>
            </a:r>
            <a:r>
              <a:rPr lang="en-US" dirty="0" smtClean="0">
                <a:solidFill>
                  <a:srgbClr val="FF0000"/>
                </a:solidFill>
              </a:rPr>
              <a:t>non-data </a:t>
            </a:r>
            <a:r>
              <a:rPr lang="en-US" dirty="0">
                <a:solidFill>
                  <a:srgbClr val="FF0000"/>
                </a:solidFill>
              </a:rPr>
              <a:t>engineers (such as data analysts) to build ingestions themselves</a:t>
            </a:r>
          </a:p>
          <a:p>
            <a:endParaRPr lang="en-US" dirty="0"/>
          </a:p>
          <a:p>
            <a:r>
              <a:rPr lang="en-US" dirty="0"/>
              <a:t>Data ingestion is traditionally both the extract and load steps of an ETL or ELT process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Some tools focus on just these steps, while others provide the user with </a:t>
            </a:r>
            <a:r>
              <a:rPr lang="en-US" dirty="0">
                <a:solidFill>
                  <a:srgbClr val="FF0000"/>
                </a:solidFill>
              </a:rPr>
              <a:t>some transform capabilities </a:t>
            </a:r>
            <a:r>
              <a:rPr lang="en-US" dirty="0"/>
              <a:t>as well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19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Transformation and Modeling Tools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/>
          </a:bodyPr>
          <a:lstStyle/>
          <a:p>
            <a:r>
              <a:rPr lang="en-US" dirty="0"/>
              <a:t>Pipelines are also made up of tasks that transform and model data for new purposes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such </a:t>
            </a:r>
            <a:r>
              <a:rPr lang="en-US" dirty="0"/>
              <a:t>as machine learning, analysis, and reporting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</a:t>
            </a:r>
            <a:r>
              <a:rPr lang="en-US" dirty="0" smtClean="0"/>
              <a:t>erms often </a:t>
            </a:r>
            <a:r>
              <a:rPr lang="en-US" dirty="0"/>
              <a:t>used interchangeably</a:t>
            </a:r>
          </a:p>
          <a:p>
            <a:endParaRPr lang="en-US" dirty="0"/>
          </a:p>
          <a:p>
            <a:r>
              <a:rPr lang="en-US" dirty="0"/>
              <a:t>Data transformation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FF0000"/>
                </a:solidFill>
              </a:rPr>
              <a:t>Transforming data is a broad term that is signified by the T in an ETL or ELT process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 transformation can be something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as simple as converting a timestamp stored in a table from one time zone to another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 more complex operation that creates a new metric from multiple source columns that are aggregated and filtered through some business logic</a:t>
            </a:r>
          </a:p>
          <a:p>
            <a:endParaRPr lang="en-US" dirty="0"/>
          </a:p>
          <a:p>
            <a:r>
              <a:rPr lang="en-US" dirty="0"/>
              <a:t>Data modeling</a:t>
            </a:r>
          </a:p>
          <a:p>
            <a:pPr lvl="1"/>
            <a:r>
              <a:rPr lang="en-US" dirty="0"/>
              <a:t>Data modeling is a </a:t>
            </a:r>
            <a:r>
              <a:rPr lang="en-US" dirty="0">
                <a:solidFill>
                  <a:srgbClr val="FF0000"/>
                </a:solidFill>
              </a:rPr>
              <a:t>more specific type </a:t>
            </a:r>
            <a:r>
              <a:rPr lang="en-US" dirty="0"/>
              <a:t>of data transformation</a:t>
            </a:r>
          </a:p>
          <a:p>
            <a:pPr lvl="1"/>
            <a:r>
              <a:rPr lang="en-US" dirty="0"/>
              <a:t>A data model </a:t>
            </a:r>
            <a:r>
              <a:rPr lang="en-US" dirty="0">
                <a:solidFill>
                  <a:srgbClr val="FF0000"/>
                </a:solidFill>
              </a:rPr>
              <a:t>structures and defines data in a format that is understood and optimized for data analysis</a:t>
            </a:r>
          </a:p>
          <a:p>
            <a:pPr lvl="1"/>
            <a:r>
              <a:rPr lang="en-US" dirty="0"/>
              <a:t>A data model is usually represented as one or more tables in a data warehouse</a:t>
            </a: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61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Transformation and Modeling </a:t>
            </a:r>
            <a:r>
              <a:rPr lang="en-US" dirty="0" smtClean="0"/>
              <a:t>Tools(2)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11196956" cy="464819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Data Transformation Tools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Some </a:t>
            </a:r>
            <a:r>
              <a:rPr lang="en-US" dirty="0">
                <a:solidFill>
                  <a:srgbClr val="FF0000"/>
                </a:solidFill>
              </a:rPr>
              <a:t>data ingestion tools </a:t>
            </a:r>
            <a:r>
              <a:rPr lang="en-US" dirty="0"/>
              <a:t>provide some level of data transformation capabilities, but these are often quite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  simple</a:t>
            </a:r>
            <a:endParaRPr lang="en-US" dirty="0">
              <a:solidFill>
                <a:srgbClr val="FF0000"/>
              </a:solidFill>
            </a:endParaRP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for the sake of protecting personally identifiable information (PII) it may be desirable to turn an email address into a </a:t>
            </a:r>
            <a:r>
              <a:rPr lang="en-US" dirty="0" smtClean="0"/>
              <a:t>hashed </a:t>
            </a:r>
            <a:r>
              <a:rPr lang="en-US" dirty="0"/>
              <a:t>value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For more </a:t>
            </a:r>
            <a:r>
              <a:rPr lang="en-US" dirty="0">
                <a:solidFill>
                  <a:srgbClr val="FF0000"/>
                </a:solidFill>
              </a:rPr>
              <a:t>complex data transformations and data modeling</a:t>
            </a:r>
            <a:r>
              <a:rPr lang="en-US" dirty="0"/>
              <a:t>, find it desirable to seek out tools and frameworks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   specifically </a:t>
            </a:r>
            <a:r>
              <a:rPr lang="en-US" dirty="0">
                <a:solidFill>
                  <a:srgbClr val="FF0000"/>
                </a:solidFill>
              </a:rPr>
              <a:t>designed </a:t>
            </a:r>
            <a:r>
              <a:rPr lang="en-US" dirty="0"/>
              <a:t>for the task, such as </a:t>
            </a:r>
            <a:r>
              <a:rPr lang="en-US" dirty="0" err="1"/>
              <a:t>dbt</a:t>
            </a:r>
            <a:r>
              <a:rPr lang="en-US" dirty="0"/>
              <a:t>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Additionally </a:t>
            </a:r>
            <a:r>
              <a:rPr lang="en-US" dirty="0"/>
              <a:t>data transformation is </a:t>
            </a:r>
            <a:r>
              <a:rPr lang="en-US" dirty="0">
                <a:solidFill>
                  <a:srgbClr val="FF0000"/>
                </a:solidFill>
              </a:rPr>
              <a:t>often context-specific </a:t>
            </a:r>
            <a:r>
              <a:rPr lang="en-US" dirty="0"/>
              <a:t>and can be </a:t>
            </a:r>
            <a:r>
              <a:rPr lang="en-US" dirty="0" smtClean="0"/>
              <a:t>written in </a:t>
            </a:r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language</a:t>
            </a:r>
            <a:r>
              <a:rPr lang="en-US" dirty="0"/>
              <a:t> familiar to data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engineers </a:t>
            </a:r>
            <a:r>
              <a:rPr lang="en-US" dirty="0"/>
              <a:t>and data analysts, </a:t>
            </a:r>
            <a:r>
              <a:rPr lang="en-US" dirty="0" smtClean="0"/>
              <a:t>such as </a:t>
            </a:r>
            <a:r>
              <a:rPr lang="en-US" dirty="0"/>
              <a:t>SQL or Python.</a:t>
            </a:r>
          </a:p>
          <a:p>
            <a:endParaRPr lang="en-US" dirty="0"/>
          </a:p>
          <a:p>
            <a:r>
              <a:rPr lang="en-US" dirty="0"/>
              <a:t>Data modeling Tools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typically defined and written in </a:t>
            </a:r>
            <a:r>
              <a:rPr lang="en-US" dirty="0">
                <a:solidFill>
                  <a:srgbClr val="FF0000"/>
                </a:solidFill>
              </a:rPr>
              <a:t>SQL or via point-and-click user interfaces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smtClean="0"/>
              <a:t>SQL </a:t>
            </a:r>
            <a:r>
              <a:rPr lang="en-US" dirty="0"/>
              <a:t>is a highly accessible language that is </a:t>
            </a:r>
            <a:r>
              <a:rPr lang="en-US" dirty="0">
                <a:solidFill>
                  <a:srgbClr val="FF0000"/>
                </a:solidFill>
              </a:rPr>
              <a:t>common to both data engineers and analysts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empowers the analyst to work directly with the data and optimize the design of models for their needs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used in nearly every organization, thus providing a familiar entry point for new hires to a team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In most cases, choosing a transformation framework that supports building data models in SQL rather than via a </a:t>
            </a:r>
            <a:endParaRPr lang="en-US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point-and click </a:t>
            </a:r>
            <a:r>
              <a:rPr lang="en-US" dirty="0">
                <a:solidFill>
                  <a:srgbClr val="FF0000"/>
                </a:solidFill>
              </a:rPr>
              <a:t>user interface is </a:t>
            </a:r>
            <a:r>
              <a:rPr lang="en-US" dirty="0" smtClean="0">
                <a:solidFill>
                  <a:srgbClr val="FF0000"/>
                </a:solidFill>
              </a:rPr>
              <a:t>desirable</a:t>
            </a:r>
            <a:r>
              <a:rPr lang="en-US" dirty="0">
                <a:solidFill>
                  <a:srgbClr val="FF0000"/>
                </a:solidFill>
              </a:rPr>
              <a:t>!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412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Workflow Orchestration Platforms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11196956" cy="46481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 the </a:t>
            </a:r>
            <a:r>
              <a:rPr lang="en-US" dirty="0">
                <a:solidFill>
                  <a:srgbClr val="FF0000"/>
                </a:solidFill>
              </a:rPr>
              <a:t>complexity and number of data pipelines </a:t>
            </a:r>
            <a:r>
              <a:rPr lang="en-US" dirty="0"/>
              <a:t>in an organization grows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it’s important to introduce </a:t>
            </a:r>
            <a:r>
              <a:rPr lang="en-US" dirty="0">
                <a:solidFill>
                  <a:srgbClr val="FF0000"/>
                </a:solidFill>
              </a:rPr>
              <a:t>a workflow orchestration platform </a:t>
            </a:r>
            <a:r>
              <a:rPr lang="en-US" dirty="0"/>
              <a:t>to data infrastructure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manages the </a:t>
            </a:r>
            <a:r>
              <a:rPr lang="en-US" dirty="0">
                <a:solidFill>
                  <a:srgbClr val="FF0000"/>
                </a:solidFill>
              </a:rPr>
              <a:t>scheduling and flow of tasks </a:t>
            </a:r>
            <a:r>
              <a:rPr lang="en-US" dirty="0"/>
              <a:t>in a pipeline</a:t>
            </a:r>
          </a:p>
          <a:p>
            <a:endParaRPr lang="en-US" dirty="0"/>
          </a:p>
          <a:p>
            <a:r>
              <a:rPr lang="en-US" dirty="0"/>
              <a:t>Imagine a pipeline with a dozen tasks ranging from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ingestions written in Python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data transformations written in SQL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that must run in a particular sequence throughout the day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not a simple challenge to schedule and manage dependencies between each </a:t>
            </a:r>
            <a:r>
              <a:rPr lang="en-US" dirty="0" smtClean="0"/>
              <a:t>task </a:t>
            </a:r>
            <a:endParaRPr lang="en-US" dirty="0"/>
          </a:p>
          <a:p>
            <a:endParaRPr lang="en-US" dirty="0"/>
          </a:p>
          <a:p>
            <a:r>
              <a:rPr lang="en-US" dirty="0" smtClean="0"/>
              <a:t>There </a:t>
            </a:r>
            <a:r>
              <a:rPr lang="en-US" dirty="0"/>
              <a:t>are numerous workflow orchestration platforms available to alleviate the pain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Apache Airflow, Luigi, and AWS Glue</a:t>
            </a:r>
            <a:r>
              <a:rPr lang="en-US" dirty="0" smtClean="0"/>
              <a:t>, are </a:t>
            </a:r>
            <a:r>
              <a:rPr lang="en-US" dirty="0"/>
              <a:t>designed for more </a:t>
            </a:r>
            <a:r>
              <a:rPr lang="en-US" dirty="0">
                <a:solidFill>
                  <a:srgbClr val="FF0000"/>
                </a:solidFill>
              </a:rPr>
              <a:t>general use cases </a:t>
            </a:r>
            <a:r>
              <a:rPr lang="en-US" dirty="0"/>
              <a:t>and are thus used for a wide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variety </a:t>
            </a:r>
            <a:r>
              <a:rPr lang="en-US" dirty="0"/>
              <a:t>of data pipelines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Kubeflow</a:t>
            </a:r>
            <a:r>
              <a:rPr lang="en-US" dirty="0"/>
              <a:t> Pipelines, are designed for </a:t>
            </a:r>
            <a:r>
              <a:rPr lang="en-US" dirty="0">
                <a:solidFill>
                  <a:srgbClr val="FF0000"/>
                </a:solidFill>
              </a:rPr>
              <a:t>more specific use cases and platforms </a:t>
            </a:r>
            <a:r>
              <a:rPr lang="en-US" dirty="0"/>
              <a:t>(machine learning workflows built on </a:t>
            </a:r>
            <a:endParaRPr lang="en-US" dirty="0" smtClean="0"/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US" dirty="0" smtClean="0"/>
              <a:t>   Docker </a:t>
            </a:r>
            <a:r>
              <a:rPr lang="en-US" dirty="0"/>
              <a:t>containers in the case of </a:t>
            </a:r>
            <a:r>
              <a:rPr lang="en-US" dirty="0" err="1"/>
              <a:t>Kubeflow</a:t>
            </a:r>
            <a:r>
              <a:rPr lang="en-US" dirty="0"/>
              <a:t> Pipelines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475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Customizing </a:t>
            </a:r>
            <a:r>
              <a:rPr lang="en-IN" dirty="0" smtClean="0"/>
              <a:t>Data </a:t>
            </a:r>
            <a:r>
              <a:rPr lang="en-IN" dirty="0"/>
              <a:t>Infrastructure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/>
          </a:bodyPr>
          <a:lstStyle/>
          <a:p>
            <a:r>
              <a:rPr lang="en-US" dirty="0"/>
              <a:t>It’s rare to find two organizations with exactly the same data infrastructure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Most pick and choose tools and vendors that meet their specific needs and build the rest on their own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many more come to </a:t>
            </a:r>
            <a:r>
              <a:rPr lang="en-US" dirty="0" smtClean="0"/>
              <a:t>market </a:t>
            </a:r>
            <a:r>
              <a:rPr lang="en-US" dirty="0"/>
              <a:t>each year</a:t>
            </a:r>
          </a:p>
          <a:p>
            <a:pPr lvl="1"/>
            <a:endParaRPr lang="en-US" dirty="0"/>
          </a:p>
          <a:p>
            <a:r>
              <a:rPr lang="en-US" dirty="0"/>
              <a:t>Depending on the culture and resources in organization,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may be encouraged to </a:t>
            </a:r>
            <a:r>
              <a:rPr lang="en-US" dirty="0">
                <a:solidFill>
                  <a:srgbClr val="FF0000"/>
                </a:solidFill>
              </a:rPr>
              <a:t>build most of data infrastructure on their own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or to rely </a:t>
            </a:r>
            <a:r>
              <a:rPr lang="en-US" dirty="0">
                <a:solidFill>
                  <a:srgbClr val="FF0000"/>
                </a:solidFill>
              </a:rPr>
              <a:t>on SaaS vendors </a:t>
            </a:r>
            <a:r>
              <a:rPr lang="en-US" dirty="0"/>
              <a:t>instead</a:t>
            </a:r>
          </a:p>
          <a:p>
            <a:endParaRPr lang="en-US" dirty="0"/>
          </a:p>
          <a:p>
            <a:r>
              <a:rPr lang="en-US" dirty="0"/>
              <a:t>Regardless of which way to lean on the </a:t>
            </a:r>
            <a:r>
              <a:rPr lang="en-US" dirty="0">
                <a:solidFill>
                  <a:srgbClr val="FF0000"/>
                </a:solidFill>
              </a:rPr>
              <a:t>build versus-buy scale</a:t>
            </a:r>
          </a:p>
          <a:p>
            <a:pPr lvl="1"/>
            <a:r>
              <a:rPr lang="en-US" dirty="0"/>
              <a:t>need to build the </a:t>
            </a:r>
            <a:r>
              <a:rPr lang="en-US" dirty="0">
                <a:solidFill>
                  <a:srgbClr val="FF0000"/>
                </a:solidFill>
              </a:rPr>
              <a:t>high-quality data infrastructure </a:t>
            </a:r>
            <a:r>
              <a:rPr lang="en-US" dirty="0"/>
              <a:t>necessary to build </a:t>
            </a:r>
            <a:r>
              <a:rPr lang="en-US" dirty="0">
                <a:solidFill>
                  <a:srgbClr val="FF0000"/>
                </a:solidFill>
              </a:rPr>
              <a:t>high-quality data pipelines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Most important is understanding constraints (dollars, engineering resources, security, and legal risk tolerance) and the resulting </a:t>
            </a:r>
            <a:r>
              <a:rPr lang="en-US" dirty="0" smtClean="0">
                <a:solidFill>
                  <a:srgbClr val="FF0000"/>
                </a:solidFill>
              </a:rPr>
              <a:t>trade-offs!</a:t>
            </a:r>
            <a:endParaRPr lang="en-US" dirty="0">
              <a:solidFill>
                <a:srgbClr val="FF0000"/>
              </a:solidFill>
            </a:endParaRPr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467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 smtClean="0"/>
              <a:t>In our next session: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3230</TotalTime>
  <Words>1371</Words>
  <Application>Microsoft Office PowerPoint</Application>
  <PresentationFormat>Widescreen</PresentationFormat>
  <Paragraphs>148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Helvetica</vt:lpstr>
      <vt:lpstr>Helvetica Light</vt:lpstr>
      <vt:lpstr>Office Theme</vt:lpstr>
      <vt:lpstr>Modern Data Infrastructure</vt:lpstr>
      <vt:lpstr>Key components of modern data infrastructure </vt:lpstr>
      <vt:lpstr>Diversity of Data Sources</vt:lpstr>
      <vt:lpstr>Ingestion Interface and Data Structure</vt:lpstr>
      <vt:lpstr>Cloud Data Warehouses and Data Lakes</vt:lpstr>
      <vt:lpstr>Data Ingestion Tools</vt:lpstr>
      <vt:lpstr>Data Transformation and Modeling Tools</vt:lpstr>
      <vt:lpstr>Data Transformation and Modeling Tools(2)</vt:lpstr>
      <vt:lpstr>Workflow Orchestration Platforms</vt:lpstr>
      <vt:lpstr>Customizing Data Infrastructure</vt:lpstr>
      <vt:lpstr>Thank You!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pravin pawar</cp:lastModifiedBy>
  <cp:revision>247</cp:revision>
  <dcterms:created xsi:type="dcterms:W3CDTF">2018-10-16T06:13:57Z</dcterms:created>
  <dcterms:modified xsi:type="dcterms:W3CDTF">2023-06-24T08:45:32Z</dcterms:modified>
</cp:coreProperties>
</file>