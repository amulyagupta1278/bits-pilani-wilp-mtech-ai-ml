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notesMasterIdLst>
    <p:notesMasterId r:id="rId19"/>
  </p:notesMasterIdLst>
  <p:sldIdLst>
    <p:sldId id="266" r:id="rId2"/>
    <p:sldId id="287" r:id="rId3"/>
    <p:sldId id="285" r:id="rId4"/>
    <p:sldId id="284" r:id="rId5"/>
    <p:sldId id="289" r:id="rId6"/>
    <p:sldId id="288" r:id="rId7"/>
    <p:sldId id="290" r:id="rId8"/>
    <p:sldId id="291" r:id="rId9"/>
    <p:sldId id="292" r:id="rId10"/>
    <p:sldId id="293" r:id="rId11"/>
    <p:sldId id="295" r:id="rId12"/>
    <p:sldId id="294" r:id="rId13"/>
    <p:sldId id="296" r:id="rId14"/>
    <p:sldId id="309" r:id="rId15"/>
    <p:sldId id="308" r:id="rId16"/>
    <p:sldId id="307" r:id="rId17"/>
    <p:sldId id="26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0860"/>
    <a:srgbClr val="1C1573"/>
    <a:srgbClr val="283E84"/>
    <a:srgbClr val="211D71"/>
    <a:srgbClr val="000099"/>
    <a:srgbClr val="1E2F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6305" autoAdjust="0"/>
  </p:normalViewPr>
  <p:slideViewPr>
    <p:cSldViewPr>
      <p:cViewPr varScale="1">
        <p:scale>
          <a:sx n="67" d="100"/>
          <a:sy n="67" d="100"/>
        </p:scale>
        <p:origin x="834" y="72"/>
      </p:cViewPr>
      <p:guideLst>
        <p:guide orient="horz" pos="2208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2EAAB2-9271-4BDD-97AF-EBC135F5D5A0}" type="datetimeFigureOut">
              <a:rPr lang="en-US" smtClean="0"/>
              <a:t>12/21/2024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B1DED4-035E-4548-AB9E-F9B1FE638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802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86" b="1180"/>
          <a:stretch/>
        </p:blipFill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441" cy="68583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2550646"/>
            <a:ext cx="9680189" cy="179275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" y="-447353"/>
            <a:ext cx="10744203" cy="805815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0" y="2549769"/>
            <a:ext cx="7330831" cy="1600725"/>
          </a:xfrm>
        </p:spPr>
        <p:txBody>
          <a:bodyPr anchor="ctr">
            <a:normAutofit/>
          </a:bodyPr>
          <a:lstStyle>
            <a:lvl1pPr algn="r">
              <a:defRPr sz="3200" b="1">
                <a:solidFill>
                  <a:schemeClr val="bg1"/>
                </a:solidFill>
                <a:latin typeface="Helvetica" panose="020B0604020202030204" pitchFamily="34" charset="0"/>
              </a:defRPr>
            </a:lvl1pPr>
          </a:lstStyle>
          <a:p>
            <a:r>
              <a:rPr lang="en-US" dirty="0"/>
              <a:t>Click to edit Course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908431" y="4452630"/>
            <a:ext cx="5994400" cy="343327"/>
          </a:xfrm>
        </p:spPr>
        <p:txBody>
          <a:bodyPr anchor="ctr">
            <a:normAutofit/>
          </a:bodyPr>
          <a:lstStyle>
            <a:lvl1pPr marL="0" indent="0" algn="r">
              <a:buNone/>
              <a:defRPr sz="1700" b="1">
                <a:solidFill>
                  <a:srgbClr val="1C1573"/>
                </a:solidFill>
                <a:latin typeface="Helvetica" panose="020B060402020203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SME’s name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299" y="896875"/>
            <a:ext cx="3096631" cy="108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8116" y="4800600"/>
            <a:ext cx="5124715" cy="21336"/>
          </a:xfrm>
          <a:prstGeom prst="rect">
            <a:avLst/>
          </a:prstGeom>
        </p:spPr>
      </p:pic>
      <p:sp>
        <p:nvSpPr>
          <p:cNvPr id="22" name="Text Placeholder 21"/>
          <p:cNvSpPr>
            <a:spLocks noGrp="1"/>
          </p:cNvSpPr>
          <p:nvPr>
            <p:ph type="body" sz="quarter" idx="14"/>
          </p:nvPr>
        </p:nvSpPr>
        <p:spPr>
          <a:xfrm>
            <a:off x="5189412" y="4826977"/>
            <a:ext cx="6713419" cy="1108563"/>
          </a:xfrm>
        </p:spPr>
        <p:txBody>
          <a:bodyPr>
            <a:normAutofit/>
          </a:bodyPr>
          <a:lstStyle>
            <a:lvl1pPr marL="0" indent="0" algn="r">
              <a:spcBef>
                <a:spcPts val="0"/>
              </a:spcBef>
              <a:buNone/>
              <a:defRPr sz="1700">
                <a:solidFill>
                  <a:srgbClr val="1C1573"/>
                </a:solidFill>
                <a:latin typeface="Helvetica" panose="020B0604020202030204" pitchFamily="34" charset="0"/>
              </a:defRPr>
            </a:lvl1pPr>
          </a:lstStyle>
          <a:p>
            <a:pPr lvl="0"/>
            <a:r>
              <a:rPr lang="en-US" dirty="0"/>
              <a:t>Click to edit </a:t>
            </a:r>
          </a:p>
          <a:p>
            <a:pPr lvl="0"/>
            <a:r>
              <a:rPr lang="en-US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661812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1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3335" y="2482116"/>
            <a:ext cx="8848465" cy="2130566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 userDrawn="1"/>
        </p:nvSpPr>
        <p:spPr>
          <a:xfrm>
            <a:off x="1831508" y="2575123"/>
            <a:ext cx="8666988" cy="19368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Helvetica" panose="020B060402020203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Click to edit Session title</a:t>
            </a:r>
          </a:p>
        </p:txBody>
      </p:sp>
    </p:spTree>
    <p:extLst>
      <p:ext uri="{BB962C8B-B14F-4D97-AF65-F5344CB8AC3E}">
        <p14:creationId xmlns:p14="http://schemas.microsoft.com/office/powerpoint/2010/main" val="1461970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569"/>
            <a:ext cx="10668000" cy="7643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0569"/>
            <a:ext cx="9321800" cy="764364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Helvetica" panose="020B0604020202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2728913"/>
          </a:xfrm>
        </p:spPr>
        <p:txBody>
          <a:bodyPr/>
          <a:lstStyle>
            <a:lvl1pPr>
              <a:defRPr sz="1800">
                <a:latin typeface="Helvetica" panose="020B0604020202030204" pitchFamily="34" charset="0"/>
              </a:defRPr>
            </a:lvl1pPr>
            <a:lvl2pPr>
              <a:defRPr sz="1600">
                <a:latin typeface="Helvetica" panose="020B0604020202030204" pitchFamily="34" charset="0"/>
              </a:defRPr>
            </a:lvl2pPr>
            <a:lvl3pPr>
              <a:defRPr sz="1400">
                <a:latin typeface="Helvetica" panose="020B0604020202030204" pitchFamily="34" charset="0"/>
              </a:defRPr>
            </a:lvl3pPr>
            <a:lvl4pPr>
              <a:defRPr sz="1200">
                <a:latin typeface="Helvetica" panose="020B0604020202030204" pitchFamily="34" charset="0"/>
              </a:defRPr>
            </a:lvl4pPr>
            <a:lvl5pPr>
              <a:defRPr sz="1200"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rgbClr val="1C1573"/>
                </a:solidFill>
                <a:latin typeface="Helvetica" panose="020B0604020202030204" pitchFamily="34" charset="0"/>
              </a:defRPr>
            </a:lvl1pPr>
            <a:lvl2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2pPr>
            <a:lvl3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3pPr>
            <a:lvl4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4pPr>
            <a:lvl5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61542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 algn="r">
              <a:defRPr sz="5400" b="1">
                <a:solidFill>
                  <a:srgbClr val="150860"/>
                </a:solidFill>
                <a:latin typeface="Helvetica"/>
                <a:cs typeface="Helvetica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 algn="r">
              <a:buNone/>
              <a:defRPr sz="2400" b="0" i="0">
                <a:solidFill>
                  <a:schemeClr val="tx1">
                    <a:tint val="75000"/>
                  </a:schemeClr>
                </a:solidFill>
                <a:latin typeface="Helvetica Light"/>
                <a:cs typeface="Helvetica Ligh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687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6184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29" r:id="rId2"/>
    <p:sldLayoutId id="2147483739" r:id="rId3"/>
    <p:sldLayoutId id="2147483740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4572000" y="2549769"/>
            <a:ext cx="7330831" cy="1793631"/>
          </a:xfrm>
        </p:spPr>
        <p:txBody>
          <a:bodyPr/>
          <a:lstStyle/>
          <a:p>
            <a:r>
              <a:rPr lang="en-US" dirty="0"/>
              <a:t>Data Pipelines </a:t>
            </a:r>
            <a:r>
              <a:rPr lang="en-US"/>
              <a:t>- II 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1800" dirty="0">
                <a:solidFill>
                  <a:srgbClr val="211D71"/>
                </a:solidFill>
              </a:rPr>
              <a:t>Pravin Y Pawar</a:t>
            </a:r>
          </a:p>
        </p:txBody>
      </p:sp>
    </p:spTree>
    <p:extLst>
      <p:ext uri="{BB962C8B-B14F-4D97-AF65-F5344CB8AC3E}">
        <p14:creationId xmlns:p14="http://schemas.microsoft.com/office/powerpoint/2010/main" val="379725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495799"/>
          </a:xfrm>
        </p:spPr>
        <p:txBody>
          <a:bodyPr/>
          <a:lstStyle/>
          <a:p>
            <a:r>
              <a:rPr lang="en-IN" dirty="0"/>
              <a:t>Data Analytics Pipelines</a:t>
            </a:r>
          </a:p>
          <a:p>
            <a:pPr lvl="1"/>
            <a:r>
              <a:rPr lang="en-IN" dirty="0"/>
              <a:t>Need and Origin</a:t>
            </a:r>
          </a:p>
          <a:p>
            <a:pPr lvl="1"/>
            <a:r>
              <a:rPr lang="en-IN" dirty="0"/>
              <a:t>Use cases</a:t>
            </a:r>
          </a:p>
          <a:p>
            <a:pPr lvl="1"/>
            <a:r>
              <a:rPr lang="en-IN"/>
              <a:t>Types 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7783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Analytics Pipelines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600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Immature Data and Analytics Processes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800599"/>
          </a:xfrm>
        </p:spPr>
        <p:txBody>
          <a:bodyPr/>
          <a:lstStyle/>
          <a:p>
            <a:r>
              <a:rPr lang="en-US" dirty="0"/>
              <a:t>Though data is a critical business asset</a:t>
            </a:r>
          </a:p>
          <a:p>
            <a:pPr lvl="1"/>
            <a:r>
              <a:rPr lang="en-US" dirty="0"/>
              <a:t>most organizations still don’t have mature processes for converting data into insights that drive business value</a:t>
            </a:r>
          </a:p>
          <a:p>
            <a:pPr lvl="1"/>
            <a:endParaRPr lang="en-US" dirty="0"/>
          </a:p>
          <a:p>
            <a:r>
              <a:rPr lang="en-US" dirty="0"/>
              <a:t>The development of data and analytics pipelines,</a:t>
            </a:r>
          </a:p>
          <a:p>
            <a:pPr lvl="1"/>
            <a:r>
              <a:rPr lang="en-US" dirty="0"/>
              <a:t>is still a handcrafted and largely non-repeatable process with minimal reuse,</a:t>
            </a:r>
          </a:p>
          <a:p>
            <a:pPr lvl="1"/>
            <a:r>
              <a:rPr lang="en-US" dirty="0"/>
              <a:t>managed by individuals working in isolation with different tools and approaches</a:t>
            </a:r>
          </a:p>
          <a:p>
            <a:pPr lvl="1"/>
            <a:endParaRPr lang="en-US" dirty="0"/>
          </a:p>
          <a:p>
            <a:r>
              <a:rPr lang="en-US" dirty="0"/>
              <a:t>The result is</a:t>
            </a:r>
          </a:p>
          <a:p>
            <a:pPr lvl="1"/>
            <a:r>
              <a:rPr lang="en-US" dirty="0"/>
              <a:t>a plodding development environment that can’t keep pace with the demands of a data-driven business </a:t>
            </a:r>
          </a:p>
          <a:p>
            <a:pPr lvl="1"/>
            <a:r>
              <a:rPr lang="en-US" dirty="0"/>
              <a:t>an error-prone operational environment that is slow to respond to change requests</a:t>
            </a:r>
          </a:p>
          <a:p>
            <a:pPr lvl="1"/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Drawing Swords</a:t>
            </a:r>
          </a:p>
          <a:p>
            <a:pPr lvl="1"/>
            <a:r>
              <a:rPr lang="en-US" dirty="0"/>
              <a:t>The lack of efficiency on the development side leads to a lack of effectiveness on the business side</a:t>
            </a:r>
          </a:p>
          <a:p>
            <a:pPr lvl="1"/>
            <a:r>
              <a:rPr lang="en-US" dirty="0"/>
              <a:t>Business and IT draw swords and go to war instead of partnering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Drawing Swords!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74810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Pipelines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190999"/>
          </a:xfrm>
        </p:spPr>
        <p:txBody>
          <a:bodyPr>
            <a:normAutofit/>
          </a:bodyPr>
          <a:lstStyle/>
          <a:p>
            <a:r>
              <a:rPr lang="en-US" dirty="0"/>
              <a:t>Emerged from the big data community</a:t>
            </a:r>
          </a:p>
          <a:p>
            <a:endParaRPr lang="en-US" dirty="0"/>
          </a:p>
          <a:p>
            <a:r>
              <a:rPr lang="en-US" dirty="0"/>
              <a:t>Data lakes created a feeding frenzy among developers, data scientists, and data analysts </a:t>
            </a:r>
          </a:p>
          <a:p>
            <a:pPr lvl="1"/>
            <a:r>
              <a:rPr lang="en-US" dirty="0"/>
              <a:t>gained unfettered access for the first time </a:t>
            </a:r>
          </a:p>
          <a:p>
            <a:pPr lvl="1"/>
            <a:r>
              <a:rPr lang="en-US" dirty="0"/>
              <a:t>to a nearly limitless supply of raw data sourced </a:t>
            </a:r>
          </a:p>
          <a:p>
            <a:pPr lvl="1"/>
            <a:r>
              <a:rPr lang="en-US" dirty="0"/>
              <a:t>from a multiplicity of internal and external systems</a:t>
            </a:r>
          </a:p>
          <a:p>
            <a:endParaRPr lang="en-US" dirty="0"/>
          </a:p>
          <a:p>
            <a:r>
              <a:rPr lang="en-US" dirty="0"/>
              <a:t>Created a wide diversity of </a:t>
            </a:r>
            <a:r>
              <a:rPr lang="en-US" dirty="0">
                <a:solidFill>
                  <a:srgbClr val="FF0000"/>
                </a:solidFill>
              </a:rPr>
              <a:t>workflows and programs—or data pipelines—to process that data </a:t>
            </a:r>
          </a:p>
          <a:p>
            <a:pPr lvl="1"/>
            <a:r>
              <a:rPr lang="en-US" dirty="0"/>
              <a:t>(e.g., clean, filter, aggregate, move, load)</a:t>
            </a:r>
          </a:p>
          <a:p>
            <a:pPr lvl="1"/>
            <a:r>
              <a:rPr lang="en-US" dirty="0"/>
              <a:t>for a variety of purposes and use cases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Origin</a:t>
            </a:r>
          </a:p>
        </p:txBody>
      </p:sp>
    </p:spTree>
    <p:extLst>
      <p:ext uri="{BB962C8B-B14F-4D97-AF65-F5344CB8AC3E}">
        <p14:creationId xmlns:p14="http://schemas.microsoft.com/office/powerpoint/2010/main" val="2582451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Pipelines(2)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/>
          <a:lstStyle/>
          <a:p>
            <a:r>
              <a:rPr lang="en-US" dirty="0"/>
              <a:t>Represents the encoded flow of data from source to consumption</a:t>
            </a:r>
          </a:p>
          <a:p>
            <a:r>
              <a:rPr lang="en-US" dirty="0"/>
              <a:t>Some data pipelines are simple: </a:t>
            </a:r>
          </a:p>
          <a:p>
            <a:pPr lvl="1"/>
            <a:r>
              <a:rPr lang="en-US" dirty="0"/>
              <a:t>“Export this data into a CSV file and place into this folder.” </a:t>
            </a:r>
          </a:p>
          <a:p>
            <a:r>
              <a:rPr lang="en-US" dirty="0"/>
              <a:t>But others are complex: </a:t>
            </a:r>
          </a:p>
          <a:p>
            <a:pPr lvl="1"/>
            <a:r>
              <a:rPr lang="en-US" dirty="0"/>
              <a:t>“Move tables from 10 sources into a target database, merge common fields, array into a dimensional schema, aggregate by year, flag null values, convert into an extract for a BI tool, and generate personalized dashboards based on the data.”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Simple vs Complex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00" y="4495800"/>
            <a:ext cx="5648325" cy="8382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8678" y="3581400"/>
            <a:ext cx="5867400" cy="303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6022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Pipelines(3)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1738312"/>
            <a:ext cx="8534400" cy="4205288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Use Cases</a:t>
            </a:r>
          </a:p>
        </p:txBody>
      </p:sp>
    </p:spTree>
    <p:extLst>
      <p:ext uri="{BB962C8B-B14F-4D97-AF65-F5344CB8AC3E}">
        <p14:creationId xmlns:p14="http://schemas.microsoft.com/office/powerpoint/2010/main" val="40548952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Pipelines(4)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495799"/>
          </a:xfrm>
        </p:spPr>
        <p:txBody>
          <a:bodyPr>
            <a:normAutofit/>
          </a:bodyPr>
          <a:lstStyle/>
          <a:p>
            <a:r>
              <a:rPr lang="en-US" dirty="0"/>
              <a:t>A development pipeline</a:t>
            </a:r>
          </a:p>
          <a:p>
            <a:pPr lvl="1"/>
            <a:r>
              <a:rPr lang="en-US" dirty="0"/>
              <a:t>creates code to process data for a new pipeline</a:t>
            </a:r>
          </a:p>
          <a:p>
            <a:pPr lvl="1"/>
            <a:endParaRPr lang="en-US" dirty="0"/>
          </a:p>
          <a:p>
            <a:r>
              <a:rPr lang="en-US" dirty="0"/>
              <a:t>An execution pipeline </a:t>
            </a:r>
          </a:p>
          <a:p>
            <a:pPr lvl="1"/>
            <a:r>
              <a:rPr lang="en-US" dirty="0"/>
              <a:t>runs the pipeline in production</a:t>
            </a:r>
          </a:p>
          <a:p>
            <a:endParaRPr lang="en-US" dirty="0"/>
          </a:p>
          <a:p>
            <a:r>
              <a:rPr lang="en-US" dirty="0"/>
              <a:t>In most IT shops</a:t>
            </a:r>
          </a:p>
          <a:p>
            <a:pPr lvl="1"/>
            <a:r>
              <a:rPr lang="en-US" dirty="0"/>
              <a:t>these are managed by different teams, creating tremendous inefficiencies</a:t>
            </a:r>
          </a:p>
          <a:p>
            <a:pPr lvl="1"/>
            <a:r>
              <a:rPr lang="en-US" dirty="0"/>
              <a:t>developers can build or change code without being responsible for its downstream impacts</a:t>
            </a:r>
          </a:p>
          <a:p>
            <a:pPr lvl="1"/>
            <a:r>
              <a:rPr lang="en-US" dirty="0"/>
              <a:t>inevitably increases error rates, delays delivery and frustrates business users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Two types</a:t>
            </a:r>
          </a:p>
        </p:txBody>
      </p:sp>
    </p:spTree>
    <p:extLst>
      <p:ext uri="{BB962C8B-B14F-4D97-AF65-F5344CB8AC3E}">
        <p14:creationId xmlns:p14="http://schemas.microsoft.com/office/powerpoint/2010/main" val="2472512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Pipelines(4)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Development and Execution Pipelines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1773845"/>
            <a:ext cx="8712200" cy="394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6800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Pipelines(5)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419599"/>
          </a:xfrm>
        </p:spPr>
        <p:txBody>
          <a:bodyPr>
            <a:normAutofit/>
          </a:bodyPr>
          <a:lstStyle/>
          <a:p>
            <a:r>
              <a:rPr lang="en-US" dirty="0"/>
              <a:t>Although most data analytics pipelines are fairly complex, with dozens or hundreds of steps, most consist of the following stages:</a:t>
            </a:r>
          </a:p>
          <a:p>
            <a:endParaRPr lang="en-US" dirty="0"/>
          </a:p>
          <a:p>
            <a:r>
              <a:rPr lang="en-US" dirty="0"/>
              <a:t>Data Ingestion</a:t>
            </a:r>
          </a:p>
          <a:p>
            <a:pPr lvl="1"/>
            <a:r>
              <a:rPr lang="en-US" dirty="0"/>
              <a:t>Data from various sources is extracted, validated, and loaded into downstream systems.</a:t>
            </a:r>
          </a:p>
          <a:p>
            <a:r>
              <a:rPr lang="en-US" dirty="0"/>
              <a:t>Data Transformation</a:t>
            </a:r>
          </a:p>
          <a:p>
            <a:pPr lvl="1"/>
            <a:r>
              <a:rPr lang="en-US" dirty="0"/>
              <a:t>Data is cleansed, enriched, integrated, and modeled to support the target application or data structure.</a:t>
            </a:r>
          </a:p>
          <a:p>
            <a:r>
              <a:rPr lang="en-US" dirty="0"/>
              <a:t>Data Analysis</a:t>
            </a:r>
          </a:p>
          <a:p>
            <a:pPr lvl="1"/>
            <a:r>
              <a:rPr lang="en-US" dirty="0"/>
              <a:t>Data is analyzed refined, and packaged in data models to provide certain insights or fulfill a task.</a:t>
            </a:r>
          </a:p>
          <a:p>
            <a:r>
              <a:rPr lang="en-US" dirty="0"/>
              <a:t>Data Visualization</a:t>
            </a:r>
          </a:p>
          <a:p>
            <a:pPr lvl="1"/>
            <a:r>
              <a:rPr lang="en-US" dirty="0"/>
              <a:t>Data is visualized in a suitable manner, e.g., a static report or an interactive dashboard.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Generic Pipeline (Major)</a:t>
            </a:r>
          </a:p>
        </p:txBody>
      </p:sp>
    </p:spTree>
    <p:extLst>
      <p:ext uri="{BB962C8B-B14F-4D97-AF65-F5344CB8AC3E}">
        <p14:creationId xmlns:p14="http://schemas.microsoft.com/office/powerpoint/2010/main" val="24862582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Pipelines(6)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724399"/>
          </a:xfrm>
        </p:spPr>
        <p:txBody>
          <a:bodyPr>
            <a:normAutofit/>
          </a:bodyPr>
          <a:lstStyle/>
          <a:p>
            <a:r>
              <a:rPr lang="en-US" dirty="0"/>
              <a:t>Data analytics pipelines </a:t>
            </a:r>
          </a:p>
          <a:p>
            <a:pPr lvl="1"/>
            <a:r>
              <a:rPr lang="en-US" dirty="0"/>
              <a:t>often span multiple functions supported by different specialists </a:t>
            </a:r>
          </a:p>
          <a:p>
            <a:pPr lvl="1"/>
            <a:r>
              <a:rPr lang="en-US" dirty="0"/>
              <a:t>who use a variety of tools and technologies</a:t>
            </a:r>
          </a:p>
          <a:p>
            <a:pPr lvl="1"/>
            <a:endParaRPr lang="en-US" dirty="0"/>
          </a:p>
          <a:p>
            <a:r>
              <a:rPr lang="en-US" dirty="0"/>
              <a:t>A data engineer </a:t>
            </a:r>
          </a:p>
          <a:p>
            <a:pPr lvl="1"/>
            <a:r>
              <a:rPr lang="en-US" dirty="0"/>
              <a:t>uses ETL or data preparation tools </a:t>
            </a:r>
          </a:p>
          <a:p>
            <a:pPr lvl="1"/>
            <a:r>
              <a:rPr lang="en-US" dirty="0"/>
              <a:t>to extract data from a source and load it to a central data warehouse or data set</a:t>
            </a:r>
          </a:p>
          <a:p>
            <a:r>
              <a:rPr lang="en-US" dirty="0"/>
              <a:t>A BI developer </a:t>
            </a:r>
          </a:p>
          <a:p>
            <a:pPr lvl="1"/>
            <a:r>
              <a:rPr lang="en-US" dirty="0"/>
              <a:t>uses a visualization tool </a:t>
            </a:r>
          </a:p>
          <a:p>
            <a:pPr lvl="1"/>
            <a:r>
              <a:rPr lang="en-US" dirty="0"/>
              <a:t>to build a chart, report or dashboard which is consumed by business users</a:t>
            </a:r>
          </a:p>
          <a:p>
            <a:r>
              <a:rPr lang="en-US" dirty="0"/>
              <a:t>A data scientist </a:t>
            </a:r>
          </a:p>
          <a:p>
            <a:pPr lvl="1"/>
            <a:r>
              <a:rPr lang="en-US" dirty="0"/>
              <a:t>might then use Python or R </a:t>
            </a:r>
          </a:p>
          <a:p>
            <a:pPr lvl="1"/>
            <a:r>
              <a:rPr lang="en-US" dirty="0"/>
              <a:t>to build a predictive model that provides data for a business application managed by a software developer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People and Tools</a:t>
            </a:r>
          </a:p>
        </p:txBody>
      </p:sp>
    </p:spTree>
    <p:extLst>
      <p:ext uri="{BB962C8B-B14F-4D97-AF65-F5344CB8AC3E}">
        <p14:creationId xmlns:p14="http://schemas.microsoft.com/office/powerpoint/2010/main" val="34013623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Pipelines(7)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57199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To manage this complexity, it helps to divide individual stages into micro-pipelines </a:t>
            </a:r>
          </a:p>
          <a:p>
            <a:pPr lvl="1"/>
            <a:r>
              <a:rPr lang="en-US" dirty="0"/>
              <a:t>to ensure that changes can be made to each step without disrupting the entire flow</a:t>
            </a:r>
          </a:p>
          <a:p>
            <a:endParaRPr lang="en-US" dirty="0"/>
          </a:p>
          <a:p>
            <a:r>
              <a:rPr lang="en-US" dirty="0"/>
              <a:t>The micro-pipelines consist of the following steps:</a:t>
            </a:r>
          </a:p>
          <a:p>
            <a:r>
              <a:rPr lang="en-US" dirty="0"/>
              <a:t>Requirement</a:t>
            </a:r>
          </a:p>
          <a:p>
            <a:pPr lvl="1"/>
            <a:r>
              <a:rPr lang="en-US" dirty="0"/>
              <a:t>Agile methods, such as Scrum and Kanban, elicit requirements from stakeholders in an iterative manner</a:t>
            </a:r>
          </a:p>
          <a:p>
            <a:pPr lvl="1"/>
            <a:r>
              <a:rPr lang="en-US" dirty="0"/>
              <a:t>A requirement could be the integration of a new data source in an ETL process or the addition of a new field to a database table</a:t>
            </a:r>
          </a:p>
          <a:p>
            <a:endParaRPr lang="en-US" dirty="0"/>
          </a:p>
          <a:p>
            <a:r>
              <a:rPr lang="en-US" dirty="0"/>
              <a:t>Development</a:t>
            </a:r>
          </a:p>
          <a:p>
            <a:pPr lvl="1"/>
            <a:r>
              <a:rPr lang="en-US" dirty="0"/>
              <a:t>In data and analytics, development does not necessarily mean programming</a:t>
            </a:r>
          </a:p>
          <a:p>
            <a:pPr lvl="1"/>
            <a:r>
              <a:rPr lang="en-US" dirty="0"/>
              <a:t>it can comprise tasks like changing a data model or reconfiguring a dash-board </a:t>
            </a:r>
          </a:p>
          <a:p>
            <a:pPr lvl="1"/>
            <a:r>
              <a:rPr lang="en-US" dirty="0"/>
              <a:t>Requires a high level of automation</a:t>
            </a:r>
          </a:p>
          <a:p>
            <a:pPr lvl="1"/>
            <a:r>
              <a:rPr lang="en-US" dirty="0"/>
              <a:t>e.g., automatically generating database queries when a model is changed, to avoid repetitive manual work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Micro Pipeline</a:t>
            </a:r>
          </a:p>
        </p:txBody>
      </p:sp>
    </p:spTree>
    <p:extLst>
      <p:ext uri="{BB962C8B-B14F-4D97-AF65-F5344CB8AC3E}">
        <p14:creationId xmlns:p14="http://schemas.microsoft.com/office/powerpoint/2010/main" val="35402641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Pipelines(8)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724399"/>
          </a:xfrm>
        </p:spPr>
        <p:txBody>
          <a:bodyPr>
            <a:normAutofit/>
          </a:bodyPr>
          <a:lstStyle/>
          <a:p>
            <a:r>
              <a:rPr lang="en-US" dirty="0"/>
              <a:t>Testing/Tuning</a:t>
            </a:r>
          </a:p>
          <a:p>
            <a:pPr lvl="1"/>
            <a:r>
              <a:rPr lang="en-US" dirty="0"/>
              <a:t>Testing is often neglected in data and analytics, as building an adequate testing environment in complex analytics solutions can be difficult</a:t>
            </a:r>
          </a:p>
          <a:p>
            <a:pPr lvl="1"/>
            <a:r>
              <a:rPr lang="en-US" dirty="0"/>
              <a:t>Many tools simply lack testing functions</a:t>
            </a:r>
          </a:p>
          <a:p>
            <a:endParaRPr lang="en-US" dirty="0"/>
          </a:p>
          <a:p>
            <a:r>
              <a:rPr lang="en-US" dirty="0"/>
              <a:t>Production/Monitoring</a:t>
            </a:r>
          </a:p>
          <a:p>
            <a:pPr lvl="1"/>
            <a:r>
              <a:rPr lang="en-US" dirty="0"/>
              <a:t>After testing, changes are deployed to production</a:t>
            </a:r>
          </a:p>
          <a:p>
            <a:pPr lvl="1"/>
            <a:r>
              <a:rPr lang="en-US" dirty="0"/>
              <a:t>Should be a fully automated, documented, and easily reversible</a:t>
            </a:r>
          </a:p>
          <a:p>
            <a:pPr lvl="1"/>
            <a:endParaRPr lang="en-US" dirty="0"/>
          </a:p>
          <a:p>
            <a:r>
              <a:rPr lang="en-US" dirty="0"/>
              <a:t>Orchestration and Automation</a:t>
            </a:r>
          </a:p>
          <a:p>
            <a:pPr lvl="1"/>
            <a:r>
              <a:rPr lang="en-US" dirty="0"/>
              <a:t>A key function is to orchestrate and automate the flow of data and code between people and tools in an efficient manner </a:t>
            </a:r>
          </a:p>
          <a:p>
            <a:pPr lvl="1"/>
            <a:r>
              <a:rPr lang="en-US" dirty="0"/>
              <a:t>that ensures clean handoffs and minimal errors and disruptions</a:t>
            </a:r>
          </a:p>
          <a:p>
            <a:pPr lvl="1"/>
            <a:r>
              <a:rPr lang="en-US" dirty="0"/>
              <a:t>With complex pipelines, this can be challenging, making orchestration and automation key facilities in any implementation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Micro Pipeline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27805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571999"/>
          </a:xfrm>
        </p:spPr>
        <p:txBody>
          <a:bodyPr>
            <a:normAutofit/>
          </a:bodyPr>
          <a:lstStyle/>
          <a:p>
            <a:r>
              <a:rPr lang="en-US" dirty="0"/>
              <a:t>Tests are central to both types of pipelines</a:t>
            </a:r>
          </a:p>
          <a:p>
            <a:pPr lvl="1"/>
            <a:r>
              <a:rPr lang="en-US" dirty="0"/>
              <a:t>In development pipelines, the data is fixed but code is variable</a:t>
            </a:r>
          </a:p>
          <a:p>
            <a:pPr lvl="1"/>
            <a:r>
              <a:rPr lang="en-US" dirty="0"/>
              <a:t>In production the data is variable and code is fixed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Development tests the code, and production tests the data!</a:t>
            </a:r>
          </a:p>
          <a:p>
            <a:endParaRPr lang="en-US" dirty="0"/>
          </a:p>
          <a:p>
            <a:r>
              <a:rPr lang="en-US" dirty="0"/>
              <a:t>Teams must build tests for both types of pipelines </a:t>
            </a:r>
          </a:p>
          <a:p>
            <a:pPr lvl="1"/>
            <a:r>
              <a:rPr lang="en-US" dirty="0"/>
              <a:t>run them continuously in both development and production </a:t>
            </a:r>
          </a:p>
          <a:p>
            <a:pPr lvl="1"/>
            <a:r>
              <a:rPr lang="en-US" dirty="0"/>
              <a:t>to ensure that changes don’t adversely affect outcomes</a:t>
            </a:r>
          </a:p>
          <a:p>
            <a:pPr lvl="1"/>
            <a:r>
              <a:rPr lang="en-US" dirty="0"/>
              <a:t>which accelerates development and minimize operational delays</a:t>
            </a:r>
          </a:p>
          <a:p>
            <a:endParaRPr lang="en-US" dirty="0"/>
          </a:p>
          <a:p>
            <a:r>
              <a:rPr lang="en-US" dirty="0"/>
              <a:t>Unfortunately, too many development shops make changes, perform minimal tests, </a:t>
            </a:r>
          </a:p>
          <a:p>
            <a:pPr lvl="1"/>
            <a:r>
              <a:rPr lang="en-US" dirty="0"/>
              <a:t>then cross their fingers that the changes don’t break something!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Need</a:t>
            </a:r>
          </a:p>
        </p:txBody>
      </p:sp>
    </p:spTree>
    <p:extLst>
      <p:ext uri="{BB962C8B-B14F-4D97-AF65-F5344CB8AC3E}">
        <p14:creationId xmlns:p14="http://schemas.microsoft.com/office/powerpoint/2010/main" val="28746229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Testing(2)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Finding issues before internal customers do is critically important for a development team</a:t>
            </a:r>
          </a:p>
          <a:p>
            <a:r>
              <a:rPr lang="en-US" dirty="0"/>
              <a:t>Three types of tests</a:t>
            </a:r>
          </a:p>
          <a:p>
            <a:pPr lvl="1"/>
            <a:r>
              <a:rPr lang="en-US" dirty="0"/>
              <a:t>Data input tests prevent bad data from entering a new node in a pipeline stage</a:t>
            </a:r>
          </a:p>
          <a:p>
            <a:pPr lvl="1"/>
            <a:r>
              <a:rPr lang="en-US" dirty="0"/>
              <a:t>Business logic tests validate that data matches business assumptions</a:t>
            </a:r>
          </a:p>
          <a:p>
            <a:pPr lvl="1"/>
            <a:r>
              <a:rPr lang="en-US" dirty="0"/>
              <a:t>Data output tests verify that a pipeline stage executed properly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Types of Tests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0150" y="3200400"/>
            <a:ext cx="6057900" cy="340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3557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800599"/>
          </a:xfrm>
        </p:spPr>
        <p:txBody>
          <a:bodyPr/>
          <a:lstStyle/>
          <a:p>
            <a:r>
              <a:rPr lang="en-US" dirty="0"/>
              <a:t>The Ultimate Guide to DataOps Product Evaluation and Selection Criteria</a:t>
            </a:r>
          </a:p>
          <a:p>
            <a:r>
              <a:rPr lang="en-US" dirty="0"/>
              <a:t>DataOps: Industrializing Data and Analytics Strategies for Streamlining the Delivery of Insights</a:t>
            </a:r>
          </a:p>
          <a:p>
            <a:r>
              <a:rPr lang="en-US" dirty="0"/>
              <a:t>IBM DataOps How and Why Whitepaper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02818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657600"/>
            <a:ext cx="10515600" cy="904875"/>
          </a:xfrm>
        </p:spPr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7982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3266</TotalTime>
  <Words>1056</Words>
  <Application>Microsoft Office PowerPoint</Application>
  <PresentationFormat>Widescreen</PresentationFormat>
  <Paragraphs>142</Paragraphs>
  <Slides>17</Slides>
  <Notes>0</Notes>
  <HiddenSlides>4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Helvetica</vt:lpstr>
      <vt:lpstr>Helvetica Light</vt:lpstr>
      <vt:lpstr>Office Theme</vt:lpstr>
      <vt:lpstr>Data Pipelines - II </vt:lpstr>
      <vt:lpstr>Agenda</vt:lpstr>
      <vt:lpstr>Data Analytics Pipelines</vt:lpstr>
      <vt:lpstr>Immature Data and Analytics Processes</vt:lpstr>
      <vt:lpstr>Data Pipelines</vt:lpstr>
      <vt:lpstr>Data Pipelines(2)</vt:lpstr>
      <vt:lpstr>Data Pipelines(3)</vt:lpstr>
      <vt:lpstr>Data Pipelines(4)</vt:lpstr>
      <vt:lpstr>Data Pipelines(4)</vt:lpstr>
      <vt:lpstr>Data Pipelines(5)</vt:lpstr>
      <vt:lpstr>Data Pipelines(6)</vt:lpstr>
      <vt:lpstr>Data Pipelines(7)</vt:lpstr>
      <vt:lpstr>Data Pipelines(8)</vt:lpstr>
      <vt:lpstr>Testing </vt:lpstr>
      <vt:lpstr>Testing(2)</vt:lpstr>
      <vt:lpstr>References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BITS</cp:lastModifiedBy>
  <cp:revision>275</cp:revision>
  <dcterms:created xsi:type="dcterms:W3CDTF">2018-10-16T06:13:57Z</dcterms:created>
  <dcterms:modified xsi:type="dcterms:W3CDTF">2024-12-21T04:13:57Z</dcterms:modified>
</cp:coreProperties>
</file>