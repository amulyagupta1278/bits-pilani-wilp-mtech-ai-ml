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8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5" r:id="rId13"/>
    <p:sldId id="294" r:id="rId14"/>
    <p:sldId id="296" r:id="rId15"/>
    <p:sldId id="29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4" d="100"/>
          <a:sy n="64" d="100"/>
        </p:scale>
        <p:origin x="738" y="60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6/24/2023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Science Infrastructure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0" y="5105400"/>
            <a:ext cx="5044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</a:t>
            </a:r>
            <a:endParaRPr lang="en-US" dirty="0" smtClean="0"/>
          </a:p>
          <a:p>
            <a:r>
              <a:rPr lang="en-US" dirty="0" smtClean="0"/>
              <a:t>Effective </a:t>
            </a:r>
            <a:r>
              <a:rPr lang="en-US" dirty="0"/>
              <a:t>Data </a:t>
            </a:r>
            <a:r>
              <a:rPr lang="en-US" dirty="0" smtClean="0"/>
              <a:t>Science Infrastructure </a:t>
            </a:r>
          </a:p>
          <a:p>
            <a:r>
              <a:rPr lang="en-US" dirty="0"/>
              <a:t>By Ville </a:t>
            </a:r>
            <a:r>
              <a:rPr lang="en-US" dirty="0" err="1"/>
              <a:t>Tuulos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Paradigm Shift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biggest paradigm shifts in computing happen not when impossible things become possible, but when </a:t>
            </a:r>
            <a:r>
              <a:rPr lang="en-US" dirty="0">
                <a:solidFill>
                  <a:srgbClr val="FF0000"/>
                </a:solidFill>
              </a:rPr>
              <a:t>possible things become easy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Call </a:t>
            </a:r>
            <a:r>
              <a:rPr lang="en-US" dirty="0"/>
              <a:t>it machine learning, artificial intelligence, or data </a:t>
            </a:r>
            <a:r>
              <a:rPr lang="en-US" dirty="0" smtClean="0"/>
              <a:t>science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is </a:t>
            </a:r>
            <a:r>
              <a:rPr lang="en-US" dirty="0"/>
              <a:t>on the cusp of </a:t>
            </a:r>
            <a:r>
              <a:rPr lang="en-US" dirty="0" smtClean="0"/>
              <a:t>becoming radically </a:t>
            </a:r>
            <a:r>
              <a:rPr lang="en-US" dirty="0">
                <a:solidFill>
                  <a:srgbClr val="FF0000"/>
                </a:solidFill>
              </a:rPr>
              <a:t>more approachable </a:t>
            </a:r>
            <a:r>
              <a:rPr lang="en-US" dirty="0"/>
              <a:t>than ever </a:t>
            </a:r>
            <a:r>
              <a:rPr lang="en-US" dirty="0" smtClean="0"/>
              <a:t>before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More </a:t>
            </a:r>
            <a:r>
              <a:rPr lang="en-US" dirty="0"/>
              <a:t>people will be able to build more, </a:t>
            </a:r>
            <a:r>
              <a:rPr lang="en-US" dirty="0" smtClean="0"/>
              <a:t>smarter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This </a:t>
            </a:r>
            <a:r>
              <a:rPr lang="en-US" dirty="0">
                <a:solidFill>
                  <a:srgbClr val="FF0000"/>
                </a:solidFill>
              </a:rPr>
              <a:t>is super exciting!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of a Data Science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756356"/>
            <a:ext cx="4076700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of a Data Science Project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Details of the </a:t>
            </a:r>
            <a:r>
              <a:rPr lang="en-US" dirty="0">
                <a:solidFill>
                  <a:srgbClr val="FF0000"/>
                </a:solidFill>
              </a:rPr>
              <a:t>life cycle will naturally vary between companies and projects</a:t>
            </a:r>
            <a:r>
              <a:rPr lang="en-US" dirty="0"/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 you develop a predictive model for customer lifetime value differs greatly from building self-driving cars.</a:t>
            </a:r>
          </a:p>
          <a:p>
            <a:endParaRPr lang="en-US" dirty="0"/>
          </a:p>
          <a:p>
            <a:r>
              <a:rPr lang="en-US" dirty="0"/>
              <a:t>However, all data science and machine learning projects have a </a:t>
            </a:r>
            <a:r>
              <a:rPr lang="en-US" dirty="0">
                <a:solidFill>
                  <a:srgbClr val="FF0000"/>
                </a:solidFill>
              </a:rPr>
              <a:t>few key elements in common</a:t>
            </a:r>
            <a:r>
              <a:rPr lang="en-US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the technical point of view, all projects </a:t>
            </a:r>
            <a:r>
              <a:rPr lang="en-US" dirty="0">
                <a:solidFill>
                  <a:srgbClr val="FF0000"/>
                </a:solidFill>
              </a:rPr>
              <a:t>involve data and computation </a:t>
            </a:r>
            <a:r>
              <a:rPr lang="en-US" dirty="0"/>
              <a:t>at their foundation.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 projects will eventually need to address the question of</a:t>
            </a:r>
            <a:r>
              <a:rPr lang="en-US" dirty="0">
                <a:solidFill>
                  <a:srgbClr val="FF0000"/>
                </a:solidFill>
              </a:rPr>
              <a:t> integrating results into production systems </a:t>
            </a:r>
            <a:r>
              <a:rPr lang="en-US" dirty="0"/>
              <a:t>which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typically </a:t>
            </a:r>
            <a:r>
              <a:rPr lang="en-US" dirty="0"/>
              <a:t>involves a great </a:t>
            </a:r>
            <a:r>
              <a:rPr lang="en-US" dirty="0" smtClean="0"/>
              <a:t>deal of </a:t>
            </a:r>
            <a:r>
              <a:rPr lang="en-US" dirty="0"/>
              <a:t>software engineering.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Finally, in the human point of view, all projects involve </a:t>
            </a:r>
            <a:r>
              <a:rPr lang="en-US" dirty="0">
                <a:solidFill>
                  <a:srgbClr val="FF0000"/>
                </a:solidFill>
              </a:rPr>
              <a:t>experimentation and iteration</a:t>
            </a:r>
            <a:r>
              <a:rPr lang="en-US" dirty="0"/>
              <a:t>, which many consider to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be </a:t>
            </a:r>
            <a:r>
              <a:rPr lang="en-US" dirty="0"/>
              <a:t>the central activity of data science.</a:t>
            </a:r>
          </a:p>
          <a:p>
            <a:endParaRPr lang="en-US" dirty="0"/>
          </a:p>
          <a:p>
            <a:r>
              <a:rPr lang="en-US" dirty="0"/>
              <a:t>Certainly possible for individuals companies or teams to come up with their own bespoke processes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and </a:t>
            </a:r>
            <a:r>
              <a:rPr lang="en-US" dirty="0"/>
              <a:t>practices to conduct data science projects,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 common infrastructure</a:t>
            </a:r>
            <a:r>
              <a:rPr lang="en-US" dirty="0"/>
              <a:t> can help to increase the number of projects that can be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executed simultaneously (</a:t>
            </a:r>
            <a:r>
              <a:rPr lang="en-US" dirty="0">
                <a:solidFill>
                  <a:srgbClr val="FF0000"/>
                </a:solidFill>
              </a:rPr>
              <a:t>volume</a:t>
            </a:r>
            <a:r>
              <a:rPr lang="en-US" dirty="0"/>
              <a:t>),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speed up the time-to-market (</a:t>
            </a:r>
            <a:r>
              <a:rPr lang="en-US" dirty="0">
                <a:solidFill>
                  <a:srgbClr val="FF0000"/>
                </a:solidFill>
              </a:rPr>
              <a:t>velocity</a:t>
            </a:r>
            <a:r>
              <a:rPr lang="en-US" dirty="0"/>
              <a:t>),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ensure that the results are robust (</a:t>
            </a:r>
            <a:r>
              <a:rPr lang="en-US" dirty="0">
                <a:solidFill>
                  <a:srgbClr val="FF0000"/>
                </a:solidFill>
              </a:rPr>
              <a:t>validity</a:t>
            </a:r>
            <a:r>
              <a:rPr lang="en-US" dirty="0"/>
              <a:t>), and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make it possible to support a larger </a:t>
            </a:r>
            <a:r>
              <a:rPr lang="en-US" dirty="0">
                <a:solidFill>
                  <a:srgbClr val="FF0000"/>
                </a:solidFill>
              </a:rPr>
              <a:t>variety</a:t>
            </a:r>
            <a:r>
              <a:rPr lang="en-US" dirty="0"/>
              <a:t> of projects.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Common Elements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241" y="228600"/>
            <a:ext cx="9321800" cy="764364"/>
          </a:xfrm>
        </p:spPr>
        <p:txBody>
          <a:bodyPr/>
          <a:lstStyle/>
          <a:p>
            <a:r>
              <a:rPr lang="en-IN" dirty="0"/>
              <a:t>Data Science Infrastructure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/>
          <a:lstStyle/>
          <a:p>
            <a:r>
              <a:rPr lang="en-US" dirty="0"/>
              <a:t>The infrastructure for data science is going through an evolution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Primordial machine learning and optimization </a:t>
            </a:r>
            <a:r>
              <a:rPr lang="en-US" dirty="0">
                <a:solidFill>
                  <a:srgbClr val="FF0000"/>
                </a:solidFill>
              </a:rPr>
              <a:t>libraries have existed for decades </a:t>
            </a:r>
            <a:r>
              <a:rPr lang="en-US" dirty="0"/>
              <a:t>without much other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infrastructure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As of 2020, experiencing a Cambrian </a:t>
            </a:r>
            <a:r>
              <a:rPr lang="en-US" dirty="0">
                <a:solidFill>
                  <a:srgbClr val="FF0000"/>
                </a:solidFill>
              </a:rPr>
              <a:t>explosion of data science libraries, frameworks, and </a:t>
            </a:r>
            <a:r>
              <a:rPr lang="en-US" dirty="0" smtClean="0">
                <a:solidFill>
                  <a:srgbClr val="FF0000"/>
                </a:solidFill>
              </a:rPr>
              <a:t>infrastructures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often driven by commercial interests, similar to what happened during the Dotcom boom.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Widely </a:t>
            </a:r>
            <a:r>
              <a:rPr lang="en-US" dirty="0"/>
              <a:t>shared patterns will emerge from this soup which will form the basis of a </a:t>
            </a:r>
            <a:r>
              <a:rPr lang="en-US" dirty="0">
                <a:solidFill>
                  <a:srgbClr val="FF0000"/>
                </a:solidFill>
              </a:rPr>
              <a:t>common, open-source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infrastructure </a:t>
            </a:r>
            <a:r>
              <a:rPr lang="en-US" dirty="0">
                <a:solidFill>
                  <a:srgbClr val="FF0000"/>
                </a:solidFill>
              </a:rPr>
              <a:t>stack for data </a:t>
            </a:r>
            <a:r>
              <a:rPr lang="en-US" dirty="0" smtClean="0">
                <a:solidFill>
                  <a:srgbClr val="FF0000"/>
                </a:solidFill>
              </a:rPr>
              <a:t>science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Evolution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560539" cy="4648199"/>
          </a:xfrm>
        </p:spPr>
        <p:txBody>
          <a:bodyPr/>
          <a:lstStyle/>
          <a:p>
            <a:r>
              <a:rPr lang="en-US" dirty="0" smtClean="0"/>
              <a:t>Because </a:t>
            </a:r>
            <a:r>
              <a:rPr lang="en-US" dirty="0"/>
              <a:t>of culture of open source and relatively free technical information sharing between companies,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been able to observe and collect common patterns in data science projects and infrastructure components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implementation details vary, the major infrastructural layers are relatively uniform across a large number of projects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each layer can be implemented in various ways, driven by the specific needs of their environment and use cases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but the big picture is remarkably </a:t>
            </a:r>
            <a:r>
              <a:rPr lang="en-US" dirty="0" smtClean="0">
                <a:solidFill>
                  <a:srgbClr val="FF0000"/>
                </a:solidFill>
              </a:rPr>
              <a:t>consistent!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The most fundamental, generic components 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are </a:t>
            </a:r>
            <a:r>
              <a:rPr lang="en-US" dirty="0">
                <a:solidFill>
                  <a:srgbClr val="FF0000"/>
                </a:solidFill>
              </a:rPr>
              <a:t>at the bottom of the stack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The layers become more specific to data science 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towards </a:t>
            </a:r>
            <a:r>
              <a:rPr lang="en-US" dirty="0">
                <a:solidFill>
                  <a:srgbClr val="FF0000"/>
                </a:solidFill>
              </a:rPr>
              <a:t>the top of the stack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The stack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048000"/>
            <a:ext cx="38576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(3)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8357553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Warehouse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Place where </a:t>
            </a:r>
            <a:r>
              <a:rPr lang="en-US" dirty="0">
                <a:solidFill>
                  <a:srgbClr val="FF0000"/>
                </a:solidFill>
              </a:rPr>
              <a:t>data is stored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Doesn’t do anything by itself but </a:t>
            </a:r>
            <a:r>
              <a:rPr lang="en-US" dirty="0">
                <a:solidFill>
                  <a:srgbClr val="FF0000"/>
                </a:solidFill>
              </a:rPr>
              <a:t>how data is stored is critical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 challenge is to </a:t>
            </a:r>
            <a:r>
              <a:rPr lang="en-US" dirty="0">
                <a:solidFill>
                  <a:srgbClr val="FF0000"/>
                </a:solidFill>
              </a:rPr>
              <a:t>lay out the data </a:t>
            </a:r>
            <a:r>
              <a:rPr lang="en-US" dirty="0"/>
              <a:t>in a way that makes it </a:t>
            </a:r>
            <a:r>
              <a:rPr lang="en-US" dirty="0">
                <a:solidFill>
                  <a:srgbClr val="FF0000"/>
                </a:solidFill>
              </a:rPr>
              <a:t>easily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discoverable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efficiently accessible </a:t>
            </a:r>
            <a:r>
              <a:rPr lang="en-US" dirty="0"/>
              <a:t>by data science applications </a:t>
            </a:r>
            <a:r>
              <a:rPr lang="en-US" dirty="0" smtClean="0"/>
              <a:t>while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maintaining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high degree of durability 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naturally </a:t>
            </a:r>
            <a:r>
              <a:rPr lang="en-US" dirty="0"/>
              <a:t>the data warehouse must not lose data. </a:t>
            </a:r>
          </a:p>
          <a:p>
            <a:endParaRPr lang="en-US" dirty="0"/>
          </a:p>
          <a:p>
            <a:r>
              <a:rPr lang="en-US" dirty="0" smtClean="0"/>
              <a:t>Compute </a:t>
            </a:r>
            <a:r>
              <a:rPr lang="en-US" dirty="0"/>
              <a:t>Resources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Need to have a </a:t>
            </a:r>
            <a:r>
              <a:rPr lang="en-US" dirty="0">
                <a:solidFill>
                  <a:srgbClr val="FF0000"/>
                </a:solidFill>
              </a:rPr>
              <a:t>way to do something with data</a:t>
            </a:r>
            <a:r>
              <a:rPr lang="en-US" dirty="0"/>
              <a:t>, in other words, take some data,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apply </a:t>
            </a:r>
            <a:r>
              <a:rPr lang="en-US" dirty="0"/>
              <a:t>an algorithm and get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challenge is that </a:t>
            </a:r>
            <a:r>
              <a:rPr lang="en-US" dirty="0">
                <a:solidFill>
                  <a:srgbClr val="FF0000"/>
                </a:solidFill>
              </a:rPr>
              <a:t>algorithms come in many shapes and sizes </a:t>
            </a:r>
            <a:r>
              <a:rPr lang="en-US" dirty="0"/>
              <a:t>and need to </a:t>
            </a:r>
            <a:r>
              <a:rPr lang="en-US" dirty="0">
                <a:solidFill>
                  <a:srgbClr val="FF0000"/>
                </a:solidFill>
              </a:rPr>
              <a:t>run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many </a:t>
            </a:r>
            <a:r>
              <a:rPr lang="en-US" dirty="0">
                <a:solidFill>
                  <a:srgbClr val="FF0000"/>
                </a:solidFill>
              </a:rPr>
              <a:t>of them, often in parallel, very frequently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Need a system that can provide computing </a:t>
            </a:r>
            <a:r>
              <a:rPr lang="en-US" dirty="0">
                <a:solidFill>
                  <a:srgbClr val="FF0000"/>
                </a:solidFill>
              </a:rPr>
              <a:t>resources on demand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compute layer doesn’t dictate what is computed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blindly accepts an algorithm from the outside world and executes it, consuming and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producing </a:t>
            </a:r>
            <a:r>
              <a:rPr lang="en-US" dirty="0"/>
              <a:t>data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Components : </a:t>
            </a:r>
            <a:r>
              <a:rPr lang="en-US" dirty="0" smtClean="0"/>
              <a:t>Data Warehouse &amp; Compute Resources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287" y="1618939"/>
            <a:ext cx="2314575" cy="18002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287" y="3796415"/>
            <a:ext cx="27241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(4)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1"/>
            <a:ext cx="83058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Job Scheduler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Training a machine learning model </a:t>
            </a:r>
            <a:r>
              <a:rPr lang="en-US" dirty="0" smtClean="0"/>
              <a:t>or other data science application is rarely a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one-time operation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More often it is a </a:t>
            </a:r>
            <a:r>
              <a:rPr lang="en-US" dirty="0" smtClean="0">
                <a:solidFill>
                  <a:srgbClr val="FF0000"/>
                </a:solidFill>
              </a:rPr>
              <a:t>repeating process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Need to feed fresh data in the algorithm at a regular cadence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Job of the scheduling layer to keep all the data flowing and all the machines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humming uninterruptedly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A key </a:t>
            </a:r>
            <a:r>
              <a:rPr lang="en-US" dirty="0" smtClean="0">
                <a:solidFill>
                  <a:srgbClr val="FF0000"/>
                </a:solidFill>
              </a:rPr>
              <a:t>challenge is to keep the scheduling system itself up all the time and make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sure it can manage almost any number of concurrent machines and data pipelines</a:t>
            </a:r>
          </a:p>
          <a:p>
            <a:endParaRPr lang="en-US" dirty="0"/>
          </a:p>
          <a:p>
            <a:r>
              <a:rPr lang="en-US" dirty="0"/>
              <a:t>Architecture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warehouse, compute resources, and job scheduler, are generic in nature: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can </a:t>
            </a:r>
            <a:r>
              <a:rPr lang="en-US" dirty="0"/>
              <a:t>be used to execute any workloads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At the architecture layer </a:t>
            </a:r>
            <a:r>
              <a:rPr lang="en-US" dirty="0">
                <a:solidFill>
                  <a:srgbClr val="FF0000"/>
                </a:solidFill>
              </a:rPr>
              <a:t>defines what application is and how it is going to work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includes defining an algorithm or several algorithms and how the scheduling layer is supposed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to </a:t>
            </a:r>
            <a:r>
              <a:rPr lang="en-US" dirty="0"/>
              <a:t>connect the algorithms </a:t>
            </a:r>
            <a:r>
              <a:rPr lang="en-US" dirty="0" smtClean="0"/>
              <a:t>and the </a:t>
            </a:r>
            <a:r>
              <a:rPr lang="en-US" dirty="0"/>
              <a:t>data pipelines together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 </a:t>
            </a:r>
            <a:r>
              <a:rPr lang="en-US" dirty="0">
                <a:solidFill>
                  <a:srgbClr val="FF0000"/>
                </a:solidFill>
              </a:rPr>
              <a:t>challenge</a:t>
            </a:r>
            <a:r>
              <a:rPr lang="en-US" dirty="0"/>
              <a:t> is that of software engineering in </a:t>
            </a:r>
            <a:r>
              <a:rPr lang="en-US" dirty="0" smtClean="0"/>
              <a:t>general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How to map a real-world problem into an effective and robust software architecture</a:t>
            </a:r>
            <a:r>
              <a:rPr lang="en-US" dirty="0"/>
              <a:t>.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Components: Job Scheduler &amp; Architecture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273" y="1981200"/>
            <a:ext cx="3362325" cy="1714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191" y="3846226"/>
            <a:ext cx="28289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7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(5)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Versioning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“experimentation and iteration” </a:t>
            </a:r>
            <a:r>
              <a:rPr lang="en-US" dirty="0"/>
              <a:t>as one of the common themes in data science projects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concrete ramification of this is that architectures we define are always subject to change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makes sense to organize the work accordingly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complicate matters further, in the case of data science </a:t>
            </a:r>
            <a:r>
              <a:rPr lang="en-US" dirty="0">
                <a:solidFill>
                  <a:srgbClr val="FF0000"/>
                </a:solidFill>
              </a:rPr>
              <a:t>the question of which version of the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application </a:t>
            </a:r>
            <a:r>
              <a:rPr lang="en-US" dirty="0">
                <a:solidFill>
                  <a:srgbClr val="FF0000"/>
                </a:solidFill>
              </a:rPr>
              <a:t>is better is often non-trivial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judge the versions properly, you may </a:t>
            </a:r>
            <a:r>
              <a:rPr lang="en-US" dirty="0">
                <a:solidFill>
                  <a:srgbClr val="FF0000"/>
                </a:solidFill>
              </a:rPr>
              <a:t>need to run multiple versions side by side</a:t>
            </a:r>
            <a:r>
              <a:rPr lang="en-US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 </a:t>
            </a:r>
            <a:r>
              <a:rPr lang="en-US" dirty="0">
                <a:solidFill>
                  <a:srgbClr val="FF0000"/>
                </a:solidFill>
              </a:rPr>
              <a:t>challenge</a:t>
            </a:r>
            <a:r>
              <a:rPr lang="en-US" dirty="0"/>
              <a:t> is that can </a:t>
            </a:r>
            <a:r>
              <a:rPr lang="en-US" dirty="0">
                <a:solidFill>
                  <a:srgbClr val="FF0000"/>
                </a:solidFill>
              </a:rPr>
              <a:t>evaluate results reliably only if the applications are well isolated</a:t>
            </a:r>
            <a:r>
              <a:rPr lang="en-US" dirty="0"/>
              <a:t>, that is,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they </a:t>
            </a:r>
            <a:r>
              <a:rPr lang="en-US" dirty="0"/>
              <a:t>must not interfere with each other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Must isolate the algorithms themselves, the input and output data, and the scheduled pipelines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 smtClean="0"/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Components: </a:t>
            </a:r>
            <a:r>
              <a:rPr lang="en-IN" dirty="0" smtClean="0"/>
              <a:t>Versioning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419600"/>
            <a:ext cx="37433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(6)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1"/>
            <a:ext cx="6400800" cy="4648199"/>
          </a:xfrm>
        </p:spPr>
        <p:txBody>
          <a:bodyPr/>
          <a:lstStyle/>
          <a:p>
            <a:r>
              <a:rPr lang="en-US" dirty="0"/>
              <a:t>Model </a:t>
            </a:r>
            <a:r>
              <a:rPr lang="en-US" dirty="0" smtClean="0"/>
              <a:t>Operations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Imagine four versions of an application running, each with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their </a:t>
            </a:r>
            <a:r>
              <a:rPr lang="en-US" dirty="0"/>
              <a:t>own version of code and data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Each version may be built by a separate data scientist, all of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whom </a:t>
            </a:r>
            <a:r>
              <a:rPr lang="en-US" dirty="0"/>
              <a:t>are all iterating on their versions independently.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The result, unless organized properly, can be a logistical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nightmare!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Role of the model operations layer to help </a:t>
            </a:r>
            <a:endParaRPr lang="en-US" dirty="0" smtClean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FF0000"/>
                </a:solidFill>
              </a:rPr>
              <a:t>to </a:t>
            </a:r>
            <a:r>
              <a:rPr lang="en-US" dirty="0">
                <a:solidFill>
                  <a:srgbClr val="FF0000"/>
                </a:solidFill>
              </a:rPr>
              <a:t>deploy, monitor, and assure validity of all models at all times</a:t>
            </a:r>
            <a:r>
              <a:rPr lang="en-US" dirty="0"/>
              <a:t>,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without hindering the speed of experimentation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smtClean="0"/>
              <a:t>To </a:t>
            </a:r>
            <a:r>
              <a:rPr lang="en-US" dirty="0"/>
              <a:t>make this possible, </a:t>
            </a:r>
            <a:r>
              <a:rPr lang="en-US" dirty="0">
                <a:solidFill>
                  <a:srgbClr val="FF0000"/>
                </a:solidFill>
              </a:rPr>
              <a:t>the infrastructure needs to track metadata </a:t>
            </a:r>
            <a:endParaRPr lang="en-US" dirty="0" smtClean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about </a:t>
            </a:r>
            <a:r>
              <a:rPr lang="en-US" dirty="0">
                <a:solidFill>
                  <a:srgbClr val="FF0000"/>
                </a:solidFill>
              </a:rPr>
              <a:t>all executions and models, from prototype to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Components: </a:t>
            </a:r>
            <a:r>
              <a:rPr lang="en-IN" dirty="0" smtClean="0"/>
              <a:t>Model </a:t>
            </a:r>
            <a:r>
              <a:rPr lang="en-IN" dirty="0"/>
              <a:t>Operations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2057400"/>
            <a:ext cx="39147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6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(7)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7752861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Feature Engineering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Typically, the raw input data is not fed directly into the model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but it goes through a sequence of data transformations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Designing this sequence is a major part of the data scientist’s work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they are developing a new model or trying to improve performance of an existing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model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key challenge is to make this process as </a:t>
            </a:r>
            <a:r>
              <a:rPr lang="en-US" dirty="0">
                <a:solidFill>
                  <a:srgbClr val="FF0000"/>
                </a:solidFill>
              </a:rPr>
              <a:t>efficient as possible</a:t>
            </a:r>
          </a:p>
          <a:p>
            <a:endParaRPr lang="en-US" dirty="0"/>
          </a:p>
          <a:p>
            <a:r>
              <a:rPr lang="en-US" dirty="0"/>
              <a:t>Model Development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At the very top of the stack there’s the layer of model development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finding and describing a mathematical model that transforms features into desired </a:t>
            </a:r>
            <a:endParaRPr lang="en-US" dirty="0" smtClean="0"/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outputs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A key challenge, and the key expertise of a data scientist, is to understand what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modeling approach </a:t>
            </a:r>
            <a:r>
              <a:rPr lang="en-US" dirty="0">
                <a:solidFill>
                  <a:srgbClr val="FF0000"/>
                </a:solidFill>
              </a:rPr>
              <a:t>is most appropriate for the task at hand and how to implement it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typically using off-the-shelf </a:t>
            </a:r>
            <a:r>
              <a:rPr lang="en-US" dirty="0">
                <a:solidFill>
                  <a:srgbClr val="FF0000"/>
                </a:solidFill>
              </a:rPr>
              <a:t>libraries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Occupies </a:t>
            </a:r>
            <a:r>
              <a:rPr lang="en-US" dirty="0"/>
              <a:t>only a tiny part of the end-to-end machinery that makes an effective data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science </a:t>
            </a:r>
            <a:r>
              <a:rPr lang="en-US" dirty="0"/>
              <a:t>application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shouldn’t underestimate the effort </a:t>
            </a:r>
            <a:r>
              <a:rPr lang="en-US" dirty="0" smtClean="0">
                <a:solidFill>
                  <a:srgbClr val="FF0000"/>
                </a:solidFill>
              </a:rPr>
              <a:t>that it </a:t>
            </a:r>
            <a:r>
              <a:rPr lang="en-US" dirty="0">
                <a:solidFill>
                  <a:srgbClr val="FF0000"/>
                </a:solidFill>
              </a:rPr>
              <a:t>takes to embed intelligence in the surrounding </a:t>
            </a:r>
            <a:endParaRPr lang="en-US" dirty="0" smtClean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environment</a:t>
            </a:r>
            <a:r>
              <a:rPr lang="en-US" dirty="0">
                <a:solidFill>
                  <a:srgbClr val="FF0000"/>
                </a:solidFill>
              </a:rPr>
              <a:t>, which is what this stack is all about!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sz="8000" dirty="0" smtClean="0"/>
              <a:t>Components: </a:t>
            </a:r>
            <a:r>
              <a:rPr lang="en-US" sz="8000" dirty="0"/>
              <a:t>Feature Engineering </a:t>
            </a:r>
            <a:r>
              <a:rPr lang="en-US" sz="8000" dirty="0" smtClean="0"/>
              <a:t> &amp; </a:t>
            </a:r>
            <a:r>
              <a:rPr lang="en-US" sz="8000" dirty="0"/>
              <a:t>Model Development</a:t>
            </a:r>
          </a:p>
          <a:p>
            <a:endParaRPr lang="en-US" dirty="0"/>
          </a:p>
          <a:p>
            <a:r>
              <a:rPr lang="en-IN" dirty="0" smtClean="0"/>
              <a:t>	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756356"/>
            <a:ext cx="2705100" cy="179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090" y="3888074"/>
            <a:ext cx="2437519" cy="210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(8)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Stack again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28850"/>
            <a:ext cx="655319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(9)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024553" cy="5029199"/>
          </a:xfrm>
        </p:spPr>
        <p:txBody>
          <a:bodyPr>
            <a:normAutofit/>
          </a:bodyPr>
          <a:lstStyle/>
          <a:p>
            <a:r>
              <a:rPr lang="en-US" dirty="0"/>
              <a:t>Each layer of the stack is a complex system of its 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meant to cover the needs of a typical data science project, end-to-end, 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Three common themes </a:t>
            </a:r>
            <a:r>
              <a:rPr lang="en-US" dirty="0"/>
              <a:t>that are common to most data science projects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data science project regardless of the problem domain needs to deal with </a:t>
            </a:r>
            <a:r>
              <a:rPr lang="en-US" dirty="0">
                <a:solidFill>
                  <a:srgbClr val="FF0000"/>
                </a:solidFill>
              </a:rPr>
              <a:t>data and compute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so these layers form the foundational infrastructure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layers are agnostic of what exactly gets executed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middle layers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define </a:t>
            </a:r>
            <a:r>
              <a:rPr lang="en-US" dirty="0">
                <a:solidFill>
                  <a:srgbClr val="FF0000"/>
                </a:solidFill>
              </a:rPr>
              <a:t>the software architecture </a:t>
            </a:r>
            <a:r>
              <a:rPr lang="en-US" dirty="0"/>
              <a:t>of an individual data science application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What gets executed and how</a:t>
            </a:r>
            <a:r>
              <a:rPr lang="en-US" dirty="0"/>
              <a:t>: the algorithms, data pipelines, deployment strategies, and how results should be distribute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Much about the work is about </a:t>
            </a:r>
            <a:r>
              <a:rPr lang="en-US" dirty="0">
                <a:solidFill>
                  <a:srgbClr val="FF0000"/>
                </a:solidFill>
              </a:rPr>
              <a:t>integrating existing software components together</a:t>
            </a:r>
            <a:r>
              <a:rPr lang="en-US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top of the stack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realm of data science: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Defining a mathematical model and how to transform raw input to something that the model can process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can evolve quickly as the data scientist experiments with different approaches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WHY THE STACK</a:t>
            </a:r>
          </a:p>
        </p:txBody>
      </p:sp>
    </p:spTree>
    <p:extLst>
      <p:ext uri="{BB962C8B-B14F-4D97-AF65-F5344CB8AC3E}">
        <p14:creationId xmlns:p14="http://schemas.microsoft.com/office/powerpoint/2010/main" val="2832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</a:t>
            </a:r>
            <a:r>
              <a:rPr lang="en-IN" dirty="0" smtClean="0"/>
              <a:t>(10)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What if your company needs a highly specialized data science application: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self-driving car, a high-frequency trading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Surely the infrastructure stack would need to look very different for such applications?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ONE SIZE DOESN’T FIT ALL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2514600"/>
            <a:ext cx="36480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80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 Infrastructure (</a:t>
            </a:r>
            <a:r>
              <a:rPr lang="en-IN" dirty="0" smtClean="0"/>
              <a:t>11)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571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Data Scientists Freedom </a:t>
            </a:r>
            <a:r>
              <a:rPr lang="en-US" smtClean="0"/>
              <a:t>and Responsibility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90750"/>
            <a:ext cx="70866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2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session: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3230</TotalTime>
  <Words>1492</Words>
  <Application>Microsoft Office PowerPoint</Application>
  <PresentationFormat>Widescreen</PresentationFormat>
  <Paragraphs>180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Science Infrastructure</vt:lpstr>
      <vt:lpstr>Paradigm Shift</vt:lpstr>
      <vt:lpstr>Lifecycle of a Data Science Project</vt:lpstr>
      <vt:lpstr>Lifecycle of a Data Science Project</vt:lpstr>
      <vt:lpstr>Data Science Infrastructure </vt:lpstr>
      <vt:lpstr>Data Science Infrastructure (2)</vt:lpstr>
      <vt:lpstr>Data Science Infrastructure (3)</vt:lpstr>
      <vt:lpstr>Data Science Infrastructure (4)</vt:lpstr>
      <vt:lpstr>Data Science Infrastructure (5)</vt:lpstr>
      <vt:lpstr>Data Science Infrastructure (6) </vt:lpstr>
      <vt:lpstr>Data Science Infrastructure (7)</vt:lpstr>
      <vt:lpstr>Data Science Infrastructure (8)</vt:lpstr>
      <vt:lpstr>Data Science Infrastructure (9)</vt:lpstr>
      <vt:lpstr>Data Science Infrastructure (10)</vt:lpstr>
      <vt:lpstr>Data Science Infrastructure (11)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263</cp:revision>
  <dcterms:created xsi:type="dcterms:W3CDTF">2018-10-16T06:13:57Z</dcterms:created>
  <dcterms:modified xsi:type="dcterms:W3CDTF">2023-06-24T00:51:24Z</dcterms:modified>
</cp:coreProperties>
</file>