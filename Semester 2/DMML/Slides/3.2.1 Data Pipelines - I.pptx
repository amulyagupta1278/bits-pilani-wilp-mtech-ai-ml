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7"/>
  </p:notesMasterIdLst>
  <p:sldIdLst>
    <p:sldId id="26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05" autoAdjust="0"/>
  </p:normalViewPr>
  <p:slideViewPr>
    <p:cSldViewPr>
      <p:cViewPr varScale="1">
        <p:scale>
          <a:sx n="67" d="100"/>
          <a:sy n="67" d="100"/>
        </p:scale>
        <p:origin x="834" y="7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/>
              <a:t>Click to edit Course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SME’s name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streamsets.com/learn/data-pipelines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 dirty="0"/>
              <a:t>Data Pipelines - I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211D71"/>
                </a:solidFill>
              </a:rPr>
              <a:t>Pravin Y Pawar</a:t>
            </a:r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Series of steps that allow data from one system to move to become useful in another system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particularly analytics, data science, or AI and machine learning systems</a:t>
            </a:r>
          </a:p>
          <a:p>
            <a:endParaRPr lang="en-US" dirty="0"/>
          </a:p>
          <a:p>
            <a:r>
              <a:rPr lang="en-US" dirty="0"/>
              <a:t>Works by pulling data from the source, applying rules for transformation and processing, then pushing data to its destination.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What?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3581400"/>
            <a:ext cx="732472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481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Lot of data out there!</a:t>
            </a:r>
          </a:p>
          <a:p>
            <a:r>
              <a:rPr lang="en-US" dirty="0"/>
              <a:t>Data pipelines transform raw data into data ready for analytics, applications, machine learning and AI systems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keep data flowing to solve problems, inform decisions</a:t>
            </a:r>
          </a:p>
          <a:p>
            <a:endParaRPr lang="en-US" dirty="0"/>
          </a:p>
          <a:p>
            <a:r>
              <a:rPr lang="en-US" dirty="0"/>
              <a:t>Used to: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Deliver sales data to sales and marketing for customer 360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Link a global network of scientists and doctors to speed drug discovery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Recommend financial services to help a small business owner thrive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Track COVID-19 cases and inform community health decisions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Combine diverse sensor data with AI for predictive maintenance </a:t>
            </a:r>
          </a:p>
          <a:p>
            <a:endParaRPr lang="en-US" dirty="0"/>
          </a:p>
          <a:p>
            <a:r>
              <a:rPr lang="en-US" dirty="0"/>
              <a:t>With so much work to do, data pipelines can get </a:t>
            </a:r>
            <a:r>
              <a:rPr lang="en-US" dirty="0">
                <a:solidFill>
                  <a:srgbClr val="FF0000"/>
                </a:solidFill>
              </a:rPr>
              <a:t>pretty complicated pretty fast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Purpose</a:t>
            </a:r>
          </a:p>
        </p:txBody>
      </p:sp>
    </p:spTree>
    <p:extLst>
      <p:ext uri="{BB962C8B-B14F-4D97-AF65-F5344CB8AC3E}">
        <p14:creationId xmlns:p14="http://schemas.microsoft.com/office/powerpoint/2010/main" val="937533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Pipeline(3)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Data pipelines done right have incredible advantages for companies and organizations, and the work they do.</a:t>
            </a:r>
          </a:p>
          <a:p>
            <a:endParaRPr lang="en-US" dirty="0"/>
          </a:p>
          <a:p>
            <a:r>
              <a:rPr lang="en-US" dirty="0"/>
              <a:t>Self-service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be created ad hoc by data scientists and business analysts unstick the IT bottleneck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Means when people have brilliant ideas, they can test them, fail fast, and innovate faster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Accelerate Cloud Migration and Adoption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Helps to expand cloud presence and migrate data to cloud platforms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Cloud computing helps to feed many new use cases at processing speeds, cost-effectiveness, and bursting capacity </a:t>
            </a:r>
          </a:p>
          <a:p>
            <a:pPr marL="457200" lvl="1" indent="0">
              <a:buNone/>
            </a:pPr>
            <a:r>
              <a:rPr lang="en-US" dirty="0"/>
              <a:t>    unheard of in traditional on-premises data centers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Teams can take advantage of rapid innovation happening on those cloud platforms such as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natural language processing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sentiment analysis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image processing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and more.</a:t>
            </a:r>
          </a:p>
          <a:p>
            <a:endParaRPr lang="en-US" dirty="0"/>
          </a:p>
          <a:p>
            <a:r>
              <a:rPr lang="en-US" dirty="0"/>
              <a:t>Real-time Analytics and Applications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Real-time or near real-time functionality in consumer and business applications puts the pressure on data pipelines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to deliver the right data, to the right place, right now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Streaming data pipelines deliver continuous data to real-time analytics and applications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Benefits</a:t>
            </a:r>
          </a:p>
        </p:txBody>
      </p:sp>
    </p:spTree>
    <p:extLst>
      <p:ext uri="{BB962C8B-B14F-4D97-AF65-F5344CB8AC3E}">
        <p14:creationId xmlns:p14="http://schemas.microsoft.com/office/powerpoint/2010/main" val="119780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Pipeline(4)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Always Under Construction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Building and debugging data pipelines takes time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Have to align with the schema, set sources and destinations, check work, find errors, and back and forth until </a:t>
            </a:r>
          </a:p>
          <a:p>
            <a:pPr marL="457200" lvl="1" indent="0">
              <a:buNone/>
            </a:pPr>
            <a:r>
              <a:rPr lang="en-US" dirty="0"/>
              <a:t>one can finally go live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by which time the business requirements may have changed again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That's why many data engineers have such a backlog of work!</a:t>
            </a:r>
          </a:p>
          <a:p>
            <a:endParaRPr lang="en-US" dirty="0"/>
          </a:p>
          <a:p>
            <a:r>
              <a:rPr lang="en-US" dirty="0"/>
              <a:t>Out of Order Data Pipelines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Even a small change to a row or a table can mean hours of rework, updating each stage in the pipeline, </a:t>
            </a:r>
          </a:p>
          <a:p>
            <a:pPr marL="457200" lvl="1" indent="0">
              <a:buNone/>
            </a:pPr>
            <a:r>
              <a:rPr lang="en-US" dirty="0"/>
              <a:t>debugging, and then deploying the new data pipeline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pipelines often have to go offline to make updates or fixes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Unplanned changes can cause hidden breakages that take months of engineering time to uncover and fix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These unexpected, unplanned, and unrelenting changes are referred to as “data drift”.</a:t>
            </a:r>
          </a:p>
          <a:p>
            <a:endParaRPr lang="en-US" dirty="0"/>
          </a:p>
          <a:p>
            <a:r>
              <a:rPr lang="en-US" dirty="0"/>
              <a:t>Build It and They Will Come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pipelines are built for specific frameworks, processors, and platforms.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Changing any one of those infrastructure technologies to take advantage of cost savings or other </a:t>
            </a:r>
          </a:p>
          <a:p>
            <a:pPr marL="457200" lvl="1" indent="0">
              <a:buNone/>
            </a:pPr>
            <a:r>
              <a:rPr lang="en-US" dirty="0"/>
              <a:t>optimizations can mean weeks or months of rebuilding and testing pipelines before deployment. 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3874334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Pipeline(5)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When a data pipeline is deployed and running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pulls data from the source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applies rules for transformation and processing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then pushes data to its destination</a:t>
            </a:r>
          </a:p>
          <a:p>
            <a:endParaRPr lang="en-US" dirty="0"/>
          </a:p>
          <a:p>
            <a:r>
              <a:rPr lang="en-US" dirty="0"/>
              <a:t>Data sources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handle data in very different ways and might include applications, messaging systems, data streams, </a:t>
            </a:r>
          </a:p>
          <a:p>
            <a:pPr marL="457200" lvl="1" indent="0">
              <a:buNone/>
            </a:pPr>
            <a:r>
              <a:rPr lang="en-US" dirty="0"/>
              <a:t>     relational and NoSQL databases, cloud object storage, data warehouses, and data lakes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structure varies significantly, depending on the source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Transformations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Changes to data structure, format, or values as well as calculations and modifications to the data itself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pipeline might have any number of transformations embedded to prepare data for use or route it correctly</a:t>
            </a:r>
          </a:p>
          <a:p>
            <a:endParaRPr lang="en-US" dirty="0"/>
          </a:p>
          <a:p>
            <a:r>
              <a:rPr lang="en-US" dirty="0"/>
              <a:t>Destinations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systems where the data is ready to use, put directly into use, or stored for potential use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include applications, messaging systems, data streams, relational and NoSQL databases, data warehouses, </a:t>
            </a:r>
          </a:p>
          <a:p>
            <a:pPr marL="457200" lvl="1" indent="0">
              <a:buNone/>
            </a:pPr>
            <a:r>
              <a:rPr lang="en-US" dirty="0"/>
              <a:t>    data lakes, and cloud object storage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Working</a:t>
            </a:r>
          </a:p>
        </p:txBody>
      </p:sp>
    </p:spTree>
    <p:extLst>
      <p:ext uri="{BB962C8B-B14F-4D97-AF65-F5344CB8AC3E}">
        <p14:creationId xmlns:p14="http://schemas.microsoft.com/office/powerpoint/2010/main" val="661198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Pipeline(6)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5 Common Data Pipeline Sources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JDBC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Oracle CDC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HTTP Client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HDFS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Apache Kafka</a:t>
            </a:r>
          </a:p>
          <a:p>
            <a:r>
              <a:rPr lang="en-IN" dirty="0"/>
              <a:t>Common Transformations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Masking PII (personally identifiable information) for protection and compliance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Converting data type for fields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Calculating based on a formula or expression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Renaming fields, columns, and features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Joining or merging datasets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Converting data formats (JSON to Parquet, for example)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Generating Avro Schema and other schema types on the fly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Handling Slowly Changing Dimensions</a:t>
            </a:r>
          </a:p>
          <a:p>
            <a:r>
              <a:rPr lang="en-IN" dirty="0"/>
              <a:t>5 Common Data Pipeline Destinations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Apache Kafka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JDBC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Snowflake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Amazon S3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 err="1"/>
              <a:t>Databricks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Working</a:t>
            </a:r>
          </a:p>
        </p:txBody>
      </p:sp>
    </p:spTree>
    <p:extLst>
      <p:ext uri="{BB962C8B-B14F-4D97-AF65-F5344CB8AC3E}">
        <p14:creationId xmlns:p14="http://schemas.microsoft.com/office/powerpoint/2010/main" val="1924610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Pipeline(7)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Batch Data Pipeline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move large sets of data at a particular time or in response to a behavior or when a threshold is met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often used for bulk ingestion or ETL processing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might be used to deliver data weekly or daily from a CRM system to a data warehouse for use in a dashboard </a:t>
            </a:r>
          </a:p>
          <a:p>
            <a:pPr marL="457200" lvl="1" indent="0">
              <a:buNone/>
            </a:pPr>
            <a:r>
              <a:rPr lang="en-US" dirty="0"/>
              <a:t>    for reporting and business intelligence</a:t>
            </a:r>
          </a:p>
          <a:p>
            <a:endParaRPr lang="en-US" dirty="0"/>
          </a:p>
          <a:p>
            <a:r>
              <a:rPr lang="en-US" dirty="0"/>
              <a:t>Streaming Data Pipeline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flow data continuously from source to destination as it is created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used to populate data lakes or as part of data warehouse integration, or to publish to a messaging system or </a:t>
            </a:r>
          </a:p>
          <a:p>
            <a:pPr marL="457200" lvl="1" indent="0">
              <a:buNone/>
            </a:pPr>
            <a:r>
              <a:rPr lang="en-US" dirty="0"/>
              <a:t>    data stream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used in event processing for real-time applications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streaming data pipelines might be used to provide real-time data to a fraud detection system and to monitor </a:t>
            </a:r>
          </a:p>
          <a:p>
            <a:pPr marL="457200" lvl="1" indent="0">
              <a:buNone/>
            </a:pPr>
            <a:r>
              <a:rPr lang="en-US" dirty="0"/>
              <a:t>    quality of service. </a:t>
            </a:r>
          </a:p>
          <a:p>
            <a:endParaRPr lang="en-US" dirty="0"/>
          </a:p>
          <a:p>
            <a:r>
              <a:rPr lang="en-US" dirty="0"/>
              <a:t>Change Data Capture Pipeline (CDC)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used to refresh data and keep multiple systems in sync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Instead of copying the entire database, only changes to data since the last sync are shared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be particularly useful during a cloud migration project when 2 systems are operating with the same data sets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Architectures</a:t>
            </a:r>
          </a:p>
        </p:txBody>
      </p:sp>
    </p:spTree>
    <p:extLst>
      <p:ext uri="{BB962C8B-B14F-4D97-AF65-F5344CB8AC3E}">
        <p14:creationId xmlns:p14="http://schemas.microsoft.com/office/powerpoint/2010/main" val="1779290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Pipeline(8)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1850072" y="5728301"/>
            <a:ext cx="7461527" cy="277229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Architectures</a:t>
            </a:r>
          </a:p>
        </p:txBody>
      </p:sp>
      <p:pic>
        <p:nvPicPr>
          <p:cNvPr id="1026" name="Picture 2" descr="Data Engineering Pipeline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21437"/>
            <a:ext cx="8016263" cy="4335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3"/>
          <p:cNvSpPr txBox="1">
            <a:spLocks/>
          </p:cNvSpPr>
          <p:nvPr/>
        </p:nvSpPr>
        <p:spPr>
          <a:xfrm>
            <a:off x="329247" y="1143001"/>
            <a:ext cx="11196956" cy="395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1C1573"/>
                </a:solidFill>
                <a:latin typeface="Helvetica" panose="020B0604020202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1C1573"/>
                </a:solidFill>
                <a:latin typeface="Helvetica" panose="020B0604020202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1C1573"/>
                </a:solidFill>
                <a:latin typeface="Helvetica" panose="020B0604020202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1C1573"/>
                </a:solidFill>
                <a:latin typeface="Helvetica" panose="020B0604020202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1C1573"/>
                </a:solidFill>
                <a:latin typeface="Helvetica" panose="020B0604020202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Architectures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1677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 Tools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Building a single pipeline for a single purpose at a given time is no problem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grab a simple tool for setting up a data pipeline or hand code the steps</a:t>
            </a:r>
          </a:p>
          <a:p>
            <a:r>
              <a:rPr lang="en-US" dirty="0"/>
              <a:t>But how to scale that process to thousands of data pipelines in support of increasing demand for data across organization, over months or years?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When considering data pipeline tools, it is important to think ahead to where your data platform is headed. </a:t>
            </a:r>
          </a:p>
          <a:p>
            <a:endParaRPr lang="en-US" dirty="0"/>
          </a:p>
          <a:p>
            <a:r>
              <a:rPr lang="en-US" dirty="0"/>
              <a:t>Questions to be pondered upon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Are you grabbing data from one place to put it somewhere else?  Or do you need to transform it to fit </a:t>
            </a:r>
          </a:p>
          <a:p>
            <a:pPr marL="457200" lvl="1" indent="0">
              <a:buNone/>
            </a:pPr>
            <a:r>
              <a:rPr lang="en-US" dirty="0"/>
              <a:t>    the downstream analytics requirements?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Is your data environment stable and fully under your control? Or is it dynamic and pulling data from </a:t>
            </a:r>
          </a:p>
          <a:p>
            <a:pPr marL="457200" lvl="1" indent="0">
              <a:buNone/>
            </a:pPr>
            <a:r>
              <a:rPr lang="en-US" dirty="0"/>
              <a:t>    systems or apps outside of your control?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Will the pipeline move data once, for a short-term analysis project? Or will the pipelines you build need </a:t>
            </a:r>
          </a:p>
          <a:p>
            <a:pPr marL="457200" lvl="1" indent="0">
              <a:buNone/>
            </a:pPr>
            <a:r>
              <a:rPr lang="en-US" dirty="0"/>
              <a:t>     to be operationalized to handle data flows over time? 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478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 Tools(2)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These tools make data pipelines easy to set up, easy to build, and easy to deploy solve the “under construction” issue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but only if you can count on your data scientists to do the data prep work later</a:t>
            </a:r>
          </a:p>
          <a:p>
            <a:endParaRPr lang="en-US" dirty="0"/>
          </a:p>
          <a:p>
            <a:r>
              <a:rPr lang="en-US" dirty="0"/>
              <a:t>Only support the most basic transformations and work best for simply copying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Instead of being intent-driven, these data pipelines are rigid and embedded with the specifics of data </a:t>
            </a:r>
          </a:p>
          <a:p>
            <a:pPr marL="457200" lvl="1" indent="0">
              <a:buNone/>
            </a:pPr>
            <a:r>
              <a:rPr lang="en-US" dirty="0"/>
              <a:t>    structure and semantics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Instead of adapting to change when data drift happens, they have to be rebuilt and deployed again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Data Ingestion and Data Loading Tools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230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 Tools(3)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More complex data integration or ETL software may have a solution for every possible scenario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with hundreds of connectors, integrations, and transformations</a:t>
            </a:r>
          </a:p>
          <a:p>
            <a:endParaRPr lang="en-US" dirty="0"/>
          </a:p>
          <a:p>
            <a:r>
              <a:rPr lang="en-US" dirty="0"/>
              <a:t>But these platforms were designed for an era when data drift hardly happened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Things stayed the same for years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At the first hint of change, these data pipelines break and require massive rework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demands for digital transformation are moving fast and planning for every possible outcome may </a:t>
            </a:r>
          </a:p>
          <a:p>
            <a:pPr marL="457200" lvl="1" indent="0">
              <a:buNone/>
            </a:pPr>
            <a:r>
              <a:rPr lang="en-US" dirty="0"/>
              <a:t>     not be possible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Data Integration, Data Transformation Platforms</a:t>
            </a:r>
          </a:p>
        </p:txBody>
      </p:sp>
    </p:spTree>
    <p:extLst>
      <p:ext uri="{BB962C8B-B14F-4D97-AF65-F5344CB8AC3E}">
        <p14:creationId xmlns:p14="http://schemas.microsoft.com/office/powerpoint/2010/main" val="626035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 Tools(4)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Third way!</a:t>
            </a:r>
          </a:p>
          <a:p>
            <a:r>
              <a:rPr lang="en-US" dirty="0"/>
              <a:t>A data engineering platform builds smart data pipelines according to DataOps principles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Smart data pipelines abstract away the “how” so you can focus on the what, who, and where of the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This is the </a:t>
            </a:r>
            <a:r>
              <a:rPr lang="en-US" dirty="0">
                <a:solidFill>
                  <a:srgbClr val="FF0000"/>
                </a:solidFill>
              </a:rPr>
              <a:t>fundamental difference between data integration and data engineering</a:t>
            </a:r>
          </a:p>
          <a:p>
            <a:endParaRPr lang="en-US" dirty="0"/>
          </a:p>
          <a:p>
            <a:r>
              <a:rPr lang="en-US" dirty="0"/>
              <a:t>Instead of being perpetually under construction, out of order, or limited to a single platform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smart data pipelines allow you to move fast with confidence that your data will continue to flow with </a:t>
            </a:r>
            <a:r>
              <a:rPr lang="en-US"/>
              <a:t>little </a:t>
            </a:r>
          </a:p>
          <a:p>
            <a:pPr marL="457200" lvl="1" indent="0">
              <a:buNone/>
            </a:pPr>
            <a:r>
              <a:rPr lang="en-US"/>
              <a:t>to </a:t>
            </a:r>
            <a:r>
              <a:rPr lang="en-US" dirty="0"/>
              <a:t>no intervention</a:t>
            </a:r>
          </a:p>
          <a:p>
            <a:endParaRPr lang="en-US" dirty="0"/>
          </a:p>
          <a:p>
            <a:r>
              <a:rPr lang="en-US" dirty="0"/>
              <a:t>DataOps tools allow you to: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Design and deploy data pipelines in hours, not weeks or months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Build in as much resiliency as possible to handle changes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Adopt to new platforms by pointing to them, a task that takes minutes not months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Data Engineering Platforms</a:t>
            </a:r>
          </a:p>
        </p:txBody>
      </p:sp>
    </p:spTree>
    <p:extLst>
      <p:ext uri="{BB962C8B-B14F-4D97-AF65-F5344CB8AC3E}">
        <p14:creationId xmlns:p14="http://schemas.microsoft.com/office/powerpoint/2010/main" val="3687227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 People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Data Engineering Ecosystem And Data Pipeline Workflo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38288"/>
            <a:ext cx="9502048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7433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r>
              <a:rPr lang="en-US" dirty="0"/>
              <a:t>In our next session: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295400"/>
            <a:ext cx="670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</a:t>
            </a:r>
          </a:p>
          <a:p>
            <a:r>
              <a:rPr lang="en-US" dirty="0">
                <a:hlinkClick r:id="rId2"/>
              </a:rPr>
              <a:t>Smart Data Pipelines: </a:t>
            </a:r>
            <a:r>
              <a:rPr lang="en-US" dirty="0" err="1">
                <a:hlinkClick r:id="rId2"/>
              </a:rPr>
              <a:t>Tools,Techniques</a:t>
            </a:r>
            <a:r>
              <a:rPr lang="en-US" dirty="0">
                <a:hlinkClick r:id="rId2"/>
              </a:rPr>
              <a:t>, and Key Concepts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3210</TotalTime>
  <Words>1510</Words>
  <Application>Microsoft Office PowerPoint</Application>
  <PresentationFormat>Widescreen</PresentationFormat>
  <Paragraphs>182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Helvetica</vt:lpstr>
      <vt:lpstr>Helvetica Light</vt:lpstr>
      <vt:lpstr>Office Theme</vt:lpstr>
      <vt:lpstr>Data Pipelines - I</vt:lpstr>
      <vt:lpstr>Data Pipeline</vt:lpstr>
      <vt:lpstr>Data Pipeline(2)</vt:lpstr>
      <vt:lpstr>Data Pipeline(3)</vt:lpstr>
      <vt:lpstr>Data Pipeline(4)</vt:lpstr>
      <vt:lpstr>Data Pipeline(5)</vt:lpstr>
      <vt:lpstr>Data Pipeline(6)</vt:lpstr>
      <vt:lpstr>Data Pipeline(7)</vt:lpstr>
      <vt:lpstr>Data Pipeline(8)</vt:lpstr>
      <vt:lpstr>Data Pipeline Tools</vt:lpstr>
      <vt:lpstr>Data Pipeline Tools(2)</vt:lpstr>
      <vt:lpstr>Data Pipeline Tools(3)</vt:lpstr>
      <vt:lpstr>Data Pipeline Tools(4)</vt:lpstr>
      <vt:lpstr>Data Pipeline People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BITS</cp:lastModifiedBy>
  <cp:revision>245</cp:revision>
  <dcterms:created xsi:type="dcterms:W3CDTF">2018-10-16T06:13:57Z</dcterms:created>
  <dcterms:modified xsi:type="dcterms:W3CDTF">2024-01-05T12:58:46Z</dcterms:modified>
</cp:coreProperties>
</file>