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5"/>
  </p:notesMasterIdLst>
  <p:sldIdLst>
    <p:sldId id="266" r:id="rId2"/>
    <p:sldId id="284" r:id="rId3"/>
    <p:sldId id="285" r:id="rId4"/>
    <p:sldId id="286" r:id="rId5"/>
    <p:sldId id="287" r:id="rId6"/>
    <p:sldId id="288" r:id="rId7"/>
    <p:sldId id="294" r:id="rId8"/>
    <p:sldId id="289" r:id="rId9"/>
    <p:sldId id="290" r:id="rId10"/>
    <p:sldId id="291" r:id="rId11"/>
    <p:sldId id="292" r:id="rId12"/>
    <p:sldId id="293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4" d="100"/>
          <a:sy n="64" d="100"/>
        </p:scale>
        <p:origin x="738" y="60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SME’s name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 smtClean="0"/>
              <a:t>Click to edit </a:t>
            </a:r>
          </a:p>
          <a:p>
            <a:pPr lvl="0"/>
            <a:r>
              <a:rPr lang="en-US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 smtClean="0"/>
              <a:t>Click to edit Session 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Serving for Analytics and ML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rgbClr val="211D71"/>
                </a:solidFill>
              </a:rPr>
              <a:t>Pravin Y Pawar</a:t>
            </a:r>
            <a:endParaRPr lang="en-US" sz="1800" dirty="0">
              <a:solidFill>
                <a:srgbClr val="211D7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0"/>
            <a:ext cx="5044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Adapted from </a:t>
            </a:r>
          </a:p>
          <a:p>
            <a:r>
              <a:rPr lang="en-US" dirty="0" smtClean="0"/>
              <a:t>Fundamentals of Data Engineering </a:t>
            </a:r>
          </a:p>
          <a:p>
            <a:r>
              <a:rPr lang="en-US" dirty="0" smtClean="0"/>
              <a:t>By Joe Reis and Matt Housley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Serving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81200"/>
            <a:ext cx="70866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Serving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Serve data for analytics and BI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most traditional area of data serving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prepare data for use in statistical analysis, reporting, and dashboards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important as ever for stakeholders to have visibility into the business, organizational, and financial processes</a:t>
            </a:r>
          </a:p>
          <a:p>
            <a:endParaRPr lang="en-US" dirty="0"/>
          </a:p>
          <a:p>
            <a:r>
              <a:rPr lang="en-US" dirty="0"/>
              <a:t>Serve data for ML 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ML is not possible without </a:t>
            </a:r>
            <a:r>
              <a:rPr lang="en-US" dirty="0" smtClean="0"/>
              <a:t>high quality </a:t>
            </a:r>
            <a:r>
              <a:rPr lang="en-US" dirty="0"/>
              <a:t>data, appropriately prepared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work with data scientists and ML engineers to acquire, transform, and deliver the data necessary for model training</a:t>
            </a:r>
          </a:p>
          <a:p>
            <a:endParaRPr lang="en-US" dirty="0"/>
          </a:p>
          <a:p>
            <a:r>
              <a:rPr lang="en-US" dirty="0"/>
              <a:t>Serve data through reverse ETL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process of sending data back to data sources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example, might acquire data from an </a:t>
            </a:r>
            <a:r>
              <a:rPr lang="en-US" dirty="0" err="1"/>
              <a:t>adtech</a:t>
            </a:r>
            <a:r>
              <a:rPr lang="en-US" dirty="0"/>
              <a:t> platform, run a statistical process on this data to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determine </a:t>
            </a:r>
            <a:r>
              <a:rPr lang="en-US" dirty="0" smtClean="0"/>
              <a:t>cost-per-click bids</a:t>
            </a:r>
            <a:r>
              <a:rPr lang="en-US" dirty="0"/>
              <a:t>, and then feed this data back into the ad tech platform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Three Ways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4952999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Discovering, exploring, identifying, and making visible key insights and patterns within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Carried out using statistical methods, reporting, BI tools, and more</a:t>
            </a:r>
          </a:p>
          <a:p>
            <a:endParaRPr lang="en-US" dirty="0"/>
          </a:p>
          <a:p>
            <a:r>
              <a:rPr lang="en-US" dirty="0"/>
              <a:t>Business Analytics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uses historical and current data to make strategic and actionable decisions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types of decisions tend to factor in longer-term trends and often involve a mix of statistical and trend analysis, alongside domain expertise </a:t>
            </a:r>
            <a:r>
              <a:rPr lang="en-US" dirty="0" smtClean="0"/>
              <a:t>and human </a:t>
            </a:r>
            <a:r>
              <a:rPr lang="en-US" dirty="0"/>
              <a:t>judgment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 falls into a few big areas—dashboards, reports, and ad hoc analysis</a:t>
            </a:r>
          </a:p>
          <a:p>
            <a:endParaRPr lang="en-US" dirty="0"/>
          </a:p>
          <a:p>
            <a:r>
              <a:rPr lang="en-US" dirty="0"/>
              <a:t>Operational Analytics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uses data to take immediate action: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Operational analytics versus business analytics = immediate action versus actionable insights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big difference between operational and business analytics is </a:t>
            </a:r>
            <a:r>
              <a:rPr lang="en-US" dirty="0">
                <a:solidFill>
                  <a:srgbClr val="FF0000"/>
                </a:solidFill>
              </a:rPr>
              <a:t>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as real-time updates can be impactful in addressing a problem when it occurs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 line between business and operational analytics has begun to </a:t>
            </a:r>
            <a:r>
              <a:rPr lang="en-US" dirty="0" smtClean="0">
                <a:solidFill>
                  <a:srgbClr val="FF0000"/>
                </a:solidFill>
              </a:rPr>
              <a:t>blur!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/>
              <a:t>Embedded Analytics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Whereas business and operational analytics are internally focused, a recent </a:t>
            </a:r>
            <a:r>
              <a:rPr lang="en-US" dirty="0">
                <a:solidFill>
                  <a:srgbClr val="FF0000"/>
                </a:solidFill>
              </a:rPr>
              <a:t>trend is external-facing </a:t>
            </a:r>
            <a:r>
              <a:rPr lang="en-US" dirty="0"/>
              <a:t>or embedded analytics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 so much data powering applications, companies increasingly provide analytics to end users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 referred to </a:t>
            </a:r>
            <a:r>
              <a:rPr lang="en-US" dirty="0">
                <a:solidFill>
                  <a:srgbClr val="FF0000"/>
                </a:solidFill>
              </a:rPr>
              <a:t>as data applications</a:t>
            </a:r>
            <a:r>
              <a:rPr lang="en-US" dirty="0"/>
              <a:t>, often with analytics dashboards embedded within the application itself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landscape of embedded analytics is snowballing, and </a:t>
            </a:r>
            <a:r>
              <a:rPr lang="en-US" dirty="0" smtClean="0"/>
              <a:t>expect </a:t>
            </a:r>
            <a:r>
              <a:rPr lang="en-US" dirty="0"/>
              <a:t>that such data applications will become increasingly pervasive within the next few years.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28600" y="1600201"/>
            <a:ext cx="11582400" cy="4648199"/>
          </a:xfrm>
        </p:spPr>
        <p:txBody>
          <a:bodyPr/>
          <a:lstStyle/>
          <a:p>
            <a:r>
              <a:rPr lang="en-US" dirty="0"/>
              <a:t>ML is increasingly </a:t>
            </a:r>
            <a:r>
              <a:rPr lang="en-US" dirty="0" smtClean="0"/>
              <a:t>common!</a:t>
            </a:r>
            <a:endParaRPr lang="en-US" dirty="0"/>
          </a:p>
          <a:p>
            <a:r>
              <a:rPr lang="en-US" dirty="0"/>
              <a:t>ML engineering is rising (itself almost a parallel universe to data engineering)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Boundary between ML, data science, data engineering, and ML engineering is increasingly fuzzy, and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this </a:t>
            </a:r>
            <a:r>
              <a:rPr lang="en-US" dirty="0"/>
              <a:t>boundary varies dramatically between </a:t>
            </a:r>
            <a:r>
              <a:rPr lang="en-US" dirty="0" smtClean="0"/>
              <a:t>organizations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In some organizations, ML engineers take over data processing for ML applications right after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smtClean="0"/>
              <a:t>data </a:t>
            </a:r>
            <a:r>
              <a:rPr lang="en-US" dirty="0"/>
              <a:t>collection or may even form an entirely </a:t>
            </a:r>
            <a:r>
              <a:rPr lang="en-US" dirty="0" smtClean="0"/>
              <a:t>separate and </a:t>
            </a:r>
            <a:r>
              <a:rPr lang="en-US" dirty="0"/>
              <a:t>parallel data organization that handles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smtClean="0"/>
              <a:t>the </a:t>
            </a:r>
            <a:r>
              <a:rPr lang="en-US" dirty="0"/>
              <a:t>entire lifecycle for all ML applications.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engineers handle all data processing in other settings and then hand off data to ML engineers for </a:t>
            </a:r>
            <a:r>
              <a:rPr lang="en-US" dirty="0" smtClean="0"/>
              <a:t>model </a:t>
            </a:r>
            <a:r>
              <a:rPr lang="en-US" dirty="0"/>
              <a:t>training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engineers may even handle some extremely ML-specific tasks, such as </a:t>
            </a:r>
            <a:r>
              <a:rPr lang="en-US" dirty="0" smtClean="0"/>
              <a:t>featuarization </a:t>
            </a:r>
            <a:r>
              <a:rPr lang="en-US" dirty="0"/>
              <a:t>of data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ETL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46481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Today, reverse ETL is a buzzword that describes serving data by loading it from an OLAP database back into a source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increasingly recognized as a formal data engineering responsibility</a:t>
            </a:r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r>
              <a:rPr lang="en-US" dirty="0"/>
              <a:t>A data engineer might pull customers and order data from a CRM and store it in a data warehouse</a:t>
            </a:r>
          </a:p>
          <a:p>
            <a:r>
              <a:rPr lang="en-US" dirty="0"/>
              <a:t>This data is used to train a lead scoring model, whose results are returned to the data warehouse</a:t>
            </a:r>
          </a:p>
          <a:p>
            <a:r>
              <a:rPr lang="en-US" dirty="0"/>
              <a:t>Company’s sales team wants access to these scored leads to try to generate more sales</a:t>
            </a:r>
          </a:p>
          <a:p>
            <a:endParaRPr lang="en-US" dirty="0"/>
          </a:p>
          <a:p>
            <a:r>
              <a:rPr lang="en-US" dirty="0"/>
              <a:t>Have a few options to get the results of this lead scoring model into the hands of the sales team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put the results in a dashboard for them to view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Or might email the results to them as an Excel file</a:t>
            </a:r>
          </a:p>
          <a:p>
            <a:endParaRPr lang="en-US" dirty="0"/>
          </a:p>
          <a:p>
            <a:r>
              <a:rPr lang="en-US" dirty="0"/>
              <a:t>The challenge with these approaches is that they are not connected to the CRM, where a salesperson does their work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Why not just put the scored leads back into the CRM?</a:t>
            </a:r>
          </a:p>
          <a:p>
            <a:endParaRPr lang="en-US" dirty="0"/>
          </a:p>
          <a:p>
            <a:r>
              <a:rPr lang="en-US" dirty="0"/>
              <a:t>Using reverse ETL and loading the scored leads back into the CRM is the easiest and best approach for this data product</a:t>
            </a:r>
          </a:p>
          <a:p>
            <a:r>
              <a:rPr lang="en-US" dirty="0"/>
              <a:t>Reverse ETL takes processed data from the output side of the data engineering lifecycle and feeds it back into source systems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</a:t>
            </a:r>
            <a:r>
              <a:rPr lang="en-IN" dirty="0" smtClean="0"/>
              <a:t>ETL(2)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438400"/>
            <a:ext cx="70104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Serve Data for Analytics and ML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4648199"/>
          </a:xfrm>
        </p:spPr>
        <p:txBody>
          <a:bodyPr/>
          <a:lstStyle/>
          <a:p>
            <a:r>
              <a:rPr lang="en-US" dirty="0" smtClean="0"/>
              <a:t>Is </a:t>
            </a:r>
            <a:r>
              <a:rPr lang="en-US" dirty="0"/>
              <a:t>ubiquitous in data serving. We process data and generate files to pass to data consumers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data scientist might load a text file (unstructured data) of customer messages to analyze the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sentiments </a:t>
            </a:r>
            <a:r>
              <a:rPr lang="en-US" dirty="0"/>
              <a:t>of customer complaints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business unit might receive invoice data from a partner company as a collection of CSVs (structured data)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 analyst must perform some statistical analysis on these files</a:t>
            </a:r>
          </a:p>
          <a:p>
            <a:endParaRPr lang="en-US" dirty="0"/>
          </a:p>
          <a:p>
            <a:r>
              <a:rPr lang="en-US" dirty="0"/>
              <a:t>The way files are served depends on several factors, such as these: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 case — business analytics, operational analytics, embedded analytics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data consumer’s data-handling processes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size and number of individual files in 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Who is accessing this file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type — structured, </a:t>
            </a:r>
            <a:r>
              <a:rPr lang="en-US" dirty="0" smtClean="0"/>
              <a:t>semi-structured</a:t>
            </a:r>
            <a:r>
              <a:rPr lang="en-US" dirty="0"/>
              <a:t>, or unstructured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File Exchange</a:t>
            </a:r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Serve Data for Analytics and </a:t>
            </a:r>
            <a:r>
              <a:rPr lang="en-US" dirty="0" smtClean="0"/>
              <a:t>ML(2)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Critical layer in serving data for analytics and ML - serving data from OLAP databases (</a:t>
            </a:r>
            <a:r>
              <a:rPr lang="en-US" dirty="0" err="1"/>
              <a:t>e.g.,data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warehouses </a:t>
            </a:r>
            <a:r>
              <a:rPr lang="en-US" dirty="0"/>
              <a:t>and data lakes)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Serving data involves querying a database and then consuming those results for a use case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 analyst or data scientist might query a database by using a SQL editor and export those results to a CSV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file </a:t>
            </a:r>
            <a:r>
              <a:rPr lang="en-US" dirty="0"/>
              <a:t>for consumption by a downstream application, or analyze the results in a notebook </a:t>
            </a:r>
          </a:p>
          <a:p>
            <a:endParaRPr lang="en-US" dirty="0"/>
          </a:p>
          <a:p>
            <a:r>
              <a:rPr lang="en-US" dirty="0"/>
              <a:t>Carries a variety of benefits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database imposes order and structure on the data through schema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Databases can offer fine-grained permission controls at the table, column, and row level, allowing database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administrators </a:t>
            </a:r>
            <a:r>
              <a:rPr lang="en-US" dirty="0"/>
              <a:t>to craft complex access policies for various roles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Databases can offer high serving performance for large, computationally intensive queries and high query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concurrency</a:t>
            </a:r>
            <a:endParaRPr lang="en-US" dirty="0"/>
          </a:p>
          <a:p>
            <a:endParaRPr lang="en-US" dirty="0"/>
          </a:p>
          <a:p>
            <a:r>
              <a:rPr lang="en-US" dirty="0"/>
              <a:t>A data scientist might connect to a database, extract data, and perform feature engineering and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selection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Converted dataset is then fed into an ML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offline model is trained and produces predictive results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engineers are quite often tasked with managing the database-serving layer.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Databases</a:t>
            </a:r>
          </a:p>
        </p:txBody>
      </p:sp>
    </p:spTree>
    <p:extLst>
      <p:ext uri="{BB962C8B-B14F-4D97-AF65-F5344CB8AC3E}">
        <p14:creationId xmlns:p14="http://schemas.microsoft.com/office/powerpoint/2010/main" val="243751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Serve Data for Analytics and </a:t>
            </a:r>
            <a:r>
              <a:rPr lang="en-US" dirty="0" smtClean="0"/>
              <a:t>ML(3)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Increasingly important in the realm of serving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type of serving may involve emitted metrics, which are different from traditional queries</a:t>
            </a:r>
          </a:p>
          <a:p>
            <a:endParaRPr lang="en-US" dirty="0"/>
          </a:p>
          <a:p>
            <a:r>
              <a:rPr lang="en-US" dirty="0"/>
              <a:t>Operational analytics databases playing a growing role in this area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 queries to run across a large range of historical data, encompassing up-to-the-second current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combine aspects of OLAP databases with stream-processing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increasingly work with streaming systems to serve data for analytics and ML, so get familiar with this paradigm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Streaming Systems</a:t>
            </a:r>
          </a:p>
        </p:txBody>
      </p:sp>
    </p:spTree>
    <p:extLst>
      <p:ext uri="{BB962C8B-B14F-4D97-AF65-F5344CB8AC3E}">
        <p14:creationId xmlns:p14="http://schemas.microsoft.com/office/powerpoint/2010/main" val="10402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Serve Data for Analytics and </a:t>
            </a:r>
            <a:r>
              <a:rPr lang="en-US" dirty="0" smtClean="0"/>
              <a:t>ML(4)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Query federation pulls data from multiple sources, such as data lakes, RDBMSs, and data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/>
              <a:t>warehouses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becoming more popular as distributed query virtualization engines gain recognition as ways to serve queries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without </a:t>
            </a:r>
            <a:r>
              <a:rPr lang="en-US" dirty="0"/>
              <a:t>going through the trouble of centralizing data in an OLAP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Trino</a:t>
            </a:r>
            <a:r>
              <a:rPr lang="en-US" dirty="0"/>
              <a:t> and Presto and managed services such as Starburst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End user might be querying several systems—OLTP, OLAP, APIs, filesystems, etc.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Instead of serving data from a single system, now serving data from multiple systems, each with its usage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/>
              <a:t>patterns</a:t>
            </a:r>
            <a:r>
              <a:rPr lang="en-US" dirty="0"/>
              <a:t>, quirks, and nuances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federated queries touch live production source systems, need to ensure that the federated query won’t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consume </a:t>
            </a:r>
            <a:r>
              <a:rPr lang="en-US" dirty="0"/>
              <a:t>excessive resources in the source</a:t>
            </a:r>
          </a:p>
          <a:p>
            <a:endParaRPr lang="en-US" dirty="0"/>
          </a:p>
          <a:p>
            <a:r>
              <a:rPr lang="en-US" dirty="0"/>
              <a:t>Federation allows ad hoc queries for performing exploratory analysis, blending data from various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systems </a:t>
            </a:r>
            <a:r>
              <a:rPr lang="en-US" dirty="0"/>
              <a:t>without the complexity of setting up data pipelines or ETL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Federated queries also provide read-only access to source systems, which is great when you don’t want to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serve </a:t>
            </a:r>
            <a:r>
              <a:rPr lang="en-US" dirty="0"/>
              <a:t>files, database access, or data dump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end user reads only the version of the data they’re supposed to access and nothing more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Query federation is a great option to explore for situations where access and compliance are critical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Query Federation</a:t>
            </a:r>
          </a:p>
        </p:txBody>
      </p:sp>
    </p:spTree>
    <p:extLst>
      <p:ext uri="{BB962C8B-B14F-4D97-AF65-F5344CB8AC3E}">
        <p14:creationId xmlns:p14="http://schemas.microsoft.com/office/powerpoint/2010/main" val="256386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Serve Data for Analytics and </a:t>
            </a:r>
            <a:r>
              <a:rPr lang="en-US" dirty="0" smtClean="0"/>
              <a:t>ML(5)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5995353" cy="47243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scientists often use notebooks in their day-to-day work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exploring data, engineering features, or training a model</a:t>
            </a:r>
          </a:p>
          <a:p>
            <a:endParaRPr lang="en-US" dirty="0"/>
          </a:p>
          <a:p>
            <a:r>
              <a:rPr lang="en-US" dirty="0"/>
              <a:t>Jupyter Notebook, along with its next-generation iteration,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JupyterLab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open source and can be hosted locally on a laptop, on a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server</a:t>
            </a:r>
            <a:r>
              <a:rPr lang="en-US" dirty="0"/>
              <a:t>, or through various cloud-managed services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Jupyter stands for Julia, Python, and R </a:t>
            </a:r>
          </a:p>
          <a:p>
            <a:endParaRPr lang="en-US" dirty="0"/>
          </a:p>
          <a:p>
            <a:r>
              <a:rPr lang="en-US" dirty="0"/>
              <a:t>Data scientists will programmatically connect to a data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source</a:t>
            </a:r>
            <a:r>
              <a:rPr lang="en-US" dirty="0"/>
              <a:t>, such as an API, a database, a data warehouse, or a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/>
              <a:t>data </a:t>
            </a:r>
            <a:r>
              <a:rPr lang="en-US" dirty="0"/>
              <a:t>lake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In a notebook, all connections are created using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appropriate built-in or imported libraries to load a file from a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err="1" smtClean="0"/>
              <a:t>filepath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connect to an API endpoint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or make an ODBC connection to a database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Serving Data in Notebooks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438400"/>
            <a:ext cx="41719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0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 smtClean="0"/>
              <a:t>In our next session: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3206</TotalTime>
  <Words>1471</Words>
  <Application>Microsoft Office PowerPoint</Application>
  <PresentationFormat>Widescreen</PresentationFormat>
  <Paragraphs>158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Serving for Analytics and ML</vt:lpstr>
      <vt:lpstr>Data Serving</vt:lpstr>
      <vt:lpstr>Data Serving</vt:lpstr>
      <vt:lpstr>Analytics</vt:lpstr>
      <vt:lpstr>Machine Learning</vt:lpstr>
      <vt:lpstr>Reverse ETL</vt:lpstr>
      <vt:lpstr>Reverse ETL(2)</vt:lpstr>
      <vt:lpstr>Ways to Serve Data for Analytics and ML</vt:lpstr>
      <vt:lpstr>Ways to Serve Data for Analytics and ML(2)</vt:lpstr>
      <vt:lpstr>Ways to Serve Data for Analytics and ML(3)</vt:lpstr>
      <vt:lpstr>Ways to Serve Data for Analytics and ML(4)</vt:lpstr>
      <vt:lpstr>Ways to Serve Data for Analytics and ML(5)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pravin pawar</cp:lastModifiedBy>
  <cp:revision>247</cp:revision>
  <dcterms:created xsi:type="dcterms:W3CDTF">2018-10-16T06:13:57Z</dcterms:created>
  <dcterms:modified xsi:type="dcterms:W3CDTF">2023-06-22T01:23:05Z</dcterms:modified>
</cp:coreProperties>
</file>