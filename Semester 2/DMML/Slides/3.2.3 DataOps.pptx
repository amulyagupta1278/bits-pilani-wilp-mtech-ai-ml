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18"/>
  </p:notesMasterIdLst>
  <p:sldIdLst>
    <p:sldId id="266" r:id="rId2"/>
    <p:sldId id="287" r:id="rId3"/>
    <p:sldId id="286" r:id="rId4"/>
    <p:sldId id="297" r:id="rId5"/>
    <p:sldId id="298" r:id="rId6"/>
    <p:sldId id="299" r:id="rId7"/>
    <p:sldId id="303" r:id="rId8"/>
    <p:sldId id="304" r:id="rId9"/>
    <p:sldId id="310" r:id="rId10"/>
    <p:sldId id="300" r:id="rId11"/>
    <p:sldId id="301" r:id="rId12"/>
    <p:sldId id="302" r:id="rId13"/>
    <p:sldId id="306" r:id="rId14"/>
    <p:sldId id="305" r:id="rId15"/>
    <p:sldId id="307"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305" autoAdjust="0"/>
  </p:normalViewPr>
  <p:slideViewPr>
    <p:cSldViewPr>
      <p:cViewPr varScale="1">
        <p:scale>
          <a:sx n="64" d="100"/>
          <a:sy n="64" d="100"/>
        </p:scale>
        <p:origin x="738" y="60"/>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t>3/9/2023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smtClean="0"/>
              <a:t>Click to edit Course title</a:t>
            </a:r>
            <a:endParaRPr lang="en-US" dirty="0"/>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smtClean="0"/>
              <a:t>Click to edit SME’s name</a:t>
            </a:r>
            <a:endParaRPr lang="en-US" dirty="0"/>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smtClean="0"/>
              <a:t>Click to edit </a:t>
            </a:r>
          </a:p>
          <a:p>
            <a:pPr lvl="0"/>
            <a:r>
              <a:rPr lang="en-US" dirty="0" smtClean="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smtClean="0"/>
              <a:t>Click to edit Session title</a:t>
            </a:r>
            <a:endParaRPr lang="en-US" sz="3600" dirty="0"/>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smtClean="0"/>
              <a:t>Click to edit Master title style</a:t>
            </a:r>
            <a:endParaRPr lang="en-US"/>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smtClean="0"/>
              <a:t>Click to edit Master text styles</a:t>
            </a:r>
          </a:p>
        </p:txBody>
      </p:sp>
    </p:spTree>
    <p:extLst>
      <p:ext uri="{BB962C8B-B14F-4D97-AF65-F5344CB8AC3E}">
        <p14:creationId xmlns:p14="http://schemas.microsoft.com/office/powerpoint/2010/main" val="136154290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smtClean="0"/>
              <a:t>DataOps</a:t>
            </a:r>
            <a:endParaRPr lang="en-US" dirty="0"/>
          </a:p>
        </p:txBody>
      </p:sp>
      <p:sp>
        <p:nvSpPr>
          <p:cNvPr id="6" name="Subtitle 5"/>
          <p:cNvSpPr>
            <a:spLocks noGrp="1"/>
          </p:cNvSpPr>
          <p:nvPr>
            <p:ph type="subTitle" idx="1"/>
          </p:nvPr>
        </p:nvSpPr>
        <p:spPr/>
        <p:txBody>
          <a:bodyPr/>
          <a:lstStyle/>
          <a:p>
            <a:r>
              <a:rPr lang="en-US" sz="1800" dirty="0" smtClean="0">
                <a:solidFill>
                  <a:srgbClr val="211D71"/>
                </a:solidFill>
              </a:rPr>
              <a:t>Pravin Y Pawar</a:t>
            </a:r>
            <a:endParaRPr lang="en-US" sz="1800" dirty="0">
              <a:solidFill>
                <a:srgbClr val="211D71"/>
              </a:solidFill>
            </a:endParaRPr>
          </a:p>
        </p:txBody>
      </p:sp>
    </p:spTree>
    <p:extLst>
      <p:ext uri="{BB962C8B-B14F-4D97-AF65-F5344CB8AC3E}">
        <p14:creationId xmlns:p14="http://schemas.microsoft.com/office/powerpoint/2010/main" val="3797254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Agenda</a:t>
            </a:r>
            <a:endParaRPr lang="en-IN" dirty="0"/>
          </a:p>
        </p:txBody>
      </p:sp>
      <p:sp>
        <p:nvSpPr>
          <p:cNvPr id="3" name="Text Placeholder 2"/>
          <p:cNvSpPr>
            <a:spLocks noGrp="1"/>
          </p:cNvSpPr>
          <p:nvPr>
            <p:ph type="body" sz="quarter" idx="13"/>
          </p:nvPr>
        </p:nvSpPr>
        <p:spPr>
          <a:xfrm>
            <a:off x="857739" y="1600201"/>
            <a:ext cx="10160000" cy="4495799"/>
          </a:xfrm>
        </p:spPr>
        <p:txBody>
          <a:bodyPr/>
          <a:lstStyle/>
          <a:p>
            <a:r>
              <a:rPr lang="en-IN" dirty="0" smtClean="0"/>
              <a:t>DataOps</a:t>
            </a:r>
            <a:endParaRPr lang="en-IN" dirty="0" smtClean="0"/>
          </a:p>
          <a:p>
            <a:pPr lvl="1"/>
            <a:r>
              <a:rPr lang="en-IN" dirty="0" smtClean="0"/>
              <a:t>Approach</a:t>
            </a:r>
          </a:p>
          <a:p>
            <a:pPr lvl="1"/>
            <a:r>
              <a:rPr lang="en-IN" dirty="0" smtClean="0"/>
              <a:t>Foundations and Requirements</a:t>
            </a:r>
          </a:p>
          <a:p>
            <a:pPr lvl="1"/>
            <a:r>
              <a:rPr lang="en-IN" dirty="0" smtClean="0"/>
              <a:t>Technology Framework</a:t>
            </a:r>
          </a:p>
          <a:p>
            <a:pPr lvl="1"/>
            <a:r>
              <a:rPr lang="en-IN" dirty="0" smtClean="0"/>
              <a:t>Tools and vendor landscape</a:t>
            </a:r>
          </a:p>
          <a:p>
            <a:pPr lvl="1"/>
            <a:r>
              <a:rPr lang="en-IN" dirty="0" smtClean="0"/>
              <a:t>Benefits and Pitfalls</a:t>
            </a:r>
          </a:p>
          <a:p>
            <a:endParaRPr lang="en-IN" dirty="0"/>
          </a:p>
        </p:txBody>
      </p:sp>
      <p:sp>
        <p:nvSpPr>
          <p:cNvPr id="4" name="Text Placeholder 3"/>
          <p:cNvSpPr>
            <a:spLocks noGrp="1"/>
          </p:cNvSpPr>
          <p:nvPr>
            <p:ph type="body" sz="quarter" idx="14"/>
          </p:nvPr>
        </p:nvSpPr>
        <p:spPr/>
        <p:txBody>
          <a:bodyPr/>
          <a:lstStyle/>
          <a:p>
            <a:endParaRPr lang="en-IN"/>
          </a:p>
        </p:txBody>
      </p:sp>
    </p:spTree>
    <p:extLst>
      <p:ext uri="{BB962C8B-B14F-4D97-AF65-F5344CB8AC3E}">
        <p14:creationId xmlns:p14="http://schemas.microsoft.com/office/powerpoint/2010/main" val="7877838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DataOps</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720875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DataOps</a:t>
            </a:r>
            <a:endParaRPr lang="en-IN" dirty="0"/>
          </a:p>
        </p:txBody>
      </p:sp>
      <p:sp>
        <p:nvSpPr>
          <p:cNvPr id="3" name="Text Placeholder 2"/>
          <p:cNvSpPr>
            <a:spLocks noGrp="1"/>
          </p:cNvSpPr>
          <p:nvPr>
            <p:ph type="body" sz="quarter" idx="13"/>
          </p:nvPr>
        </p:nvSpPr>
        <p:spPr>
          <a:xfrm>
            <a:off x="857739" y="1600201"/>
            <a:ext cx="10160000" cy="4495799"/>
          </a:xfrm>
        </p:spPr>
        <p:txBody>
          <a:bodyPr>
            <a:normAutofit/>
          </a:bodyPr>
          <a:lstStyle/>
          <a:p>
            <a:r>
              <a:rPr lang="en-US" dirty="0"/>
              <a:t>Data Analytics pipelines becoming more complex and development teams grow in size</a:t>
            </a:r>
          </a:p>
          <a:p>
            <a:pPr lvl="1"/>
            <a:r>
              <a:rPr lang="en-US" dirty="0"/>
              <a:t>organizations need better collaboration </a:t>
            </a:r>
            <a:r>
              <a:rPr lang="en-US"/>
              <a:t>and </a:t>
            </a:r>
            <a:r>
              <a:rPr lang="en-US" smtClean="0"/>
              <a:t>development </a:t>
            </a:r>
            <a:r>
              <a:rPr lang="en-US" dirty="0"/>
              <a:t>processes </a:t>
            </a:r>
          </a:p>
          <a:p>
            <a:pPr lvl="1"/>
            <a:r>
              <a:rPr lang="en-US" dirty="0"/>
              <a:t>to govern the flow of data and code from one step of the data lifecycle to the next </a:t>
            </a:r>
          </a:p>
          <a:p>
            <a:pPr lvl="1"/>
            <a:r>
              <a:rPr lang="en-US" dirty="0"/>
              <a:t>– from data ingestion and transformation to analysis and reporting</a:t>
            </a:r>
          </a:p>
          <a:p>
            <a:endParaRPr lang="en-US" dirty="0"/>
          </a:p>
          <a:p>
            <a:r>
              <a:rPr lang="en-US" dirty="0">
                <a:solidFill>
                  <a:srgbClr val="FF0000"/>
                </a:solidFill>
              </a:rPr>
              <a:t>DataOps </a:t>
            </a:r>
          </a:p>
          <a:p>
            <a:pPr lvl="1"/>
            <a:r>
              <a:rPr lang="en-US" dirty="0">
                <a:solidFill>
                  <a:srgbClr val="FF0000"/>
                </a:solidFill>
              </a:rPr>
              <a:t>is an emerging set of practices, processes, and technologies </a:t>
            </a:r>
          </a:p>
          <a:p>
            <a:pPr lvl="1"/>
            <a:r>
              <a:rPr lang="en-US" dirty="0">
                <a:solidFill>
                  <a:srgbClr val="FF0000"/>
                </a:solidFill>
              </a:rPr>
              <a:t>for building and enhancing data and analytics pipelines </a:t>
            </a:r>
          </a:p>
          <a:p>
            <a:pPr lvl="1"/>
            <a:r>
              <a:rPr lang="en-US" dirty="0">
                <a:solidFill>
                  <a:srgbClr val="FF0000"/>
                </a:solidFill>
              </a:rPr>
              <a:t>to meet business needs quickly</a:t>
            </a:r>
          </a:p>
          <a:p>
            <a:endParaRPr lang="en-US" dirty="0"/>
          </a:p>
          <a:p>
            <a:r>
              <a:rPr lang="en-US" dirty="0"/>
              <a:t>The goal is to increase agility and cycle times, </a:t>
            </a:r>
          </a:p>
          <a:p>
            <a:r>
              <a:rPr lang="en-US" dirty="0" smtClean="0"/>
              <a:t>While </a:t>
            </a:r>
            <a:endParaRPr lang="en-US" dirty="0"/>
          </a:p>
          <a:p>
            <a:pPr lvl="1"/>
            <a:r>
              <a:rPr lang="en-US" dirty="0"/>
              <a:t>reducing data defects,</a:t>
            </a:r>
          </a:p>
          <a:p>
            <a:pPr lvl="1"/>
            <a:r>
              <a:rPr lang="en-US" dirty="0"/>
              <a:t>giving developers and business users greater </a:t>
            </a:r>
            <a:r>
              <a:rPr lang="en-US" dirty="0" smtClean="0"/>
              <a:t>confidence </a:t>
            </a:r>
            <a:r>
              <a:rPr lang="en-US" dirty="0"/>
              <a:t>in data analytics output</a:t>
            </a:r>
            <a:endParaRPr lang="en-IN" dirty="0"/>
          </a:p>
        </p:txBody>
      </p:sp>
      <p:sp>
        <p:nvSpPr>
          <p:cNvPr id="4" name="Text Placeholder 3"/>
          <p:cNvSpPr>
            <a:spLocks noGrp="1"/>
          </p:cNvSpPr>
          <p:nvPr>
            <p:ph type="body" sz="quarter" idx="14"/>
          </p:nvPr>
        </p:nvSpPr>
        <p:spPr/>
        <p:txBody>
          <a:bodyPr/>
          <a:lstStyle/>
          <a:p>
            <a:r>
              <a:rPr lang="en-IN" dirty="0" smtClean="0"/>
              <a:t>New Approach</a:t>
            </a:r>
            <a:endParaRPr lang="en-IN" dirty="0"/>
          </a:p>
        </p:txBody>
      </p:sp>
    </p:spTree>
    <p:extLst>
      <p:ext uri="{BB962C8B-B14F-4D97-AF65-F5344CB8AC3E}">
        <p14:creationId xmlns:p14="http://schemas.microsoft.com/office/powerpoint/2010/main" val="20443370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DataOps(2)</a:t>
            </a:r>
            <a:endParaRPr lang="en-IN" dirty="0"/>
          </a:p>
        </p:txBody>
      </p:sp>
      <p:sp>
        <p:nvSpPr>
          <p:cNvPr id="3" name="Text Placeholder 2"/>
          <p:cNvSpPr>
            <a:spLocks noGrp="1"/>
          </p:cNvSpPr>
          <p:nvPr>
            <p:ph type="body" sz="quarter" idx="13"/>
          </p:nvPr>
        </p:nvSpPr>
        <p:spPr>
          <a:xfrm>
            <a:off x="857739" y="1600201"/>
            <a:ext cx="10160000" cy="4648199"/>
          </a:xfrm>
        </p:spPr>
        <p:txBody>
          <a:bodyPr>
            <a:normAutofit/>
          </a:bodyPr>
          <a:lstStyle/>
          <a:p>
            <a:r>
              <a:rPr lang="en-US" dirty="0"/>
              <a:t>Builds on concepts popular in the software engineering field, </a:t>
            </a:r>
          </a:p>
          <a:p>
            <a:pPr lvl="1"/>
            <a:r>
              <a:rPr lang="en-US" dirty="0"/>
              <a:t>such as agile, lean, and continuous integration/continuous delivery</a:t>
            </a:r>
          </a:p>
          <a:p>
            <a:r>
              <a:rPr lang="en-US" dirty="0"/>
              <a:t>but addresses the </a:t>
            </a:r>
            <a:r>
              <a:rPr lang="en-US" dirty="0">
                <a:solidFill>
                  <a:srgbClr val="FF0000"/>
                </a:solidFill>
              </a:rPr>
              <a:t>unique needs of data and analytics environments</a:t>
            </a:r>
            <a:r>
              <a:rPr lang="en-US" dirty="0"/>
              <a:t>, </a:t>
            </a:r>
          </a:p>
          <a:p>
            <a:pPr lvl="1"/>
            <a:r>
              <a:rPr lang="en-US" dirty="0"/>
              <a:t>including the use of multiple data sources and varied use cases that range from data warehousing to data science</a:t>
            </a:r>
          </a:p>
          <a:p>
            <a:endParaRPr lang="en-US" dirty="0"/>
          </a:p>
          <a:p>
            <a:r>
              <a:rPr lang="en-US" dirty="0"/>
              <a:t>Relies heavily on </a:t>
            </a:r>
          </a:p>
          <a:p>
            <a:pPr lvl="1"/>
            <a:r>
              <a:rPr lang="en-US" dirty="0"/>
              <a:t>test automation</a:t>
            </a:r>
          </a:p>
          <a:p>
            <a:pPr lvl="1"/>
            <a:r>
              <a:rPr lang="en-US" dirty="0"/>
              <a:t>code repositories</a:t>
            </a:r>
          </a:p>
          <a:p>
            <a:pPr lvl="1"/>
            <a:r>
              <a:rPr lang="en-US" dirty="0"/>
              <a:t>collaboration tools,</a:t>
            </a:r>
          </a:p>
          <a:p>
            <a:pPr lvl="1"/>
            <a:r>
              <a:rPr lang="en-US" dirty="0"/>
              <a:t>orchestration frameworks</a:t>
            </a:r>
          </a:p>
          <a:p>
            <a:pPr lvl="1"/>
            <a:r>
              <a:rPr lang="en-US" dirty="0"/>
              <a:t>and workflow automation </a:t>
            </a:r>
          </a:p>
          <a:p>
            <a:r>
              <a:rPr lang="en-US" dirty="0"/>
              <a:t>to accelerate delivery times while minimizing defects</a:t>
            </a:r>
            <a:endParaRPr lang="en-IN" dirty="0"/>
          </a:p>
        </p:txBody>
      </p:sp>
      <p:sp>
        <p:nvSpPr>
          <p:cNvPr id="4" name="Text Placeholder 3"/>
          <p:cNvSpPr>
            <a:spLocks noGrp="1"/>
          </p:cNvSpPr>
          <p:nvPr>
            <p:ph type="body" sz="quarter" idx="14"/>
          </p:nvPr>
        </p:nvSpPr>
        <p:spPr/>
        <p:txBody>
          <a:bodyPr/>
          <a:lstStyle/>
          <a:p>
            <a:r>
              <a:rPr lang="en-IN" dirty="0" smtClean="0"/>
              <a:t>Foundations</a:t>
            </a:r>
            <a:endParaRPr lang="en-IN" dirty="0"/>
          </a:p>
        </p:txBody>
      </p:sp>
    </p:spTree>
    <p:extLst>
      <p:ext uri="{BB962C8B-B14F-4D97-AF65-F5344CB8AC3E}">
        <p14:creationId xmlns:p14="http://schemas.microsoft.com/office/powerpoint/2010/main" val="15324766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DataOps(3)</a:t>
            </a:r>
            <a:endParaRPr lang="en-IN" dirty="0"/>
          </a:p>
        </p:txBody>
      </p:sp>
      <p:sp>
        <p:nvSpPr>
          <p:cNvPr id="3" name="Text Placeholder 2"/>
          <p:cNvSpPr>
            <a:spLocks noGrp="1"/>
          </p:cNvSpPr>
          <p:nvPr>
            <p:ph type="body" sz="quarter" idx="13"/>
          </p:nvPr>
        </p:nvSpPr>
        <p:spPr/>
        <p:txBody>
          <a:bodyPr/>
          <a:lstStyle/>
          <a:p>
            <a:endParaRPr lang="en-IN"/>
          </a:p>
        </p:txBody>
      </p:sp>
      <p:sp>
        <p:nvSpPr>
          <p:cNvPr id="4" name="Text Placeholder 3"/>
          <p:cNvSpPr>
            <a:spLocks noGrp="1"/>
          </p:cNvSpPr>
          <p:nvPr>
            <p:ph type="body" sz="quarter" idx="14"/>
          </p:nvPr>
        </p:nvSpPr>
        <p:spPr/>
        <p:txBody>
          <a:bodyPr/>
          <a:lstStyle/>
          <a:p>
            <a:r>
              <a:rPr lang="en-IN" dirty="0"/>
              <a:t>Data Stakeholders</a:t>
            </a:r>
          </a:p>
        </p:txBody>
      </p:sp>
      <p:pic>
        <p:nvPicPr>
          <p:cNvPr id="5" name="Picture 4"/>
          <p:cNvPicPr>
            <a:picLocks noChangeAspect="1"/>
          </p:cNvPicPr>
          <p:nvPr/>
        </p:nvPicPr>
        <p:blipFill>
          <a:blip r:embed="rId2"/>
          <a:stretch>
            <a:fillRect/>
          </a:stretch>
        </p:blipFill>
        <p:spPr>
          <a:xfrm>
            <a:off x="1447800" y="1895474"/>
            <a:ext cx="8712200" cy="4048125"/>
          </a:xfrm>
          <a:prstGeom prst="rect">
            <a:avLst/>
          </a:prstGeom>
        </p:spPr>
      </p:pic>
    </p:spTree>
    <p:extLst>
      <p:ext uri="{BB962C8B-B14F-4D97-AF65-F5344CB8AC3E}">
        <p14:creationId xmlns:p14="http://schemas.microsoft.com/office/powerpoint/2010/main" val="39601303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DataOps(4)</a:t>
            </a:r>
            <a:endParaRPr lang="en-IN" dirty="0"/>
          </a:p>
        </p:txBody>
      </p:sp>
      <p:sp>
        <p:nvSpPr>
          <p:cNvPr id="3" name="Text Placeholder 2"/>
          <p:cNvSpPr>
            <a:spLocks noGrp="1"/>
          </p:cNvSpPr>
          <p:nvPr>
            <p:ph type="body" sz="quarter" idx="13"/>
          </p:nvPr>
        </p:nvSpPr>
        <p:spPr/>
        <p:txBody>
          <a:bodyPr/>
          <a:lstStyle/>
          <a:p>
            <a:endParaRPr lang="en-IN"/>
          </a:p>
        </p:txBody>
      </p:sp>
      <p:sp>
        <p:nvSpPr>
          <p:cNvPr id="4" name="Text Placeholder 3"/>
          <p:cNvSpPr>
            <a:spLocks noGrp="1"/>
          </p:cNvSpPr>
          <p:nvPr>
            <p:ph type="body" sz="quarter" idx="14"/>
          </p:nvPr>
        </p:nvSpPr>
        <p:spPr/>
        <p:txBody>
          <a:bodyPr/>
          <a:lstStyle/>
          <a:p>
            <a:r>
              <a:rPr lang="en-US" dirty="0"/>
              <a:t>DataOps for Data Warehousing and Data Management</a:t>
            </a:r>
            <a:endParaRPr lang="en-IN" dirty="0"/>
          </a:p>
        </p:txBody>
      </p:sp>
      <p:pic>
        <p:nvPicPr>
          <p:cNvPr id="5" name="Picture 4"/>
          <p:cNvPicPr>
            <a:picLocks noChangeAspect="1"/>
          </p:cNvPicPr>
          <p:nvPr/>
        </p:nvPicPr>
        <p:blipFill>
          <a:blip r:embed="rId2"/>
          <a:stretch>
            <a:fillRect/>
          </a:stretch>
        </p:blipFill>
        <p:spPr>
          <a:xfrm>
            <a:off x="2074862" y="2133600"/>
            <a:ext cx="7705725" cy="2771775"/>
          </a:xfrm>
          <a:prstGeom prst="rect">
            <a:avLst/>
          </a:prstGeom>
        </p:spPr>
      </p:pic>
    </p:spTree>
    <p:extLst>
      <p:ext uri="{BB962C8B-B14F-4D97-AF65-F5344CB8AC3E}">
        <p14:creationId xmlns:p14="http://schemas.microsoft.com/office/powerpoint/2010/main" val="28533500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DataOps(5)</a:t>
            </a:r>
            <a:endParaRPr lang="en-IN" dirty="0"/>
          </a:p>
        </p:txBody>
      </p:sp>
      <p:sp>
        <p:nvSpPr>
          <p:cNvPr id="3" name="Text Placeholder 2"/>
          <p:cNvSpPr>
            <a:spLocks noGrp="1"/>
          </p:cNvSpPr>
          <p:nvPr>
            <p:ph type="body" sz="quarter" idx="13"/>
          </p:nvPr>
        </p:nvSpPr>
        <p:spPr/>
        <p:txBody>
          <a:bodyPr/>
          <a:lstStyle/>
          <a:p>
            <a:endParaRPr lang="en-IN"/>
          </a:p>
        </p:txBody>
      </p:sp>
      <p:sp>
        <p:nvSpPr>
          <p:cNvPr id="4" name="Text Placeholder 3"/>
          <p:cNvSpPr>
            <a:spLocks noGrp="1"/>
          </p:cNvSpPr>
          <p:nvPr>
            <p:ph type="body" sz="quarter" idx="14"/>
          </p:nvPr>
        </p:nvSpPr>
        <p:spPr/>
        <p:txBody>
          <a:bodyPr/>
          <a:lstStyle/>
          <a:p>
            <a:r>
              <a:rPr lang="en-US" dirty="0"/>
              <a:t>DataOps for Dashboards and Reports</a:t>
            </a:r>
            <a:endParaRPr lang="en-IN" dirty="0"/>
          </a:p>
        </p:txBody>
      </p:sp>
      <p:pic>
        <p:nvPicPr>
          <p:cNvPr id="5" name="Picture 4"/>
          <p:cNvPicPr>
            <a:picLocks noChangeAspect="1"/>
          </p:cNvPicPr>
          <p:nvPr/>
        </p:nvPicPr>
        <p:blipFill>
          <a:blip r:embed="rId2"/>
          <a:stretch>
            <a:fillRect/>
          </a:stretch>
        </p:blipFill>
        <p:spPr>
          <a:xfrm>
            <a:off x="2257425" y="2105025"/>
            <a:ext cx="7677150" cy="2647950"/>
          </a:xfrm>
          <a:prstGeom prst="rect">
            <a:avLst/>
          </a:prstGeom>
        </p:spPr>
      </p:pic>
    </p:spTree>
    <p:extLst>
      <p:ext uri="{BB962C8B-B14F-4D97-AF65-F5344CB8AC3E}">
        <p14:creationId xmlns:p14="http://schemas.microsoft.com/office/powerpoint/2010/main" val="28972738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DataOps(6)</a:t>
            </a:r>
            <a:endParaRPr lang="en-IN" dirty="0"/>
          </a:p>
        </p:txBody>
      </p:sp>
      <p:sp>
        <p:nvSpPr>
          <p:cNvPr id="3" name="Text Placeholder 2"/>
          <p:cNvSpPr>
            <a:spLocks noGrp="1"/>
          </p:cNvSpPr>
          <p:nvPr>
            <p:ph type="body" sz="quarter" idx="13"/>
          </p:nvPr>
        </p:nvSpPr>
        <p:spPr/>
        <p:txBody>
          <a:bodyPr/>
          <a:lstStyle/>
          <a:p>
            <a:endParaRPr lang="en-IN"/>
          </a:p>
        </p:txBody>
      </p:sp>
      <p:sp>
        <p:nvSpPr>
          <p:cNvPr id="4" name="Text Placeholder 3"/>
          <p:cNvSpPr>
            <a:spLocks noGrp="1"/>
          </p:cNvSpPr>
          <p:nvPr>
            <p:ph type="body" sz="quarter" idx="14"/>
          </p:nvPr>
        </p:nvSpPr>
        <p:spPr/>
        <p:txBody>
          <a:bodyPr/>
          <a:lstStyle/>
          <a:p>
            <a:r>
              <a:rPr lang="en-US" dirty="0"/>
              <a:t>DataOps for Data Science</a:t>
            </a:r>
            <a:endParaRPr lang="en-IN" dirty="0"/>
          </a:p>
        </p:txBody>
      </p:sp>
      <p:pic>
        <p:nvPicPr>
          <p:cNvPr id="5" name="Picture 4"/>
          <p:cNvPicPr>
            <a:picLocks noChangeAspect="1"/>
          </p:cNvPicPr>
          <p:nvPr/>
        </p:nvPicPr>
        <p:blipFill>
          <a:blip r:embed="rId2"/>
          <a:stretch>
            <a:fillRect/>
          </a:stretch>
        </p:blipFill>
        <p:spPr>
          <a:xfrm>
            <a:off x="2271712" y="2043112"/>
            <a:ext cx="7648575" cy="2771775"/>
          </a:xfrm>
          <a:prstGeom prst="rect">
            <a:avLst/>
          </a:prstGeom>
        </p:spPr>
      </p:pic>
    </p:spTree>
    <p:extLst>
      <p:ext uri="{BB962C8B-B14F-4D97-AF65-F5344CB8AC3E}">
        <p14:creationId xmlns:p14="http://schemas.microsoft.com/office/powerpoint/2010/main" val="4674205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DataOps(7)</a:t>
            </a:r>
            <a:endParaRPr lang="en-IN" dirty="0"/>
          </a:p>
        </p:txBody>
      </p:sp>
      <p:sp>
        <p:nvSpPr>
          <p:cNvPr id="3" name="Text Placeholder 2"/>
          <p:cNvSpPr>
            <a:spLocks noGrp="1"/>
          </p:cNvSpPr>
          <p:nvPr>
            <p:ph type="body" sz="quarter" idx="13"/>
          </p:nvPr>
        </p:nvSpPr>
        <p:spPr/>
        <p:txBody>
          <a:bodyPr/>
          <a:lstStyle/>
          <a:p>
            <a:endParaRPr lang="en-IN"/>
          </a:p>
        </p:txBody>
      </p:sp>
      <p:sp>
        <p:nvSpPr>
          <p:cNvPr id="4" name="Text Placeholder 3"/>
          <p:cNvSpPr>
            <a:spLocks noGrp="1"/>
          </p:cNvSpPr>
          <p:nvPr>
            <p:ph type="body" sz="quarter" idx="14"/>
          </p:nvPr>
        </p:nvSpPr>
        <p:spPr/>
        <p:txBody>
          <a:bodyPr/>
          <a:lstStyle/>
          <a:p>
            <a:r>
              <a:rPr lang="en-IN" dirty="0" smtClean="0"/>
              <a:t>Technology</a:t>
            </a:r>
            <a:endParaRPr lang="en-IN" dirty="0"/>
          </a:p>
        </p:txBody>
      </p:sp>
      <p:pic>
        <p:nvPicPr>
          <p:cNvPr id="5" name="Picture 4"/>
          <p:cNvPicPr>
            <a:picLocks noChangeAspect="1"/>
          </p:cNvPicPr>
          <p:nvPr/>
        </p:nvPicPr>
        <p:blipFill>
          <a:blip r:embed="rId2"/>
          <a:stretch>
            <a:fillRect/>
          </a:stretch>
        </p:blipFill>
        <p:spPr>
          <a:xfrm>
            <a:off x="1676401" y="1905000"/>
            <a:ext cx="8077200" cy="4238625"/>
          </a:xfrm>
          <a:prstGeom prst="rect">
            <a:avLst/>
          </a:prstGeom>
        </p:spPr>
      </p:pic>
    </p:spTree>
    <p:extLst>
      <p:ext uri="{BB962C8B-B14F-4D97-AF65-F5344CB8AC3E}">
        <p14:creationId xmlns:p14="http://schemas.microsoft.com/office/powerpoint/2010/main" val="29890308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DataOps(8)</a:t>
            </a:r>
            <a:endParaRPr lang="en-IN" dirty="0"/>
          </a:p>
        </p:txBody>
      </p:sp>
      <p:sp>
        <p:nvSpPr>
          <p:cNvPr id="3" name="Text Placeholder 2"/>
          <p:cNvSpPr>
            <a:spLocks noGrp="1"/>
          </p:cNvSpPr>
          <p:nvPr>
            <p:ph type="body" sz="quarter" idx="13"/>
          </p:nvPr>
        </p:nvSpPr>
        <p:spPr>
          <a:xfrm>
            <a:off x="857739" y="1600201"/>
            <a:ext cx="10160000" cy="4190999"/>
          </a:xfrm>
        </p:spPr>
        <p:txBody>
          <a:bodyPr/>
          <a:lstStyle/>
          <a:p>
            <a:r>
              <a:rPr lang="en-US" dirty="0"/>
              <a:t>There are five categories of DataOps products on the market today:</a:t>
            </a:r>
          </a:p>
          <a:p>
            <a:pPr lvl="1"/>
            <a:r>
              <a:rPr lang="en-US" dirty="0" smtClean="0"/>
              <a:t>All-in-one </a:t>
            </a:r>
            <a:r>
              <a:rPr lang="en-US" dirty="0"/>
              <a:t>tools</a:t>
            </a:r>
          </a:p>
          <a:p>
            <a:pPr lvl="1"/>
            <a:r>
              <a:rPr lang="en-US" dirty="0" smtClean="0"/>
              <a:t>Orchestration </a:t>
            </a:r>
            <a:r>
              <a:rPr lang="en-US" dirty="0"/>
              <a:t>tools</a:t>
            </a:r>
          </a:p>
          <a:p>
            <a:pPr lvl="1"/>
            <a:r>
              <a:rPr lang="en-US" dirty="0" smtClean="0"/>
              <a:t>Component </a:t>
            </a:r>
            <a:r>
              <a:rPr lang="en-US" dirty="0"/>
              <a:t>tools</a:t>
            </a:r>
          </a:p>
          <a:p>
            <a:pPr lvl="1"/>
            <a:r>
              <a:rPr lang="en-US" dirty="0" smtClean="0"/>
              <a:t>Case-specific </a:t>
            </a:r>
            <a:r>
              <a:rPr lang="en-US" dirty="0"/>
              <a:t>tools</a:t>
            </a:r>
          </a:p>
          <a:p>
            <a:pPr lvl="1"/>
            <a:r>
              <a:rPr lang="en-US" dirty="0" smtClean="0"/>
              <a:t>Open </a:t>
            </a:r>
            <a:r>
              <a:rPr lang="en-US" dirty="0"/>
              <a:t>source tools </a:t>
            </a:r>
            <a:endParaRPr lang="en-IN" dirty="0"/>
          </a:p>
        </p:txBody>
      </p:sp>
      <p:sp>
        <p:nvSpPr>
          <p:cNvPr id="4" name="Text Placeholder 3"/>
          <p:cNvSpPr>
            <a:spLocks noGrp="1"/>
          </p:cNvSpPr>
          <p:nvPr>
            <p:ph type="body" sz="quarter" idx="14"/>
          </p:nvPr>
        </p:nvSpPr>
        <p:spPr/>
        <p:txBody>
          <a:bodyPr/>
          <a:lstStyle/>
          <a:p>
            <a:r>
              <a:rPr lang="en-IN" dirty="0"/>
              <a:t>Tools</a:t>
            </a:r>
          </a:p>
        </p:txBody>
      </p:sp>
    </p:spTree>
    <p:extLst>
      <p:ext uri="{BB962C8B-B14F-4D97-AF65-F5344CB8AC3E}">
        <p14:creationId xmlns:p14="http://schemas.microsoft.com/office/powerpoint/2010/main" val="10197567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DataOps(9)</a:t>
            </a:r>
            <a:endParaRPr lang="en-IN" dirty="0"/>
          </a:p>
        </p:txBody>
      </p:sp>
      <p:sp>
        <p:nvSpPr>
          <p:cNvPr id="3" name="Text Placeholder 2"/>
          <p:cNvSpPr>
            <a:spLocks noGrp="1"/>
          </p:cNvSpPr>
          <p:nvPr>
            <p:ph type="body" sz="quarter" idx="13"/>
          </p:nvPr>
        </p:nvSpPr>
        <p:spPr/>
        <p:txBody>
          <a:bodyPr/>
          <a:lstStyle/>
          <a:p>
            <a:endParaRPr lang="en-IN" dirty="0"/>
          </a:p>
        </p:txBody>
      </p:sp>
      <p:sp>
        <p:nvSpPr>
          <p:cNvPr id="4" name="Text Placeholder 3"/>
          <p:cNvSpPr>
            <a:spLocks noGrp="1"/>
          </p:cNvSpPr>
          <p:nvPr>
            <p:ph type="body" sz="quarter" idx="14"/>
          </p:nvPr>
        </p:nvSpPr>
        <p:spPr/>
        <p:txBody>
          <a:bodyPr/>
          <a:lstStyle/>
          <a:p>
            <a:r>
              <a:rPr lang="en-IN" dirty="0" smtClean="0"/>
              <a:t>Vendor Landscape</a:t>
            </a:r>
            <a:endParaRPr lang="en-IN" dirty="0"/>
          </a:p>
        </p:txBody>
      </p:sp>
      <p:pic>
        <p:nvPicPr>
          <p:cNvPr id="6" name="Picture 5"/>
          <p:cNvPicPr>
            <a:picLocks noChangeAspect="1"/>
          </p:cNvPicPr>
          <p:nvPr/>
        </p:nvPicPr>
        <p:blipFill>
          <a:blip r:embed="rId2"/>
          <a:stretch>
            <a:fillRect/>
          </a:stretch>
        </p:blipFill>
        <p:spPr>
          <a:xfrm>
            <a:off x="1828800" y="1545783"/>
            <a:ext cx="7791450" cy="5200650"/>
          </a:xfrm>
          <a:prstGeom prst="rect">
            <a:avLst/>
          </a:prstGeom>
        </p:spPr>
      </p:pic>
    </p:spTree>
    <p:extLst>
      <p:ext uri="{BB962C8B-B14F-4D97-AF65-F5344CB8AC3E}">
        <p14:creationId xmlns:p14="http://schemas.microsoft.com/office/powerpoint/2010/main" val="17158774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DataOps(10)</a:t>
            </a:r>
            <a:endParaRPr lang="en-IN" dirty="0"/>
          </a:p>
        </p:txBody>
      </p:sp>
      <p:sp>
        <p:nvSpPr>
          <p:cNvPr id="3" name="Text Placeholder 2"/>
          <p:cNvSpPr>
            <a:spLocks noGrp="1"/>
          </p:cNvSpPr>
          <p:nvPr>
            <p:ph type="body" sz="quarter" idx="13"/>
          </p:nvPr>
        </p:nvSpPr>
        <p:spPr>
          <a:xfrm>
            <a:off x="857739" y="1600201"/>
            <a:ext cx="10160000" cy="4800599"/>
          </a:xfrm>
        </p:spPr>
        <p:txBody>
          <a:bodyPr>
            <a:normAutofit fontScale="92500" lnSpcReduction="10000"/>
          </a:bodyPr>
          <a:lstStyle/>
          <a:p>
            <a:r>
              <a:rPr lang="en-US" dirty="0"/>
              <a:t>Improve Collaboration and Communication</a:t>
            </a:r>
          </a:p>
          <a:p>
            <a:pPr lvl="1"/>
            <a:r>
              <a:rPr lang="en-US" dirty="0"/>
              <a:t>comes with a change in culture that promotes collaboration, trust, and responsibility</a:t>
            </a:r>
          </a:p>
          <a:p>
            <a:pPr lvl="1"/>
            <a:r>
              <a:rPr lang="en-US" dirty="0"/>
              <a:t>goals are to blur the lines between departments and functions, </a:t>
            </a:r>
          </a:p>
          <a:p>
            <a:pPr lvl="1"/>
            <a:r>
              <a:rPr lang="en-US" dirty="0"/>
              <a:t>encourage the exchange of knowledge, reduce conflicts, and eventually increase productivity</a:t>
            </a:r>
          </a:p>
          <a:p>
            <a:endParaRPr lang="en-US" dirty="0"/>
          </a:p>
          <a:p>
            <a:r>
              <a:rPr lang="en-US" dirty="0"/>
              <a:t>Accelerate Time to Production</a:t>
            </a:r>
          </a:p>
          <a:p>
            <a:pPr lvl="1"/>
            <a:r>
              <a:rPr lang="en-US" dirty="0"/>
              <a:t>A major driver for DataOps is speed</a:t>
            </a:r>
          </a:p>
          <a:p>
            <a:pPr lvl="1"/>
            <a:r>
              <a:rPr lang="en-US" dirty="0"/>
              <a:t>Idea of streamlined and largely automated analytics pipelines helps deliver new features and insights quickly and reduces manual effort</a:t>
            </a:r>
          </a:p>
          <a:p>
            <a:pPr lvl="1"/>
            <a:r>
              <a:rPr lang="en-US" dirty="0"/>
              <a:t>Short feedback and testing cycles help speed up reactions to changing business requirements and increase </a:t>
            </a:r>
            <a:r>
              <a:rPr lang="en-US" dirty="0" smtClean="0"/>
              <a:t>flexibility</a:t>
            </a:r>
          </a:p>
          <a:p>
            <a:pPr lvl="1"/>
            <a:endParaRPr lang="en-US" dirty="0"/>
          </a:p>
          <a:p>
            <a:r>
              <a:rPr lang="en-US" dirty="0"/>
              <a:t>Increase Quality and Reliability</a:t>
            </a:r>
          </a:p>
          <a:p>
            <a:pPr lvl="1"/>
            <a:r>
              <a:rPr lang="en-US" dirty="0"/>
              <a:t>Well-defined analytics pipelines enhance both speed and robustness</a:t>
            </a:r>
          </a:p>
          <a:p>
            <a:pPr lvl="1"/>
            <a:r>
              <a:rPr lang="en-US" dirty="0"/>
              <a:t>For instance, multiple stages of automated and manual tests prevent the deployment of flawed updates</a:t>
            </a:r>
          </a:p>
          <a:p>
            <a:pPr lvl="1"/>
            <a:r>
              <a:rPr lang="en-US" dirty="0"/>
              <a:t>Besides, DataOps also includes monitoring of rolled-out changes to identify bottlenecks and potential issues</a:t>
            </a:r>
          </a:p>
          <a:p>
            <a:pPr lvl="1"/>
            <a:r>
              <a:rPr lang="en-US" dirty="0"/>
              <a:t>Lastly, the convergence of different roles helps align changes throughout various stages, </a:t>
            </a:r>
          </a:p>
          <a:p>
            <a:pPr lvl="1"/>
            <a:r>
              <a:rPr lang="en-US" dirty="0"/>
              <a:t>such as when a data engineer is informed about the later cleansing issues encountered by a data scientist</a:t>
            </a:r>
            <a:endParaRPr lang="en-IN" dirty="0"/>
          </a:p>
        </p:txBody>
      </p:sp>
      <p:sp>
        <p:nvSpPr>
          <p:cNvPr id="4" name="Text Placeholder 3"/>
          <p:cNvSpPr>
            <a:spLocks noGrp="1"/>
          </p:cNvSpPr>
          <p:nvPr>
            <p:ph type="body" sz="quarter" idx="14"/>
          </p:nvPr>
        </p:nvSpPr>
        <p:spPr/>
        <p:txBody>
          <a:bodyPr/>
          <a:lstStyle/>
          <a:p>
            <a:r>
              <a:rPr lang="en-US" dirty="0"/>
              <a:t>Benefits of DataOps</a:t>
            </a:r>
            <a:endParaRPr lang="en-IN" dirty="0"/>
          </a:p>
        </p:txBody>
      </p:sp>
    </p:spTree>
    <p:extLst>
      <p:ext uri="{BB962C8B-B14F-4D97-AF65-F5344CB8AC3E}">
        <p14:creationId xmlns:p14="http://schemas.microsoft.com/office/powerpoint/2010/main" val="26885179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DataOps(11)</a:t>
            </a:r>
            <a:endParaRPr lang="en-IN" dirty="0"/>
          </a:p>
        </p:txBody>
      </p:sp>
      <p:sp>
        <p:nvSpPr>
          <p:cNvPr id="3" name="Text Placeholder 2"/>
          <p:cNvSpPr>
            <a:spLocks noGrp="1"/>
          </p:cNvSpPr>
          <p:nvPr>
            <p:ph type="body" sz="quarter" idx="13"/>
          </p:nvPr>
        </p:nvSpPr>
        <p:spPr>
          <a:xfrm>
            <a:off x="857739" y="1600201"/>
            <a:ext cx="10160000" cy="4724399"/>
          </a:xfrm>
        </p:spPr>
        <p:txBody>
          <a:bodyPr>
            <a:normAutofit fontScale="92500" lnSpcReduction="10000"/>
          </a:bodyPr>
          <a:lstStyle/>
          <a:p>
            <a:r>
              <a:rPr lang="en-US" dirty="0"/>
              <a:t>The following common pitfalls should be considered on the way to a DataOps culture</a:t>
            </a:r>
          </a:p>
          <a:p>
            <a:endParaRPr lang="en-US" dirty="0"/>
          </a:p>
          <a:p>
            <a:r>
              <a:rPr lang="en-US" dirty="0"/>
              <a:t>Acceptance: </a:t>
            </a:r>
          </a:p>
          <a:p>
            <a:pPr lvl="1"/>
            <a:r>
              <a:rPr lang="en-US" dirty="0">
                <a:solidFill>
                  <a:srgbClr val="FF0000"/>
                </a:solidFill>
              </a:rPr>
              <a:t>Don’t make it technical!</a:t>
            </a:r>
          </a:p>
          <a:p>
            <a:pPr lvl="1"/>
            <a:r>
              <a:rPr lang="en-US" dirty="0"/>
              <a:t>DataOps has the same burden as other related ideas in software engineering, which are often characterized as technical </a:t>
            </a:r>
            <a:r>
              <a:rPr lang="en-US" dirty="0" smtClean="0"/>
              <a:t>Knick </a:t>
            </a:r>
            <a:r>
              <a:rPr lang="en-US" dirty="0"/>
              <a:t>knacks</a:t>
            </a:r>
          </a:p>
          <a:p>
            <a:pPr lvl="1"/>
            <a:r>
              <a:rPr lang="en-US" dirty="0"/>
              <a:t>It is important to show that DataOps is not a technology trend, but a business trend</a:t>
            </a:r>
          </a:p>
          <a:p>
            <a:pPr lvl="1"/>
            <a:r>
              <a:rPr lang="en-US" dirty="0"/>
              <a:t>Communicate the holistic idea of DataOps, get everybody on board early, and show that business value is the goal, rather than having a fancy </a:t>
            </a:r>
            <a:r>
              <a:rPr lang="en-US" dirty="0" smtClean="0"/>
              <a:t>tech stack</a:t>
            </a:r>
            <a:endParaRPr lang="en-US" dirty="0"/>
          </a:p>
          <a:p>
            <a:endParaRPr lang="en-US" dirty="0"/>
          </a:p>
          <a:p>
            <a:r>
              <a:rPr lang="en-US" dirty="0"/>
              <a:t>Engineering: </a:t>
            </a:r>
          </a:p>
          <a:p>
            <a:pPr lvl="1"/>
            <a:r>
              <a:rPr lang="en-US" dirty="0">
                <a:solidFill>
                  <a:srgbClr val="FF0000"/>
                </a:solidFill>
              </a:rPr>
              <a:t>Keep it simple!</a:t>
            </a:r>
          </a:p>
          <a:p>
            <a:pPr lvl="1"/>
            <a:r>
              <a:rPr lang="en-US" dirty="0"/>
              <a:t>DataOps combines many concepts which can be extended almost endlessly, running the risk of over-complication</a:t>
            </a:r>
          </a:p>
          <a:p>
            <a:pPr lvl="1"/>
            <a:r>
              <a:rPr lang="en-US" dirty="0"/>
              <a:t>Always take care to balance effort and benefit</a:t>
            </a:r>
          </a:p>
          <a:p>
            <a:pPr lvl="1"/>
            <a:r>
              <a:rPr lang="en-US" dirty="0"/>
              <a:t>This applies to both technical solutions, such as unnecessary tests and overly complex deployment processes, and to organizational structures, which can easily become burdened with too many roles, feedback loops, and overly rigid processes.</a:t>
            </a:r>
          </a:p>
          <a:p>
            <a:endParaRPr lang="en-US" dirty="0"/>
          </a:p>
        </p:txBody>
      </p:sp>
      <p:sp>
        <p:nvSpPr>
          <p:cNvPr id="4" name="Text Placeholder 3"/>
          <p:cNvSpPr>
            <a:spLocks noGrp="1"/>
          </p:cNvSpPr>
          <p:nvPr>
            <p:ph type="body" sz="quarter" idx="14"/>
          </p:nvPr>
        </p:nvSpPr>
        <p:spPr/>
        <p:txBody>
          <a:bodyPr/>
          <a:lstStyle/>
          <a:p>
            <a:r>
              <a:rPr lang="en-IN" dirty="0"/>
              <a:t>Common Pitfalls of DataOps</a:t>
            </a:r>
          </a:p>
        </p:txBody>
      </p:sp>
    </p:spTree>
    <p:extLst>
      <p:ext uri="{BB962C8B-B14F-4D97-AF65-F5344CB8AC3E}">
        <p14:creationId xmlns:p14="http://schemas.microsoft.com/office/powerpoint/2010/main" val="2021236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Text Placeholder 2"/>
          <p:cNvSpPr>
            <a:spLocks noGrp="1"/>
          </p:cNvSpPr>
          <p:nvPr>
            <p:ph type="body" sz="quarter" idx="13"/>
          </p:nvPr>
        </p:nvSpPr>
        <p:spPr>
          <a:xfrm>
            <a:off x="857739" y="1600201"/>
            <a:ext cx="10160000" cy="4800599"/>
          </a:xfrm>
        </p:spPr>
        <p:txBody>
          <a:bodyPr/>
          <a:lstStyle/>
          <a:p>
            <a:r>
              <a:rPr lang="en-US" dirty="0"/>
              <a:t>The Ultimate Guide to DataOps Product Evaluation and Selection </a:t>
            </a:r>
            <a:r>
              <a:rPr lang="en-US" dirty="0" smtClean="0"/>
              <a:t>Criteria</a:t>
            </a:r>
          </a:p>
          <a:p>
            <a:r>
              <a:rPr lang="en-US" dirty="0"/>
              <a:t>DataOps: Industrializing Data and Analytics Strategies for Streamlining the Delivery of Insights</a:t>
            </a:r>
          </a:p>
          <a:p>
            <a:r>
              <a:rPr lang="en-US" dirty="0" smtClean="0"/>
              <a:t>IBM DataOps How and Why Whitepaper</a:t>
            </a:r>
            <a:endParaRPr lang="en-US" dirty="0"/>
          </a:p>
        </p:txBody>
      </p:sp>
      <p:sp>
        <p:nvSpPr>
          <p:cNvPr id="4" name="Text Placeholder 3"/>
          <p:cNvSpPr>
            <a:spLocks noGrp="1"/>
          </p:cNvSpPr>
          <p:nvPr>
            <p:ph type="body" sz="quarter" idx="14"/>
          </p:nvPr>
        </p:nvSpPr>
        <p:spPr/>
        <p:txBody>
          <a:bodyPr/>
          <a:lstStyle/>
          <a:p>
            <a:endParaRPr lang="en-US" dirty="0"/>
          </a:p>
        </p:txBody>
      </p:sp>
    </p:spTree>
    <p:extLst>
      <p:ext uri="{BB962C8B-B14F-4D97-AF65-F5344CB8AC3E}">
        <p14:creationId xmlns:p14="http://schemas.microsoft.com/office/powerpoint/2010/main" val="39002818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4" name="Text Placeholder 3"/>
          <p:cNvSpPr>
            <a:spLocks noGrp="1"/>
          </p:cNvSpPr>
          <p:nvPr>
            <p:ph type="body" idx="1"/>
          </p:nvPr>
        </p:nvSpPr>
        <p:spPr/>
        <p:txBody>
          <a:bodyPr/>
          <a:lstStyle/>
          <a:p>
            <a:endParaRPr lang="en-US"/>
          </a:p>
        </p:txBody>
      </p:sp>
    </p:spTree>
    <p:extLst>
      <p:ext uri="{BB962C8B-B14F-4D97-AF65-F5344CB8AC3E}">
        <p14:creationId xmlns:p14="http://schemas.microsoft.com/office/powerpoint/2010/main" val="419579829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3260</TotalTime>
  <Words>620</Words>
  <Application>Microsoft Office PowerPoint</Application>
  <PresentationFormat>Widescreen</PresentationFormat>
  <Paragraphs>98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vt:lpstr>
      <vt:lpstr>Helvetica Light</vt:lpstr>
      <vt:lpstr>Office Theme</vt:lpstr>
      <vt:lpstr>DataOps</vt:lpstr>
      <vt:lpstr>Agenda</vt:lpstr>
      <vt:lpstr>DataOps</vt:lpstr>
      <vt:lpstr>DataOps</vt:lpstr>
      <vt:lpstr>DataOps(2)</vt:lpstr>
      <vt:lpstr>DataOps(3)</vt:lpstr>
      <vt:lpstr>DataOps(4)</vt:lpstr>
      <vt:lpstr>DataOps(5)</vt:lpstr>
      <vt:lpstr>DataOps(6)</vt:lpstr>
      <vt:lpstr>DataOps(7)</vt:lpstr>
      <vt:lpstr>DataOps(8)</vt:lpstr>
      <vt:lpstr>DataOps(9)</vt:lpstr>
      <vt:lpstr>DataOps(10)</vt:lpstr>
      <vt:lpstr>DataOps(11)</vt:lpstr>
      <vt:lpstr>References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pravin pawar</cp:lastModifiedBy>
  <cp:revision>268</cp:revision>
  <dcterms:created xsi:type="dcterms:W3CDTF">2018-10-16T06:13:57Z</dcterms:created>
  <dcterms:modified xsi:type="dcterms:W3CDTF">2023-03-09T05:38:36Z</dcterms:modified>
</cp:coreProperties>
</file>