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notesMasterIdLst>
    <p:notesMasterId r:id="rId10"/>
  </p:notesMasterIdLst>
  <p:sldIdLst>
    <p:sldId id="266" r:id="rId2"/>
    <p:sldId id="285" r:id="rId3"/>
    <p:sldId id="286" r:id="rId4"/>
    <p:sldId id="287" r:id="rId5"/>
    <p:sldId id="288" r:id="rId6"/>
    <p:sldId id="289" r:id="rId7"/>
    <p:sldId id="290" r:id="rId8"/>
    <p:sldId id="26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0860"/>
    <a:srgbClr val="1C1573"/>
    <a:srgbClr val="283E84"/>
    <a:srgbClr val="211D71"/>
    <a:srgbClr val="000099"/>
    <a:srgbClr val="1E2F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6305" autoAdjust="0"/>
  </p:normalViewPr>
  <p:slideViewPr>
    <p:cSldViewPr>
      <p:cViewPr varScale="1">
        <p:scale>
          <a:sx n="67" d="100"/>
          <a:sy n="67" d="100"/>
        </p:scale>
        <p:origin x="834" y="72"/>
      </p:cViewPr>
      <p:guideLst>
        <p:guide orient="horz" pos="2208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2EAAB2-9271-4BDD-97AF-EBC135F5D5A0}" type="datetimeFigureOut">
              <a:rPr lang="en-US" smtClean="0"/>
              <a:t>3/16/2024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B1DED4-035E-4548-AB9E-F9B1FE638F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8022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86" b="1180"/>
          <a:stretch/>
        </p:blipFill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441" cy="6858331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4600" y="2550646"/>
            <a:ext cx="9680189" cy="179275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" y="-447353"/>
            <a:ext cx="10744203" cy="805815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0" y="2549769"/>
            <a:ext cx="7330831" cy="1600725"/>
          </a:xfrm>
        </p:spPr>
        <p:txBody>
          <a:bodyPr anchor="ctr">
            <a:normAutofit/>
          </a:bodyPr>
          <a:lstStyle>
            <a:lvl1pPr algn="r">
              <a:defRPr sz="3200" b="1">
                <a:solidFill>
                  <a:schemeClr val="bg1"/>
                </a:solidFill>
                <a:latin typeface="Helvetica" panose="020B0604020202030204" pitchFamily="34" charset="0"/>
              </a:defRPr>
            </a:lvl1pPr>
          </a:lstStyle>
          <a:p>
            <a:r>
              <a:rPr lang="en-US" dirty="0"/>
              <a:t>Click to edit Course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908431" y="4452630"/>
            <a:ext cx="5994400" cy="343327"/>
          </a:xfrm>
        </p:spPr>
        <p:txBody>
          <a:bodyPr anchor="ctr">
            <a:normAutofit/>
          </a:bodyPr>
          <a:lstStyle>
            <a:lvl1pPr marL="0" indent="0" algn="r">
              <a:buNone/>
              <a:defRPr sz="1700" b="1">
                <a:solidFill>
                  <a:srgbClr val="1C1573"/>
                </a:solidFill>
                <a:latin typeface="Helvetica" panose="020B060402020203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SME’s name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299" y="896875"/>
            <a:ext cx="3096631" cy="108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8116" y="4800600"/>
            <a:ext cx="5124715" cy="21336"/>
          </a:xfrm>
          <a:prstGeom prst="rect">
            <a:avLst/>
          </a:prstGeom>
        </p:spPr>
      </p:pic>
      <p:sp>
        <p:nvSpPr>
          <p:cNvPr id="22" name="Text Placeholder 21"/>
          <p:cNvSpPr>
            <a:spLocks noGrp="1"/>
          </p:cNvSpPr>
          <p:nvPr>
            <p:ph type="body" sz="quarter" idx="14"/>
          </p:nvPr>
        </p:nvSpPr>
        <p:spPr>
          <a:xfrm>
            <a:off x="5189412" y="4826977"/>
            <a:ext cx="6713419" cy="1108563"/>
          </a:xfrm>
        </p:spPr>
        <p:txBody>
          <a:bodyPr>
            <a:normAutofit/>
          </a:bodyPr>
          <a:lstStyle>
            <a:lvl1pPr marL="0" indent="0" algn="r">
              <a:spcBef>
                <a:spcPts val="0"/>
              </a:spcBef>
              <a:buNone/>
              <a:defRPr sz="1700">
                <a:solidFill>
                  <a:srgbClr val="1C1573"/>
                </a:solidFill>
                <a:latin typeface="Helvetica" panose="020B0604020202030204" pitchFamily="34" charset="0"/>
              </a:defRPr>
            </a:lvl1pPr>
          </a:lstStyle>
          <a:p>
            <a:pPr lvl="0"/>
            <a:r>
              <a:rPr lang="en-US" dirty="0"/>
              <a:t>Click to edit </a:t>
            </a:r>
          </a:p>
          <a:p>
            <a:pPr lvl="0"/>
            <a:r>
              <a:rPr lang="en-US" dirty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661812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1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00"/>
                            </p:stCondLst>
                            <p:childTnLst>
                              <p:par>
                                <p:cTn id="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1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4750810" y="2223656"/>
            <a:ext cx="2690381" cy="272934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12192000" cy="4058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3335" y="2482116"/>
            <a:ext cx="8848465" cy="2130566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 userDrawn="1"/>
        </p:nvSpPr>
        <p:spPr>
          <a:xfrm>
            <a:off x="1831508" y="2575123"/>
            <a:ext cx="8666988" cy="19368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Helvetica" panose="020B060402020203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Click to edit Session title</a:t>
            </a:r>
          </a:p>
        </p:txBody>
      </p:sp>
    </p:spTree>
    <p:extLst>
      <p:ext uri="{BB962C8B-B14F-4D97-AF65-F5344CB8AC3E}">
        <p14:creationId xmlns:p14="http://schemas.microsoft.com/office/powerpoint/2010/main" val="1461970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4750810" y="2223656"/>
            <a:ext cx="2690381" cy="272934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12192000" cy="4058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0569"/>
            <a:ext cx="10668000" cy="7643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0569"/>
            <a:ext cx="9321800" cy="764364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bg1"/>
                </a:solidFill>
                <a:latin typeface="Helvetica" panose="020B0604020202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2728913"/>
          </a:xfrm>
        </p:spPr>
        <p:txBody>
          <a:bodyPr/>
          <a:lstStyle>
            <a:lvl1pPr>
              <a:defRPr sz="1800">
                <a:latin typeface="Helvetica" panose="020B0604020202030204" pitchFamily="34" charset="0"/>
              </a:defRPr>
            </a:lvl1pPr>
            <a:lvl2pPr>
              <a:defRPr sz="1600">
                <a:latin typeface="Helvetica" panose="020B0604020202030204" pitchFamily="34" charset="0"/>
              </a:defRPr>
            </a:lvl2pPr>
            <a:lvl3pPr>
              <a:defRPr sz="1400">
                <a:latin typeface="Helvetica" panose="020B0604020202030204" pitchFamily="34" charset="0"/>
              </a:defRPr>
            </a:lvl3pPr>
            <a:lvl4pPr>
              <a:defRPr sz="1200">
                <a:latin typeface="Helvetica" panose="020B0604020202030204" pitchFamily="34" charset="0"/>
              </a:defRPr>
            </a:lvl4pPr>
            <a:lvl5pPr>
              <a:defRPr sz="1200">
                <a:latin typeface="Helvetica" panose="020B0604020202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/>
          </p:nvPr>
        </p:nvSpPr>
        <p:spPr>
          <a:xfrm>
            <a:off x="329247" y="1143001"/>
            <a:ext cx="11196956" cy="395287"/>
          </a:xfrm>
        </p:spPr>
        <p:txBody>
          <a:bodyPr>
            <a:normAutofit/>
          </a:bodyPr>
          <a:lstStyle>
            <a:lvl1pPr marL="0" indent="0">
              <a:buNone/>
              <a:defRPr sz="2000" b="1">
                <a:solidFill>
                  <a:srgbClr val="1C1573"/>
                </a:solidFill>
                <a:latin typeface="Helvetica" panose="020B0604020202030204" pitchFamily="34" charset="0"/>
              </a:defRPr>
            </a:lvl1pPr>
            <a:lvl2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2pPr>
            <a:lvl3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3pPr>
            <a:lvl4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4pPr>
            <a:lvl5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61542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4750810" y="2223656"/>
            <a:ext cx="2690381" cy="272934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 algn="r">
              <a:defRPr sz="5400" b="1">
                <a:solidFill>
                  <a:srgbClr val="150860"/>
                </a:solidFill>
                <a:latin typeface="Helvetica"/>
                <a:cs typeface="Helvetica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 algn="r">
              <a:buNone/>
              <a:defRPr sz="2400" b="0" i="0">
                <a:solidFill>
                  <a:schemeClr val="tx1">
                    <a:tint val="75000"/>
                  </a:schemeClr>
                </a:solidFill>
                <a:latin typeface="Helvetica Light"/>
                <a:cs typeface="Helvetica Ligh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12192000" cy="4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687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6184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29" r:id="rId2"/>
    <p:sldLayoutId id="2147483739" r:id="rId3"/>
    <p:sldLayoutId id="2147483740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ml-ops.org/content/end-to-end-ml-workflow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4572000" y="2549769"/>
            <a:ext cx="7330831" cy="1793631"/>
          </a:xfrm>
        </p:spPr>
        <p:txBody>
          <a:bodyPr/>
          <a:lstStyle/>
          <a:p>
            <a:r>
              <a:rPr lang="en-US" dirty="0"/>
              <a:t>Three Levels of ML Software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1800" dirty="0">
                <a:solidFill>
                  <a:srgbClr val="211D71"/>
                </a:solidFill>
              </a:rPr>
              <a:t>Pravin Y Pawar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705600" y="5029200"/>
            <a:ext cx="6019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Extracted from </a:t>
            </a:r>
          </a:p>
          <a:p>
            <a:r>
              <a:rPr lang="en-US" sz="1600" dirty="0">
                <a:hlinkClick r:id="rId2"/>
              </a:rPr>
              <a:t>An Overview of the End-to-End Machine Learning Workflow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797254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Three levels of ML Software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57200" y="1600201"/>
            <a:ext cx="10560539" cy="4648199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ML/AI is rapidly adopted by new applications and industries!</a:t>
            </a:r>
          </a:p>
          <a:p>
            <a:endParaRPr lang="en-US" dirty="0"/>
          </a:p>
          <a:p>
            <a:r>
              <a:rPr lang="en-US" dirty="0"/>
              <a:t>Goal of a machine learning project is to build a statistical model by using collected data and applying machine learning algorithms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Yet building successful ML-based software projects is still difficult!</a:t>
            </a:r>
          </a:p>
          <a:p>
            <a:endParaRPr lang="en-US" dirty="0"/>
          </a:p>
          <a:p>
            <a:r>
              <a:rPr lang="en-US" dirty="0"/>
              <a:t>Every ML-based software needs to manage three main assets: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FF0000"/>
                </a:solidFill>
              </a:rPr>
              <a:t>Data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FF0000"/>
                </a:solidFill>
              </a:rPr>
              <a:t>Model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FF0000"/>
                </a:solidFill>
              </a:rPr>
              <a:t>and Code</a:t>
            </a:r>
          </a:p>
          <a:p>
            <a:endParaRPr lang="en-US" dirty="0"/>
          </a:p>
          <a:p>
            <a:r>
              <a:rPr lang="en-US" dirty="0"/>
              <a:t>Essential technical methodologies - involved in the development of the Machine Learning-based software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FF0000"/>
                </a:solidFill>
              </a:rPr>
              <a:t>Data Engineering: </a:t>
            </a:r>
            <a:r>
              <a:rPr lang="en-US" dirty="0"/>
              <a:t>data acquisition &amp; data preparation,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FF0000"/>
                </a:solidFill>
              </a:rPr>
              <a:t>ML Model Engineering: </a:t>
            </a:r>
            <a:r>
              <a:rPr lang="en-US" dirty="0"/>
              <a:t>ML model training &amp; serving, and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FF0000"/>
                </a:solidFill>
              </a:rPr>
              <a:t>Code Engineering : </a:t>
            </a:r>
            <a:r>
              <a:rPr lang="en-US" dirty="0"/>
              <a:t>integrating ML model into the final product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75338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Machine Learning Engineering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1783" y="887458"/>
            <a:ext cx="7774633" cy="5828129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3047999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7800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Engineering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648199"/>
          </a:xfrm>
        </p:spPr>
        <p:txBody>
          <a:bodyPr/>
          <a:lstStyle/>
          <a:p>
            <a:r>
              <a:rPr lang="en-US" dirty="0"/>
              <a:t>The initial step in any data science workflow is to </a:t>
            </a:r>
            <a:r>
              <a:rPr lang="en-US" dirty="0">
                <a:solidFill>
                  <a:srgbClr val="FF0000"/>
                </a:solidFill>
              </a:rPr>
              <a:t>acquire and prepare the data to be analyzed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Typically, data is being integrated from </a:t>
            </a:r>
            <a:r>
              <a:rPr lang="en-US" dirty="0">
                <a:solidFill>
                  <a:srgbClr val="FF0000"/>
                </a:solidFill>
              </a:rPr>
              <a:t>various resources </a:t>
            </a:r>
            <a:r>
              <a:rPr lang="en-US" dirty="0"/>
              <a:t>and has </a:t>
            </a:r>
            <a:r>
              <a:rPr lang="en-US" dirty="0">
                <a:solidFill>
                  <a:srgbClr val="FF0000"/>
                </a:solidFill>
              </a:rPr>
              <a:t>different formats</a:t>
            </a:r>
          </a:p>
          <a:p>
            <a:endParaRPr lang="en-US" dirty="0"/>
          </a:p>
          <a:p>
            <a:r>
              <a:rPr lang="en-US" dirty="0"/>
              <a:t>Data Preparation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according to Gartner </a:t>
            </a:r>
            <a:r>
              <a:rPr lang="en-US" dirty="0">
                <a:solidFill>
                  <a:srgbClr val="FF0000"/>
                </a:solidFill>
              </a:rPr>
              <a:t>“an iterative and agile process for exploring, combining, cleaning and transforming raw data into curated datasets for data integration, data science, data discovery and analytics/business intelligence (BI) use cases”.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is reported to be the most expensive with respect to resources and time</a:t>
            </a:r>
          </a:p>
          <a:p>
            <a:endParaRPr lang="en-US" dirty="0"/>
          </a:p>
          <a:p>
            <a:r>
              <a:rPr lang="en-US" dirty="0"/>
              <a:t>Data preparation is a critical activity in the data science workflow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important to avoid the propagation of data errors to the next phase, data analysis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would result in the derivation of wrong insights from the data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43343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Engineering(2)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57200" y="1600201"/>
            <a:ext cx="10560539" cy="5029199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Data Ingestion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Collecting data by using various frameworks and formats, such as Spark, HDFS, CSV, </a:t>
            </a:r>
            <a:r>
              <a:rPr lang="en-US" dirty="0" err="1"/>
              <a:t>etc</a:t>
            </a:r>
            <a:endParaRPr lang="en-US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Might also include synthetic data generation or data enrichment.</a:t>
            </a:r>
          </a:p>
          <a:p>
            <a:endParaRPr lang="en-US" dirty="0"/>
          </a:p>
          <a:p>
            <a:r>
              <a:rPr lang="en-US" dirty="0"/>
              <a:t>Data Exploration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Includes data profiling to obtain information about the content and structure of the data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The output of this step is a set of metadata, such as max, min, </a:t>
            </a:r>
            <a:r>
              <a:rPr lang="en-US" dirty="0" err="1"/>
              <a:t>avg</a:t>
            </a:r>
            <a:r>
              <a:rPr lang="en-US" dirty="0"/>
              <a:t> of values</a:t>
            </a:r>
          </a:p>
          <a:p>
            <a:endParaRPr lang="en-US" dirty="0"/>
          </a:p>
          <a:p>
            <a:r>
              <a:rPr lang="en-US" dirty="0"/>
              <a:t>Data Validation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Operations are user-defined error detection functions, which scan the dataset in order to spot some errors</a:t>
            </a:r>
          </a:p>
          <a:p>
            <a:endParaRPr lang="en-US" dirty="0"/>
          </a:p>
          <a:p>
            <a:r>
              <a:rPr lang="en-US" dirty="0"/>
              <a:t>Data Wrangling (Cleaning)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The process of re-formatting particular attributes and correcting errors in data, such as missing values imputation</a:t>
            </a:r>
          </a:p>
          <a:p>
            <a:endParaRPr lang="en-US" dirty="0"/>
          </a:p>
          <a:p>
            <a:r>
              <a:rPr lang="en-US" dirty="0"/>
              <a:t>Data Labeling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The operation of the Data Engineering pipeline, where each data point is assigned to a specific category</a:t>
            </a:r>
          </a:p>
          <a:p>
            <a:endParaRPr lang="en-US" dirty="0"/>
          </a:p>
          <a:p>
            <a:r>
              <a:rPr lang="en-US" dirty="0"/>
              <a:t>Data Splitting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Splitting the data into training, validation, and test datasets to be used during the core machine learning stages to produce the ML model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Sequence of operations on the data leading to training and testing datasets for ML algorithms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611984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Model Engineering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57200" y="1600201"/>
            <a:ext cx="10560539" cy="5029199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Phase of writing and executing machine learning algorithms to obtain an ML model</a:t>
            </a:r>
          </a:p>
          <a:p>
            <a:endParaRPr lang="en-US" dirty="0"/>
          </a:p>
          <a:p>
            <a:r>
              <a:rPr lang="en-US" dirty="0"/>
              <a:t>The Model Engineering pipeline includes a number of operations that lead to a final model:</a:t>
            </a:r>
          </a:p>
          <a:p>
            <a:r>
              <a:rPr lang="en-US" dirty="0"/>
              <a:t>Model Training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The process of applying the machine learning algorithm on training data to train an ML model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includes feature engineering and the </a:t>
            </a:r>
            <a:r>
              <a:rPr lang="en-US" dirty="0" err="1"/>
              <a:t>hyperparameter</a:t>
            </a:r>
            <a:r>
              <a:rPr lang="en-US" dirty="0"/>
              <a:t> tuning for the model training activity</a:t>
            </a:r>
          </a:p>
          <a:p>
            <a:endParaRPr lang="en-US" dirty="0"/>
          </a:p>
          <a:p>
            <a:r>
              <a:rPr lang="en-US" dirty="0"/>
              <a:t>Model Evaluation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Validating the trained model to ensure it meets original codified objectives before serving the ML model in production to the end-user</a:t>
            </a:r>
          </a:p>
          <a:p>
            <a:endParaRPr lang="en-US" dirty="0"/>
          </a:p>
          <a:p>
            <a:r>
              <a:rPr lang="en-US" dirty="0"/>
              <a:t>Model Testing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Performing the final “Model Acceptance Test” by using the hold </a:t>
            </a:r>
            <a:r>
              <a:rPr lang="en-US" dirty="0" err="1"/>
              <a:t>backtest</a:t>
            </a:r>
            <a:r>
              <a:rPr lang="en-US" dirty="0"/>
              <a:t> dataset</a:t>
            </a:r>
          </a:p>
          <a:p>
            <a:endParaRPr lang="en-US" dirty="0"/>
          </a:p>
          <a:p>
            <a:r>
              <a:rPr lang="en-US" dirty="0"/>
              <a:t>Model Packaging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The process of exporting the final ML model into a specific format (e.g. PMML, PFA, or ONNX)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which describes the model, in order to be consumed by the business application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The core of the ML workflow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46101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Model Deployment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648199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Need to deploy model as part of a business application such as a mobile or desktop application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The ML models require various data points (feature vector) to produce predictions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The final stage of the ML workflow is the integration of the previously engineered ML model into existing software</a:t>
            </a:r>
          </a:p>
          <a:p>
            <a:endParaRPr lang="en-US" dirty="0"/>
          </a:p>
          <a:p>
            <a:r>
              <a:rPr lang="en-US" dirty="0"/>
              <a:t>Includes the following operations:</a:t>
            </a:r>
          </a:p>
          <a:p>
            <a:r>
              <a:rPr lang="en-US" dirty="0"/>
              <a:t>Model Serving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The process of addressing the ML model artifact in a production environment</a:t>
            </a:r>
          </a:p>
          <a:p>
            <a:endParaRPr lang="en-US" dirty="0"/>
          </a:p>
          <a:p>
            <a:r>
              <a:rPr lang="en-US" dirty="0"/>
              <a:t>Model Performance Monitoring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The process of observing the ML model performance based on live and previously unseen data, such as prediction or recommendation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interested in ML-specific signals, such as prediction deviation from previous model performance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signals might be used as triggers for model re-training</a:t>
            </a:r>
          </a:p>
          <a:p>
            <a:endParaRPr lang="en-US" dirty="0"/>
          </a:p>
          <a:p>
            <a:r>
              <a:rPr lang="en-US" dirty="0"/>
              <a:t>Model Performance Logging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Every inference request results in the log-record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26938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657600"/>
            <a:ext cx="10515600" cy="904875"/>
          </a:xfrm>
        </p:spPr>
        <p:txBody>
          <a:bodyPr/>
          <a:lstStyle/>
          <a:p>
            <a:r>
              <a:rPr lang="en-US" dirty="0"/>
              <a:t>Thank You!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5205413"/>
            <a:ext cx="10515600" cy="1500187"/>
          </a:xfrm>
        </p:spPr>
        <p:txBody>
          <a:bodyPr/>
          <a:lstStyle/>
          <a:p>
            <a:r>
              <a:rPr lang="en-US" dirty="0"/>
              <a:t>In our next session:</a:t>
            </a:r>
          </a:p>
        </p:txBody>
      </p:sp>
    </p:spTree>
    <p:extLst>
      <p:ext uri="{BB962C8B-B14F-4D97-AF65-F5344CB8AC3E}">
        <p14:creationId xmlns:p14="http://schemas.microsoft.com/office/powerpoint/2010/main" val="41957982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3278</TotalTime>
  <Words>708</Words>
  <Application>Microsoft Office PowerPoint</Application>
  <PresentationFormat>Widescreen</PresentationFormat>
  <Paragraphs>88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Calibri Light</vt:lpstr>
      <vt:lpstr>Courier New</vt:lpstr>
      <vt:lpstr>Helvetica</vt:lpstr>
      <vt:lpstr>Helvetica Light</vt:lpstr>
      <vt:lpstr>Office Theme</vt:lpstr>
      <vt:lpstr>Three Levels of ML Software</vt:lpstr>
      <vt:lpstr>Three levels of ML Software</vt:lpstr>
      <vt:lpstr>Machine Learning Engineering</vt:lpstr>
      <vt:lpstr>Data Engineering</vt:lpstr>
      <vt:lpstr>Data Engineering(2)</vt:lpstr>
      <vt:lpstr>Model Engineering</vt:lpstr>
      <vt:lpstr>Model Deployment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BITS</cp:lastModifiedBy>
  <cp:revision>244</cp:revision>
  <dcterms:created xsi:type="dcterms:W3CDTF">2018-10-16T06:13:57Z</dcterms:created>
  <dcterms:modified xsi:type="dcterms:W3CDTF">2024-03-16T03:05:07Z</dcterms:modified>
</cp:coreProperties>
</file>