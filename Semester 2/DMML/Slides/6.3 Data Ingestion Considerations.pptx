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5"/>
  </p:notesMasterIdLst>
  <p:sldIdLst>
    <p:sldId id="26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305" autoAdjust="0"/>
  </p:normalViewPr>
  <p:slideViewPr>
    <p:cSldViewPr>
      <p:cViewPr varScale="1">
        <p:scale>
          <a:sx n="54" d="100"/>
          <a:sy n="54" d="100"/>
        </p:scale>
        <p:origin x="1272" y="276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EAAB2-9271-4BDD-97AF-EBC135F5D5A0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1DED4-035E-4548-AB9E-F9B1FE638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6" b="1180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441" cy="685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550646"/>
            <a:ext cx="9680189" cy="17927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447353"/>
            <a:ext cx="10744203" cy="805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2549769"/>
            <a:ext cx="7330831" cy="1600725"/>
          </a:xfrm>
        </p:spPr>
        <p:txBody>
          <a:bodyPr anchor="ctr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dirty="0"/>
              <a:t>Click to edit Course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08431" y="4452630"/>
            <a:ext cx="5994400" cy="343327"/>
          </a:xfrm>
        </p:spPr>
        <p:txBody>
          <a:bodyPr anchor="ctr">
            <a:normAutofit/>
          </a:bodyPr>
          <a:lstStyle>
            <a:lvl1pPr marL="0" indent="0" algn="r">
              <a:buNone/>
              <a:defRPr sz="17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SME’s name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299" y="896875"/>
            <a:ext cx="3096631" cy="10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16" y="4800600"/>
            <a:ext cx="5124715" cy="21336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5189412" y="4826977"/>
            <a:ext cx="6713419" cy="1108563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1700">
                <a:solidFill>
                  <a:srgbClr val="1C1573"/>
                </a:solidFill>
                <a:latin typeface="Helvetica" panose="020B060402020203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</a:p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6181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9" r:id="rId2"/>
    <p:sldLayoutId id="2147483739" r:id="rId3"/>
    <p:sldLayoutId id="214748374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0" y="2549769"/>
            <a:ext cx="7330831" cy="1793631"/>
          </a:xfrm>
        </p:spPr>
        <p:txBody>
          <a:bodyPr/>
          <a:lstStyle/>
          <a:p>
            <a:r>
              <a:rPr lang="en-US"/>
              <a:t>Data Ingestion </a:t>
            </a:r>
            <a:r>
              <a:rPr lang="en-US" dirty="0"/>
              <a:t>Considerations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211D71"/>
                </a:solidFill>
              </a:rPr>
              <a:t>Pravin Y Pawar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5029200"/>
            <a:ext cx="50448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Adapted from </a:t>
            </a:r>
          </a:p>
          <a:p>
            <a:r>
              <a:rPr lang="en-US" dirty="0"/>
              <a:t>Fundamentals of Data Engineering </a:t>
            </a:r>
          </a:p>
          <a:p>
            <a:r>
              <a:rPr lang="en-US" dirty="0"/>
              <a:t>By Joe Reis and Matt Housley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2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Batch Ingestion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7290753" cy="495299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Batch ingestion - processing data in bulk, is often a convenient way to ingest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is ingested by taking a subset of data from a source system, based either on a time interval or the size of accumulated data</a:t>
            </a:r>
          </a:p>
          <a:p>
            <a:endParaRPr lang="en-US" dirty="0"/>
          </a:p>
          <a:p>
            <a:r>
              <a:rPr lang="en-US" dirty="0"/>
              <a:t>Time-interval batch ingestion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widespread in traditional business ETL for data warehousing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often used to process data once a day, overnight during off-hours, to provide daily reporting, but other frequencies can also be used</a:t>
            </a:r>
          </a:p>
          <a:p>
            <a:endParaRPr lang="en-US" dirty="0"/>
          </a:p>
          <a:p>
            <a:r>
              <a:rPr lang="en-US" dirty="0"/>
              <a:t>Size-based batch ingestion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quite common when data is moved from a streaming-based system into object storage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ultimately, must cut the data into discrete blocks for future processing in a data lake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can break data into objects based on various criteria, such as the size in bytes of the total number of events</a:t>
            </a:r>
          </a:p>
          <a:p>
            <a:endParaRPr lang="en-US" dirty="0"/>
          </a:p>
          <a:p>
            <a:r>
              <a:rPr lang="en-US" dirty="0"/>
              <a:t>Commonly used batch ingestion patterns: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Snapshot or differential extraction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File-based export and ingestion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ETL versus ELT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Inserts, updates, and batch size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migration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6361" y="1828800"/>
            <a:ext cx="4950675" cy="15964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5036" y="3635422"/>
            <a:ext cx="4572000" cy="133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481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Batch Ingestion Considerations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/>
          </a:bodyPr>
          <a:lstStyle/>
          <a:p>
            <a:r>
              <a:rPr lang="en-US" dirty="0"/>
              <a:t>Must choose whether to capture full snapshots of a source system or differential (incremental) updates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With full snapshots, grab the entire current state of the source system on each update read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With the differential update pattern, can pull only the updates and changes since the last read from the source system</a:t>
            </a:r>
          </a:p>
          <a:p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Differential updates are ideal for minimizing network traffic and target storage usage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Full snapshot reads remain extremely common because of their simplicity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Snapshot or Differential Extraction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7533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Batch Ingestion Considerations(2)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Data is quite often moved between databases and systems using files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is serialized into files in an exchangeable format, and these files are provided to an ingestion system</a:t>
            </a:r>
          </a:p>
          <a:p>
            <a:endParaRPr lang="en-US" dirty="0"/>
          </a:p>
          <a:p>
            <a:r>
              <a:rPr lang="en-US" dirty="0"/>
              <a:t>A push-based ingestion pattern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export and preparation work is done on the source system side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/>
              <a:t>File-based ingestion has several potential advantages over a direct database connection approach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often undesirable to allow direct access to backend systems for security reason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files can be provided to the target system in various ways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Common file-exchange methods are object storage, secure file transfer protocol (SFTP), electronic data interchange (EDI), or secure copy (SCP)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File-Based Export and Ingestion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780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Batch Ingestion Considerations(3)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Extremely common </a:t>
            </a:r>
            <a:r>
              <a:rPr lang="en-US" dirty="0"/>
              <a:t>ingestion, storage, and transformation patterns encountered in batch workloads</a:t>
            </a:r>
          </a:p>
          <a:p>
            <a:endParaRPr lang="en-US" dirty="0"/>
          </a:p>
          <a:p>
            <a:r>
              <a:rPr lang="en-US" dirty="0"/>
              <a:t>Extract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Getting data from a source system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Can be </a:t>
            </a:r>
            <a:r>
              <a:rPr lang="en-US" dirty="0">
                <a:solidFill>
                  <a:srgbClr val="FF0000"/>
                </a:solidFill>
              </a:rPr>
              <a:t>pulling data</a:t>
            </a:r>
            <a:r>
              <a:rPr lang="en-US" dirty="0"/>
              <a:t>, or can be </a:t>
            </a:r>
            <a:r>
              <a:rPr lang="en-US" dirty="0">
                <a:solidFill>
                  <a:srgbClr val="FF0000"/>
                </a:solidFill>
              </a:rPr>
              <a:t>push based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Extraction may also require </a:t>
            </a:r>
            <a:r>
              <a:rPr lang="en-US" dirty="0">
                <a:solidFill>
                  <a:srgbClr val="FF0000"/>
                </a:solidFill>
              </a:rPr>
              <a:t>reading metadata and schema changes</a:t>
            </a:r>
          </a:p>
          <a:p>
            <a:endParaRPr lang="en-US" dirty="0"/>
          </a:p>
          <a:p>
            <a:r>
              <a:rPr lang="en-US" dirty="0"/>
              <a:t>Load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Once data is extracted,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it can either </a:t>
            </a:r>
            <a:r>
              <a:rPr lang="en-US" dirty="0">
                <a:solidFill>
                  <a:srgbClr val="FF0000"/>
                </a:solidFill>
              </a:rPr>
              <a:t>be transformed </a:t>
            </a:r>
            <a:r>
              <a:rPr lang="en-US" dirty="0"/>
              <a:t>(ETL) before loading it into a storage destination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or simply </a:t>
            </a:r>
            <a:r>
              <a:rPr lang="en-US" dirty="0">
                <a:solidFill>
                  <a:srgbClr val="FF0000"/>
                </a:solidFill>
              </a:rPr>
              <a:t>loaded into storage </a:t>
            </a:r>
            <a:r>
              <a:rPr lang="en-US" dirty="0"/>
              <a:t>for future transformation (ELT)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should be mindful of the </a:t>
            </a:r>
            <a:r>
              <a:rPr lang="en-US" dirty="0">
                <a:solidFill>
                  <a:srgbClr val="FF0000"/>
                </a:solidFill>
              </a:rPr>
              <a:t>type of system you’re loading, the schema of the data, and the performance impact of loading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ETL Versus ELT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4334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Batch Ingestion Considerations(4)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Batch-oriented systems often </a:t>
            </a:r>
            <a:r>
              <a:rPr lang="en-US" dirty="0">
                <a:solidFill>
                  <a:srgbClr val="FF0000"/>
                </a:solidFill>
              </a:rPr>
              <a:t>perform poorly when users attempt to perform many small-batch operations rather than a smaller number of large operations!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u="sng" dirty="0"/>
              <a:t>common to insert one row at a time in a transactional database, this is a bad pattern for many columnar databases</a:t>
            </a:r>
          </a:p>
          <a:p>
            <a:endParaRPr lang="en-US" dirty="0"/>
          </a:p>
          <a:p>
            <a:r>
              <a:rPr lang="en-US" dirty="0"/>
              <a:t>Running </a:t>
            </a:r>
            <a:r>
              <a:rPr lang="en-US" dirty="0">
                <a:solidFill>
                  <a:srgbClr val="FF0000"/>
                </a:solidFill>
              </a:rPr>
              <a:t>many small in-place update operations </a:t>
            </a:r>
            <a:r>
              <a:rPr lang="en-US" dirty="0"/>
              <a:t>is an even bigger </a:t>
            </a:r>
            <a:r>
              <a:rPr lang="en-US" dirty="0">
                <a:solidFill>
                  <a:srgbClr val="FF0000"/>
                </a:solidFill>
              </a:rPr>
              <a:t>problem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causes the database to scan each existing column file to run the update</a:t>
            </a:r>
          </a:p>
          <a:p>
            <a:endParaRPr lang="en-US" dirty="0"/>
          </a:p>
          <a:p>
            <a:r>
              <a:rPr lang="en-US" dirty="0"/>
              <a:t>Need to </a:t>
            </a:r>
            <a:r>
              <a:rPr lang="en-US" dirty="0">
                <a:solidFill>
                  <a:srgbClr val="FF0000"/>
                </a:solidFill>
              </a:rPr>
              <a:t>understand  the appropriate update patterns </a:t>
            </a:r>
            <a:r>
              <a:rPr lang="en-US" dirty="0"/>
              <a:t>for the database or data store working with</a:t>
            </a:r>
          </a:p>
          <a:p>
            <a:endParaRPr lang="en-US" dirty="0"/>
          </a:p>
          <a:p>
            <a:r>
              <a:rPr lang="en-US" dirty="0"/>
              <a:t>Certain technologies </a:t>
            </a:r>
            <a:r>
              <a:rPr lang="en-US" dirty="0">
                <a:solidFill>
                  <a:srgbClr val="FF0000"/>
                </a:solidFill>
              </a:rPr>
              <a:t>are purpose-built for high insert rates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u="sng" dirty="0"/>
              <a:t>Apache Druid and Apache Pinot can handle high insert rates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u="sng" dirty="0" err="1"/>
              <a:t>SingleStore</a:t>
            </a:r>
            <a:r>
              <a:rPr lang="en-US" b="1" u="sng" dirty="0"/>
              <a:t> can manage hybrid workloads that combine OLAP and OLTP characteristics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u="sng" dirty="0" err="1"/>
              <a:t>BigQuery</a:t>
            </a:r>
            <a:r>
              <a:rPr lang="en-US" b="1" u="sng" dirty="0"/>
              <a:t> performs poorly on a high rate of vanilla SQL single-row inserts </a:t>
            </a:r>
            <a:r>
              <a:rPr lang="en-US" dirty="0"/>
              <a:t>but extremely well if data is fed in through its stream buffer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Inserts, Updates, and Batch Size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1198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Batch Ingestion Considerations(5)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Migrating</a:t>
            </a:r>
            <a:r>
              <a:rPr lang="en-US" dirty="0"/>
              <a:t> data to a new database or environment is </a:t>
            </a:r>
            <a:r>
              <a:rPr lang="en-US" dirty="0">
                <a:solidFill>
                  <a:srgbClr val="FF0000"/>
                </a:solidFill>
              </a:rPr>
              <a:t>not usually trivial</a:t>
            </a:r>
            <a:r>
              <a:rPr lang="en-US" dirty="0"/>
              <a:t>, and data needs to be moved in bulk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moving data sizes that are hundreds of terabytes or much larger, often involving the migration of specific tables and moving entire databases and systems</a:t>
            </a:r>
          </a:p>
          <a:p>
            <a:endParaRPr lang="en-US" dirty="0"/>
          </a:p>
          <a:p>
            <a:r>
              <a:rPr lang="en-US" dirty="0"/>
              <a:t>As is often the case for data ingestion, </a:t>
            </a:r>
            <a:r>
              <a:rPr lang="en-US" dirty="0">
                <a:solidFill>
                  <a:srgbClr val="FF0000"/>
                </a:solidFill>
              </a:rPr>
              <a:t>schema management </a:t>
            </a:r>
            <a:r>
              <a:rPr lang="en-US" dirty="0"/>
              <a:t>is a crucial consideration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u="sng" dirty="0"/>
              <a:t>No matter how closely the two databases resemble each other, subtle differences almost always exist in the way they handle schema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generally </a:t>
            </a:r>
            <a:r>
              <a:rPr lang="en-US" b="1" dirty="0"/>
              <a:t>easy to test ingestion of a sample of data </a:t>
            </a:r>
            <a:r>
              <a:rPr lang="en-US" dirty="0"/>
              <a:t>and find schema issues before undertaking a complete table migration</a:t>
            </a:r>
          </a:p>
          <a:p>
            <a:endParaRPr lang="en-US" dirty="0"/>
          </a:p>
          <a:p>
            <a:r>
              <a:rPr lang="en-US" dirty="0"/>
              <a:t>Most data systems </a:t>
            </a:r>
            <a:r>
              <a:rPr lang="en-US" dirty="0">
                <a:solidFill>
                  <a:srgbClr val="FF0000"/>
                </a:solidFill>
              </a:rPr>
              <a:t>perform best when data is moved in bulk rather than as individual rows or events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File or object storage is often an excellent intermediate stage for transferring data</a:t>
            </a:r>
          </a:p>
          <a:p>
            <a:endParaRPr lang="en-US" dirty="0"/>
          </a:p>
          <a:p>
            <a:r>
              <a:rPr lang="en-US" dirty="0"/>
              <a:t>Many tools are available </a:t>
            </a:r>
            <a:r>
              <a:rPr lang="en-US" dirty="0">
                <a:solidFill>
                  <a:srgbClr val="FF0000"/>
                </a:solidFill>
              </a:rPr>
              <a:t>to automate various types of data migrations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Especially for large and complex migrations, look at these options before doing this manually or writing own migration solution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Data Migration</a:t>
            </a:r>
          </a:p>
        </p:txBody>
      </p:sp>
    </p:spTree>
    <p:extLst>
      <p:ext uri="{BB962C8B-B14F-4D97-AF65-F5344CB8AC3E}">
        <p14:creationId xmlns:p14="http://schemas.microsoft.com/office/powerpoint/2010/main" val="1924610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and Stream Ingestion Considerations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Schema Evolution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common when handling event data - </a:t>
            </a:r>
            <a:r>
              <a:rPr lang="en-US" dirty="0">
                <a:solidFill>
                  <a:srgbClr val="FF0000"/>
                </a:solidFill>
              </a:rPr>
              <a:t>fields may be added or removed, or value types might change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can have </a:t>
            </a:r>
            <a:r>
              <a:rPr lang="en-US" dirty="0">
                <a:solidFill>
                  <a:srgbClr val="FF0000"/>
                </a:solidFill>
              </a:rPr>
              <a:t>unintended impacts </a:t>
            </a:r>
            <a:r>
              <a:rPr lang="en-US" dirty="0"/>
              <a:t>on data pipelines and destinations - potentially impact downstream capabilities</a:t>
            </a:r>
          </a:p>
          <a:p>
            <a:endParaRPr lang="en-US" dirty="0"/>
          </a:p>
          <a:p>
            <a:r>
              <a:rPr lang="en-US" dirty="0"/>
              <a:t>To alleviate issues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if event-processing framework has a </a:t>
            </a:r>
            <a:r>
              <a:rPr lang="en-US" dirty="0">
                <a:solidFill>
                  <a:srgbClr val="FF0000"/>
                </a:solidFill>
              </a:rPr>
              <a:t>schema registry</a:t>
            </a:r>
            <a:r>
              <a:rPr lang="en-US" dirty="0"/>
              <a:t>, use it to </a:t>
            </a:r>
            <a:r>
              <a:rPr lang="en-US" b="1" u="sng" dirty="0"/>
              <a:t>version schema changes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A dead-letter queue </a:t>
            </a:r>
            <a:r>
              <a:rPr lang="en-US" dirty="0"/>
              <a:t>can help investigate issues with events that are not properly handled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Low-fidelity route </a:t>
            </a:r>
            <a:r>
              <a:rPr lang="en-US" dirty="0"/>
              <a:t>(and the most effective) is regularly </a:t>
            </a:r>
            <a:r>
              <a:rPr lang="en-US" b="1" u="sng" dirty="0"/>
              <a:t>communicating</a:t>
            </a:r>
            <a:r>
              <a:rPr lang="en-US" dirty="0"/>
              <a:t> with </a:t>
            </a:r>
            <a:r>
              <a:rPr lang="en-US" b="1" u="sng" dirty="0"/>
              <a:t>upstream stakeholders about potential schema changes </a:t>
            </a:r>
            <a:r>
              <a:rPr lang="en-US" dirty="0"/>
              <a:t>and proactively addressing schema changes with the teams introducing these changes instead of reacting to the receiving end of breaking changes</a:t>
            </a:r>
          </a:p>
          <a:p>
            <a:endParaRPr lang="en-US" dirty="0"/>
          </a:p>
          <a:p>
            <a:r>
              <a:rPr lang="en-US" dirty="0"/>
              <a:t>Late-Arriving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Event data might arrive late - common when ingesting data - because of l</a:t>
            </a:r>
            <a:r>
              <a:rPr lang="en-US" dirty="0">
                <a:solidFill>
                  <a:srgbClr val="FF0000"/>
                </a:solidFill>
              </a:rPr>
              <a:t>atency issues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group of events might occur </a:t>
            </a:r>
            <a:r>
              <a:rPr lang="en-US" dirty="0">
                <a:solidFill>
                  <a:srgbClr val="FF0000"/>
                </a:solidFill>
              </a:rPr>
              <a:t>around the same time frame </a:t>
            </a:r>
            <a:r>
              <a:rPr lang="en-US" dirty="0"/>
              <a:t>(similar event times), but some </a:t>
            </a:r>
            <a:r>
              <a:rPr lang="en-US" dirty="0">
                <a:solidFill>
                  <a:srgbClr val="FF0000"/>
                </a:solidFill>
              </a:rPr>
              <a:t>might arrive later than others</a:t>
            </a:r>
            <a:r>
              <a:rPr lang="en-US" dirty="0"/>
              <a:t> (late ingestion times)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should be aware of late arriving data and the </a:t>
            </a:r>
            <a:r>
              <a:rPr lang="en-US" dirty="0">
                <a:solidFill>
                  <a:srgbClr val="FF0000"/>
                </a:solidFill>
              </a:rPr>
              <a:t>impact on downstream systems and uses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To handle late-arriving data, </a:t>
            </a:r>
            <a:r>
              <a:rPr lang="en-US" dirty="0">
                <a:solidFill>
                  <a:srgbClr val="FF0000"/>
                </a:solidFill>
              </a:rPr>
              <a:t>need to set a cutoff time for when late-arriving data will no longer be processed</a:t>
            </a:r>
          </a:p>
          <a:p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Schema Evolution and Late-Arriving Data</a:t>
            </a:r>
          </a:p>
        </p:txBody>
      </p:sp>
    </p:spTree>
    <p:extLst>
      <p:ext uri="{BB962C8B-B14F-4D97-AF65-F5344CB8AC3E}">
        <p14:creationId xmlns:p14="http://schemas.microsoft.com/office/powerpoint/2010/main" val="41017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Message and Stream Ingestion Considerations(2)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Ordering and Multiple Delivery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Streaming platforms are generally built out of </a:t>
            </a:r>
            <a:r>
              <a:rPr lang="en-US" dirty="0">
                <a:solidFill>
                  <a:srgbClr val="FF0000"/>
                </a:solidFill>
              </a:rPr>
              <a:t>distributed systems</a:t>
            </a:r>
            <a:r>
              <a:rPr lang="en-US" dirty="0"/>
              <a:t>, which can cause some complications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Specifically, messages may be </a:t>
            </a:r>
            <a:r>
              <a:rPr lang="en-US" dirty="0">
                <a:solidFill>
                  <a:srgbClr val="FF0000"/>
                </a:solidFill>
              </a:rPr>
              <a:t>delivered out of order </a:t>
            </a:r>
            <a:r>
              <a:rPr lang="en-US" dirty="0"/>
              <a:t>and more than once (</a:t>
            </a:r>
            <a:r>
              <a:rPr lang="en-US" dirty="0">
                <a:solidFill>
                  <a:srgbClr val="FF0000"/>
                </a:solidFill>
              </a:rPr>
              <a:t>at-least-once delivery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Replay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allows readers to </a:t>
            </a:r>
            <a:r>
              <a:rPr lang="en-US" dirty="0">
                <a:solidFill>
                  <a:srgbClr val="FF0000"/>
                </a:solidFill>
              </a:rPr>
              <a:t>request a range of messages from the history</a:t>
            </a:r>
            <a:r>
              <a:rPr lang="en-US" dirty="0"/>
              <a:t>, allowing to rewind your event history to a particular point in time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key capability in many streaming ingestion platforms and is particularly useful when </a:t>
            </a:r>
            <a:r>
              <a:rPr lang="en-US" dirty="0">
                <a:solidFill>
                  <a:srgbClr val="FF0000"/>
                </a:solidFill>
              </a:rPr>
              <a:t>need to </a:t>
            </a:r>
            <a:r>
              <a:rPr lang="en-US" dirty="0" err="1">
                <a:solidFill>
                  <a:srgbClr val="FF0000"/>
                </a:solidFill>
              </a:rPr>
              <a:t>reingest</a:t>
            </a:r>
            <a:r>
              <a:rPr lang="en-US" dirty="0">
                <a:solidFill>
                  <a:srgbClr val="FF0000"/>
                </a:solidFill>
              </a:rPr>
              <a:t> and reprocess data for a specific time range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For example,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b="1" u="sng" dirty="0" err="1"/>
              <a:t>RabbitMQ</a:t>
            </a:r>
            <a:r>
              <a:rPr lang="en-US" b="1" u="sng" dirty="0"/>
              <a:t> typically deletes messages after all subscribers consume them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b="1" u="sng" dirty="0"/>
              <a:t>Kafka, Kinesis, and Pub/Sub all support event retention and replay</a:t>
            </a:r>
          </a:p>
          <a:p>
            <a:endParaRPr lang="en-US" dirty="0"/>
          </a:p>
          <a:p>
            <a:r>
              <a:rPr lang="en-US" dirty="0"/>
              <a:t>Message Size</a:t>
            </a:r>
          </a:p>
          <a:p>
            <a:pPr lvl="1"/>
            <a:r>
              <a:rPr lang="en-US" dirty="0"/>
              <a:t>easily </a:t>
            </a:r>
            <a:r>
              <a:rPr lang="en-US" dirty="0">
                <a:solidFill>
                  <a:srgbClr val="FF0000"/>
                </a:solidFill>
              </a:rPr>
              <a:t>overlooked</a:t>
            </a:r>
            <a:r>
              <a:rPr lang="en-US" dirty="0"/>
              <a:t> issue - must ensure that the streaming framework in question can handle the maximum expected message size</a:t>
            </a:r>
          </a:p>
          <a:p>
            <a:pPr lvl="1"/>
            <a:r>
              <a:rPr lang="en-US" dirty="0"/>
              <a:t>Amazon Kinesis supports a maximum message size of 1 MB</a:t>
            </a:r>
          </a:p>
          <a:p>
            <a:pPr lvl="1"/>
            <a:r>
              <a:rPr lang="en-US" dirty="0"/>
              <a:t>Kafka defaults to this maximum size but can be configured for a maximum of 20 MB or more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Ordering and Multiple Delivery, Replay, </a:t>
            </a:r>
            <a:r>
              <a:rPr lang="en-US" dirty="0"/>
              <a:t>Message Size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4010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Message and Stream Ingestion Considerations(3)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How long to preserve event record? </a:t>
            </a:r>
          </a:p>
          <a:p>
            <a:endParaRPr lang="en-US" dirty="0"/>
          </a:p>
          <a:p>
            <a:r>
              <a:rPr lang="en-US" dirty="0"/>
              <a:t>A key parameter is </a:t>
            </a:r>
            <a:r>
              <a:rPr lang="en-US" dirty="0">
                <a:solidFill>
                  <a:srgbClr val="FF0000"/>
                </a:solidFill>
              </a:rPr>
              <a:t>maximum message retention time</a:t>
            </a:r>
            <a:r>
              <a:rPr lang="en-US" dirty="0"/>
              <a:t>, also known as the time to live (TTL)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usually </a:t>
            </a:r>
            <a:r>
              <a:rPr lang="en-US" dirty="0">
                <a:solidFill>
                  <a:srgbClr val="FF0000"/>
                </a:solidFill>
              </a:rPr>
              <a:t>a configuration set </a:t>
            </a:r>
            <a:r>
              <a:rPr lang="en-US" dirty="0"/>
              <a:t>for how long want events to live before they are acknowledged and ingested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Any unacknowledged event that’s not ingested after its TTL expires automatically disappears</a:t>
            </a:r>
          </a:p>
          <a:p>
            <a:endParaRPr lang="en-US" dirty="0"/>
          </a:p>
          <a:p>
            <a:r>
              <a:rPr lang="en-US" dirty="0"/>
              <a:t>Helpful to </a:t>
            </a:r>
            <a:r>
              <a:rPr lang="en-US" dirty="0">
                <a:solidFill>
                  <a:srgbClr val="FF0000"/>
                </a:solidFill>
              </a:rPr>
              <a:t>reduce backpressure and unnecessary event volume </a:t>
            </a:r>
            <a:r>
              <a:rPr lang="en-US" dirty="0"/>
              <a:t>in event-ingestion pipeline.</a:t>
            </a:r>
          </a:p>
          <a:p>
            <a:pPr lvl="1"/>
            <a:r>
              <a:rPr lang="en-US" dirty="0"/>
              <a:t>An </a:t>
            </a:r>
            <a:r>
              <a:rPr lang="en-US" dirty="0">
                <a:solidFill>
                  <a:srgbClr val="FF0000"/>
                </a:solidFill>
              </a:rPr>
              <a:t>extremely short TTL </a:t>
            </a:r>
            <a:r>
              <a:rPr lang="en-US" dirty="0"/>
              <a:t>(milliseconds or seconds) might cause most messages to </a:t>
            </a:r>
            <a:r>
              <a:rPr lang="en-US" dirty="0">
                <a:solidFill>
                  <a:srgbClr val="FF0000"/>
                </a:solidFill>
              </a:rPr>
              <a:t>disappear</a:t>
            </a:r>
            <a:r>
              <a:rPr lang="en-US" dirty="0"/>
              <a:t> before processing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very long TTL </a:t>
            </a:r>
            <a:r>
              <a:rPr lang="en-US" dirty="0"/>
              <a:t>(several weeks or months) will create a </a:t>
            </a:r>
            <a:r>
              <a:rPr lang="en-US" dirty="0">
                <a:solidFill>
                  <a:srgbClr val="FF0000"/>
                </a:solidFill>
              </a:rPr>
              <a:t>backlog of many unprocessed messages</a:t>
            </a:r>
            <a:r>
              <a:rPr lang="en-US" dirty="0"/>
              <a:t>, resulting in long wait times</a:t>
            </a:r>
          </a:p>
          <a:p>
            <a:endParaRPr lang="en-US" dirty="0"/>
          </a:p>
          <a:p>
            <a:r>
              <a:rPr lang="en-US" dirty="0"/>
              <a:t>For example,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u="sng" dirty="0"/>
              <a:t>Google Cloud Pub/Sub supports retention periods of up to 7 days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u="sng" dirty="0"/>
              <a:t>Amazon Kinesis Data Streams retention can be turned up to 365 days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u="sng" dirty="0"/>
              <a:t>Kafka can be configured for indefinite retention, limited by available disk space</a:t>
            </a:r>
            <a:endParaRPr lang="en-IN" b="1" u="sn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Time to Live(TTL)</a:t>
            </a:r>
          </a:p>
        </p:txBody>
      </p:sp>
    </p:spTree>
    <p:extLst>
      <p:ext uri="{BB962C8B-B14F-4D97-AF65-F5344CB8AC3E}">
        <p14:creationId xmlns:p14="http://schemas.microsoft.com/office/powerpoint/2010/main" val="2360425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Message and Stream Ingestion Considerations(4)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Sometimes events aren’t successfully ingested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Perhaps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an event is sent to a nonexistent topic or message queue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the message size may be too large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or the event has expired past its TTL</a:t>
            </a:r>
          </a:p>
          <a:p>
            <a:endParaRPr lang="en-US" dirty="0"/>
          </a:p>
          <a:p>
            <a:r>
              <a:rPr lang="en-US" dirty="0"/>
              <a:t>Dead-letter queue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Events that cannot be ingested </a:t>
            </a:r>
            <a:r>
              <a:rPr lang="en-US" dirty="0">
                <a:solidFill>
                  <a:srgbClr val="FF0000"/>
                </a:solidFill>
              </a:rPr>
              <a:t>need to be rerouted and stored in a separate location </a:t>
            </a:r>
            <a:r>
              <a:rPr lang="en-US" dirty="0"/>
              <a:t>called a dead-letter queue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segregates problematic events from events that can be accepted by the consumer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If events are not rerouted to a dead-letter queue, these erroneous events </a:t>
            </a:r>
            <a:r>
              <a:rPr lang="en-US" dirty="0">
                <a:solidFill>
                  <a:srgbClr val="FF0000"/>
                </a:solidFill>
              </a:rPr>
              <a:t>risk blocking other messages from being ingested</a:t>
            </a:r>
          </a:p>
          <a:p>
            <a:endParaRPr lang="en-US" dirty="0"/>
          </a:p>
          <a:p>
            <a:r>
              <a:rPr lang="en-US" dirty="0"/>
              <a:t>Can be used to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diagnose</a:t>
            </a:r>
            <a:r>
              <a:rPr lang="en-US" dirty="0"/>
              <a:t> why event ingestions errors occur and solve data pipeline </a:t>
            </a:r>
            <a:r>
              <a:rPr lang="en-US" dirty="0">
                <a:solidFill>
                  <a:srgbClr val="FF0000"/>
                </a:solidFill>
              </a:rPr>
              <a:t>problems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might be able to </a:t>
            </a:r>
            <a:r>
              <a:rPr lang="en-US" dirty="0">
                <a:solidFill>
                  <a:srgbClr val="FF0000"/>
                </a:solidFill>
              </a:rPr>
              <a:t>reprocess some messages </a:t>
            </a:r>
            <a:r>
              <a:rPr lang="en-US" dirty="0"/>
              <a:t>in the queue after fixing the underlying cause of errors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Error Handling and Dead-Letter Queues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140503"/>
            <a:ext cx="5381625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17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Message and Stream Ingestion Considerations(5)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A consumer subscribing to a topic can get events in two ways: </a:t>
            </a:r>
            <a:r>
              <a:rPr lang="en-US" dirty="0">
                <a:solidFill>
                  <a:srgbClr val="FF0000"/>
                </a:solidFill>
              </a:rPr>
              <a:t>push and pull</a:t>
            </a:r>
          </a:p>
          <a:p>
            <a:endParaRPr lang="en-US" dirty="0"/>
          </a:p>
          <a:p>
            <a:r>
              <a:rPr lang="en-US" dirty="0"/>
              <a:t>Kafka and Kinesis support only </a:t>
            </a:r>
            <a:r>
              <a:rPr lang="en-US" dirty="0">
                <a:solidFill>
                  <a:srgbClr val="FF0000"/>
                </a:solidFill>
              </a:rPr>
              <a:t>pull subscriptions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Subscribers read messages from a topic and confirm when they have been processed</a:t>
            </a:r>
          </a:p>
          <a:p>
            <a:endParaRPr lang="en-US" dirty="0"/>
          </a:p>
          <a:p>
            <a:r>
              <a:rPr lang="en-US" dirty="0"/>
              <a:t>In addition to </a:t>
            </a:r>
            <a:r>
              <a:rPr lang="en-US" dirty="0">
                <a:solidFill>
                  <a:srgbClr val="FF0000"/>
                </a:solidFill>
              </a:rPr>
              <a:t>pull subscriptions</a:t>
            </a:r>
            <a:r>
              <a:rPr lang="en-US" dirty="0"/>
              <a:t>, Pub/Sub and </a:t>
            </a:r>
            <a:r>
              <a:rPr lang="en-US" dirty="0" err="1"/>
              <a:t>RabbitMQ</a:t>
            </a:r>
            <a:r>
              <a:rPr lang="en-US" dirty="0"/>
              <a:t> support </a:t>
            </a:r>
            <a:r>
              <a:rPr lang="en-US" dirty="0">
                <a:solidFill>
                  <a:srgbClr val="FF0000"/>
                </a:solidFill>
              </a:rPr>
              <a:t>push subscriptions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allowing these services to write messages to a listener</a:t>
            </a:r>
          </a:p>
          <a:p>
            <a:endParaRPr lang="en-US" dirty="0"/>
          </a:p>
          <a:p>
            <a:r>
              <a:rPr lang="en-US" dirty="0"/>
              <a:t>Pull subscriptions are the default choice for most data engineering applications,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but may want to consider push capabilities for specialized applications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u="sng" dirty="0"/>
              <a:t>Pull-only message ingestion systems can still push if an extra layer is added to handle this</a:t>
            </a:r>
            <a:endParaRPr lang="en-IN" b="1" u="sn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Consumer Pull and Push</a:t>
            </a:r>
          </a:p>
        </p:txBody>
      </p:sp>
    </p:spTree>
    <p:extLst>
      <p:ext uri="{BB962C8B-B14F-4D97-AF65-F5344CB8AC3E}">
        <p14:creationId xmlns:p14="http://schemas.microsoft.com/office/powerpoint/2010/main" val="903050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657600"/>
            <a:ext cx="10515600" cy="90487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205413"/>
            <a:ext cx="10515600" cy="1500187"/>
          </a:xfrm>
        </p:spPr>
        <p:txBody>
          <a:bodyPr/>
          <a:lstStyle/>
          <a:p>
            <a:r>
              <a:rPr lang="en-US" dirty="0"/>
              <a:t>In our next session:</a:t>
            </a:r>
          </a:p>
        </p:txBody>
      </p:sp>
    </p:spTree>
    <p:extLst>
      <p:ext uri="{BB962C8B-B14F-4D97-AF65-F5344CB8AC3E}">
        <p14:creationId xmlns:p14="http://schemas.microsoft.com/office/powerpoint/2010/main" val="4195798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3222</TotalTime>
  <Words>1585</Words>
  <Application>Microsoft Office PowerPoint</Application>
  <PresentationFormat>Widescreen</PresentationFormat>
  <Paragraphs>166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Helvetica</vt:lpstr>
      <vt:lpstr>Helvetica Light</vt:lpstr>
      <vt:lpstr>Office Theme</vt:lpstr>
      <vt:lpstr>Data Ingestion Considerations</vt:lpstr>
      <vt:lpstr>Batch Ingestion</vt:lpstr>
      <vt:lpstr>Batch Ingestion Considerations</vt:lpstr>
      <vt:lpstr>Batch Ingestion Considerations(2)</vt:lpstr>
      <vt:lpstr>Batch Ingestion Considerations(3)</vt:lpstr>
      <vt:lpstr>Batch Ingestion Considerations(4)</vt:lpstr>
      <vt:lpstr>Batch Ingestion Considerations(5)</vt:lpstr>
      <vt:lpstr>Message and Stream Ingestion Considerations</vt:lpstr>
      <vt:lpstr>Message and Stream Ingestion Considerations(2)</vt:lpstr>
      <vt:lpstr>Message and Stream Ingestion Considerations(3)</vt:lpstr>
      <vt:lpstr>Message and Stream Ingestion Considerations(4)</vt:lpstr>
      <vt:lpstr>Message and Stream Ingestion Considerations(5)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Tharabai Baboo</cp:lastModifiedBy>
  <cp:revision>259</cp:revision>
  <dcterms:created xsi:type="dcterms:W3CDTF">2018-10-16T06:13:57Z</dcterms:created>
  <dcterms:modified xsi:type="dcterms:W3CDTF">2025-06-07T05:07:05Z</dcterms:modified>
</cp:coreProperties>
</file>