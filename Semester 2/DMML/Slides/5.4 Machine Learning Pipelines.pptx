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6" r:id="rId1"/>
  </p:sldMasterIdLst>
  <p:notesMasterIdLst>
    <p:notesMasterId r:id="rId12"/>
  </p:notesMasterIdLst>
  <p:sldIdLst>
    <p:sldId id="266" r:id="rId2"/>
    <p:sldId id="290" r:id="rId3"/>
    <p:sldId id="284" r:id="rId4"/>
    <p:sldId id="285" r:id="rId5"/>
    <p:sldId id="286" r:id="rId6"/>
    <p:sldId id="287" r:id="rId7"/>
    <p:sldId id="297" r:id="rId8"/>
    <p:sldId id="298" r:id="rId9"/>
    <p:sldId id="299" r:id="rId10"/>
    <p:sldId id="26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8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50860"/>
    <a:srgbClr val="1C1573"/>
    <a:srgbClr val="283E84"/>
    <a:srgbClr val="211D71"/>
    <a:srgbClr val="000099"/>
    <a:srgbClr val="1E2F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6305" autoAdjust="0"/>
  </p:normalViewPr>
  <p:slideViewPr>
    <p:cSldViewPr>
      <p:cViewPr varScale="1">
        <p:scale>
          <a:sx n="67" d="100"/>
          <a:sy n="67" d="100"/>
        </p:scale>
        <p:origin x="834" y="72"/>
      </p:cViewPr>
      <p:guideLst>
        <p:guide orient="horz" pos="2208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2EAAB2-9271-4BDD-97AF-EBC135F5D5A0}" type="datetimeFigureOut">
              <a:rPr lang="en-US" smtClean="0"/>
              <a:t>1/6/2024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1DED4-035E-4548-AB9E-F9B1FE638F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802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86" b="1180"/>
          <a:stretch/>
        </p:blipFill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441" cy="6858331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4600" y="2550646"/>
            <a:ext cx="9680189" cy="179275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" y="-447353"/>
            <a:ext cx="10744203" cy="805815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72000" y="2549769"/>
            <a:ext cx="7330831" cy="1600725"/>
          </a:xfrm>
        </p:spPr>
        <p:txBody>
          <a:bodyPr anchor="ctr">
            <a:normAutofit/>
          </a:bodyPr>
          <a:lstStyle>
            <a:lvl1pPr algn="r"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 dirty="0"/>
              <a:t>Click to edit Course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908431" y="4452630"/>
            <a:ext cx="5994400" cy="343327"/>
          </a:xfrm>
        </p:spPr>
        <p:txBody>
          <a:bodyPr anchor="ctr">
            <a:normAutofit/>
          </a:bodyPr>
          <a:lstStyle>
            <a:lvl1pPr marL="0" indent="0" algn="r">
              <a:buNone/>
              <a:defRPr sz="17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SME’s name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3299" y="896875"/>
            <a:ext cx="3096631" cy="1084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8116" y="4800600"/>
            <a:ext cx="5124715" cy="21336"/>
          </a:xfrm>
          <a:prstGeom prst="rect">
            <a:avLst/>
          </a:prstGeom>
        </p:spPr>
      </p:pic>
      <p:sp>
        <p:nvSpPr>
          <p:cNvPr id="22" name="Text Placeholder 21"/>
          <p:cNvSpPr>
            <a:spLocks noGrp="1"/>
          </p:cNvSpPr>
          <p:nvPr>
            <p:ph type="body" sz="quarter" idx="14"/>
          </p:nvPr>
        </p:nvSpPr>
        <p:spPr>
          <a:xfrm>
            <a:off x="5189412" y="4826977"/>
            <a:ext cx="6713419" cy="1108563"/>
          </a:xfrm>
        </p:spPr>
        <p:txBody>
          <a:bodyPr>
            <a:normAutofit/>
          </a:bodyPr>
          <a:lstStyle>
            <a:lvl1pPr marL="0" indent="0" algn="r">
              <a:spcBef>
                <a:spcPts val="0"/>
              </a:spcBef>
              <a:buNone/>
              <a:defRPr sz="1700">
                <a:solidFill>
                  <a:srgbClr val="1C1573"/>
                </a:solidFill>
                <a:latin typeface="Helvetica" panose="020B0604020202030204" pitchFamily="34" charset="0"/>
              </a:defRPr>
            </a:lvl1pPr>
          </a:lstStyle>
          <a:p>
            <a:pPr lvl="0"/>
            <a:r>
              <a:rPr lang="en-US" dirty="0"/>
              <a:t>Click to edit </a:t>
            </a:r>
          </a:p>
          <a:p>
            <a:pPr lvl="0"/>
            <a:r>
              <a:rPr lang="en-US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61812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2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1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5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3335" y="2482116"/>
            <a:ext cx="8848465" cy="213056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 userDrawn="1"/>
        </p:nvSpPr>
        <p:spPr>
          <a:xfrm>
            <a:off x="1831508" y="2575123"/>
            <a:ext cx="8666988" cy="19368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Helvetica" panose="020B060402020203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3600" dirty="0"/>
              <a:t>Click to edit Session title</a:t>
            </a:r>
          </a:p>
        </p:txBody>
      </p:sp>
    </p:spTree>
    <p:extLst>
      <p:ext uri="{BB962C8B-B14F-4D97-AF65-F5344CB8AC3E}">
        <p14:creationId xmlns:p14="http://schemas.microsoft.com/office/powerpoint/2010/main" val="1461970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569"/>
            <a:ext cx="10668000" cy="76436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0569"/>
            <a:ext cx="9321800" cy="764364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Helvetica" panose="020B060402020203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2728913"/>
          </a:xfrm>
        </p:spPr>
        <p:txBody>
          <a:bodyPr/>
          <a:lstStyle>
            <a:lvl1pPr>
              <a:defRPr sz="1800">
                <a:latin typeface="Helvetica" panose="020B0604020202030204" pitchFamily="34" charset="0"/>
              </a:defRPr>
            </a:lvl1pPr>
            <a:lvl2pPr>
              <a:defRPr sz="1600">
                <a:latin typeface="Helvetica" panose="020B0604020202030204" pitchFamily="34" charset="0"/>
              </a:defRPr>
            </a:lvl2pPr>
            <a:lvl3pPr>
              <a:defRPr sz="1400">
                <a:latin typeface="Helvetica" panose="020B0604020202030204" pitchFamily="34" charset="0"/>
              </a:defRPr>
            </a:lvl3pPr>
            <a:lvl4pPr>
              <a:defRPr sz="1200">
                <a:latin typeface="Helvetica" panose="020B0604020202030204" pitchFamily="34" charset="0"/>
              </a:defRPr>
            </a:lvl4pPr>
            <a:lvl5pPr>
              <a:defRPr sz="1200"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329247" y="1143001"/>
            <a:ext cx="11196956" cy="395287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1C1573"/>
                </a:solidFill>
                <a:latin typeface="Helvetica" panose="020B0604020202030204" pitchFamily="34" charset="0"/>
              </a:defRPr>
            </a:lvl1pPr>
            <a:lvl2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2pPr>
            <a:lvl3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3pPr>
            <a:lvl4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4pPr>
            <a:lvl5pPr>
              <a:defRPr b="1">
                <a:solidFill>
                  <a:srgbClr val="1C1573"/>
                </a:solidFill>
                <a:latin typeface="Helvetica" panose="020B060402020203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615429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 rotWithShape="1"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" t="-543" r="178" b="-543"/>
          <a:stretch/>
        </p:blipFill>
        <p:spPr>
          <a:xfrm>
            <a:off x="4750810" y="2223656"/>
            <a:ext cx="2690381" cy="272934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r">
              <a:defRPr sz="5400" b="1">
                <a:solidFill>
                  <a:srgbClr val="150860"/>
                </a:solidFill>
                <a:latin typeface="Helvetica"/>
                <a:cs typeface="Helvetica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r">
              <a:buNone/>
              <a:defRPr sz="2400" b="0" i="0">
                <a:solidFill>
                  <a:schemeClr val="tx1">
                    <a:tint val="75000"/>
                  </a:schemeClr>
                </a:solidFill>
                <a:latin typeface="Helvetica Light"/>
                <a:cs typeface="Helvetica Ligh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817420"/>
            <a:ext cx="12192000" cy="4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6871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6184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29" r:id="rId2"/>
    <p:sldLayoutId id="2147483739" r:id="rId3"/>
    <p:sldLayoutId id="214748374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l-ops.org/content/three-levels-of-ml-softwar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572000" y="2549769"/>
            <a:ext cx="7330831" cy="1793631"/>
          </a:xfrm>
        </p:spPr>
        <p:txBody>
          <a:bodyPr/>
          <a:lstStyle/>
          <a:p>
            <a:r>
              <a:rPr lang="en-US"/>
              <a:t>Model: Machine Learning Pipelines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211D71"/>
                </a:solidFill>
              </a:rPr>
              <a:t>Pravin Y Pawar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5029200"/>
            <a:ext cx="6019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Extracted from </a:t>
            </a:r>
          </a:p>
          <a:p>
            <a:r>
              <a:rPr lang="en-US" dirty="0">
                <a:hlinkClick r:id="rId2"/>
              </a:rPr>
              <a:t>Three Levels of ML Software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25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Workflow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783" y="887458"/>
            <a:ext cx="7774633" cy="5828129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3047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50462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Model: Machine Learning Pipelines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core</a:t>
            </a:r>
            <a:r>
              <a:rPr lang="en-US" dirty="0"/>
              <a:t> of the ML workflow is the </a:t>
            </a:r>
            <a:r>
              <a:rPr lang="en-US" dirty="0">
                <a:solidFill>
                  <a:srgbClr val="FF0000"/>
                </a:solidFill>
              </a:rPr>
              <a:t>phase of writing and executing machine learning algorithms </a:t>
            </a:r>
            <a:r>
              <a:rPr lang="en-US" dirty="0"/>
              <a:t>to obtain an ML model</a:t>
            </a:r>
          </a:p>
          <a:p>
            <a:endParaRPr lang="en-US" dirty="0"/>
          </a:p>
          <a:p>
            <a:r>
              <a:rPr lang="en-US" dirty="0"/>
              <a:t>The model engineering pipeline is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usually utilized by a data science team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a number of operations that lead to a final model</a:t>
            </a:r>
          </a:p>
          <a:p>
            <a:endParaRPr lang="en-US" dirty="0"/>
          </a:p>
          <a:p>
            <a:r>
              <a:rPr lang="en-US" dirty="0"/>
              <a:t>Operations include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Training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Evaluation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Model Packaging</a:t>
            </a:r>
          </a:p>
          <a:p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Recommended to automate these steps as much as possible!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7481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The process of applying the machine learning algorithm on training data to train an ML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includes feature engineering the </a:t>
            </a:r>
            <a:r>
              <a:rPr lang="en-US" dirty="0" err="1"/>
              <a:t>hyperparameter</a:t>
            </a:r>
            <a:r>
              <a:rPr lang="en-US" dirty="0"/>
              <a:t> tuning for the model training activity</a:t>
            </a:r>
          </a:p>
          <a:p>
            <a:endParaRPr lang="en-US" dirty="0"/>
          </a:p>
          <a:p>
            <a:r>
              <a:rPr lang="en-US" dirty="0"/>
              <a:t>Feature engineering might include: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Discretize continuous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Decompose features (e.g., categorical, date/time, etc.)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Add transformations of features (e.g., log(x), </a:t>
            </a:r>
            <a:r>
              <a:rPr lang="en-US" dirty="0" err="1"/>
              <a:t>sqrt</a:t>
            </a:r>
            <a:r>
              <a:rPr lang="en-US" dirty="0"/>
              <a:t>(x), x2, etc.)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Aggregate features into promising new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Feature scaling: Standardize or normalize features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New features should be added quickly to get fast from a feature idea to the feature running in production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Feature engineering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375338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Training(2)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1069003" cy="4648199"/>
          </a:xfrm>
        </p:spPr>
        <p:txBody>
          <a:bodyPr>
            <a:normAutofit/>
          </a:bodyPr>
          <a:lstStyle/>
          <a:p>
            <a:r>
              <a:rPr lang="en-US" dirty="0"/>
              <a:t>Might be an iterative process and include the following workflow: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Every ML model specification (code that creates an ML model) should go through a code review and be versioned.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Train many ML models from different categories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(e.g., linear regression, logistic regression, k-means, naive Bayes, SVM, Random Forest, etc.) using standard parameters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Measure and compare their performance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For each model, use N-fold cross-validation and compute the mean and standard deviation of the performance measure on the N folds.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Error Analysis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analyze the types of errors the ML models make.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Consider further feature selection and engineering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Identify the top three to five most promising models, preferring models that make different types of errors.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 err="1"/>
              <a:t>Hyperparameters</a:t>
            </a:r>
            <a:r>
              <a:rPr lang="en-US" dirty="0"/>
              <a:t> tuning by using cross-validation.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Consider Ensemble methods such as majority vote, bagging, boosting</a:t>
            </a:r>
            <a:r>
              <a:rPr lang="en-US"/>
              <a:t>, </a:t>
            </a:r>
            <a:endParaRPr lang="en-US" dirty="0"/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Combining ML models should produce better performance than running them individually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Model Engineering</a:t>
            </a:r>
          </a:p>
        </p:txBody>
      </p:sp>
    </p:spTree>
    <p:extLst>
      <p:ext uri="{BB962C8B-B14F-4D97-AF65-F5344CB8AC3E}">
        <p14:creationId xmlns:p14="http://schemas.microsoft.com/office/powerpoint/2010/main" val="119780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Model Evaluation, Testing and Packaging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/>
          <a:lstStyle/>
          <a:p>
            <a:r>
              <a:rPr lang="en-US" dirty="0"/>
              <a:t>Model Evaluation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Validate the trained model to ensure it meets original business objectives before serving the ML model in production to the end-user</a:t>
            </a:r>
          </a:p>
          <a:p>
            <a:endParaRPr lang="en-US" dirty="0"/>
          </a:p>
          <a:p>
            <a:r>
              <a:rPr lang="en-US" dirty="0"/>
              <a:t>Model Testing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the final ML model is trained, its performance needs to be measured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by using the hold-back test dataset to estimate the generalization error by performing the final “Model Acceptance Test”</a:t>
            </a:r>
          </a:p>
          <a:p>
            <a:pPr lvl="1">
              <a:buFont typeface="Courier New" panose="02070309020205020404" pitchFamily="49" charset="0"/>
              <a:buChar char="o"/>
            </a:pPr>
            <a:endParaRPr lang="en-US" dirty="0"/>
          </a:p>
          <a:p>
            <a:r>
              <a:rPr lang="en-US" dirty="0"/>
              <a:t>Model Packaging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process of exporting the final ML model into a specific format (e.g. PMML, PFA, or ONNX)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which describes the model to be consumed by the business application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43343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Model serialization formats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457200" y="1600201"/>
            <a:ext cx="10668000" cy="495299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Various formats to distribute ML models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 order to achieve a distributable format, the ML model should be present and should be executable as an independent asset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means that the ML models should work outside of the model-training environment</a:t>
            </a:r>
          </a:p>
          <a:p>
            <a:endParaRPr lang="en-US" dirty="0"/>
          </a:p>
          <a:p>
            <a:r>
              <a:rPr lang="en-US" dirty="0"/>
              <a:t>Two flavors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Language-agnostic exchange formats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Vendor-specific exchange formats</a:t>
            </a:r>
          </a:p>
          <a:p>
            <a:endParaRPr lang="en-US" dirty="0"/>
          </a:p>
          <a:p>
            <a:r>
              <a:rPr lang="en-US" dirty="0"/>
              <a:t>Language-agnostic exchange formats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Amalgamation is the simplest way to export an ML model as portable - model and all necessary code to run are bundled as one package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Usually, a single source code file that can be compiled on nearly any platform as a standalone program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Create a standalone version of an ML model by using </a:t>
            </a:r>
            <a:r>
              <a:rPr lang="en-US" dirty="0" err="1"/>
              <a:t>SKompiler</a:t>
            </a:r>
            <a:r>
              <a:rPr lang="en-US" dirty="0"/>
              <a:t> to transform trained Scikit-learn models into other forms,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such as SQL queries, Excel formulas,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Portable Format for Analytics (PFA) files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US" dirty="0"/>
              <a:t>or </a:t>
            </a:r>
            <a:r>
              <a:rPr lang="en-US" dirty="0" err="1"/>
              <a:t>SymPy</a:t>
            </a:r>
            <a:r>
              <a:rPr lang="en-US" dirty="0"/>
              <a:t> expressions - translated to code in a variety of languages, such as C, </a:t>
            </a:r>
            <a:r>
              <a:rPr lang="en-US" dirty="0" err="1"/>
              <a:t>Javascript</a:t>
            </a:r>
            <a:r>
              <a:rPr lang="en-US" dirty="0"/>
              <a:t>, Rust, Julia, etc.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856938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Model serialization formats(2)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857739" y="1600201"/>
            <a:ext cx="10160000" cy="4648199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PMML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format for model serving based on XML with the file extension .</a:t>
            </a:r>
            <a:r>
              <a:rPr lang="en-US" dirty="0" err="1"/>
              <a:t>pmml</a:t>
            </a:r>
            <a:r>
              <a:rPr lang="en-US" dirty="0"/>
              <a:t> - standardized by the Data Mining Group (DMG)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Basically, .</a:t>
            </a:r>
            <a:r>
              <a:rPr lang="en-US" dirty="0" err="1"/>
              <a:t>ppml</a:t>
            </a:r>
            <a:r>
              <a:rPr lang="en-US" dirty="0"/>
              <a:t> describes a model and pipeline in XML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PMML supports not all of the ML algorithms, and its usage in open source-driven tools is limited due to licensing issues</a:t>
            </a:r>
          </a:p>
          <a:p>
            <a:endParaRPr lang="en-US" dirty="0"/>
          </a:p>
          <a:p>
            <a:r>
              <a:rPr lang="en-US" dirty="0"/>
              <a:t>PFA (Portable Format for Analytics) - designed as a replacement for PMML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is a string of JSON-formatted text that describes an executable called a scoring engine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each engine has a well-defined input, a well-defined output, and functions for combining inputs to construct the output in an expression-centric syntax tree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 run ML models as PFA files, need a PFA-enabled environment</a:t>
            </a:r>
          </a:p>
          <a:p>
            <a:endParaRPr lang="en-US" dirty="0"/>
          </a:p>
          <a:p>
            <a:r>
              <a:rPr lang="en-US" dirty="0"/>
              <a:t>ONNX (Open Neural Network </a:t>
            </a:r>
            <a:r>
              <a:rPr lang="en-US" dirty="0" err="1"/>
              <a:t>eXchange</a:t>
            </a:r>
            <a:r>
              <a:rPr lang="en-US" dirty="0"/>
              <a:t>)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ML framework independent file format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created to allow any ML tool to share a single model format - supported by many big tech companies such as Microsoft, Facebook, and Amazon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Once the ML model is serialized in the ONNX format,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consumed by </a:t>
            </a:r>
            <a:r>
              <a:rPr lang="en-US" dirty="0" err="1"/>
              <a:t>onnx</a:t>
            </a:r>
            <a:r>
              <a:rPr lang="en-US" dirty="0"/>
              <a:t>-enabled runtime libraries (also called inference engines)and then make predictions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Commom</a:t>
            </a:r>
            <a:r>
              <a:rPr lang="en-US" dirty="0"/>
              <a:t> Language-agnostic exchange formats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86228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ML Model serialization formats(3)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3"/>
          </p:nvPr>
        </p:nvSpPr>
        <p:spPr>
          <a:xfrm>
            <a:off x="329247" y="1600201"/>
            <a:ext cx="10688492" cy="502919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Scikit-Learn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saves models as pickled python objects, with a .</a:t>
            </a:r>
            <a:r>
              <a:rPr lang="en-US" dirty="0" err="1"/>
              <a:t>pkl</a:t>
            </a:r>
            <a:r>
              <a:rPr lang="en-US" dirty="0"/>
              <a:t> file extension</a:t>
            </a:r>
          </a:p>
          <a:p>
            <a:r>
              <a:rPr lang="en-US" dirty="0"/>
              <a:t>H2O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allows to convert the models to either POJO (Plain Old Java Object) or MOJO (Model Object, Optimized)</a:t>
            </a:r>
          </a:p>
          <a:p>
            <a:r>
              <a:rPr lang="en-US" dirty="0" err="1"/>
              <a:t>SparkML</a:t>
            </a:r>
            <a:r>
              <a:rPr lang="en-US" dirty="0"/>
              <a:t> models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saved in the </a:t>
            </a:r>
            <a:r>
              <a:rPr lang="en-US" dirty="0" err="1"/>
              <a:t>MLeap</a:t>
            </a:r>
            <a:r>
              <a:rPr lang="en-US" dirty="0"/>
              <a:t> file format and served in real-time using an </a:t>
            </a:r>
            <a:r>
              <a:rPr lang="en-US" dirty="0" err="1"/>
              <a:t>MLeap</a:t>
            </a:r>
            <a:r>
              <a:rPr lang="en-US" dirty="0"/>
              <a:t> model server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</a:t>
            </a:r>
            <a:r>
              <a:rPr lang="en-US" dirty="0" err="1"/>
              <a:t>MLeap</a:t>
            </a:r>
            <a:r>
              <a:rPr lang="en-US" dirty="0"/>
              <a:t> runtime is a JAR that can run in any Java application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supports Spark, Scikit-learn, and </a:t>
            </a:r>
            <a:r>
              <a:rPr lang="en-US" dirty="0" err="1"/>
              <a:t>Tensorflow</a:t>
            </a:r>
            <a:r>
              <a:rPr lang="en-US" dirty="0"/>
              <a:t> for training pipelines and exporting them to an </a:t>
            </a:r>
            <a:r>
              <a:rPr lang="en-US" dirty="0" err="1"/>
              <a:t>MLeap</a:t>
            </a:r>
            <a:r>
              <a:rPr lang="en-US" dirty="0"/>
              <a:t> Bundle</a:t>
            </a:r>
          </a:p>
          <a:p>
            <a:r>
              <a:rPr lang="en-US" dirty="0"/>
              <a:t>TensorFlow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saves models as .</a:t>
            </a:r>
            <a:r>
              <a:rPr lang="en-US" dirty="0" err="1"/>
              <a:t>pb</a:t>
            </a:r>
            <a:r>
              <a:rPr lang="en-US" dirty="0"/>
              <a:t> files; which is the protocol buffer files extension</a:t>
            </a:r>
          </a:p>
          <a:p>
            <a:r>
              <a:rPr lang="en-US" dirty="0" err="1"/>
              <a:t>PyTorch</a:t>
            </a:r>
            <a:r>
              <a:rPr lang="en-US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serves models by using their proprietary Torch Script as a .</a:t>
            </a:r>
            <a:r>
              <a:rPr lang="en-US" dirty="0" err="1"/>
              <a:t>pt</a:t>
            </a:r>
            <a:r>
              <a:rPr lang="en-US" dirty="0"/>
              <a:t> file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can be served from a C– application</a:t>
            </a:r>
          </a:p>
          <a:p>
            <a:r>
              <a:rPr lang="en-US" dirty="0" err="1"/>
              <a:t>Keras</a:t>
            </a:r>
            <a:r>
              <a:rPr lang="en-US" dirty="0"/>
              <a:t>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saves a model as a .h5 file, which is known as a data file saved in the Hierarchical Data Format (HDF)- contains multidimensional arrays of data</a:t>
            </a:r>
          </a:p>
          <a:p>
            <a:r>
              <a:rPr lang="en-US" dirty="0"/>
              <a:t>Apple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has its proprietary file format with the extension .</a:t>
            </a:r>
            <a:r>
              <a:rPr lang="en-US" dirty="0" err="1"/>
              <a:t>mlmodel</a:t>
            </a:r>
            <a:r>
              <a:rPr lang="en-US" dirty="0"/>
              <a:t> to store models embedded in iOS applications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The Core ML framework has native support for Objective-C and Swift programming languages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Applications trained in other ML frameworks, such as TensorFlow, Scikit-Learn, and other frameworks need to use tools like such as </a:t>
            </a:r>
            <a:r>
              <a:rPr lang="en-US" dirty="0" err="1"/>
              <a:t>coremltools</a:t>
            </a:r>
            <a:r>
              <a:rPr lang="en-US" dirty="0"/>
              <a:t> and </a:t>
            </a:r>
            <a:r>
              <a:rPr lang="en-US" dirty="0" err="1"/>
              <a:t>Tensorflow</a:t>
            </a:r>
            <a:r>
              <a:rPr lang="en-US" dirty="0"/>
              <a:t> converter to translate their ML model files to the .</a:t>
            </a:r>
            <a:r>
              <a:rPr lang="en-US" dirty="0" err="1"/>
              <a:t>mlmodel</a:t>
            </a:r>
            <a:r>
              <a:rPr lang="en-US" dirty="0"/>
              <a:t> format for use on iOS</a:t>
            </a:r>
            <a:endParaRPr lang="en-IN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IN" dirty="0"/>
              <a:t>Vendor-specific exchange formats</a:t>
            </a:r>
          </a:p>
        </p:txBody>
      </p:sp>
    </p:spTree>
    <p:extLst>
      <p:ext uri="{BB962C8B-B14F-4D97-AF65-F5344CB8AC3E}">
        <p14:creationId xmlns:p14="http://schemas.microsoft.com/office/powerpoint/2010/main" val="3880111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3657600"/>
            <a:ext cx="10515600" cy="904875"/>
          </a:xfrm>
        </p:spPr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5205413"/>
            <a:ext cx="10515600" cy="1500187"/>
          </a:xfrm>
        </p:spPr>
        <p:txBody>
          <a:bodyPr/>
          <a:lstStyle/>
          <a:p>
            <a:r>
              <a:rPr lang="en-US" dirty="0"/>
              <a:t>In our next session:</a:t>
            </a:r>
          </a:p>
        </p:txBody>
      </p:sp>
    </p:spTree>
    <p:extLst>
      <p:ext uri="{BB962C8B-B14F-4D97-AF65-F5344CB8AC3E}">
        <p14:creationId xmlns:p14="http://schemas.microsoft.com/office/powerpoint/2010/main" val="41957982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3184</TotalTime>
  <Words>1069</Words>
  <Application>Microsoft Office PowerPoint</Application>
  <PresentationFormat>Widescreen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Helvetica</vt:lpstr>
      <vt:lpstr>Helvetica Light</vt:lpstr>
      <vt:lpstr>Office Theme</vt:lpstr>
      <vt:lpstr>Model: Machine Learning Pipelines</vt:lpstr>
      <vt:lpstr>Machine Learning Workflow</vt:lpstr>
      <vt:lpstr>Model: Machine Learning Pipelines</vt:lpstr>
      <vt:lpstr>Model Training</vt:lpstr>
      <vt:lpstr>Model Training(2)</vt:lpstr>
      <vt:lpstr>Model Evaluation, Testing and Packaging</vt:lpstr>
      <vt:lpstr>ML Model serialization formats</vt:lpstr>
      <vt:lpstr>ML Model serialization formats(2)</vt:lpstr>
      <vt:lpstr>ML Model serialization formats(3)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User</dc:creator>
  <cp:lastModifiedBy>BITS</cp:lastModifiedBy>
  <cp:revision>247</cp:revision>
  <dcterms:created xsi:type="dcterms:W3CDTF">2018-10-16T06:13:57Z</dcterms:created>
  <dcterms:modified xsi:type="dcterms:W3CDTF">2024-01-06T07:33:51Z</dcterms:modified>
</cp:coreProperties>
</file>